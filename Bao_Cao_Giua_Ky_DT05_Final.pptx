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tồn tại tự thân; nó là mối quan hệ giữa nhóm người giữ bí mật và thế giới bên ngoài trong một khoảng thời gian.</a:t>
            </a:r>
          </a:p>
          <a:p>
            <a:pPr>
              <a:spcBef>
                <a:spcPts val="600"/>
              </a:spcBef>
            </a:pPr>
            <a:r>
              <a:rPr b="1" sz="1100">
                <a:solidFill>
                  <a:srgbClr val="1E293B"/>
                </a:solidFill>
              </a:rPr>
              <a:t>• Public vs Common Knowledge: </a:t>
            </a:r>
            <a:r>
              <a:rPr sz="1000">
                <a:solidFill>
                  <a:srgbClr val="475569"/>
                </a:solidFill>
              </a:rPr>
              <a:t>Common Knowledge (Lewis): Mọi tác nhân đều biết và tin trạng thái sự việc. Public Knowledge: Thông tin mà bất kỳ ai cũng có tiềm năng tiếp cận (như khi bí mật bị rò rỉ - leak).</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Mô hình truyền thông bảo mật điểm - điểm; định nghĩa Bí mật hoàn hảo H(K) &gt;= H(M). Giới hạn: Giản lược đối thủ thành kẻ nghe lén trên kênh trừu tượng, bỏ qua chi phí phân phối khóa và thực tế xã hội - kỹ thuật.</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độ dài và lưu lượng siêu dữ liệu (Traffic Analysis), khai thác lỗi cài đặt phần mềm và quản lý (Anderson 2001).</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Đặc Thù Bài Báo &amp; Tính Trung Thực Khoa Học</a:t>
            </a:r>
          </a:p>
          <a:p>
            <a:pPr>
              <a:spcBef>
                <a:spcPts val="1200"/>
              </a:spcBef>
            </a:pPr>
            <a:r>
              <a:rPr b="1" sz="1100">
                <a:solidFill>
                  <a:srgbClr val="1E293B"/>
                </a:solidFill>
              </a:rPr>
              <a:t>• Khảo luận triết học thuần túy: </a:t>
            </a:r>
            <a:r>
              <a:rPr sz="1050">
                <a:solidFill>
                  <a:srgbClr val="475569"/>
                </a:solidFill>
              </a:rPr>
              <a:t>Bài báo của TS. Harry Halpin là nghiên cứu nhận thức luận, hoàn toàn không có mã nguồn, không có tập dữ liệu hay bảng đo benchmark.</a:t>
            </a:r>
          </a:p>
          <a:p>
            <a:pPr>
              <a:spcBef>
                <a:spcPts val="1200"/>
              </a:spcBef>
            </a:pPr>
            <a:r>
              <a:rPr b="1" sz="1100">
                <a:solidFill>
                  <a:srgbClr val="1E293B"/>
                </a:solidFill>
              </a:rPr>
              <a:t>• Không tuyên bố sai lệch: </a:t>
            </a:r>
            <a:r>
              <a:rPr sz="1050">
                <a:solidFill>
                  <a:srgbClr val="475569"/>
                </a:solidFill>
              </a:rPr>
              <a:t>Nhóm thẩm định toàn văn 17 trang PDF và 134 tài liệu tham khảo; tuyệt đối không bịa đặt số liệu hay tuyên bố 'tái lập 100% benchmark' của tác giả.</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1200"/>
              </a:spcBef>
            </a:pPr>
            <a:r>
              <a:rPr b="1" sz="1100">
                <a:solidFill>
                  <a:srgbClr val="1E293B"/>
                </a:solidFill>
              </a:rPr>
              <a:t>• Minh họa trực quan luận điểm: </a:t>
            </a:r>
            <a:r>
              <a:rPr sz="1050">
                <a:solidFill>
                  <a:srgbClr val="475569"/>
                </a:solidFill>
              </a:rPr>
              <a:t>Sinh viên tự phát triển hệ thống kiểm tra toàn vẹn tệp để đưa các luận điểm đối kháng trừu tượng của Halpin vào kiểm chứng thực nghiệm.</a:t>
            </a:r>
          </a:p>
          <a:p>
            <a:pPr>
              <a:spcBef>
                <a:spcPts val="1200"/>
              </a:spcBef>
            </a:pPr>
            <a:r>
              <a:rPr b="1" sz="1100">
                <a:solidFill>
                  <a:srgbClr val="1E293B"/>
                </a:solidFill>
              </a:rPr>
              <a:t>• Phân định ranh giới rạch ròi: </a:t>
            </a:r>
            <a:r>
              <a:rPr sz="1050">
                <a:solidFill>
                  <a:srgbClr val="475569"/>
                </a:solidFill>
              </a:rPr>
              <a:t>Mã nguồn và kịch bản đối kháng là sản phẩm độc lập của sinh viên, không phải thuật toán của Halpin (lưu vết tại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độc lập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spcAft>
                <a:spcPts val="800"/>
              </a:spcAft>
              <a:defRPr sz="1150" b="1">
                <a:solidFill>
                  <a:srgbClr val="0F172A"/>
                </a:solidFill>
              </a:defRPr>
            </a:pPr>
            <a:r>
              <a:t>1. NHIỄU vs ĐỐI THỦ CHỦ ĐÍCH</a:t>
            </a:r>
          </a:p>
          <a:p>
            <a:pPr>
              <a:defRPr sz="1000" b="1">
                <a:solidFill>
                  <a:srgbClr val="1E293B"/>
                </a:solidFill>
              </a:defRPr>
            </a:pPr>
            <a:r>
              <a:t>Luận điểm Halpin (Sec. 1–2):</a:t>
            </a:r>
          </a:p>
          <a:p>
            <a:pPr>
              <a:spcAft>
                <a:spcPts val="600"/>
              </a:spcAft>
              <a:defRPr sz="950">
                <a:solidFill>
                  <a:srgbClr val="475569"/>
                </a:solidFill>
              </a:defRPr>
            </a:pPr>
            <a:r>
              <a:t>Mã kiểm tra tuyến tính chỉ bắt lỗi ngẫu nhiên, không cản được đối thủ có chủ đích.</a:t>
            </a:r>
          </a:p>
          <a:p>
            <a:pPr>
              <a:defRPr sz="1000" b="1">
                <a:solidFill>
                  <a:srgbClr val="1E293B"/>
                </a:solidFill>
              </a:defRPr>
            </a:pPr>
            <a:r>
              <a:t>Minh họa độc lập (DT005):</a:t>
            </a:r>
          </a:p>
          <a:p>
            <a:pPr>
              <a:spcAft>
                <a:spcPts val="600"/>
              </a:spcAft>
              <a:defRPr sz="950">
                <a:solidFill>
                  <a:srgbClr val="475569"/>
                </a:solidFill>
              </a:defRPr>
            </a:pPr>
            <a:r>
              <a:t>Giải hệ phương trình GF(2) bù 4 byte qua mặt CRC32; SHA-256 phát hiện ngay nhờ tính phi tuyến.</a:t>
            </a:r>
          </a:p>
          <a:p>
            <a:pPr>
              <a:defRPr sz="1000" b="1">
                <a:solidFill>
                  <a:srgbClr val="1E293B"/>
                </a:solidFill>
              </a:defRPr>
            </a:pPr>
            <a:r>
              <a:t>Giới hạn diễn giải:</a:t>
            </a:r>
          </a:p>
          <a:p>
            <a:pPr>
              <a:defRPr sz="950">
                <a:solidFill>
                  <a:srgbClr val="64748B"/>
                </a:solidFill>
              </a:defRPr>
            </a:pPr>
            <a:r>
              <a:t>Chỉ minh họa kịch bản giả mạo cụ thể; không phủ nhận vai trò bắt lỗi phần cứng của CRC32.</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spcAft>
                <a:spcPts val="800"/>
              </a:spcAft>
              <a:defRPr sz="1150" b="1">
                <a:solidFill>
                  <a:srgbClr val="0F172A"/>
                </a:solidFill>
              </a:defRPr>
            </a:pPr>
            <a:r>
              <a:t>2. PHÂN TÁCH MIỀN NÚT LÁ</a:t>
            </a:r>
          </a:p>
          <a:p>
            <a:pPr>
              <a:defRPr sz="1000" b="1">
                <a:solidFill>
                  <a:srgbClr val="1E293B"/>
                </a:solidFill>
              </a:defRPr>
            </a:pPr>
            <a:r>
              <a:t>Gốc lý thuyết bài báo:</a:t>
            </a:r>
          </a:p>
          <a:p>
            <a:pPr>
              <a:spcAft>
                <a:spcPts val="600"/>
              </a:spcAft>
              <a:defRPr sz="950">
                <a:solidFill>
                  <a:srgbClr val="475569"/>
                </a:solidFill>
              </a:defRPr>
            </a:pPr>
            <a:r>
              <a:t>Halpin nhấn mạnh điểm mù cấu trúc dữ liệu, nhưng không đề cập cây Merkle.</a:t>
            </a:r>
          </a:p>
          <a:p>
            <a:pPr>
              <a:defRPr sz="1000" b="1">
                <a:solidFill>
                  <a:srgbClr val="1E293B"/>
                </a:solidFill>
              </a:defRPr>
            </a:pPr>
            <a:r>
              <a:t>Minh họa độc lập (DT005):</a:t>
            </a:r>
          </a:p>
          <a:p>
            <a:pPr>
              <a:spcAft>
                <a:spcPts val="600"/>
              </a:spcAft>
              <a:defRPr sz="950">
                <a:solidFill>
                  <a:srgbClr val="475569"/>
                </a:solidFill>
              </a:defRPr>
            </a:pPr>
            <a:r>
              <a:t>Cài đặt chuẩn RFC 6962 (tiền tố 0x00 cho lá, 0x01 cho nhánh) để tránh nhầm lẫn cấu trúc cây.</a:t>
            </a:r>
          </a:p>
          <a:p>
            <a:pPr>
              <a:defRPr sz="1000" b="1">
                <a:solidFill>
                  <a:srgbClr val="1E293B"/>
                </a:solidFill>
              </a:defRPr>
            </a:pPr>
            <a:r>
              <a:t>Giới hạn diễn giải:</a:t>
            </a:r>
          </a:p>
          <a:p>
            <a:pPr>
              <a:defRPr sz="950">
                <a:solidFill>
                  <a:srgbClr val="64748B"/>
                </a:solidFill>
              </a:defRPr>
            </a:pPr>
            <a:r>
              <a:t>Đây là giải pháp kỹ thuật độc lập do sinh viên tích hợp, không phải đề xuất của Halpin.</a:t>
            </a:r>
          </a:p>
        </p:txBody>
      </p:sp>
      <p:sp>
        <p:nvSpPr>
          <p:cNvPr id="10" name="Rounded Rectangle 9"/>
          <p:cNvSpPr/>
          <p:nvPr/>
        </p:nvSpPr>
        <p:spPr>
          <a:xfrm>
            <a:off x="80467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spcAft>
                <a:spcPts val="800"/>
              </a:spcAft>
              <a:defRPr sz="1150" b="1">
                <a:solidFill>
                  <a:srgbClr val="0F172A"/>
                </a:solidFill>
              </a:defRPr>
            </a:pPr>
            <a:r>
              <a:t>3. RÒ RỈ KÊNH KỀ THỜI GIAN</a:t>
            </a:r>
          </a:p>
          <a:p>
            <a:pPr>
              <a:defRPr sz="1000" b="1">
                <a:solidFill>
                  <a:srgbClr val="1E293B"/>
                </a:solidFill>
              </a:defRPr>
            </a:pPr>
            <a:r>
              <a:t>Luận điểm Halpin (Sec. 5):</a:t>
            </a:r>
          </a:p>
          <a:p>
            <a:pPr>
              <a:spcAft>
                <a:spcPts val="600"/>
              </a:spcAft>
              <a:defRPr sz="950">
                <a:solidFill>
                  <a:srgbClr val="475569"/>
                </a:solidFill>
              </a:defRPr>
            </a:pPr>
            <a:r>
              <a:t>Thời gian xử lý thực tế làm rò rỉ dữ liệu ngoài mô hình toán (dẫn Kocher 1996).</a:t>
            </a:r>
          </a:p>
          <a:p>
            <a:pPr>
              <a:defRPr sz="1000" b="1">
                <a:solidFill>
                  <a:srgbClr val="1E293B"/>
                </a:solidFill>
              </a:defRPr>
            </a:pPr>
            <a:r>
              <a:t>Minh họa độc lập (DT005):</a:t>
            </a:r>
          </a:p>
          <a:p>
            <a:pPr>
              <a:spcAft>
                <a:spcPts val="600"/>
              </a:spcAft>
              <a:defRPr sz="950">
                <a:solidFill>
                  <a:srgbClr val="475569"/>
                </a:solidFill>
              </a:defRPr>
            </a:pPr>
            <a:r>
              <a:t>Đo đạc so sánh chuỗi ngắt sớm làm rò rỉ ký tự; áp dụng hàm thời gian hằng số hmac.compare_digest.</a:t>
            </a:r>
          </a:p>
          <a:p>
            <a:pPr>
              <a:defRPr sz="1000" b="1">
                <a:solidFill>
                  <a:srgbClr val="1E293B"/>
                </a:solidFill>
              </a:defRPr>
            </a:pPr>
            <a:r>
              <a:t>Giới hạn diễn giải:</a:t>
            </a:r>
          </a:p>
          <a:p>
            <a:pPr>
              <a:defRPr sz="950">
                <a:solidFill>
                  <a:srgbClr val="64748B"/>
                </a:solidFill>
              </a:defRPr>
            </a:pPr>
            <a:r>
              <a:t>Chỉ minh họa rò rỉ logic ở mức phần mềm ứng dụng; đo trên Python có độ trễ hệ điều hành.</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Bảng đối chiếu minh bạch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377440"/>
            <a:ext cx="8534095" cy="2011680"/>
          </a:xfrm>
          <a:prstGeom prst="rect">
            <a:avLst/>
          </a:prstGeom>
          <a:noFill/>
        </p:spPr>
        <p:txBody>
          <a:bodyPr wrap="square">
            <a:spAutoFit/>
          </a:bodyPr>
          <a:lstStyle/>
          <a:p>
            <a:pPr algn="ctr">
              <a:defRPr sz="8800" b="1">
                <a:solidFill>
                  <a:srgbClr val="1E40AF"/>
                </a:solidFill>
                <a:latin typeface="Calibri"/>
              </a:defRPr>
            </a:pPr>
            <a:r>
              <a:t>DEMO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DIỄN TẬP ĐỐI KHÁNG (DEMO ARCHITECTURE)</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(2.485 tệp tin / ~112,81 MiB theo benchmark)</a:t>
            </a:r>
          </a:p>
        </p:txBody>
      </p:sp>
      <p:pic>
        <p:nvPicPr>
          <p:cNvPr id="6" name="Picture 5" descr="Slide14.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kiến trúc diễn tập đối kháng độc lập do sinh viên thiết kế minh họa các khái niệm an ninh.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định hướng nghiên cứu tiếp theo</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làm rõ khoảng cách giữa lý thuyết trừu tượng với an ninh thực tế.</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rõ ràng giữa công trình khảo cứu triết học của Halpin và các kịch bản thực nghiệm minh họa độc lập do sinh viên tự xây dựng.</a:t>
            </a:r>
          </a:p>
          <a:p>
            <a:pPr>
              <a:spcBef>
                <a:spcPts val="800"/>
              </a:spcBef>
            </a:pPr>
            <a:r>
              <a:rPr b="1" sz="1100">
                <a:solidFill>
                  <a:srgbClr val="1E293B"/>
                </a:solidFill>
              </a:rPr>
              <a:t>• Định hướng nghiên cứu cuối kỳ: </a:t>
            </a:r>
            <a:r>
              <a:rPr sz="1050">
                <a:solidFill>
                  <a:srgbClr val="475569"/>
                </a:solidFill>
              </a:rPr>
              <a:t>Tiếp tục nghiên cứu và hoàn thiện mô hình cấu trúc cây phân cấp tối ưu cho bài toán kiểm tra toàn vẹn dữ liệu, tiến hành đo đạc và đánh giá thực nghiệm toàn diện.</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Halpin (2025), Shannon (1949), Goldwasser-Micali (1984), Dolev-Yao (1983), Kocher (1996), RFC 6962.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