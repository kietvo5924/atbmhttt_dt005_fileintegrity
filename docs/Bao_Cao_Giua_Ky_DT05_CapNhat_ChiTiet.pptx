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822960"/>
            <a:ext cx="10362895" cy="53035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097280"/>
            <a:ext cx="9448495" cy="4754880"/>
          </a:xfrm>
          <a:prstGeom prst="rect">
            <a:avLst/>
          </a:prstGeom>
          <a:noFill/>
        </p:spPr>
        <p:txBody>
          <a:bodyPr wrap="square">
            <a:spAutoFit/>
          </a:bodyPr>
          <a:lstStyle/>
          <a:p>
            <a:pPr algn="ctr">
              <a:defRPr b="1" sz="1350">
                <a:solidFill>
                  <a:srgbClr val="1E3A8A"/>
                </a:solidFill>
              </a:defRPr>
            </a:pPr>
            <a:r>
              <a:t>TRƯỜNG ĐẠI HỌC KHOA HỌC TỰ NHIÊN - ĐẠI HỌC QUỐC GIA TP. HỒ CHÍ MINH</a:t>
            </a:r>
          </a:p>
          <a:p>
            <a:pPr algn="ctr">
              <a:spcAft>
                <a:spcPts val="1800"/>
              </a:spcAft>
              <a:defRPr sz="1150">
                <a:solidFill>
                  <a:srgbClr val="64748B"/>
                </a:solidFill>
              </a:defRPr>
            </a:pPr>
            <a:r>
              <a:t>KHOA CÔNG NGHỆ THÔNG TIN - BỘ MÔN AN TOÀN VÀ BẢO MẬT HỆ THỐNG THÔNG TIN</a:t>
            </a:r>
          </a:p>
          <a:p>
            <a:pPr algn="ctr">
              <a:defRPr b="1" sz="2200">
                <a:solidFill>
                  <a:srgbClr val="DC2626"/>
                </a:solidFill>
              </a:defRPr>
            </a:pPr>
            <a:r>
              <a:t>BÁO CÁO THUYẾT TRÌNH ĐỒ ÁN GIỮA KỲ</a:t>
            </a:r>
          </a:p>
          <a:p>
            <a:pPr algn="ctr">
              <a:spcAft>
                <a:spcPts val="1400"/>
              </a:spcAft>
              <a:defRPr b="1" sz="1650">
                <a:solidFill>
                  <a:srgbClr val="1E3A8A"/>
                </a:solidFill>
              </a:defRPr>
            </a:pPr>
            <a:r>
              <a:t>ĐỀ TÀI DT005: HỆ THỐNG KIỂM TRA TOÀN VẸN TỆP BẰNG SHA-256, HMAC VÀ CÂY MERKLE</a:t>
            </a:r>
          </a:p>
          <a:p>
            <a:pPr algn="ctr">
              <a:defRPr b="1" sz="1200">
                <a:solidFill>
                  <a:srgbClr val="2563EB"/>
                </a:solidFill>
              </a:defRPr>
            </a:pPr>
            <a:r>
              <a:t>Nghiên Cứu Và Tái Lập Dựa Trên Bài Báo Khoa Học Quốc Tế Gốc Tiếng Anh:</a:t>
            </a:r>
          </a:p>
          <a:p>
            <a:pPr algn="ctr">
              <a:spcAft>
                <a:spcPts val="1600"/>
              </a:spcAft>
              <a:defRPr sz="1150">
                <a:solidFill>
                  <a:srgbClr val="0F172A"/>
                </a:solidFill>
              </a:defRPr>
            </a:pPr>
            <a:r>
              <a:t>The Adversary: The Philosophy of Cryptography - Tác giả Harry Halpin</a:t>
            </a:r>
            <a:br/>
            <a:r>
              <a:t>Xuất bản trên Tạp chí An ninh mạng Oxford, Tập 11, Số 1, Năm 2025</a:t>
            </a:r>
          </a:p>
          <a:p>
            <a:pPr algn="ctr">
              <a:defRPr b="1" sz="1100">
                <a:solidFill>
                  <a:srgbClr val="059669"/>
                </a:solidFill>
              </a:defRPr>
            </a:pPr>
            <a:r>
              <a:t>Nội Dung Báo Cáo: Dịch thuật toàn văn bài báo, đối chiếu lý thuyết, kiểm chứng thực nghiệm trên 1.000 tệp tin thực tế và đề xuất giải pháp cải tiến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1: DỊCH BÀI BÁO VÀ TÓM TẮT NỘI DUNG</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1. Giới Thiệu Và Tóm Tắt Bài Báo Khoa Học Của Tác Giả Harry Halpin</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Hồ Sơ Bài Báo Và Luận Điểm Cốt Lõi</a:t>
            </a:r>
          </a:p>
          <a:p>
            <a:pPr>
              <a:spcBef>
                <a:spcPts val="500"/>
              </a:spcBef>
              <a:defRPr b="1" sz="1030">
                <a:solidFill>
                  <a:srgbClr val="2563EB"/>
                </a:solidFill>
              </a:defRPr>
            </a:pPr>
            <a:r>
              <a:t>• Tác giả và xuất bản:</a:t>
            </a:r>
          </a:p>
          <a:p>
            <a:pPr>
              <a:spcBef>
                <a:spcPts val="150"/>
              </a:spcBef>
              <a:defRPr sz="950">
                <a:solidFill>
                  <a:srgbClr val="0F172A"/>
                </a:solidFill>
              </a:defRPr>
            </a:pPr>
            <a:r>
              <a:t>Bài báo khoa học Kẻ thù: Triết học về mật mã học của TS. Harry Halpin thuộc Viện nghiên cứu khoa học máy tính Inria Pháp và Nym Technologies, đăng trên Tạp chí An ninh mạng Oxford năm 2025.</a:t>
            </a:r>
          </a:p>
          <a:p>
            <a:pPr>
              <a:spcBef>
                <a:spcPts val="500"/>
              </a:spcBef>
              <a:defRPr b="1" sz="1030">
                <a:solidFill>
                  <a:srgbClr val="2563EB"/>
                </a:solidFill>
              </a:defRPr>
            </a:pPr>
            <a:r>
              <a:t>• Luận điểm hạt nhân của bài báo:</a:t>
            </a:r>
          </a:p>
          <a:p>
            <a:pPr>
              <a:spcBef>
                <a:spcPts val="150"/>
              </a:spcBef>
              <a:defRPr sz="950">
                <a:solidFill>
                  <a:srgbClr val="0F172A"/>
                </a:solidFill>
              </a:defRPr>
            </a:pPr>
            <a:r>
              <a:t>Mật mã học không chỉ là công thức toán học trừu tượng. Linh hồn thực sự của ngành nằm ở mô hình đối đầu với Kẻ thù có chủ đích, luôn tìm cách phá hoại tính toàn vẹn của dữ liệu.</a:t>
            </a:r>
          </a:p>
          <a:p>
            <a:pPr>
              <a:spcBef>
                <a:spcPts val="500"/>
              </a:spcBef>
              <a:defRPr b="1" sz="1030">
                <a:solidFill>
                  <a:srgbClr val="2563EB"/>
                </a:solidFill>
              </a:defRPr>
            </a:pPr>
            <a:r>
              <a:t>• Khoảng cách giữa lý thuyết và thực tiễn:</a:t>
            </a:r>
          </a:p>
          <a:p>
            <a:pPr>
              <a:spcBef>
                <a:spcPts val="150"/>
              </a:spcBef>
              <a:defRPr sz="950">
                <a:solidFill>
                  <a:srgbClr val="0F172A"/>
                </a:solidFill>
              </a:defRPr>
            </a:pPr>
            <a:r>
              <a:t>Nhiều hệ thống chứng minh an toàn tuyệt đối trên giấy tờ nhưng khi triển khai thực tế lại sụp đổ trước các cuộc tấn công khai thác cấu trúc dữ liệu và kênh kề đo thời gian.</a:t>
            </a:r>
          </a:p>
          <a:p>
            <a:pPr>
              <a:spcBef>
                <a:spcPts val="500"/>
              </a:spcBef>
              <a:defRPr b="1" sz="1030">
                <a:solidFill>
                  <a:srgbClr val="2563EB"/>
                </a:solidFill>
              </a:defRPr>
            </a:pPr>
            <a:r>
              <a:t>• Định hướng nghiên cứu:</a:t>
            </a:r>
          </a:p>
          <a:p>
            <a:pPr>
              <a:spcBef>
                <a:spcPts val="150"/>
              </a:spcBef>
              <a:defRPr sz="950">
                <a:solidFill>
                  <a:srgbClr val="0F172A"/>
                </a:solidFill>
              </a:defRPr>
            </a:pPr>
            <a:r>
              <a:t>Đưa các nguyên lý mật mã học vào kiểm nghiệm thực nghiệm trên các hệ thống tệp tin phân cấp phức tạp thay vì chỉ dựa vào giả định lý thuyết đơn giản.</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aper_vietnamese_page1.png"/>
          <p:cNvPicPr>
            <a:picLocks noChangeAspect="1"/>
          </p:cNvPicPr>
          <p:nvPr/>
        </p:nvPicPr>
        <p:blipFill>
          <a:blip r:embed="rId2"/>
          <a:stretch>
            <a:fillRect/>
          </a:stretch>
        </p:blipFill>
        <p:spPr>
          <a:xfrm>
            <a:off x="7068270" y="1417320"/>
            <a:ext cx="3328499" cy="4297680"/>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Bản dịch tiếng Việt bài báo: Kẻ thù - Triết học về mật mã học</a:t>
            </a:r>
          </a:p>
          <a:p>
            <a:pPr>
              <a:defRPr sz="850">
                <a:solidFill>
                  <a:srgbClr val="64748B"/>
                </a:solidFill>
              </a:defRPr>
            </a:pPr>
            <a:r>
              <a:t>Trích xuất trực tiếp từ trang đầu tiên tệp PDF bản dịch của sinh viên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1: DỊCH BÀI BÁO VÀ TÓM TẮT NỘI DUNG</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2. Tóm Tắt Các Chương Trọng Tâm Của Bài Báo Từ Chương 1 Đến Chương 4</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Lý Thuyết Cốt Lõi Trong Chương 1 Đến Chương 4</a:t>
            </a:r>
          </a:p>
          <a:p>
            <a:pPr>
              <a:spcBef>
                <a:spcPts val="500"/>
              </a:spcBef>
              <a:defRPr b="1" sz="1030">
                <a:solidFill>
                  <a:srgbClr val="2563EB"/>
                </a:solidFill>
              </a:defRPr>
            </a:pPr>
            <a:r>
              <a:t>• Nhiễu ngẫu nhiên so với Kẻ thù có chủ đích (Mục 1-2):</a:t>
            </a:r>
          </a:p>
          <a:p>
            <a:pPr>
              <a:spcBef>
                <a:spcPts val="150"/>
              </a:spcBef>
              <a:defRPr sz="950">
                <a:solidFill>
                  <a:srgbClr val="0F172A"/>
                </a:solidFill>
              </a:defRPr>
            </a:pPr>
            <a:r>
              <a:t>Phân biệt rành mạch: Nhiễu đường truyền vật lý mang tính ngẫu nhiên, mã CRC32 xử lý tốt. Ngược lại, Kẻ thù mật mã có chủ ý sửa đổi dữ liệu và tính toán lại mã CRC32 mới chỉ trong 1 mili-giây do tính chất tuyến tính. Do đó CRC32 hoàn toàn vô dụng trước kẻ thù.</a:t>
            </a:r>
          </a:p>
          <a:p>
            <a:pPr>
              <a:spcBef>
                <a:spcPts val="500"/>
              </a:spcBef>
              <a:defRPr b="1" sz="1030">
                <a:solidFill>
                  <a:srgbClr val="2563EB"/>
                </a:solidFill>
              </a:defRPr>
            </a:pPr>
            <a:r>
              <a:t>• Bắt buộc dùng hàm băm mật mã học một chiều (Mục 2):</a:t>
            </a:r>
          </a:p>
          <a:p>
            <a:pPr>
              <a:spcBef>
                <a:spcPts val="150"/>
              </a:spcBef>
              <a:defRPr sz="950">
                <a:solidFill>
                  <a:srgbClr val="0F172A"/>
                </a:solidFill>
              </a:defRPr>
            </a:pPr>
            <a:r>
              <a:t>Giải pháp duy nhất là hàm băm một chiều như SHA-256 với hiệu ứng tuyết lở: sửa 1 bit dữ liệu làm biến đổi hơn 50% trong 256 bit băm, khiến kẻ thù không thể đảo ngược.</a:t>
            </a:r>
          </a:p>
          <a:p>
            <a:pPr>
              <a:spcBef>
                <a:spcPts val="500"/>
              </a:spcBef>
              <a:defRPr b="1" sz="1030">
                <a:solidFill>
                  <a:srgbClr val="2563EB"/>
                </a:solidFill>
              </a:defRPr>
            </a:pPr>
            <a:r>
              <a:t>• Nguyên lý Kerckhoffs về tính minh bạch (Mục 2-3):</a:t>
            </a:r>
          </a:p>
          <a:p>
            <a:pPr>
              <a:spcBef>
                <a:spcPts val="150"/>
              </a:spcBef>
              <a:defRPr sz="950">
                <a:solidFill>
                  <a:srgbClr val="0F172A"/>
                </a:solidFill>
              </a:defRPr>
            </a:pPr>
            <a:r>
              <a:t>Khẳng định: Hệ thống bảo mật tuyệt đối không được giấu kín thuật toán. Độ an toàn chỉ dựa vào tính bất khả nghịch của toán học và chuỗi băm gốc 32 byte.</a:t>
            </a:r>
          </a:p>
          <a:p>
            <a:pPr>
              <a:spcBef>
                <a:spcPts val="500"/>
              </a:spcBef>
              <a:defRPr b="1" sz="1030">
                <a:solidFill>
                  <a:srgbClr val="2563EB"/>
                </a:solidFill>
              </a:defRPr>
            </a:pPr>
            <a:r>
              <a:t>• Khắc phục giới hạn của Claude Shannon và Ralph Merkle (Mục 3-4):</a:t>
            </a:r>
          </a:p>
          <a:p>
            <a:pPr>
              <a:spcBef>
                <a:spcPts val="150"/>
              </a:spcBef>
              <a:defRPr sz="950">
                <a:solidFill>
                  <a:srgbClr val="0F172A"/>
                </a:solidFill>
              </a:defRPr>
            </a:pPr>
            <a:r>
              <a:t>Định lý Shannon: Giữ bí mật hoàn hảo đòi hỏi khóa dài bằng thông điệp. Cây Merkle giải quyết triệt để vấn đề này khi nén toàn bộ 1.000 tệp thành đúng 32 byte băm gốc.</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oof_ch1_to_ch4.png"/>
          <p:cNvPicPr>
            <a:picLocks noChangeAspect="1"/>
          </p:cNvPicPr>
          <p:nvPr/>
        </p:nvPicPr>
        <p:blipFill>
          <a:blip r:embed="rId2"/>
          <a:stretch>
            <a:fillRect/>
          </a:stretch>
        </p:blipFill>
        <p:spPr>
          <a:xfrm>
            <a:off x="6217920" y="2018713"/>
            <a:ext cx="5029200" cy="3094892"/>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Chứng minh lý thuyết: Nhiễu vs Kẻ thù &amp; Nguyên lý Kerckhoffs</a:t>
            </a:r>
          </a:p>
          <a:p>
            <a:pPr>
              <a:defRPr sz="850">
                <a:solidFill>
                  <a:srgbClr val="64748B"/>
                </a:solidFill>
              </a:defRPr>
            </a:pPr>
            <a:r>
              <a:t>Sơ đồ đối sánh bản chất toán học theo luận điểm Mục 1 đến Mục 4 của bài báo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1: DỊCH BÀI BÁO VÀ TÓM TẮT NỘI DUNG</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3. Tóm Tắt Các Chương Trọng Tâm Của Bài Báo Từ Chương 5 Đến Kết Luận</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Khung An Toàn Mật Mã Học Và Kêu Gọi Kiểm Nghiệm</a:t>
            </a:r>
          </a:p>
          <a:p>
            <a:pPr>
              <a:spcBef>
                <a:spcPts val="500"/>
              </a:spcBef>
              <a:defRPr b="1" sz="1030">
                <a:solidFill>
                  <a:srgbClr val="2563EB"/>
                </a:solidFill>
              </a:defRPr>
            </a:pPr>
            <a:r>
              <a:t>• Mục 4: Khung kiểm định an toàn mật mã học hiện đại:</a:t>
            </a:r>
          </a:p>
          <a:p>
            <a:pPr>
              <a:spcBef>
                <a:spcPts val="150"/>
              </a:spcBef>
              <a:defRPr sz="950">
                <a:solidFill>
                  <a:srgbClr val="0F172A"/>
                </a:solidFill>
              </a:defRPr>
            </a:pPr>
            <a:r>
              <a:t>Định nghĩa qua mô hình thách đấu toán học PPT của Goldwasser-Micali. Với SHA-256, kẻ địch cần 2 mũ 128 phép tính để tìm va chạm, vượt xa giới hạn năng lực tính toán của siêu máy tính.</a:t>
            </a:r>
          </a:p>
          <a:p>
            <a:pPr>
              <a:spcBef>
                <a:spcPts val="500"/>
              </a:spcBef>
              <a:defRPr b="1" sz="1030">
                <a:solidFill>
                  <a:srgbClr val="2563EB"/>
                </a:solidFill>
              </a:defRPr>
            </a:pPr>
            <a:r>
              <a:t>• Mục 5: Giới hạn của sự hình thức hóa toán học:</a:t>
            </a:r>
          </a:p>
          <a:p>
            <a:pPr>
              <a:spcBef>
                <a:spcPts val="150"/>
              </a:spcBef>
              <a:defRPr sz="950">
                <a:solidFill>
                  <a:srgbClr val="0F172A"/>
                </a:solidFill>
              </a:defRPr>
            </a:pPr>
            <a:r>
              <a:t>Cảnh báo tấn công kênh kề đo thời gian và tấn công giả mạo tiền ảnh cấp 2 trên cây Merkle phẳng nếu không phân tách miền dữ liệu chuẩn.</a:t>
            </a:r>
          </a:p>
          <a:p>
            <a:pPr>
              <a:spcBef>
                <a:spcPts val="500"/>
              </a:spcBef>
              <a:defRPr b="1" sz="1030">
                <a:solidFill>
                  <a:srgbClr val="2563EB"/>
                </a:solidFill>
              </a:defRPr>
            </a:pPr>
            <a:r>
              <a:t>• Mục 6: Kẻ thù mạng Dolev-Yao và Tiết lộ Snowden:</a:t>
            </a:r>
          </a:p>
          <a:p>
            <a:pPr>
              <a:spcBef>
                <a:spcPts val="150"/>
              </a:spcBef>
              <a:defRPr sz="950">
                <a:solidFill>
                  <a:srgbClr val="0F172A"/>
                </a:solidFill>
              </a:defRPr>
            </a:pPr>
            <a:r>
              <a:t>Kẻ thù kiểm soát toàn diện đường truyền mạng, có khả năng sửa đổi, tráo đổi gói tin và thu thập siêu dữ liệu. Chuẩn RFC 6962 Certificate Transparency là chìa khóa chống sửa đổi lén.</a:t>
            </a:r>
          </a:p>
          <a:p>
            <a:pPr>
              <a:spcBef>
                <a:spcPts val="500"/>
              </a:spcBef>
              <a:defRPr b="1" sz="1030">
                <a:solidFill>
                  <a:srgbClr val="2563EB"/>
                </a:solidFill>
              </a:defRPr>
            </a:pPr>
            <a:r>
              <a:t>• Mục 7 và Kết luận: Yêu cầu kiểm nghiệm thực nghiệm:</a:t>
            </a:r>
          </a:p>
          <a:p>
            <a:pPr>
              <a:spcBef>
                <a:spcPts val="150"/>
              </a:spcBef>
              <a:defRPr sz="950">
                <a:solidFill>
                  <a:srgbClr val="0F172A"/>
                </a:solidFill>
              </a:defRPr>
            </a:pPr>
            <a:r>
              <a:t>Tác giả nhấn mạnh: Mật mã học là khoa học thực nghiệm, bắt buộc phải đưa giải pháp vào đo đạc đối đầu trên các hệ thống tệp tin phức tạp ngoài đời thực.</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oof_attack_simulation.png"/>
          <p:cNvPicPr>
            <a:picLocks noChangeAspect="1"/>
          </p:cNvPicPr>
          <p:nvPr/>
        </p:nvPicPr>
        <p:blipFill>
          <a:blip r:embed="rId2"/>
          <a:stretch>
            <a:fillRect/>
          </a:stretch>
        </p:blipFill>
        <p:spPr>
          <a:xfrm>
            <a:off x="6217920" y="1940560"/>
            <a:ext cx="5029200" cy="3251200"/>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Chứng minh 3 kịch bản Kẻ tấn công chủ động trong đồ án</a:t>
            </a:r>
          </a:p>
          <a:p>
            <a:pPr>
              <a:defRPr sz="850">
                <a:solidFill>
                  <a:srgbClr val="64748B"/>
                </a:solidFill>
              </a:defRPr>
            </a:pPr>
            <a:r>
              <a:t>Hiện thực hóa đầy đủ 3 hành vi can thiệp được tác giả phân tích trong Mục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2: ĐỐI CHIẾU BÀI BÁO VÀ BÀI LÀM</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4. Bảng Đối Chiếu Trực Tiếp Giữa Bài Báo Gốc Và Bài Làm Của Nhóm</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6 Luận Điểm Đối Chiếu: Bài Báo Có Gì Nhóm Có Đó</a:t>
            </a:r>
          </a:p>
          <a:p>
            <a:pPr>
              <a:spcBef>
                <a:spcPts val="500"/>
              </a:spcBef>
              <a:defRPr b="1" sz="960">
                <a:solidFill>
                  <a:srgbClr val="2563EB"/>
                </a:solidFill>
              </a:defRPr>
            </a:pPr>
            <a:r>
              <a:t>1. Bản chất Kẻ tấn công (Mục 1-2 Trang 2-3) sang hàm băm SHA-256:</a:t>
            </a:r>
          </a:p>
          <a:p>
            <a:pPr>
              <a:spcBef>
                <a:spcPts val="150"/>
              </a:spcBef>
              <a:defRPr sz="880">
                <a:solidFill>
                  <a:srgbClr val="0F172A"/>
                </a:solidFill>
              </a:defRPr>
            </a:pPr>
            <a:r>
              <a:t>Bài báo chứng minh CRC32 tuyến tính bị vượt qua dễ dàng. Nhóm thay thế bằng SHA-256 phi tuyến tính, đạt hiệu ứng tuyết lở 51.95%, phát hiện 100% can thiệp.</a:t>
            </a:r>
          </a:p>
          <a:p>
            <a:pPr>
              <a:spcBef>
                <a:spcPts val="500"/>
              </a:spcBef>
              <a:defRPr b="1" sz="960">
                <a:solidFill>
                  <a:srgbClr val="2563EB"/>
                </a:solidFill>
              </a:defRPr>
            </a:pPr>
            <a:r>
              <a:t>2. Nguyên lý Kerckhoffs (Mục 2 Trang 3 Tài liệu [14, 15]) sang tính minh bạch:</a:t>
            </a:r>
          </a:p>
          <a:p>
            <a:pPr>
              <a:spcBef>
                <a:spcPts val="150"/>
              </a:spcBef>
              <a:defRPr sz="880">
                <a:solidFill>
                  <a:srgbClr val="0F172A"/>
                </a:solidFill>
              </a:defRPr>
            </a:pPr>
            <a:r>
              <a:t>Bài báo yêu cầu mở thuật toán, nhóm công khai toàn bộ mã nguồn và cấu trúc cây, độ an toàn chỉ dựa vào chuỗi băm gốc 32 byte không thể đảo ngược.</a:t>
            </a:r>
          </a:p>
          <a:p>
            <a:pPr>
              <a:spcBef>
                <a:spcPts val="500"/>
              </a:spcBef>
              <a:defRPr b="1" sz="960">
                <a:solidFill>
                  <a:srgbClr val="2563EB"/>
                </a:solidFill>
              </a:defRPr>
            </a:pPr>
            <a:r>
              <a:t>3. Kẻ thù chủ động Dolev-Yao (Mục 4 Trang 8 Tài liệu [52]) sang 3 kịch bản tấn công:</a:t>
            </a:r>
          </a:p>
          <a:p>
            <a:pPr>
              <a:spcBef>
                <a:spcPts val="150"/>
              </a:spcBef>
              <a:defRPr sz="880">
                <a:solidFill>
                  <a:srgbClr val="0F172A"/>
                </a:solidFill>
              </a:defRPr>
            </a:pPr>
            <a:r>
              <a:t>Bài báo chỉ rõ kẻ thù can thiệp gói tin, nhóm lập trình đủ 3 nút mô phỏng can thiệp: Đảo bit, Bơm tệp lạ và Xóa tệp trên giao diện web.</a:t>
            </a:r>
          </a:p>
          <a:p>
            <a:pPr>
              <a:spcBef>
                <a:spcPts val="500"/>
              </a:spcBef>
              <a:defRPr b="1" sz="960">
                <a:solidFill>
                  <a:srgbClr val="2563EB"/>
                </a:solidFill>
              </a:defRPr>
            </a:pPr>
            <a:r>
              <a:t>4. Cảnh báo thông điệp biến thiên (Mục 5 Trang 10) sang 1.000 tệp thực tế:</a:t>
            </a:r>
          </a:p>
          <a:p>
            <a:pPr>
              <a:spcBef>
                <a:spcPts val="150"/>
              </a:spcBef>
              <a:defRPr sz="880">
                <a:solidFill>
                  <a:srgbClr val="0F172A"/>
                </a:solidFill>
              </a:defRPr>
            </a:pPr>
            <a:r>
              <a:t>Bài báo cảnh báo dữ liệu thực tế luôn phân cấp và dài ngắn khác nhau, nhóm xây dựng tập 1.000 tệp tin từ 15 byte đến 350 KB thuộc 14 định dạng.</a:t>
            </a:r>
          </a:p>
          <a:p>
            <a:pPr>
              <a:spcBef>
                <a:spcPts val="500"/>
              </a:spcBef>
              <a:defRPr b="1" sz="960">
                <a:solidFill>
                  <a:srgbClr val="2563EB"/>
                </a:solidFill>
              </a:defRPr>
            </a:pPr>
            <a:r>
              <a:t>5. Nguy cơ va chạm ghép chuỗi (Mục 5 Trang 8-10) sang chuẩn RFC 6962:</a:t>
            </a:r>
          </a:p>
          <a:p>
            <a:pPr>
              <a:spcBef>
                <a:spcPts val="150"/>
              </a:spcBef>
              <a:defRPr sz="880">
                <a:solidFill>
                  <a:srgbClr val="0F172A"/>
                </a:solidFill>
              </a:defRPr>
            </a:pPr>
            <a:r>
              <a:t>Bài báo cảnh báo nguy cơ ghép chuỗi thô, nhóm áp dụng chuẩn RFC 6962 gắn tiền tố 0x00 cho lá và 0x01 cho nhánh, triệt tiêu 100% va chạm.</a:t>
            </a:r>
          </a:p>
          <a:p>
            <a:pPr>
              <a:spcBef>
                <a:spcPts val="500"/>
              </a:spcBef>
              <a:defRPr b="1" sz="960">
                <a:solidFill>
                  <a:srgbClr val="2563EB"/>
                </a:solidFill>
              </a:defRPr>
            </a:pPr>
            <a:r>
              <a:t>6. Kêu gọi kiểm nghiệm thực nghiệm (Mục 7 Trang 14-15) sang đo đạc đối chuẩn:</a:t>
            </a:r>
          </a:p>
          <a:p>
            <a:pPr>
              <a:spcBef>
                <a:spcPts val="150"/>
              </a:spcBef>
              <a:defRPr sz="880">
                <a:solidFill>
                  <a:srgbClr val="0F172A"/>
                </a:solidFill>
              </a:defRPr>
            </a:pPr>
            <a:r>
              <a:t>Bài báo yêu cầu đo thực tế, nhóm đo đạc đối đầu 4 cơ chế trên 1.000 tệp tin với 5 lần lặp CPU perf_counter độc lập.</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ping_matrix_diagram.png"/>
          <p:cNvPicPr>
            <a:picLocks noChangeAspect="1"/>
          </p:cNvPicPr>
          <p:nvPr/>
        </p:nvPicPr>
        <p:blipFill>
          <a:blip r:embed="rId2"/>
          <a:stretch>
            <a:fillRect/>
          </a:stretch>
        </p:blipFill>
        <p:spPr>
          <a:xfrm>
            <a:off x="6217920" y="1941830"/>
            <a:ext cx="5029200" cy="3248660"/>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Sơ đồ ma trận đối chiếu trực tiếp giữa bài báo và đồ án</a:t>
            </a:r>
          </a:p>
          <a:p>
            <a:pPr>
              <a:defRPr sz="850">
                <a:solidFill>
                  <a:srgbClr val="64748B"/>
                </a:solidFill>
              </a:defRPr>
            </a:pPr>
            <a:r>
              <a:t>Minh chứng rõ nét: Mọi luận điểm học thuật của tác giả đều được hiện thực hóa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2: ĐỐI CHIẾU BÀI BÁO VÀ BÀI LÀM</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5. Dẫn Chứng Chứng Minh Chi Tiết Điểm Đối Chiếu 1, 2 Và 3</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Cơ Sở Lý Thuyết Và Bằng Chứng Đo Đạc Thực Tế</a:t>
            </a:r>
          </a:p>
          <a:p>
            <a:pPr>
              <a:spcBef>
                <a:spcPts val="500"/>
              </a:spcBef>
              <a:defRPr b="1" sz="960">
                <a:solidFill>
                  <a:srgbClr val="2563EB"/>
                </a:solidFill>
              </a:defRPr>
            </a:pPr>
            <a:r>
              <a:t>• Điểm 1: Kẻ tấn công có chủ đích so với Nhiễu (Mục 1-2 Trang 2-3):</a:t>
            </a:r>
          </a:p>
          <a:p>
            <a:pPr>
              <a:spcBef>
                <a:spcPts val="150"/>
              </a:spcBef>
              <a:defRPr sz="880">
                <a:solidFill>
                  <a:srgbClr val="0F172A"/>
                </a:solidFill>
              </a:defRPr>
            </a:pPr>
            <a:r>
              <a:t>- Lý thuyết bài báo: CRC32 có tính chất tuyến tính CRC(A ⊕ B) = CRC(A) ⊕ CRC(B), kẻ tấn công dễ dàng tạo ra vi sai bù trừ chỉ trong 0.001 ms để giữ nguyên mã CRC.</a:t>
            </a:r>
            <a:br/>
            <a:r>
              <a:t>- Dẫn chứng chứng minh: Nhóm kiểm nghiệm thực tế trên sha256_manifest.py. Khi đổi 1 bit ký tự trong tệp 350 KB, SHA-256 biến đổi 133/256 bit băm (51.95%), chuỗi băm 64 ký tự sai khác hoàn toàn, báo động tức thì 100%.</a:t>
            </a:r>
          </a:p>
          <a:p>
            <a:pPr>
              <a:spcBef>
                <a:spcPts val="500"/>
              </a:spcBef>
              <a:defRPr b="1" sz="960">
                <a:solidFill>
                  <a:srgbClr val="2563EB"/>
                </a:solidFill>
              </a:defRPr>
            </a:pPr>
            <a:r>
              <a:t>• Điểm 2: Nguyên lý Kerckhoffs về tính minh bạch (Mục 2 Trang 3 Tài liệu [14, 15]):</a:t>
            </a:r>
          </a:p>
          <a:p>
            <a:pPr>
              <a:spcBef>
                <a:spcPts val="150"/>
              </a:spcBef>
              <a:defRPr sz="880">
                <a:solidFill>
                  <a:srgbClr val="0F172A"/>
                </a:solidFill>
              </a:defRPr>
            </a:pPr>
            <a:r>
              <a:t>- Lý thuyết bài báo: Độ an toàn của hệ thống không được dựa vào sự bí mật của mã nguồn mà chỉ dựa vào khóa hoặc giá trị băm tin cậy.</a:t>
            </a:r>
            <a:br/>
            <a:r>
              <a:t>- Dẫn chứng chứng minh: Nhóm công khai toàn bộ mã nguồn trên máy chủ, công khai cấu trúc cây Merkle. Người kiểm tra chỉ cần nắm giữ đúng chuỗi băm gốc 32 byte (256 bit) có không gian tìm kiếm 2 mũ 256, bất khả thi đối với mọi siêu máy tính.</a:t>
            </a:r>
          </a:p>
          <a:p>
            <a:pPr>
              <a:spcBef>
                <a:spcPts val="500"/>
              </a:spcBef>
              <a:defRPr b="1" sz="960">
                <a:solidFill>
                  <a:srgbClr val="2563EB"/>
                </a:solidFill>
              </a:defRPr>
            </a:pPr>
            <a:r>
              <a:t>• Điểm 3: Ba hành vi kẻ thù chủ động Dolev-Yao (Mục 4 Trang 8 Tài liệu [52]):</a:t>
            </a:r>
          </a:p>
          <a:p>
            <a:pPr>
              <a:spcBef>
                <a:spcPts val="150"/>
              </a:spcBef>
              <a:defRPr sz="880">
                <a:solidFill>
                  <a:srgbClr val="0F172A"/>
                </a:solidFill>
              </a:defRPr>
            </a:pPr>
            <a:r>
              <a:t>- Lý thuyết bài báo: Kẻ tấn công mạng có toàn quyền can thiệp, đánh tráo và giả mạo thông điệp.</a:t>
            </a:r>
            <a:br/>
            <a:r>
              <a:t>- Dẫn chứng chứng minh: Lập trình sẵn 3 nút mô phỏng tấn công trong web_demo.py. Thao tác trên 1.000 tệp tin cho thấy hệ thống phát hiện chính xác 100% tệp bị can thiệp và định vị trong 0.228 ms.</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ve_web_attack_alert.png"/>
          <p:cNvPicPr>
            <a:picLocks noChangeAspect="1"/>
          </p:cNvPicPr>
          <p:nvPr/>
        </p:nvPicPr>
        <p:blipFill>
          <a:blip r:embed="rId2"/>
          <a:stretch>
            <a:fillRect/>
          </a:stretch>
        </p:blipFill>
        <p:spPr>
          <a:xfrm>
            <a:off x="6217920" y="2449015"/>
            <a:ext cx="5029200" cy="2234288"/>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Ảnh chụp thực tế web demo: Báo động tức thì khi bị tấn công đảo bit</a:t>
            </a:r>
          </a:p>
          <a:p>
            <a:pPr>
              <a:defRPr sz="850">
                <a:solidFill>
                  <a:srgbClr val="64748B"/>
                </a:solidFill>
              </a:defRPr>
            </a:pPr>
            <a:r>
              <a:t>Hệ thống phát hiện sai lệch và khoanh vùng chính xác tệp tin vi phạm trên 1.000 tệp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2: ĐỐI CHIẾU BÀI BÁO VÀ BÀI LÀM</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6. Dẫn Chứng Chứng Minh Chi Tiết Điểm Đối Chiếu 4, 5 Và 6</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Chứng Minh Toán Học Và Khảo Nghiệm Thực Tế</a:t>
            </a:r>
          </a:p>
          <a:p>
            <a:pPr>
              <a:spcBef>
                <a:spcPts val="500"/>
              </a:spcBef>
              <a:defRPr b="1" sz="960">
                <a:solidFill>
                  <a:srgbClr val="2563EB"/>
                </a:solidFill>
              </a:defRPr>
            </a:pPr>
            <a:r>
              <a:t>• Điểm 4: Nguy cơ va chạm ghép chuỗi và Chuẩn RFC 6962 (Mục 5 Trang 8-10):</a:t>
            </a:r>
          </a:p>
          <a:p>
            <a:pPr>
              <a:spcBef>
                <a:spcPts val="150"/>
              </a:spcBef>
              <a:defRPr sz="880">
                <a:solidFill>
                  <a:srgbClr val="0F172A"/>
                </a:solidFill>
              </a:defRPr>
            </a:pPr>
            <a:r>
              <a:t>- Lý thuyết bài báo: Cây Merkle thông thường nếu băm nút lá và nhánh cùng chung định dạng H(a || b) sẽ bị tấn công tráo đổi lá thành nhánh.</a:t>
            </a:r>
            <a:br/>
            <a:r>
              <a:t>- Dẫn chứng toán học: Nhóm áp dụng RFC 6962 phân tách miền: Lá = H(0x00 || Dữ liệu) và Nhánh = H(0x01 || Trái || Phải). Do tập tiền tố rời nhau, xác suất va chạm giả mạo triệt tiêu về dưới 2 mũ âm 128, chứng minh an toàn tuyệt đối.</a:t>
            </a:r>
          </a:p>
          <a:p>
            <a:pPr>
              <a:spcBef>
                <a:spcPts val="500"/>
              </a:spcBef>
              <a:defRPr b="1" sz="960">
                <a:solidFill>
                  <a:srgbClr val="2563EB"/>
                </a:solidFill>
              </a:defRPr>
            </a:pPr>
            <a:r>
              <a:t>• Điểm 5: Xác minh cục bộ O(log N) của Ralph Merkle (Mục 4 Trang 5 Tài liệu [27]):</a:t>
            </a:r>
          </a:p>
          <a:p>
            <a:pPr>
              <a:spcBef>
                <a:spcPts val="150"/>
              </a:spcBef>
              <a:defRPr sz="880">
                <a:solidFill>
                  <a:srgbClr val="0F172A"/>
                </a:solidFill>
              </a:defRPr>
            </a:pPr>
            <a:r>
              <a:t>- Lý thuyết bài báo: Bằng chứng Merkle cho phép xác minh độc lập 1 tệp với độ phức tạp O(log N) thay vì phải tải và kiểm tra toàn bộ O(N) tệp tin.</a:t>
            </a:r>
            <a:br/>
            <a:r>
              <a:t>- Dẫn chứng số liệu: Trên 1.000 tệp tin, chiều cao cây chỉ là 10 tầng băm. Kích thước bằng chứng chỉ 1.45 KB so với toàn bộ danh mục 111.13 KB, tiết kiệm 98.7% băng thông mạng và thời gian xác minh chỉ mất 0.228 ms.</a:t>
            </a:r>
          </a:p>
          <a:p>
            <a:pPr>
              <a:spcBef>
                <a:spcPts val="500"/>
              </a:spcBef>
              <a:defRPr b="1" sz="960">
                <a:solidFill>
                  <a:srgbClr val="2563EB"/>
                </a:solidFill>
              </a:defRPr>
            </a:pPr>
            <a:r>
              <a:t>• Điểm 6: Lời kêu gọi kiểm nghiệm thực tế (Mục 7 Trang 14-15):</a:t>
            </a:r>
          </a:p>
          <a:p>
            <a:pPr>
              <a:spcBef>
                <a:spcPts val="150"/>
              </a:spcBef>
              <a:defRPr sz="880">
                <a:solidFill>
                  <a:srgbClr val="0F172A"/>
                </a:solidFill>
              </a:defRPr>
            </a:pPr>
            <a:r>
              <a:t>- Lý thuyết bài báo: Mật mã học đòi hỏi đánh giá trên dữ liệu thực tế biến thiên kích thước.</a:t>
            </a:r>
            <a:br/>
            <a:r>
              <a:t>- Dẫn chứng thực thi: Nhóm xây dựng 1.000 tệp tin thực tế, đo đạc độc lập 5 lần bằng hàm CPU thời gian thực perf_counter.</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oof_rfc6962_second_preimage.png"/>
          <p:cNvPicPr>
            <a:picLocks noChangeAspect="1"/>
          </p:cNvPicPr>
          <p:nvPr/>
        </p:nvPicPr>
        <p:blipFill>
          <a:blip r:embed="rId2"/>
          <a:stretch>
            <a:fillRect/>
          </a:stretch>
        </p:blipFill>
        <p:spPr>
          <a:xfrm>
            <a:off x="6217920" y="1903614"/>
            <a:ext cx="5029200" cy="3325090"/>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Chứng minh toán học và mã nguồn chuẩn quốc tế RFC 6962</a:t>
            </a:r>
          </a:p>
          <a:p>
            <a:pPr>
              <a:defRPr sz="850">
                <a:solidFill>
                  <a:srgbClr val="64748B"/>
                </a:solidFill>
              </a:defRPr>
            </a:pPr>
            <a:r>
              <a:t>Tách biệt hoàn toàn không gian băm giữa nút lá và nhánh cây, ngăn chặn giả mạo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3: CHỨNG MINH TẬP DỮ LIỆU SO VỚI BÀI BÁO</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7. Chứng Minh Tập Dữ Liệu Tự Tạo Phù Hợp Hoàn Toàn Với Bài Báo</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Đối Chiếu Khoa Học Của Tập Dữ Liệu 1.000 Tệp Tin</a:t>
            </a:r>
          </a:p>
          <a:p>
            <a:pPr>
              <a:spcBef>
                <a:spcPts val="500"/>
              </a:spcBef>
              <a:defRPr b="1" sz="980">
                <a:solidFill>
                  <a:srgbClr val="2563EB"/>
                </a:solidFill>
              </a:defRPr>
            </a:pPr>
            <a:r>
              <a:t>• 1. Đối chiếu Bài báo khoa học (Mục 5 Trang 10 Dòng 1-4 - Quan trọng nhất):</a:t>
            </a:r>
          </a:p>
          <a:p>
            <a:pPr>
              <a:spcBef>
                <a:spcPts val="150"/>
              </a:spcBef>
              <a:defRPr sz="900">
                <a:solidFill>
                  <a:srgbClr val="0F172A"/>
                </a:solidFill>
              </a:defRPr>
            </a:pPr>
            <a:r>
              <a:t>Harry Halpin nhấn mạnh: Trong thực tế thông điệp luôn có kích thước dài ngắn biến thiên và cấu trúc cây phân cấp nhiều tầng. Nếu chỉ kiểm nghiệm trên dữ liệu phẳng hoặc các tệp tin có kích thước nhân tạo giống nhau sẽ che giấu các lỗ hổng tắc nghẽn và rò rỉ siêu dữ liệu.</a:t>
            </a:r>
          </a:p>
          <a:p>
            <a:pPr>
              <a:spcBef>
                <a:spcPts val="500"/>
              </a:spcBef>
              <a:defRPr b="1" sz="980">
                <a:solidFill>
                  <a:srgbClr val="2563EB"/>
                </a:solidFill>
              </a:defRPr>
            </a:pPr>
            <a:r>
              <a:t>• 2. Đối chiếu Terminal Log và Giao diện Web Demo:</a:t>
            </a:r>
          </a:p>
          <a:p>
            <a:pPr>
              <a:spcBef>
                <a:spcPts val="150"/>
              </a:spcBef>
              <a:defRPr sz="900">
                <a:solidFill>
                  <a:srgbClr val="0F172A"/>
                </a:solidFill>
              </a:defRPr>
            </a:pPr>
            <a:r>
              <a:t>- Giao diện Web hiển thị chính xác: Tổng số tệp tin: 1.000 tệp.</a:t>
            </a:r>
            <a:br/>
            <a:r>
              <a:t>- Terminal nạp dữ liệu ghi nhận: 1.000 tệp tin, 23 thư mục phân cấp sâu 4 tầng, tổng dung lượng xấp xỉ 4.1 MB, phân bố phong phú trên 14 định dạng mở rộng (py, js, json, yaml, sql, log, csv, png, txt, docx...).</a:t>
            </a:r>
          </a:p>
          <a:p>
            <a:pPr>
              <a:spcBef>
                <a:spcPts val="500"/>
              </a:spcBef>
              <a:defRPr b="1" sz="980">
                <a:solidFill>
                  <a:srgbClr val="2563EB"/>
                </a:solidFill>
              </a:defRPr>
            </a:pPr>
            <a:r>
              <a:t>• 3. Giải thích ngắn gọn ý nghĩa khoa học:</a:t>
            </a:r>
          </a:p>
          <a:p>
            <a:pPr>
              <a:spcBef>
                <a:spcPts val="150"/>
              </a:spcBef>
              <a:defRPr sz="900">
                <a:solidFill>
                  <a:srgbClr val="0F172A"/>
                </a:solidFill>
              </a:defRPr>
            </a:pPr>
            <a:r>
              <a:t>Tập 1.000 tệp tin với kích thước từ 15 byte đến 350 KB tái hiện trọn vẹn áp lực vận hành thực tế của doanh nghiệp, chứng minh khả năng chịu tải và độ phức tạp tính toán O(log N) thực sự của hệ thống.</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taset_architecture_diagram.png"/>
          <p:cNvPicPr>
            <a:picLocks noChangeAspect="1"/>
          </p:cNvPicPr>
          <p:nvPr/>
        </p:nvPicPr>
        <p:blipFill>
          <a:blip r:embed="rId2"/>
          <a:stretch>
            <a:fillRect/>
          </a:stretch>
        </p:blipFill>
        <p:spPr>
          <a:xfrm>
            <a:off x="6217920" y="1970380"/>
            <a:ext cx="5029200" cy="3191559"/>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Sơ đồ cấu trúc cây thư mục 1.000 tệp tin trong realistic_dataset</a:t>
            </a:r>
          </a:p>
          <a:p>
            <a:pPr>
              <a:defRPr sz="850">
                <a:solidFill>
                  <a:srgbClr val="64748B"/>
                </a:solidFill>
              </a:defRPr>
            </a:pPr>
            <a:r>
              <a:t>Chứng minh tập dữ liệu phản ánh chính xác luận điểm thông điệp nhiều kích cỡ của bài báo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4: XÂY DỰNG CÁC MÔ HÌNH VÀ KẾT QUẢ</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8. Hiện Thực Hóa 3 Mô Hình Kiểm Tra Toàn Vẹn Nền Tảng</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Đặc Điểm Kỹ Thuật Và Kết Quả Đo Đạc 3 Mô Hình</a:t>
            </a:r>
          </a:p>
          <a:p>
            <a:pPr>
              <a:spcBef>
                <a:spcPts val="500"/>
              </a:spcBef>
              <a:defRPr b="1" sz="960">
                <a:solidFill>
                  <a:srgbClr val="2563EB"/>
                </a:solidFill>
              </a:defRPr>
            </a:pPr>
            <a:r>
              <a:t>• Mô hình 1: Danh sách phẳng băm SHA-256 (sha256_manifest.py):</a:t>
            </a:r>
          </a:p>
          <a:p>
            <a:pPr>
              <a:spcBef>
                <a:spcPts val="150"/>
              </a:spcBef>
              <a:defRPr sz="880">
                <a:solidFill>
                  <a:srgbClr val="0F172A"/>
                </a:solidFill>
              </a:defRPr>
            </a:pPr>
            <a:r>
              <a:t>- Nguyên lý: Băm tuần tự từng tệp tin và lưu chuỗi băm tổng hợp.</a:t>
            </a:r>
            <a:br/>
            <a:r>
              <a:t>- Bằng chứng thực nghiệm: Khởi tạo 0.433 s, dung lượng bảng 111.13 KB. Hạn chế lớn: Muốn kiểm tra 1 tệp tin, máy khách bắt buộc phải tải về toàn bộ danh sách 111 KB và quét lại 1.000 tệp (mất 58.90 ms).</a:t>
            </a:r>
          </a:p>
          <a:p>
            <a:pPr>
              <a:spcBef>
                <a:spcPts val="500"/>
              </a:spcBef>
              <a:defRPr b="1" sz="960">
                <a:solidFill>
                  <a:srgbClr val="2563EB"/>
                </a:solidFill>
              </a:defRPr>
            </a:pPr>
            <a:r>
              <a:t>• Mô hình 2: Danh sách băm có khóa bí mật HMAC (hmac_manifest.py):</a:t>
            </a:r>
          </a:p>
          <a:p>
            <a:pPr>
              <a:spcBef>
                <a:spcPts val="150"/>
              </a:spcBef>
              <a:defRPr sz="880">
                <a:solidFill>
                  <a:srgbClr val="0F172A"/>
                </a:solidFill>
              </a:defRPr>
            </a:pPr>
            <a:r>
              <a:t>- Nguyên lý: Sử dụng khóa bí mật đối xứng K để chống giả mạo danh mục.</a:t>
            </a:r>
            <a:br/>
            <a:r>
              <a:t>- Bằng chứng thực nghiệm: Khởi tạo 0.065 s, dung lượng 111.14 KB. Hạn chế nghiêm trọng: Buộc phải phân phối khóa K cho các máy khách, nếu 1 máy bị chiếm quyền thì toàn bộ hệ thống sụp đổ.</a:t>
            </a:r>
          </a:p>
          <a:p>
            <a:pPr>
              <a:spcBef>
                <a:spcPts val="500"/>
              </a:spcBef>
              <a:defRPr b="1" sz="960">
                <a:solidFill>
                  <a:srgbClr val="2563EB"/>
                </a:solidFill>
              </a:defRPr>
            </a:pPr>
            <a:r>
              <a:t>• Mô hình 3: Cây Merkle nhị phân truyền thống (standard_merkle_tree.py):</a:t>
            </a:r>
          </a:p>
          <a:p>
            <a:pPr>
              <a:spcBef>
                <a:spcPts val="150"/>
              </a:spcBef>
              <a:defRPr sz="880">
                <a:solidFill>
                  <a:srgbClr val="0F172A"/>
                </a:solidFill>
              </a:defRPr>
            </a:pPr>
            <a:r>
              <a:t>- Nguyên lý: Cây Merkle phẳng chuẩn theo phát minh Ralph Merkle năm 1978.</a:t>
            </a:r>
            <a:br/>
            <a:r>
              <a:t>- Bằng chứng thực nghiệm: Cho phép tạo bằng chứng xác thực từng tệp nặng chỉ 986 byte, kiểm tra trong 0.154 ms, tiết kiệm hơn 98% băng thông.</a:t>
            </a:r>
          </a:p>
          <a:p>
            <a:pPr>
              <a:spcBef>
                <a:spcPts val="500"/>
              </a:spcBef>
              <a:defRPr b="1" sz="960">
                <a:solidFill>
                  <a:srgbClr val="2563EB"/>
                </a:solidFill>
              </a:defRPr>
            </a:pPr>
            <a:r>
              <a:t>• Đánh giá kết quả:</a:t>
            </a:r>
          </a:p>
          <a:p>
            <a:pPr>
              <a:spcBef>
                <a:spcPts val="150"/>
              </a:spcBef>
              <a:defRPr sz="880">
                <a:solidFill>
                  <a:srgbClr val="0F172A"/>
                </a:solidFill>
              </a:defRPr>
            </a:pPr>
            <a:r>
              <a:t>Cả 3 mô hình đều phát hiện chính xác 100% khi xảy ra tấn công trên 1.000 tệp tin.</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ve_web_1000_files_main.png"/>
          <p:cNvPicPr>
            <a:picLocks noChangeAspect="1"/>
          </p:cNvPicPr>
          <p:nvPr/>
        </p:nvPicPr>
        <p:blipFill>
          <a:blip r:embed="rId2"/>
          <a:stretch>
            <a:fillRect/>
          </a:stretch>
        </p:blipFill>
        <p:spPr>
          <a:xfrm>
            <a:off x="6217920" y="2449015"/>
            <a:ext cx="5029200" cy="2234288"/>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Ảnh chụp thực tế web demo khi nạp 1.000 tệp tin nguyên bản</a:t>
            </a:r>
          </a:p>
          <a:p>
            <a:pPr>
              <a:defRPr sz="850">
                <a:solidFill>
                  <a:srgbClr val="64748B"/>
                </a:solidFill>
              </a:defRPr>
            </a:pPr>
            <a:r>
              <a:t>Xác nhận hệ thống khởi tạo và kiểm tra toàn vẹn 1.000 tệp đạt tỷ lệ chính xác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4: XÂY DỰNG CÁC MÔ HÌNH VÀ KẾT QUẢ</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9. Tự Xây Dựng Mô Hình Cải Tiến Cây Merkle Phân Cấp Nâng Cao</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4 Dẫn Chứng Chứng Minh Cải Tiến Do Nhóm Tự Xây Dựng</a:t>
            </a:r>
          </a:p>
          <a:p>
            <a:pPr>
              <a:spcBef>
                <a:spcPts val="500"/>
              </a:spcBef>
              <a:defRPr b="1" sz="960">
                <a:solidFill>
                  <a:srgbClr val="2563EB"/>
                </a:solidFill>
              </a:defRPr>
            </a:pPr>
            <a:r>
              <a:t>• 1. Ánh xạ trực tiếp cấu trúc thư mục tự nhiên theo mô hình Biba 1977:</a:t>
            </a:r>
          </a:p>
          <a:p>
            <a:pPr>
              <a:spcBef>
                <a:spcPts val="150"/>
              </a:spcBef>
              <a:defRPr sz="880">
                <a:solidFill>
                  <a:srgbClr val="0F172A"/>
                </a:solidFill>
              </a:defRPr>
            </a:pPr>
            <a:r>
              <a:t>- Chứng minh: Cây Merkle phản chiếu chính xác từng thư mục cha, con. Nhờ đó, thuật toán định vị lỗi chỉ duyệt theo nhánh vi phạm trong O(k log N) thay vì duyệt toàn bộ O(N) 1.000 tệp tin, xác định tệp hỏng chỉ trong 0.228 ms.</a:t>
            </a:r>
          </a:p>
          <a:p>
            <a:pPr>
              <a:spcBef>
                <a:spcPts val="500"/>
              </a:spcBef>
              <a:defRPr b="1" sz="960">
                <a:solidFill>
                  <a:srgbClr val="2563EB"/>
                </a:solidFill>
              </a:defRPr>
            </a:pPr>
            <a:r>
              <a:t>• 2. Chuẩn phân tách miền RFC 6962 triệt tiêu va chạm:</a:t>
            </a:r>
          </a:p>
          <a:p>
            <a:pPr>
              <a:spcBef>
                <a:spcPts val="150"/>
              </a:spcBef>
              <a:defRPr sz="880">
                <a:solidFill>
                  <a:srgbClr val="0F172A"/>
                </a:solidFill>
              </a:defRPr>
            </a:pPr>
            <a:r>
              <a:t>- Chứng minh: Gắn tiền tố byte 0x00 cho lá và 0x01 cho nhánh. Không gian băm nút lá và nhánh hoàn toàn tách biệt, triệt tiêu 100% tấn công giả mạo tiền ảnh cấp 2 với xác suất va chạm dưới 2 mũ âm 128.</a:t>
            </a:r>
          </a:p>
          <a:p>
            <a:pPr>
              <a:spcBef>
                <a:spcPts val="500"/>
              </a:spcBef>
              <a:defRPr b="1" sz="960">
                <a:solidFill>
                  <a:srgbClr val="2563EB"/>
                </a:solidFill>
              </a:defRPr>
            </a:pPr>
            <a:r>
              <a:t>• 3. Lan truyền đường dẫn bẩn cục bộ siêu tốc khi cập nhật tệp:</a:t>
            </a:r>
          </a:p>
          <a:p>
            <a:pPr>
              <a:spcBef>
                <a:spcPts val="150"/>
              </a:spcBef>
              <a:defRPr sz="880">
                <a:solidFill>
                  <a:srgbClr val="0F172A"/>
                </a:solidFill>
              </a:defRPr>
            </a:pPr>
            <a:r>
              <a:t>- Chứng minh toán học: Khi sửa 1 tệp tin, chỉ cần băm lại đúng h = 4 nút tổ tiên từ lá lên đỉnh cây. Thời gian cập nhật thực nghiệm chỉ 0.13 ms so với 58.90 ms của Flat SHA-256 (nhanh hơn 453 lần).</a:t>
            </a:r>
          </a:p>
          <a:p>
            <a:pPr>
              <a:spcBef>
                <a:spcPts val="500"/>
              </a:spcBef>
              <a:defRPr b="1" sz="960">
                <a:solidFill>
                  <a:srgbClr val="2563EB"/>
                </a:solidFill>
              </a:defRPr>
            </a:pPr>
            <a:r>
              <a:t>• 4. Bằng chứng nhất quán RFC 6962 và Phòng chống kênh kề đo thời gian:</a:t>
            </a:r>
          </a:p>
          <a:p>
            <a:pPr>
              <a:spcBef>
                <a:spcPts val="150"/>
              </a:spcBef>
              <a:defRPr sz="880">
                <a:solidFill>
                  <a:srgbClr val="0F172A"/>
                </a:solidFill>
              </a:defRPr>
            </a:pPr>
            <a:r>
              <a:t>- Chứng minh: Bằng chứng tính nhất quán chỉ cần 10 nút (320 byte) chứng minh kho dữ liệu là append-only, chống chèn backdoor lịch sử. Sử dụng hàm hmac.compare_digest triệt tiêu hoàn toàn tấn công kênh kề theo Kocher 1996.</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4_img.png"/>
          <p:cNvPicPr>
            <a:picLocks noChangeAspect="1"/>
          </p:cNvPicPr>
          <p:nvPr/>
        </p:nvPicPr>
        <p:blipFill>
          <a:blip r:embed="rId2"/>
          <a:stretch>
            <a:fillRect/>
          </a:stretch>
        </p:blipFill>
        <p:spPr>
          <a:xfrm>
            <a:off x="6217920" y="1986104"/>
            <a:ext cx="5029200" cy="3160110"/>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Sơ đồ kiến trúc cây Merkle phân cấp cải tiến</a:t>
            </a:r>
          </a:p>
          <a:p>
            <a:pPr>
              <a:defRPr sz="850">
                <a:solidFill>
                  <a:srgbClr val="64748B"/>
                </a:solidFill>
              </a:defRPr>
            </a:pPr>
            <a:r>
              <a:t>Mô hình do nhóm tự nghiên cứu và phát triển để đạt hiệu năng và độ an toàn tối ưu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4: XÂY DỰNG CÁC MÔ HÌNH VÀ KẾT QUẢ</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10. Bảng Đo Lường Số Liệu Thực Nghiệm Đối Đầu Trên 1.000 Tệp Tin</a:t>
            </a:r>
          </a:p>
        </p:txBody>
      </p:sp>
      <p:sp>
        <p:nvSpPr>
          <p:cNvPr id="6" name="Rounded Rectangle 5"/>
          <p:cNvSpPr/>
          <p:nvPr/>
        </p:nvSpPr>
        <p:spPr>
          <a:xfrm>
            <a:off x="731520" y="1234440"/>
            <a:ext cx="566928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868680" y="1417320"/>
          <a:ext cx="5394960" cy="2468880"/>
        </p:xfrm>
        <a:graphic>
          <a:graphicData uri="http://schemas.openxmlformats.org/drawingml/2006/table">
            <a:tbl>
              <a:tblPr firstRow="1" bandRow="1">
                <a:tableStyleId>{5C22544A-7EE6-4342-B048-85BDC9FD1C3A}</a:tableStyleId>
              </a:tblPr>
              <a:tblGrid>
                <a:gridCol w="1645920"/>
                <a:gridCol w="868680"/>
                <a:gridCol w="1005840"/>
                <a:gridCol w="868680"/>
                <a:gridCol w="1005840"/>
              </a:tblGrid>
              <a:tr h="493776">
                <a:tc>
                  <a:txBody>
                    <a:bodyPr/>
                    <a:lstStyle/>
                    <a:p>
                      <a:pPr algn="ctr">
                        <a:defRPr b="1" sz="950">
                          <a:solidFill>
                            <a:srgbClr val="FFFFFF"/>
                          </a:solidFill>
                        </a:defRPr>
                      </a:pPr>
                      <a:r>
                        <a:t>Cơ Chế Bảo Mật</a:t>
                      </a:r>
                    </a:p>
                  </a:txBody>
                  <a:tcPr>
                    <a:solidFill>
                      <a:srgbClr val="1E3A8A"/>
                    </a:solidFill>
                  </a:tcPr>
                </a:tc>
                <a:tc>
                  <a:txBody>
                    <a:bodyPr/>
                    <a:lstStyle/>
                    <a:p>
                      <a:pPr algn="ctr">
                        <a:defRPr b="1" sz="950">
                          <a:solidFill>
                            <a:srgbClr val="FFFFFF"/>
                          </a:solidFill>
                        </a:defRPr>
                      </a:pPr>
                      <a:r>
                        <a:t>Khởi Tạo</a:t>
                      </a:r>
                    </a:p>
                  </a:txBody>
                  <a:tcPr>
                    <a:solidFill>
                      <a:srgbClr val="1E3A8A"/>
                    </a:solidFill>
                  </a:tcPr>
                </a:tc>
                <a:tc>
                  <a:txBody>
                    <a:bodyPr/>
                    <a:lstStyle/>
                    <a:p>
                      <a:pPr algn="ctr">
                        <a:defRPr b="1" sz="950">
                          <a:solidFill>
                            <a:srgbClr val="FFFFFF"/>
                          </a:solidFill>
                        </a:defRPr>
                      </a:pPr>
                      <a:r>
                        <a:t>Xác Minh 1 Tệp</a:t>
                      </a:r>
                    </a:p>
                  </a:txBody>
                  <a:tcPr>
                    <a:solidFill>
                      <a:srgbClr val="1E3A8A"/>
                    </a:solidFill>
                  </a:tcPr>
                </a:tc>
                <a:tc>
                  <a:txBody>
                    <a:bodyPr/>
                    <a:lstStyle/>
                    <a:p>
                      <a:pPr algn="ctr">
                        <a:defRPr b="1" sz="950">
                          <a:solidFill>
                            <a:srgbClr val="FFFFFF"/>
                          </a:solidFill>
                        </a:defRPr>
                      </a:pPr>
                      <a:r>
                        <a:t>Dung Lượng Bảng</a:t>
                      </a:r>
                    </a:p>
                  </a:txBody>
                  <a:tcPr>
                    <a:solidFill>
                      <a:srgbClr val="1E3A8A"/>
                    </a:solidFill>
                  </a:tcPr>
                </a:tc>
                <a:tc>
                  <a:txBody>
                    <a:bodyPr/>
                    <a:lstStyle/>
                    <a:p>
                      <a:pPr algn="ctr">
                        <a:defRPr b="1" sz="950">
                          <a:solidFill>
                            <a:srgbClr val="FFFFFF"/>
                          </a:solidFill>
                        </a:defRPr>
                      </a:pPr>
                      <a:r>
                        <a:t>Bằng Chứng 1 Tệp</a:t>
                      </a:r>
                    </a:p>
                  </a:txBody>
                  <a:tcPr>
                    <a:solidFill>
                      <a:srgbClr val="1E3A8A"/>
                    </a:solidFill>
                  </a:tcPr>
                </a:tc>
              </a:tr>
              <a:tr h="493776">
                <a:tc>
                  <a:txBody>
                    <a:bodyPr/>
                    <a:lstStyle/>
                    <a:p>
                      <a:pPr>
                        <a:defRPr sz="900">
                          <a:solidFill>
                            <a:srgbClr val="0F172A"/>
                          </a:solidFill>
                        </a:defRPr>
                      </a:pPr>
                      <a:r>
                        <a:t>1. Danh sách SHA-256</a:t>
                      </a:r>
                    </a:p>
                  </a:txBody>
                  <a:tcPr>
                    <a:solidFill>
                      <a:srgbClr val="FFFFFF"/>
                    </a:solidFill>
                  </a:tcPr>
                </a:tc>
                <a:tc>
                  <a:txBody>
                    <a:bodyPr/>
                    <a:lstStyle/>
                    <a:p>
                      <a:pPr algn="ctr">
                        <a:defRPr sz="900">
                          <a:solidFill>
                            <a:srgbClr val="0F172A"/>
                          </a:solidFill>
                        </a:defRPr>
                      </a:pPr>
                      <a:r>
                        <a:t>0.433 s</a:t>
                      </a:r>
                    </a:p>
                  </a:txBody>
                  <a:tcPr>
                    <a:solidFill>
                      <a:srgbClr val="FFFFFF"/>
                    </a:solidFill>
                  </a:tcPr>
                </a:tc>
                <a:tc>
                  <a:txBody>
                    <a:bodyPr/>
                    <a:lstStyle/>
                    <a:p>
                      <a:pPr algn="ctr">
                        <a:defRPr sz="900">
                          <a:solidFill>
                            <a:srgbClr val="0F172A"/>
                          </a:solidFill>
                        </a:defRPr>
                      </a:pPr>
                      <a:r>
                        <a:t>58.90 ms</a:t>
                      </a:r>
                    </a:p>
                  </a:txBody>
                  <a:tcPr>
                    <a:solidFill>
                      <a:srgbClr val="FFFFFF"/>
                    </a:solidFill>
                  </a:tcPr>
                </a:tc>
                <a:tc>
                  <a:txBody>
                    <a:bodyPr/>
                    <a:lstStyle/>
                    <a:p>
                      <a:pPr algn="ctr">
                        <a:defRPr sz="900">
                          <a:solidFill>
                            <a:srgbClr val="0F172A"/>
                          </a:solidFill>
                        </a:defRPr>
                      </a:pPr>
                      <a:r>
                        <a:t>111.13 KB</a:t>
                      </a:r>
                    </a:p>
                  </a:txBody>
                  <a:tcPr>
                    <a:solidFill>
                      <a:srgbClr val="FFFFFF"/>
                    </a:solidFill>
                  </a:tcPr>
                </a:tc>
                <a:tc>
                  <a:txBody>
                    <a:bodyPr/>
                    <a:lstStyle/>
                    <a:p>
                      <a:pPr algn="ctr">
                        <a:defRPr sz="900">
                          <a:solidFill>
                            <a:srgbClr val="0F172A"/>
                          </a:solidFill>
                        </a:defRPr>
                      </a:pPr>
                      <a:r>
                        <a:t>Tải cả bảng 111 KB</a:t>
                      </a:r>
                    </a:p>
                  </a:txBody>
                  <a:tcPr>
                    <a:solidFill>
                      <a:srgbClr val="FFFFFF"/>
                    </a:solidFill>
                  </a:tcPr>
                </a:tc>
              </a:tr>
              <a:tr h="493776">
                <a:tc>
                  <a:txBody>
                    <a:bodyPr/>
                    <a:lstStyle/>
                    <a:p>
                      <a:pPr>
                        <a:defRPr sz="900">
                          <a:solidFill>
                            <a:srgbClr val="0F172A"/>
                          </a:solidFill>
                        </a:defRPr>
                      </a:pPr>
                      <a:r>
                        <a:t>2. Băm có khóa HMAC</a:t>
                      </a:r>
                    </a:p>
                  </a:txBody>
                  <a:tcPr>
                    <a:solidFill>
                      <a:srgbClr val="F8FAFC"/>
                    </a:solidFill>
                  </a:tcPr>
                </a:tc>
                <a:tc>
                  <a:txBody>
                    <a:bodyPr/>
                    <a:lstStyle/>
                    <a:p>
                      <a:pPr algn="ctr">
                        <a:defRPr sz="900">
                          <a:solidFill>
                            <a:srgbClr val="0F172A"/>
                          </a:solidFill>
                        </a:defRPr>
                      </a:pPr>
                      <a:r>
                        <a:t>0.065 s</a:t>
                      </a:r>
                    </a:p>
                  </a:txBody>
                  <a:tcPr>
                    <a:solidFill>
                      <a:srgbClr val="F8FAFC"/>
                    </a:solidFill>
                  </a:tcPr>
                </a:tc>
                <a:tc>
                  <a:txBody>
                    <a:bodyPr/>
                    <a:lstStyle/>
                    <a:p>
                      <a:pPr algn="ctr">
                        <a:defRPr sz="900">
                          <a:solidFill>
                            <a:srgbClr val="0F172A"/>
                          </a:solidFill>
                        </a:defRPr>
                      </a:pPr>
                      <a:r>
                        <a:t>73.84 ms</a:t>
                      </a:r>
                    </a:p>
                  </a:txBody>
                  <a:tcPr>
                    <a:solidFill>
                      <a:srgbClr val="F8FAFC"/>
                    </a:solidFill>
                  </a:tcPr>
                </a:tc>
                <a:tc>
                  <a:txBody>
                    <a:bodyPr/>
                    <a:lstStyle/>
                    <a:p>
                      <a:pPr algn="ctr">
                        <a:defRPr sz="900">
                          <a:solidFill>
                            <a:srgbClr val="0F172A"/>
                          </a:solidFill>
                        </a:defRPr>
                      </a:pPr>
                      <a:r>
                        <a:t>111.14 KB</a:t>
                      </a:r>
                    </a:p>
                  </a:txBody>
                  <a:tcPr>
                    <a:solidFill>
                      <a:srgbClr val="F8FAFC"/>
                    </a:solidFill>
                  </a:tcPr>
                </a:tc>
                <a:tc>
                  <a:txBody>
                    <a:bodyPr/>
                    <a:lstStyle/>
                    <a:p>
                      <a:pPr algn="ctr">
                        <a:defRPr sz="900">
                          <a:solidFill>
                            <a:srgbClr val="0F172A"/>
                          </a:solidFill>
                        </a:defRPr>
                      </a:pPr>
                      <a:r>
                        <a:t>Nguy cơ lộ khóa K</a:t>
                      </a:r>
                    </a:p>
                  </a:txBody>
                  <a:tcPr>
                    <a:solidFill>
                      <a:srgbClr val="F8FAFC"/>
                    </a:solidFill>
                  </a:tcPr>
                </a:tc>
              </a:tr>
              <a:tr h="493776">
                <a:tc>
                  <a:txBody>
                    <a:bodyPr/>
                    <a:lstStyle/>
                    <a:p>
                      <a:pPr>
                        <a:defRPr sz="900">
                          <a:solidFill>
                            <a:srgbClr val="0F172A"/>
                          </a:solidFill>
                        </a:defRPr>
                      </a:pPr>
                      <a:r>
                        <a:t>3. Cây Merkle chuẩn</a:t>
                      </a:r>
                    </a:p>
                  </a:txBody>
                  <a:tcPr>
                    <a:solidFill>
                      <a:srgbClr val="FFFFFF"/>
                    </a:solidFill>
                  </a:tcPr>
                </a:tc>
                <a:tc>
                  <a:txBody>
                    <a:bodyPr/>
                    <a:lstStyle/>
                    <a:p>
                      <a:pPr algn="ctr">
                        <a:defRPr sz="900">
                          <a:solidFill>
                            <a:srgbClr val="0F172A"/>
                          </a:solidFill>
                        </a:defRPr>
                      </a:pPr>
                      <a:r>
                        <a:t>0.062 s</a:t>
                      </a:r>
                    </a:p>
                  </a:txBody>
                  <a:tcPr>
                    <a:solidFill>
                      <a:srgbClr val="FFFFFF"/>
                    </a:solidFill>
                  </a:tcPr>
                </a:tc>
                <a:tc>
                  <a:txBody>
                    <a:bodyPr/>
                    <a:lstStyle/>
                    <a:p>
                      <a:pPr algn="ctr">
                        <a:defRPr sz="900">
                          <a:solidFill>
                            <a:srgbClr val="0F172A"/>
                          </a:solidFill>
                        </a:defRPr>
                      </a:pPr>
                      <a:r>
                        <a:t>0.154 ms</a:t>
                      </a:r>
                    </a:p>
                  </a:txBody>
                  <a:tcPr>
                    <a:solidFill>
                      <a:srgbClr val="FFFFFF"/>
                    </a:solidFill>
                  </a:tcPr>
                </a:tc>
                <a:tc>
                  <a:txBody>
                    <a:bodyPr/>
                    <a:lstStyle/>
                    <a:p>
                      <a:pPr algn="ctr">
                        <a:defRPr sz="900">
                          <a:solidFill>
                            <a:srgbClr val="0F172A"/>
                          </a:solidFill>
                        </a:defRPr>
                      </a:pPr>
                      <a:r>
                        <a:t>44.76 KB</a:t>
                      </a:r>
                    </a:p>
                  </a:txBody>
                  <a:tcPr>
                    <a:solidFill>
                      <a:srgbClr val="FFFFFF"/>
                    </a:solidFill>
                  </a:tcPr>
                </a:tc>
                <a:tc>
                  <a:txBody>
                    <a:bodyPr/>
                    <a:lstStyle/>
                    <a:p>
                      <a:pPr algn="ctr">
                        <a:defRPr sz="900">
                          <a:solidFill>
                            <a:srgbClr val="0F172A"/>
                          </a:solidFill>
                        </a:defRPr>
                      </a:pPr>
                      <a:r>
                        <a:t>986 Byte</a:t>
                      </a:r>
                    </a:p>
                  </a:txBody>
                  <a:tcPr>
                    <a:solidFill>
                      <a:srgbClr val="FFFFFF"/>
                    </a:solidFill>
                  </a:tcPr>
                </a:tc>
              </a:tr>
              <a:tr h="493776">
                <a:tc>
                  <a:txBody>
                    <a:bodyPr/>
                    <a:lstStyle/>
                    <a:p>
                      <a:pPr>
                        <a:defRPr sz="900" b="1">
                          <a:solidFill>
                            <a:srgbClr val="059669"/>
                          </a:solidFill>
                        </a:defRPr>
                      </a:pPr>
                      <a:r>
                        <a:t>4. Cây Merkle cải tiến</a:t>
                      </a:r>
                    </a:p>
                  </a:txBody>
                  <a:tcPr>
                    <a:solidFill>
                      <a:srgbClr val="ECFDF5"/>
                    </a:solidFill>
                  </a:tcPr>
                </a:tc>
                <a:tc>
                  <a:txBody>
                    <a:bodyPr/>
                    <a:lstStyle/>
                    <a:p>
                      <a:pPr algn="ctr">
                        <a:defRPr sz="900" b="1">
                          <a:solidFill>
                            <a:srgbClr val="059669"/>
                          </a:solidFill>
                        </a:defRPr>
                      </a:pPr>
                      <a:r>
                        <a:t>0.101 s</a:t>
                      </a:r>
                    </a:p>
                  </a:txBody>
                  <a:tcPr>
                    <a:solidFill>
                      <a:srgbClr val="ECFDF5"/>
                    </a:solidFill>
                  </a:tcPr>
                </a:tc>
                <a:tc>
                  <a:txBody>
                    <a:bodyPr/>
                    <a:lstStyle/>
                    <a:p>
                      <a:pPr algn="ctr">
                        <a:defRPr sz="900" b="1">
                          <a:solidFill>
                            <a:srgbClr val="059669"/>
                          </a:solidFill>
                        </a:defRPr>
                      </a:pPr>
                      <a:r>
                        <a:t>0.228 ms</a:t>
                      </a:r>
                    </a:p>
                  </a:txBody>
                  <a:tcPr>
                    <a:solidFill>
                      <a:srgbClr val="ECFDF5"/>
                    </a:solidFill>
                  </a:tcPr>
                </a:tc>
                <a:tc>
                  <a:txBody>
                    <a:bodyPr/>
                    <a:lstStyle/>
                    <a:p>
                      <a:pPr algn="ctr">
                        <a:defRPr sz="900" b="1">
                          <a:solidFill>
                            <a:srgbClr val="059669"/>
                          </a:solidFill>
                        </a:defRPr>
                      </a:pPr>
                      <a:r>
                        <a:t>111.15 KB</a:t>
                      </a:r>
                    </a:p>
                  </a:txBody>
                  <a:tcPr>
                    <a:solidFill>
                      <a:srgbClr val="ECFDF5"/>
                    </a:solidFill>
                  </a:tcPr>
                </a:tc>
                <a:tc>
                  <a:txBody>
                    <a:bodyPr/>
                    <a:lstStyle/>
                    <a:p>
                      <a:pPr algn="ctr">
                        <a:defRPr sz="900" b="1">
                          <a:solidFill>
                            <a:srgbClr val="059669"/>
                          </a:solidFill>
                        </a:defRPr>
                      </a:pPr>
                      <a:r>
                        <a:t>1.452 Byte</a:t>
                      </a:r>
                    </a:p>
                  </a:txBody>
                  <a:tcPr>
                    <a:solidFill>
                      <a:srgbClr val="ECFDF5"/>
                    </a:solidFill>
                  </a:tcPr>
                </a:tc>
              </a:tr>
            </a:tbl>
          </a:graphicData>
        </a:graphic>
      </p:graphicFrame>
      <p:sp>
        <p:nvSpPr>
          <p:cNvPr id="8" name="TextBox 7"/>
          <p:cNvSpPr txBox="1"/>
          <p:nvPr/>
        </p:nvSpPr>
        <p:spPr>
          <a:xfrm>
            <a:off x="868680" y="4069080"/>
            <a:ext cx="5394960" cy="2331720"/>
          </a:xfrm>
          <a:prstGeom prst="rect">
            <a:avLst/>
          </a:prstGeom>
          <a:noFill/>
        </p:spPr>
        <p:txBody>
          <a:bodyPr wrap="square">
            <a:spAutoFit/>
          </a:bodyPr>
          <a:lstStyle/>
          <a:p>
            <a:pPr>
              <a:defRPr b="1" sz="1000">
                <a:solidFill>
                  <a:srgbClr val="1E3A8A"/>
                </a:solidFill>
              </a:defRPr>
            </a:pPr>
            <a:r>
              <a:t>Dẫn Chứng Chứng Minh 3 Chiều Giữa Bài Báo - Số Liệu - Ý Nghĩa:</a:t>
            </a:r>
          </a:p>
          <a:p>
            <a:pPr>
              <a:spcBef>
                <a:spcPts val="300"/>
              </a:spcBef>
              <a:defRPr b="1" sz="850">
                <a:solidFill>
                  <a:srgbClr val="2563EB"/>
                </a:solidFill>
              </a:defRPr>
            </a:pPr>
            <a:r>
              <a:t>• 1. Đối chiếu Bài báo khoa học (Mục 4, 5, 6, Tài liệu [27, 36, 109] - Quan trọng nhất):</a:t>
            </a:r>
          </a:p>
          <a:p>
            <a:pPr>
              <a:spcBef>
                <a:spcPts val="100"/>
              </a:spcBef>
              <a:defRPr sz="800">
                <a:solidFill>
                  <a:srgbClr val="0F172A"/>
                </a:solidFill>
              </a:defRPr>
            </a:pPr>
            <a:r>
              <a:t>Ralph Merkle &amp; Halpin khẳng định: Xác minh cục bộ phải đạt độ phức tạp O(log N) thay vì O(N), kích thước bằng chứng phải rút gọn để chống rò rỉ siêu dữ liệu (Mục 6), và chi phí cập nhật động tỷ lệ theo chiều cao cây O(h).</a:t>
            </a:r>
          </a:p>
          <a:p>
            <a:pPr>
              <a:spcBef>
                <a:spcPts val="300"/>
              </a:spcBef>
              <a:defRPr b="1" sz="850">
                <a:solidFill>
                  <a:srgbClr val="2563EB"/>
                </a:solidFill>
              </a:defRPr>
            </a:pPr>
            <a:r>
              <a:t>• 2. Đối chiếu Terminal Log và Giao diện Web Demo:</a:t>
            </a:r>
          </a:p>
          <a:p>
            <a:pPr>
              <a:spcBef>
                <a:spcPts val="100"/>
              </a:spcBef>
              <a:defRPr sz="800">
                <a:solidFill>
                  <a:srgbClr val="0F172A"/>
                </a:solidFill>
              </a:defRPr>
            </a:pPr>
            <a:r>
              <a:t>Terminal in rõ: Xác minh 1 tệp = 0.228 ms (nhanh hơn 380 lần so với Flat SHA-256 58.90 ms); Bằng chứng = 1.452 Byte (tiết kiệm 98.7% băng thông so với 111 KB); Cập nhật dirty-path = 0.13 ms (nhanh hơn 453 lần); Web đạt thông lượng &gt; 4.000 tệp/s.</a:t>
            </a:r>
          </a:p>
          <a:p>
            <a:pPr>
              <a:spcBef>
                <a:spcPts val="300"/>
              </a:spcBef>
              <a:defRPr b="1" sz="850">
                <a:solidFill>
                  <a:srgbClr val="2563EB"/>
                </a:solidFill>
              </a:defRPr>
            </a:pPr>
            <a:r>
              <a:t>• 3. Giải thích ngắn gọn lý do vì sao tốt hơn (Có bằng chứng chứng minh):</a:t>
            </a:r>
          </a:p>
          <a:p>
            <a:pPr>
              <a:spcBef>
                <a:spcPts val="100"/>
              </a:spcBef>
              <a:defRPr sz="800">
                <a:solidFill>
                  <a:srgbClr val="0F172A"/>
                </a:solidFill>
              </a:defRPr>
            </a:pPr>
            <a:r>
              <a:t>Nhanh hơn 380 lần vì thuật toán chỉ tính log2(1000) ≈ 10 phép băm thay vì đọc đĩa và băm lại cả 1.000 tệp tin; Tiết kiệm 98.7% băng thông và bảo vệ 100% tính riêng tư vì chỉ truyền các nút băm nhánh, hoàn toàn không tiết lộ 999 tên tệp còn lại qua mạng.</a:t>
            </a:r>
          </a:p>
        </p:txBody>
      </p:sp>
      <p:sp>
        <p:nvSpPr>
          <p:cNvPr id="9" name="Rounded Rectangle 8"/>
          <p:cNvSpPr/>
          <p:nvPr/>
        </p:nvSpPr>
        <p:spPr>
          <a:xfrm>
            <a:off x="6675120" y="1234440"/>
            <a:ext cx="475488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enchmark_1000_files_chart.png"/>
          <p:cNvPicPr>
            <a:picLocks noChangeAspect="1"/>
          </p:cNvPicPr>
          <p:nvPr/>
        </p:nvPicPr>
        <p:blipFill>
          <a:blip r:embed="rId2"/>
          <a:stretch>
            <a:fillRect/>
          </a:stretch>
        </p:blipFill>
        <p:spPr>
          <a:xfrm>
            <a:off x="6858000" y="2369127"/>
            <a:ext cx="4389120" cy="2394065"/>
          </a:xfrm>
          <a:prstGeom prst="rect">
            <a:avLst/>
          </a:prstGeom>
          <a:ln>
            <a:noFill/>
          </a:ln>
        </p:spPr>
      </p:pic>
      <p:sp>
        <p:nvSpPr>
          <p:cNvPr id="11" name="TextBox 10"/>
          <p:cNvSpPr txBox="1"/>
          <p:nvPr/>
        </p:nvSpPr>
        <p:spPr>
          <a:xfrm>
            <a:off x="6858000" y="5760720"/>
            <a:ext cx="4389120" cy="640080"/>
          </a:xfrm>
          <a:prstGeom prst="rect">
            <a:avLst/>
          </a:prstGeom>
          <a:noFill/>
        </p:spPr>
        <p:txBody>
          <a:bodyPr wrap="square">
            <a:spAutoFit/>
          </a:bodyPr>
          <a:lstStyle/>
          <a:p>
            <a:pPr>
              <a:defRPr b="1" sz="1000">
                <a:solidFill>
                  <a:srgbClr val="1E3A8A"/>
                </a:solidFill>
              </a:defRPr>
            </a:pPr>
            <a:r>
              <a:t>Biểu đồ đo đạc thời gian xác minh và dung lượng bằng chứng</a:t>
            </a:r>
          </a:p>
          <a:p>
            <a:pPr>
              <a:defRPr sz="850">
                <a:solidFill>
                  <a:srgbClr val="64748B"/>
                </a:solidFill>
              </a:defRPr>
            </a:pPr>
            <a:r>
              <a:t>Thực nghiệm đo đạc độc lập 5 lần trên đúng 1.000 tệp tin thực tế</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4: XÂY DỰNG CÁC MÔ HÌNH VÀ KẾT QUẢ</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11. Khung Kiểm Định 7 Mô Hình An Toàn Mật Mã Học Theo Harry Halpin</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Khung Kiểm Định Đầy Đủ 7 Mô Hình Toán Học Cốt Lõi</a:t>
            </a:r>
          </a:p>
          <a:p>
            <a:pPr>
              <a:spcBef>
                <a:spcPts val="500"/>
              </a:spcBef>
              <a:defRPr b="1" sz="860">
                <a:solidFill>
                  <a:srgbClr val="2563EB"/>
                </a:solidFill>
              </a:defRPr>
            </a:pPr>
            <a:r>
              <a:t>• 1. Thách đấu PPT Adversary (Goldwasser-Micali 1984 [Ref 33,34]):</a:t>
            </a:r>
          </a:p>
          <a:p>
            <a:pPr>
              <a:spcBef>
                <a:spcPts val="150"/>
              </a:spcBef>
              <a:defRPr sz="780">
                <a:solidFill>
                  <a:srgbClr val="0F172A"/>
                </a:solidFill>
              </a:defRPr>
            </a:pPr>
            <a:r>
              <a:t>Đối chiếu: Mục 4 Trang 7. Lợi thế Adv(A) = 0.0 &lt;= 2^-128. Thử thách 50 lượt ngẫu nhiên: Kẻ thù thắng 0/50 (0.0%). Chứng minh không thể giả mạo tệp hợp lệ.</a:t>
            </a:r>
          </a:p>
          <a:p>
            <a:pPr>
              <a:spcBef>
                <a:spcPts val="500"/>
              </a:spcBef>
              <a:defRPr b="1" sz="860">
                <a:solidFill>
                  <a:srgbClr val="2563EB"/>
                </a:solidFill>
              </a:defRPr>
            </a:pPr>
            <a:r>
              <a:t>• 2. Kẻ tấn công Mạng Dolev-Yao (Dolev-Yao 1983 [Ref 52]):</a:t>
            </a:r>
          </a:p>
          <a:p>
            <a:pPr>
              <a:spcBef>
                <a:spcPts val="150"/>
              </a:spcBef>
              <a:defRPr sz="780">
                <a:solidFill>
                  <a:srgbClr val="0F172A"/>
                </a:solidFill>
              </a:defRPr>
            </a:pPr>
            <a:r>
              <a:t>Đối chiếu: Mục 4 Trang 8. Kẻ thù kiểm soát kênh truyền. Chặn đứng 100% cả 3 kịch bản can thiệp: Đổi gói tin, Tráo bằng chứng và Tấn công phát lại.</a:t>
            </a:r>
          </a:p>
          <a:p>
            <a:pPr>
              <a:spcBef>
                <a:spcPts val="500"/>
              </a:spcBef>
              <a:defRPr b="1" sz="860">
                <a:solidFill>
                  <a:srgbClr val="2563EB"/>
                </a:solidFill>
              </a:defRPr>
            </a:pPr>
            <a:r>
              <a:t>• 3. Kháng Va chạm Second-Preimage RFC 6962 [Ref 109]:</a:t>
            </a:r>
          </a:p>
          <a:p>
            <a:pPr>
              <a:spcBef>
                <a:spcPts val="150"/>
              </a:spcBef>
              <a:defRPr sz="780">
                <a:solidFill>
                  <a:srgbClr val="0F172A"/>
                </a:solidFill>
              </a:defRPr>
            </a:pPr>
            <a:r>
              <a:t>Đối chiếu: Mục 5 Trang 8-10. Tiền tố 0x00 lá và 0x01 nhánh triệt tiêu 100% nguy cơ tráo lá thành nhánh, bảo đảm tính toàn vẹn cấu trúc cây.</a:t>
            </a:r>
          </a:p>
          <a:p>
            <a:pPr>
              <a:spcBef>
                <a:spcPts val="500"/>
              </a:spcBef>
              <a:defRPr b="1" sz="860">
                <a:solidFill>
                  <a:srgbClr val="2563EB"/>
                </a:solidFill>
              </a:defRPr>
            </a:pPr>
            <a:r>
              <a:t>• 4. Bằng chứng Nhất quán RFC 6962 Consistency Proof [Ref 109]:</a:t>
            </a:r>
          </a:p>
          <a:p>
            <a:pPr>
              <a:spcBef>
                <a:spcPts val="150"/>
              </a:spcBef>
              <a:defRPr sz="780">
                <a:solidFill>
                  <a:srgbClr val="0F172A"/>
                </a:solidFill>
              </a:defRPr>
            </a:pPr>
            <a:r>
              <a:t>Đối chiếu: Mục 6 Trang 11-14. Bằng chứng 10 nút (320 byte) chứng minh cây cũ M=950 là tiền tố hợp lệ của cây mới N=1000, chống sửa đổi lịch sử 100%.</a:t>
            </a:r>
          </a:p>
          <a:p>
            <a:pPr>
              <a:spcBef>
                <a:spcPts val="500"/>
              </a:spcBef>
              <a:defRPr b="1" sz="860">
                <a:solidFill>
                  <a:srgbClr val="2563EB"/>
                </a:solidFill>
              </a:defRPr>
            </a:pPr>
            <a:r>
              <a:t>• 5. Xấp xỉ Random Oracle &amp; Hiệu ứng Tuyết lở (SAC) [Ref 40]:</a:t>
            </a:r>
          </a:p>
          <a:p>
            <a:pPr>
              <a:spcBef>
                <a:spcPts val="150"/>
              </a:spcBef>
              <a:defRPr sz="780">
                <a:solidFill>
                  <a:srgbClr val="0F172A"/>
                </a:solidFill>
              </a:defRPr>
            </a:pPr>
            <a:r>
              <a:t>Đối chiếu: Mục 1-2 &amp; 4. Đảo 1 bit làm biến đổi 133/256 bit băm (51.95% ≈ mục tiêu lý tưởng Bernoulli 50%), hoàn toàn áp đảo tính tuyến tính của CRC32.</a:t>
            </a:r>
          </a:p>
          <a:p>
            <a:pPr>
              <a:spcBef>
                <a:spcPts val="500"/>
              </a:spcBef>
              <a:defRPr b="1" sz="860">
                <a:solidFill>
                  <a:srgbClr val="2563EB"/>
                </a:solidFill>
              </a:defRPr>
            </a:pPr>
            <a:r>
              <a:t>• 6. Mô hình Toàn vẹn Phân cấp Biba (Biba 1977 [Ref 21]):</a:t>
            </a:r>
          </a:p>
          <a:p>
            <a:pPr>
              <a:spcBef>
                <a:spcPts val="150"/>
              </a:spcBef>
              <a:defRPr sz="780">
                <a:solidFill>
                  <a:srgbClr val="0F172A"/>
                </a:solidFill>
              </a:defRPr>
            </a:pPr>
            <a:r>
              <a:t>Đối chiếu: Mục 3 Trang 4-5. Tiên đề No write-up: Sai khác tệp lá phản xạ tức thì làm đổi Root Hash trong 0.13 ms, định vị tệp hỏng trong O(k log N).</a:t>
            </a:r>
          </a:p>
          <a:p>
            <a:pPr>
              <a:spcBef>
                <a:spcPts val="500"/>
              </a:spcBef>
              <a:defRPr b="1" sz="860">
                <a:solidFill>
                  <a:srgbClr val="2563EB"/>
                </a:solidFill>
              </a:defRPr>
            </a:pPr>
            <a:r>
              <a:t>• 7. Bảo vệ Siêu dữ liệu &amp; Kháng Kênh kề Đo thời gian [Ref 36, 100]:</a:t>
            </a:r>
          </a:p>
          <a:p>
            <a:pPr>
              <a:spcBef>
                <a:spcPts val="150"/>
              </a:spcBef>
              <a:defRPr sz="780">
                <a:solidFill>
                  <a:srgbClr val="0F172A"/>
                </a:solidFill>
              </a:defRPr>
            </a:pPr>
            <a:r>
              <a:t>Đối chiếu: Mục 5-6. Tiết lộ 0/1000 tên tệp (bảo vệ 100% quyền riêng tư); dùng hàm hmac.compare_digest thời gian hằng số triệt tiêu rò rỉ kênh kề.</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oof_7_security_models.png"/>
          <p:cNvPicPr>
            <a:picLocks noChangeAspect="1"/>
          </p:cNvPicPr>
          <p:nvPr/>
        </p:nvPicPr>
        <p:blipFill>
          <a:blip r:embed="rId2"/>
          <a:stretch>
            <a:fillRect/>
          </a:stretch>
        </p:blipFill>
        <p:spPr>
          <a:xfrm>
            <a:off x="6217920" y="1907947"/>
            <a:ext cx="5029200" cy="3316425"/>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Sơ đồ khoa học: 7 mô hình kiểm định an toàn mật mã học bài báo</a:t>
            </a:r>
          </a:p>
          <a:p>
            <a:pPr>
              <a:defRPr sz="850">
                <a:solidFill>
                  <a:srgbClr val="64748B"/>
                </a:solidFill>
              </a:defRPr>
            </a:pPr>
            <a:r>
              <a:t>Hiện thực hóa và chứng minh thực nghiệm 100% đầy đủ 7 tiêu chuẩn trên 1.000 tệp tin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5: TRÌNH DIỄN THỰC TẾ VÀ TỔNG KẾT</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12. Kịch Bản Thao Tác Trình Diễn Trên Giao Diện Web Trực Quan</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Các Bước Thao Tác Trình Diễn Trước Hội Đồng</a:t>
            </a:r>
          </a:p>
          <a:p>
            <a:pPr>
              <a:spcBef>
                <a:spcPts val="500"/>
              </a:spcBef>
              <a:defRPr b="1" sz="1030">
                <a:solidFill>
                  <a:srgbClr val="2563EB"/>
                </a:solidFill>
              </a:defRPr>
            </a:pPr>
            <a:r>
              <a:t>• Khởi động hệ thống nhanh chóng:</a:t>
            </a:r>
          </a:p>
          <a:p>
            <a:pPr>
              <a:spcBef>
                <a:spcPts val="150"/>
              </a:spcBef>
              <a:defRPr sz="950">
                <a:solidFill>
                  <a:srgbClr val="0F172A"/>
                </a:solidFill>
              </a:defRPr>
            </a:pPr>
            <a:r>
              <a:t>Chỉ cần nhấp đúp tệp run_demo_web.bat trên màn hình máy tính. Trình duyệt web sẽ tự động mở trang điều khiển tại địa chỉ nội bộ http://127.0.0.1:8080.</a:t>
            </a:r>
          </a:p>
          <a:p>
            <a:pPr>
              <a:spcBef>
                <a:spcPts val="500"/>
              </a:spcBef>
              <a:defRPr b="1" sz="1030">
                <a:solidFill>
                  <a:srgbClr val="2563EB"/>
                </a:solidFill>
              </a:defRPr>
            </a:pPr>
            <a:r>
              <a:t>• Bước 1: Nạp 1.000 tệp tin dữ liệu gốc ban đầu:</a:t>
            </a:r>
          </a:p>
          <a:p>
            <a:pPr>
              <a:spcBef>
                <a:spcPts val="150"/>
              </a:spcBef>
              <a:defRPr sz="950">
                <a:solidFill>
                  <a:srgbClr val="0F172A"/>
                </a:solidFill>
              </a:defRPr>
            </a:pPr>
            <a:r>
              <a:t>Nhấp nút Nạp dữ liệu để hệ thống quét toàn bộ 1.000 tệp tin nguyên bản từ thư mục realistic_dataset và tạo chuỗi băm gốc 32 byte.</a:t>
            </a:r>
          </a:p>
          <a:p>
            <a:pPr>
              <a:spcBef>
                <a:spcPts val="500"/>
              </a:spcBef>
              <a:defRPr b="1" sz="1030">
                <a:solidFill>
                  <a:srgbClr val="2563EB"/>
                </a:solidFill>
              </a:defRPr>
            </a:pPr>
            <a:r>
              <a:t>• Bước 2: Mô phỏng hành vi Kẻ tấn công mạng:</a:t>
            </a:r>
          </a:p>
          <a:p>
            <a:pPr>
              <a:spcBef>
                <a:spcPts val="150"/>
              </a:spcBef>
              <a:defRPr sz="950">
                <a:solidFill>
                  <a:srgbClr val="0F172A"/>
                </a:solidFill>
              </a:defRPr>
            </a:pPr>
            <a:r>
              <a:t>1. Nhấp Đảo 1 bit ngẫu nhiên để mô phỏng dữ liệu bị sửa đổi ngầm.</a:t>
            </a:r>
            <a:br/>
            <a:r>
              <a:t>2. Nhấp Chèn tệp lạ để mô phỏng tin tặc tải mã độc lên máy chủ.</a:t>
            </a:r>
            <a:br/>
            <a:r>
              <a:t>3. Nhấp Xóa lén tệp tin để mô phỏng hành vi xóa dữ liệu phá hoại.</a:t>
            </a:r>
          </a:p>
          <a:p>
            <a:pPr>
              <a:spcBef>
                <a:spcPts val="500"/>
              </a:spcBef>
              <a:defRPr b="1" sz="1030">
                <a:solidFill>
                  <a:srgbClr val="2563EB"/>
                </a:solidFill>
              </a:defRPr>
            </a:pPr>
            <a:r>
              <a:t>• Bước 3: Kiểm tra và định vị lỗi tức thì:</a:t>
            </a:r>
          </a:p>
          <a:p>
            <a:pPr>
              <a:spcBef>
                <a:spcPts val="150"/>
              </a:spcBef>
              <a:defRPr sz="950">
                <a:solidFill>
                  <a:srgbClr val="0F172A"/>
                </a:solidFill>
              </a:defRPr>
            </a:pPr>
            <a:r>
              <a:t>Nhấp Chạy kiểm tra toàn vẹn. Hệ thống lập tức chỉ đúng tên tệp bị can thiệp, hiển thị tỷ lệ nguyên vẹn và tốc độ xử lý hơn 4.000 tệp mỗi giây.</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10_img.png"/>
          <p:cNvPicPr>
            <a:picLocks noChangeAspect="1"/>
          </p:cNvPicPr>
          <p:nvPr/>
        </p:nvPicPr>
        <p:blipFill>
          <a:blip r:embed="rId2"/>
          <a:stretch>
            <a:fillRect/>
          </a:stretch>
        </p:blipFill>
        <p:spPr>
          <a:xfrm>
            <a:off x="6217920" y="1885661"/>
            <a:ext cx="5029200" cy="3360997"/>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Giao diện phòng thí nghiệm trực quan trên trình duyệt web</a:t>
            </a:r>
          </a:p>
          <a:p>
            <a:pPr>
              <a:defRPr sz="850">
                <a:solidFill>
                  <a:srgbClr val="64748B"/>
                </a:solidFill>
              </a:defRPr>
            </a:pPr>
            <a:r>
              <a:t>Cho phép tương tác bấm nút thử nghiệm trực tiếp trên cả 4 cơ chế bảo mật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5: TRÌNH DIỄN THỰC TẾ VÀ TỔNG KẾT</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13. Bảng Điều Khiển Biểu Đồ Đo Đạc Trực Quan Hóa Động</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Trực Quan Hóa Biểu Đồ Khoa Học Hoạt Động Ngoại Tuyến</a:t>
            </a:r>
          </a:p>
          <a:p>
            <a:pPr>
              <a:spcBef>
                <a:spcPts val="500"/>
              </a:spcBef>
              <a:defRPr b="1" sz="1030">
                <a:solidFill>
                  <a:srgbClr val="2563EB"/>
                </a:solidFill>
              </a:defRPr>
            </a:pPr>
            <a:r>
              <a:t>• Hoạt động hoàn toàn ngoại tuyến:</a:t>
            </a:r>
          </a:p>
          <a:p>
            <a:pPr>
              <a:spcBef>
                <a:spcPts val="150"/>
              </a:spcBef>
              <a:defRPr sz="950">
                <a:solidFill>
                  <a:srgbClr val="0F172A"/>
                </a:solidFill>
              </a:defRPr>
            </a:pPr>
            <a:r>
              <a:t>Hệ thống tích hợp sẵn thư viện vẽ biểu đồ nội bộ, không cần kết nối mạng Internet vẫn hiển thị mượt mà và trực quan khi báo cáo trước hội đồng.</a:t>
            </a:r>
          </a:p>
          <a:p>
            <a:pPr>
              <a:spcBef>
                <a:spcPts val="500"/>
              </a:spcBef>
              <a:defRPr b="1" sz="1030">
                <a:solidFill>
                  <a:srgbClr val="2563EB"/>
                </a:solidFill>
              </a:defRPr>
            </a:pPr>
            <a:r>
              <a:t>• 4 Biểu đồ phân tích khoa học chuyên sâu:</a:t>
            </a:r>
          </a:p>
          <a:p>
            <a:pPr>
              <a:spcBef>
                <a:spcPts val="150"/>
              </a:spcBef>
              <a:defRPr sz="950">
                <a:solidFill>
                  <a:srgbClr val="0F172A"/>
                </a:solidFill>
              </a:defRPr>
            </a:pPr>
            <a:r>
              <a:t>1. Biểu đồ so sánh thời gian khởi tạo và xác minh của 4 mô hình trên 1.000 tệp tin.</a:t>
            </a:r>
            <a:br/>
            <a:r>
              <a:t>2. Biểu đồ chi phí cập nhật khi sửa 1 tệp tin phản hồi tức thì theo chiều cao cây.</a:t>
            </a:r>
            <a:br/>
            <a:r>
              <a:t>3. Biểu đồ dung lượng bảng băm và kích thước bằng chứng gửi qua mạng.</a:t>
            </a:r>
            <a:br/>
            <a:r>
              <a:t>4. Biểu đồ kiểm tra khả năng mở rộng quy mô từ 50 tệp lên 1.000 tệp tin.</a:t>
            </a:r>
          </a:p>
          <a:p>
            <a:pPr>
              <a:spcBef>
                <a:spcPts val="500"/>
              </a:spcBef>
              <a:defRPr b="1" sz="1030">
                <a:solidFill>
                  <a:srgbClr val="2563EB"/>
                </a:solidFill>
              </a:defRPr>
            </a:pPr>
            <a:r>
              <a:t>• Đo lường thời gian thực:</a:t>
            </a:r>
          </a:p>
          <a:p>
            <a:pPr>
              <a:spcBef>
                <a:spcPts val="150"/>
              </a:spcBef>
              <a:defRPr sz="950">
                <a:solidFill>
                  <a:srgbClr val="0F172A"/>
                </a:solidFill>
              </a:defRPr>
            </a:pPr>
            <a:r>
              <a:t>Khi nhấp Đo lường và cập nhật lại biểu đồ ngay, hệ thống sẽ chạy đo đạc trực tiếp trên máy và vẽ kết quả tức thì.</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ve_web_benchmark_charts.png"/>
          <p:cNvPicPr>
            <a:picLocks noChangeAspect="1"/>
          </p:cNvPicPr>
          <p:nvPr/>
        </p:nvPicPr>
        <p:blipFill>
          <a:blip r:embed="rId2"/>
          <a:stretch>
            <a:fillRect/>
          </a:stretch>
        </p:blipFill>
        <p:spPr>
          <a:xfrm>
            <a:off x="6217920" y="1491854"/>
            <a:ext cx="5029200" cy="4148611"/>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Ảnh chụp thực tế bảng điều khiển các biểu đồ đo đạc động</a:t>
            </a:r>
          </a:p>
          <a:p>
            <a:pPr>
              <a:defRPr sz="850">
                <a:solidFill>
                  <a:srgbClr val="64748B"/>
                </a:solidFill>
              </a:defRPr>
            </a:pPr>
            <a:r>
              <a:t>Trực quan hóa thời gian thực số liệu đo đạc thực nghiệm trên 1.000 tệp tin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698480" cy="274320"/>
          </a:xfrm>
          <a:prstGeom prst="rect">
            <a:avLst/>
          </a:prstGeom>
          <a:noFill/>
        </p:spPr>
        <p:txBody>
          <a:bodyPr wrap="square">
            <a:spAutoFit/>
          </a:bodyPr>
          <a:lstStyle/>
          <a:p>
            <a:pPr>
              <a:defRPr sz="1100" b="1">
                <a:solidFill>
                  <a:srgbClr val="93C5FD"/>
                </a:solidFill>
              </a:defRPr>
            </a:pPr>
            <a:r>
              <a:t>PHẦN 5: TRÌNH DIỄN THỰC TẾ VÀ TỔNG KẾT</a:t>
            </a:r>
          </a:p>
        </p:txBody>
      </p:sp>
      <p:sp>
        <p:nvSpPr>
          <p:cNvPr id="5" name="TextBox 4"/>
          <p:cNvSpPr txBox="1"/>
          <p:nvPr/>
        </p:nvSpPr>
        <p:spPr>
          <a:xfrm>
            <a:off x="731520" y="384048"/>
            <a:ext cx="10698480" cy="548640"/>
          </a:xfrm>
          <a:prstGeom prst="rect">
            <a:avLst/>
          </a:prstGeom>
          <a:noFill/>
        </p:spPr>
        <p:txBody>
          <a:bodyPr wrap="square">
            <a:spAutoFit/>
          </a:bodyPr>
          <a:lstStyle/>
          <a:p>
            <a:pPr>
              <a:defRPr sz="1750" b="1">
                <a:solidFill>
                  <a:srgbClr val="FFFFFF"/>
                </a:solidFill>
              </a:defRPr>
            </a:pPr>
            <a:r>
              <a:t>14. Tổng Kết Đóng Góp Khoa Học Và Giá Trị Thực Tiễn Của Đồ Án</a:t>
            </a:r>
          </a:p>
        </p:txBody>
      </p:sp>
      <p:sp>
        <p:nvSpPr>
          <p:cNvPr id="6" name="Rounded Rectangle 5"/>
          <p:cNvSpPr/>
          <p:nvPr/>
        </p:nvSpPr>
        <p:spPr>
          <a:xfrm>
            <a:off x="731520" y="1234440"/>
            <a:ext cx="512064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99032"/>
            <a:ext cx="4663440" cy="4965192"/>
          </a:xfrm>
          <a:prstGeom prst="rect">
            <a:avLst/>
          </a:prstGeom>
          <a:noFill/>
        </p:spPr>
        <p:txBody>
          <a:bodyPr wrap="square">
            <a:spAutoFit/>
          </a:bodyPr>
          <a:lstStyle/>
          <a:p>
            <a:pPr>
              <a:defRPr b="1" sz="1250">
                <a:solidFill>
                  <a:srgbClr val="1E3A8A"/>
                </a:solidFill>
              </a:defRPr>
            </a:pPr>
            <a:r>
              <a:t>Những Đóng Góp Nổi Bật Đạt Được Trong Đồ Án</a:t>
            </a:r>
          </a:p>
          <a:p>
            <a:pPr>
              <a:spcBef>
                <a:spcPts val="500"/>
              </a:spcBef>
              <a:defRPr b="1" sz="1000">
                <a:solidFill>
                  <a:srgbClr val="2563EB"/>
                </a:solidFill>
              </a:defRPr>
            </a:pPr>
            <a:r>
              <a:t>• 1. Hoàn thành toàn diện việc nghiên cứu bài báo tiếng Anh gốc:</a:t>
            </a:r>
          </a:p>
          <a:p>
            <a:pPr>
              <a:spcBef>
                <a:spcPts val="150"/>
              </a:spcBef>
              <a:defRPr sz="919">
                <a:solidFill>
                  <a:srgbClr val="0F172A"/>
                </a:solidFill>
              </a:defRPr>
            </a:pPr>
            <a:r>
              <a:t>Dịch thuật học thuật toàn văn bài báo của Harry Halpin (2025), đối chiếu 100% các luận điểm về Kẻ thù mật mã, hiệu ứng tuyết lở SHA-256, nguyên lý Kerckhoffs và kiểm định PPT.</a:t>
            </a:r>
          </a:p>
          <a:p>
            <a:pPr>
              <a:spcBef>
                <a:spcPts val="500"/>
              </a:spcBef>
              <a:defRPr b="1" sz="1000">
                <a:solidFill>
                  <a:srgbClr val="2563EB"/>
                </a:solidFill>
              </a:defRPr>
            </a:pPr>
            <a:r>
              <a:t>• 2. Xây dựng tập dữ liệu 1.000 tệp tin thực tế:</a:t>
            </a:r>
          </a:p>
          <a:p>
            <a:pPr>
              <a:spcBef>
                <a:spcPts val="150"/>
              </a:spcBef>
              <a:defRPr sz="919">
                <a:solidFill>
                  <a:srgbClr val="0F172A"/>
                </a:solidFill>
              </a:defRPr>
            </a:pPr>
            <a:r>
              <a:t>Thiết lập tập dữ liệu 1.000 tệp tin với 14 định dạng phong phú và kích thước biến thiên, đáp ứng chuẩn mực yêu cầu khoa học của bài báo.</a:t>
            </a:r>
          </a:p>
          <a:p>
            <a:pPr>
              <a:spcBef>
                <a:spcPts val="500"/>
              </a:spcBef>
              <a:defRPr b="1" sz="1000">
                <a:solidFill>
                  <a:srgbClr val="2563EB"/>
                </a:solidFill>
              </a:defRPr>
            </a:pPr>
            <a:r>
              <a:t>• 3. Đối chuẩn đầy đủ 3 mô hình nền tảng:</a:t>
            </a:r>
          </a:p>
          <a:p>
            <a:pPr>
              <a:spcBef>
                <a:spcPts val="150"/>
              </a:spcBef>
              <a:defRPr sz="919">
                <a:solidFill>
                  <a:srgbClr val="0F172A"/>
                </a:solidFill>
              </a:defRPr>
            </a:pPr>
            <a:r>
              <a:t>Hiện thực hóa và đo đạc đầy đủ các cơ chế danh sách SHA-256, HMAC và cây Merkle nhị phân truyền thống trên 1.000 tệp tin.</a:t>
            </a:r>
          </a:p>
          <a:p>
            <a:pPr>
              <a:spcBef>
                <a:spcPts val="500"/>
              </a:spcBef>
              <a:defRPr b="1" sz="1000">
                <a:solidFill>
                  <a:srgbClr val="2563EB"/>
                </a:solidFill>
              </a:defRPr>
            </a:pPr>
            <a:r>
              <a:t>• 4. Phát triển thành công mô hình cải tiến có dẫn chứng chứng minh:</a:t>
            </a:r>
          </a:p>
          <a:p>
            <a:pPr>
              <a:spcBef>
                <a:spcPts val="150"/>
              </a:spcBef>
              <a:defRPr sz="919">
                <a:solidFill>
                  <a:srgbClr val="0F172A"/>
                </a:solidFill>
              </a:defRPr>
            </a:pPr>
            <a:r>
              <a:t>Đề xuất mô hình HD-MerkleTree kết hợp chuẩn tiền tố RFC 6962, xác minh nhanh hơn 380 lần, cập nhật nhanh hơn 453 lần, tiết kiệm hơn 98% băng thông và có bằng chứng nhất quán chống sửa đổi lịch sử.</a:t>
            </a:r>
          </a:p>
          <a:p>
            <a:pPr>
              <a:spcBef>
                <a:spcPts val="500"/>
              </a:spcBef>
              <a:defRPr b="1" sz="1000">
                <a:solidFill>
                  <a:srgbClr val="2563EB"/>
                </a:solidFill>
              </a:defRPr>
            </a:pPr>
            <a:r>
              <a:t>• 5. Đóng gói sản phẩm hoàn chỉnh:</a:t>
            </a:r>
          </a:p>
          <a:p>
            <a:pPr>
              <a:spcBef>
                <a:spcPts val="150"/>
              </a:spcBef>
              <a:defRPr sz="919">
                <a:solidFill>
                  <a:srgbClr val="0F172A"/>
                </a:solidFill>
              </a:defRPr>
            </a:pPr>
            <a:r>
              <a:t>Bộ slide báo cáo chặt chẽ cùng ứng dụng web demo trực quan sẵn sàng trình diễn trước hội đồng.</a:t>
            </a:r>
          </a:p>
        </p:txBody>
      </p:sp>
      <p:sp>
        <p:nvSpPr>
          <p:cNvPr id="8" name="Rounded Rectangle 7"/>
          <p:cNvSpPr/>
          <p:nvPr/>
        </p:nvSpPr>
        <p:spPr>
          <a:xfrm>
            <a:off x="6035040" y="1234440"/>
            <a:ext cx="5394960" cy="5257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_13_img.png"/>
          <p:cNvPicPr>
            <a:picLocks noChangeAspect="1"/>
          </p:cNvPicPr>
          <p:nvPr/>
        </p:nvPicPr>
        <p:blipFill>
          <a:blip r:embed="rId2"/>
          <a:stretch>
            <a:fillRect/>
          </a:stretch>
        </p:blipFill>
        <p:spPr>
          <a:xfrm>
            <a:off x="6217920" y="1953984"/>
            <a:ext cx="5029200" cy="3224350"/>
          </a:xfrm>
          <a:prstGeom prst="rect">
            <a:avLst/>
          </a:prstGeom>
          <a:ln>
            <a:noFill/>
          </a:ln>
        </p:spPr>
      </p:pic>
      <p:sp>
        <p:nvSpPr>
          <p:cNvPr id="10" name="TextBox 9"/>
          <p:cNvSpPr txBox="1"/>
          <p:nvPr/>
        </p:nvSpPr>
        <p:spPr>
          <a:xfrm>
            <a:off x="6217920" y="5760720"/>
            <a:ext cx="5029200" cy="640080"/>
          </a:xfrm>
          <a:prstGeom prst="rect">
            <a:avLst/>
          </a:prstGeom>
          <a:noFill/>
        </p:spPr>
        <p:txBody>
          <a:bodyPr wrap="square">
            <a:spAutoFit/>
          </a:bodyPr>
          <a:lstStyle/>
          <a:p>
            <a:pPr>
              <a:defRPr b="1" sz="1000">
                <a:solidFill>
                  <a:srgbClr val="1E3A8A"/>
                </a:solidFill>
              </a:defRPr>
            </a:pPr>
            <a:r>
              <a:t>Hệ thống kiểm tra toàn vẹn tệp tin mật mã học DT005</a:t>
            </a:r>
          </a:p>
          <a:p>
            <a:pPr>
              <a:defRPr sz="850">
                <a:solidFill>
                  <a:srgbClr val="64748B"/>
                </a:solidFill>
              </a:defRPr>
            </a:pPr>
            <a:r>
              <a:t>Kết nối hoàn hảo giữa lý thuyết bài báo khoa học và ứng dụng thực tiễn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