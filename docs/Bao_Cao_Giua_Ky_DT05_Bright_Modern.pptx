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C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731520"/>
            <a:ext cx="164592" cy="5394960"/>
          </a:xfrm>
          <a:prstGeom prst="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896112" y="658368"/>
            <a:ext cx="7452360" cy="658368"/>
          </a:xfrm>
          <a:prstGeom prst="rect">
            <a:avLst/>
          </a:prstGeom>
          <a:noFill/>
        </p:spPr>
        <p:txBody>
          <a:bodyPr wrap="square">
            <a:spAutoFit/>
          </a:bodyPr>
          <a:lstStyle/>
          <a:p>
            <a:pPr algn="l">
              <a:spcAft>
                <a:spcPts val="200"/>
              </a:spcAft>
              <a:defRPr sz="1500" b="1">
                <a:solidFill>
                  <a:srgbClr val="1E293B"/>
                </a:solidFill>
              </a:defRPr>
            </a:pPr>
            <a:r>
              <a:rPr sz="1250" b="1" i="0">
                <a:solidFill>
                  <a:srgbClr val="000000"/>
                </a:solidFill>
                <a:latin typeface="Aptos"/>
              </a:rPr>
              <a:t>Trường Đại học Tài nguyên và Môi trường TP. Hồ Chí Minh</a:t>
            </a:r>
          </a:p>
          <a:p>
            <a:pPr algn="l">
              <a:spcBef>
                <a:spcPts val="400"/>
              </a:spcBef>
              <a:spcAft>
                <a:spcPts val="200"/>
              </a:spcAft>
              <a:defRPr sz="1400" b="1">
                <a:solidFill>
                  <a:srgbClr val="475569"/>
                </a:solidFill>
              </a:defRPr>
            </a:pPr>
            <a:r>
              <a:rPr sz="1050" b="1" i="0">
                <a:solidFill>
                  <a:srgbClr val="000000"/>
                </a:solidFill>
                <a:latin typeface="Aptos"/>
              </a:rPr>
              <a:t>Khoa Công nghệ thông tin</a:t>
            </a:r>
          </a:p>
        </p:txBody>
      </p:sp>
      <p:sp>
        <p:nvSpPr>
          <p:cNvPr id="5" name="TextBox 4"/>
          <p:cNvSpPr txBox="1"/>
          <p:nvPr/>
        </p:nvSpPr>
        <p:spPr>
          <a:xfrm>
            <a:off x="896112" y="1828800"/>
            <a:ext cx="7498079" cy="2395728"/>
          </a:xfrm>
          <a:prstGeom prst="rect">
            <a:avLst/>
          </a:prstGeom>
          <a:noFill/>
        </p:spPr>
        <p:txBody>
          <a:bodyPr wrap="square">
            <a:spAutoFit/>
          </a:bodyPr>
          <a:lstStyle/>
          <a:p>
            <a:pPr algn="l">
              <a:spcAft>
                <a:spcPts val="800"/>
              </a:spcAft>
              <a:defRPr sz="2800" b="1">
                <a:solidFill>
                  <a:srgbClr val="2563EB"/>
                </a:solidFill>
              </a:defRPr>
            </a:pPr>
            <a:r>
              <a:rPr sz="2750" b="1" i="0">
                <a:solidFill>
                  <a:srgbClr val="000000"/>
                </a:solidFill>
                <a:latin typeface="Aptos"/>
              </a:rPr>
              <a:t>Báo cáo thuyết trình đồ án giữa kỳ</a:t>
            </a:r>
          </a:p>
          <a:p>
            <a:pPr algn="l">
              <a:spcBef>
                <a:spcPts val="1200"/>
              </a:spcBef>
              <a:spcAft>
                <a:spcPts val="800"/>
              </a:spcAft>
              <a:defRPr sz="1600" b="1">
                <a:solidFill>
                  <a:srgbClr val="0F172A"/>
                </a:solidFill>
              </a:defRPr>
            </a:pPr>
            <a:r>
              <a:rPr sz="1500" b="1" i="0">
                <a:solidFill>
                  <a:srgbClr val="000000"/>
                </a:solidFill>
                <a:latin typeface="Aptos"/>
              </a:rPr>
              <a:t>Đề tài DT005: Hệ thống kiểm tra toàn vẹn tệp bằng SHA-256, HMAC và cây Merkle phân cấp động</a:t>
            </a:r>
          </a:p>
          <a:p>
            <a:pPr algn="l">
              <a:spcBef>
                <a:spcPts val="800"/>
              </a:spcBef>
              <a:spcAft>
                <a:spcPts val="200"/>
              </a:spcAft>
              <a:defRPr sz="1100" i="1">
                <a:solidFill>
                  <a:srgbClr val="1E40AF"/>
                </a:solidFill>
              </a:defRPr>
            </a:pPr>
            <a:r>
              <a:rPr sz="950" b="0" i="1">
                <a:solidFill>
                  <a:srgbClr val="000000"/>
                </a:solidFill>
                <a:latin typeface="Aptos"/>
              </a:rPr>
              <a:t>Khảo sát và Thẩm định học thuật bài báo: "The adversary: the philosophy of cryptography"</a:t>
            </a:r>
            <a:br/>
            <a:r>
              <a:rPr sz="950" b="0" i="1">
                <a:solidFill>
                  <a:srgbClr val="000000"/>
                </a:solidFill>
                <a:latin typeface="Aptos"/>
              </a:rPr>
              <a:t>TS. Harry Halpin — Oxford Academic, Journal of Cybersecurity, Vol. 11, No. 1, 2025 (DOI: 10.1093/cybsec/tyaf006)</a:t>
            </a:r>
          </a:p>
        </p:txBody>
      </p:sp>
      <p:sp>
        <p:nvSpPr>
          <p:cNvPr id="6" name="TextBox 5"/>
          <p:cNvSpPr txBox="1"/>
          <p:nvPr/>
        </p:nvSpPr>
        <p:spPr>
          <a:xfrm>
            <a:off x="896112" y="4800600"/>
            <a:ext cx="7543800" cy="1243584"/>
          </a:xfrm>
          <a:prstGeom prst="rect">
            <a:avLst/>
          </a:prstGeom>
          <a:noFill/>
        </p:spPr>
        <p:txBody>
          <a:bodyPr wrap="square">
            <a:spAutoFit/>
          </a:bodyPr>
          <a:lstStyle/>
          <a:p>
            <a:pPr algn="l">
              <a:spcAft>
                <a:spcPts val="400"/>
              </a:spcAft>
              <a:defRPr sz="1300">
                <a:solidFill>
                  <a:srgbClr val="1E293B"/>
                </a:solidFill>
              </a:defRPr>
            </a:pPr>
            <a:r>
              <a:rPr sz="1120" b="0" i="0">
                <a:solidFill>
                  <a:srgbClr val="000000"/>
                </a:solidFill>
                <a:latin typeface="Aptos"/>
              </a:rPr>
              <a:t>Học phần: An toàn và bảo mật hệ thống thông tin</a:t>
            </a:r>
          </a:p>
          <a:p>
            <a:pPr algn="l">
              <a:spcBef>
                <a:spcPts val="400"/>
              </a:spcBef>
              <a:spcAft>
                <a:spcPts val="400"/>
              </a:spcAft>
              <a:defRPr sz="1300">
                <a:solidFill>
                  <a:srgbClr val="1E293B"/>
                </a:solidFill>
              </a:defRPr>
            </a:pPr>
            <a:r>
              <a:rPr sz="1120" b="0" i="0">
                <a:solidFill>
                  <a:srgbClr val="000000"/>
                </a:solidFill>
                <a:latin typeface="Aptos"/>
              </a:rPr>
              <a:t>Giảng viên hướng dẫn: ThS. Phạm Trọng Huynh</a:t>
            </a:r>
          </a:p>
          <a:p>
            <a:pPr algn="l">
              <a:spcBef>
                <a:spcPts val="400"/>
              </a:spcBef>
              <a:spcAft>
                <a:spcPts val="400"/>
              </a:spcAft>
            </a:pPr>
            <a:r>
              <a:rPr sz="1120" b="0" i="0">
                <a:solidFill>
                  <a:srgbClr val="000000"/>
                </a:solidFill>
                <a:latin typeface="Aptos"/>
              </a:rPr>
              <a:t>Sinh viên thực hiện: </a:t>
            </a:r>
            <a:r>
              <a:rPr b="1" sz="1120" i="0">
                <a:solidFill>
                  <a:srgbClr val="000000"/>
                </a:solidFill>
                <a:latin typeface="Aptos"/>
              </a:rPr>
              <a:t>Võ Anh Kiệt</a:t>
            </a:r>
            <a:r>
              <a:rPr sz="1120" b="0" i="0">
                <a:solidFill>
                  <a:srgbClr val="000000"/>
                </a:solidFill>
                <a:latin typeface="Aptos"/>
              </a:rPr>
              <a:t> — MSSV: 1150080143 — Lớp: 11_CNPM2</a:t>
            </a:r>
          </a:p>
        </p:txBody>
      </p:sp>
      <p:sp>
        <p:nvSpPr>
          <p:cNvPr id="7" name="Rectangle 6"/>
          <p:cNvSpPr/>
          <p:nvPr/>
        </p:nvSpPr>
        <p:spPr>
          <a:xfrm>
            <a:off x="694944" y="731520"/>
            <a:ext cx="32004" cy="5413248"/>
          </a:xfrm>
          <a:prstGeom prst="rect">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96112" y="1572768"/>
            <a:ext cx="713232" cy="50292"/>
          </a:xfrm>
          <a:prstGeom prst="round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645920" y="1572768"/>
            <a:ext cx="237744" cy="50292"/>
          </a:xfrm>
          <a:prstGeom prst="roundRect">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668512" y="1783080"/>
            <a:ext cx="2816352" cy="2999232"/>
          </a:xfrm>
          <a:prstGeom prst="roundRect">
            <a:avLst/>
          </a:prstGeom>
          <a:solidFill>
            <a:srgbClr val="F4F8F1"/>
          </a:solidFill>
          <a:ln w="15240">
            <a:solidFill>
              <a:srgbClr val="DCEC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8961120" y="2057400"/>
            <a:ext cx="2212848" cy="2212848"/>
          </a:xfrm>
          <a:prstGeom prst="ellipse">
            <a:avLst/>
          </a:prstGeom>
          <a:solidFill>
            <a:srgbClr val="FFF5D8"/>
          </a:solidFill>
          <a:ln w="17780">
            <a:solidFill>
              <a:srgbClr val="F0D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9171432" y="2267712"/>
            <a:ext cx="1792224" cy="1792224"/>
          </a:xfrm>
          <a:prstGeom prst="ellipse">
            <a:avLst/>
          </a:prstGeom>
          <a:noFill/>
          <a:ln w="25400">
            <a:solidFill>
              <a:srgbClr val="2FAE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Pentagon 12"/>
          <p:cNvSpPr/>
          <p:nvPr/>
        </p:nvSpPr>
        <p:spPr>
          <a:xfrm rot="10800000">
            <a:off x="9683496" y="2660904"/>
            <a:ext cx="786384" cy="932688"/>
          </a:xfrm>
          <a:prstGeom prst="homePlate">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rot="2700000">
            <a:off x="9857232" y="3136392"/>
            <a:ext cx="182880" cy="502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rot="18900000">
            <a:off x="9966960" y="3063240"/>
            <a:ext cx="301752" cy="50292"/>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906256" y="2578608"/>
            <a:ext cx="109728" cy="109728"/>
          </a:xfrm>
          <a:prstGeom prst="ellipse">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0899648" y="2432304"/>
            <a:ext cx="109728" cy="109728"/>
          </a:xfrm>
          <a:prstGeom prst="ellipse">
            <a:avLst/>
          </a:prstGeom>
          <a:solidFill>
            <a:srgbClr val="F2C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0789920" y="3913632"/>
            <a:ext cx="128016" cy="128016"/>
          </a:xfrm>
          <a:prstGeom prst="ellipse">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070848" y="4023360"/>
            <a:ext cx="91440" cy="91440"/>
          </a:xfrm>
          <a:prstGeom prst="ellipse">
            <a:avLst/>
          </a:prstGeom>
          <a:solidFill>
            <a:srgbClr val="8BB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C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FFF0E9"/>
          </a:solidFill>
          <a:ln w="12700">
            <a:solidFill>
              <a:srgbClr val="F5C6B6"/>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defRPr sz="1000" b="1">
                <a:solidFill>
                  <a:srgbClr val="1D4ED8"/>
                </a:solidFill>
              </a:defRPr>
            </a:pPr>
            <a:r>
              <a:rPr sz="840" b="1" i="0">
                <a:solidFill>
                  <a:srgbClr val="000000"/>
                </a:solidFill>
                <a:latin typeface="Aptos"/>
              </a:rPr>
              <a:t>SECTION 1 — GIỚI THIỆU &amp; MỤC TIÊU BÀI BÁO (TRANG 1–2)</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lgn="l">
              <a:spcAft>
                <a:spcPts val="0"/>
              </a:spcAft>
              <a:defRPr sz="2100" b="1">
                <a:solidFill>
                  <a:srgbClr val="0F172A"/>
                </a:solidFill>
              </a:defRPr>
            </a:pPr>
            <a:r>
              <a:rPr sz="2130" b="1" i="0">
                <a:solidFill>
                  <a:srgbClr val="000000"/>
                </a:solidFill>
                <a:latin typeface="Aptos"/>
              </a:rPr>
              <a:t>BỐI CẢNH, MỤC TIÊU &amp; BA ĐÓNG GÓP CỦA BÀI BÁO</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lgn="l">
              <a:defRPr sz="1200">
                <a:solidFill>
                  <a:srgbClr val="475569"/>
                </a:solidFill>
              </a:defRPr>
            </a:pPr>
            <a:r>
              <a:rPr sz="1110" b="0" i="0">
                <a:solidFill>
                  <a:srgbClr val="000000"/>
                </a:solidFill>
                <a:latin typeface="Aptos"/>
              </a:rPr>
              <a:t>Góc nhìn triết học về Kẻ tấn công trong Mật mã học và Hướng nghiên cứu tương lai</a:t>
            </a:r>
          </a:p>
        </p:txBody>
      </p:sp>
      <p:sp>
        <p:nvSpPr>
          <p:cNvPr id="6" name="Rounded Rectangle 5"/>
          <p:cNvSpPr/>
          <p:nvPr/>
        </p:nvSpPr>
        <p:spPr>
          <a:xfrm>
            <a:off x="731520" y="1691640"/>
            <a:ext cx="5212080" cy="4389120"/>
          </a:xfrm>
          <a:prstGeom prst="roundRect">
            <a:avLst/>
          </a:prstGeom>
          <a:solidFill>
            <a:srgbClr val="FFF0E9"/>
          </a:solidFill>
          <a:ln w="14604">
            <a:solidFill>
              <a:srgbClr val="F5C6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4846320" cy="4114800"/>
          </a:xfrm>
          <a:prstGeom prst="rect">
            <a:avLst/>
          </a:prstGeom>
          <a:noFill/>
        </p:spPr>
        <p:txBody>
          <a:bodyPr wrap="square">
            <a:spAutoFit/>
          </a:bodyPr>
          <a:lstStyle/>
          <a:p>
            <a:pPr>
              <a:spcAft>
                <a:spcPts val="400"/>
              </a:spcAft>
              <a:defRPr sz="1350" b="1">
                <a:solidFill>
                  <a:srgbClr val="1E40AF"/>
                </a:solidFill>
              </a:defRPr>
            </a:pPr>
            <a:r>
              <a:rPr sz="1230" b="1" i="0">
                <a:solidFill>
                  <a:srgbClr val="000000"/>
                </a:solidFill>
                <a:latin typeface="Aptos"/>
              </a:rPr>
              <a:t>1. Bối Cảnh Mật Mã Học &amp; Nghịch Lý Nghiên Cứu</a:t>
            </a:r>
          </a:p>
          <a:p>
            <a:pPr>
              <a:spcBef>
                <a:spcPts val="800"/>
              </a:spcBef>
              <a:spcAft>
                <a:spcPts val="400"/>
              </a:spcAft>
            </a:pPr>
            <a:r>
              <a:rPr b="1" sz="1100" i="0">
                <a:solidFill>
                  <a:srgbClr val="000000"/>
                </a:solidFill>
                <a:latin typeface="Aptos"/>
              </a:rPr>
              <a:t>• Mật mã học trong kỷ nguyên số: </a:t>
            </a:r>
            <a:r>
              <a:rPr sz="1050" b="0" i="0">
                <a:solidFill>
                  <a:srgbClr val="000000"/>
                </a:solidFill>
                <a:latin typeface="Aptos"/>
              </a:rPr>
              <a:t>Khoa học về truyền thông bí mật khi có sự hiện diện của đối thủ có chủ đích. Internet biến không gian mạng thành nơi tương tác với vô vàn đối thủ tiềm tàng, xa lạ.</a:t>
            </a:r>
          </a:p>
          <a:p>
            <a:pPr>
              <a:spcBef>
                <a:spcPts val="800"/>
              </a:spcBef>
              <a:spcAft>
                <a:spcPts val="400"/>
              </a:spcAft>
            </a:pPr>
            <a:r>
              <a:rPr b="1" sz="1100" i="0">
                <a:solidFill>
                  <a:srgbClr val="000000"/>
                </a:solidFill>
                <a:latin typeface="Aptos"/>
              </a:rPr>
              <a:t>• Nghịch lý nghiên cứu: </a:t>
            </a:r>
            <a:r>
              <a:rPr sz="1050" b="0" i="0">
                <a:solidFill>
                  <a:srgbClr val="000000"/>
                </a:solidFill>
                <a:latin typeface="Aptos"/>
              </a:rPr>
              <a:t>Triết học khảo cứu rất sâu lý thuyết thông tin của Shannon (1948), nhưng chính mật mã học lại bị bỏ quên suốt nhiều thập kỷ.</a:t>
            </a:r>
          </a:p>
          <a:p>
            <a:pPr>
              <a:spcBef>
                <a:spcPts val="800"/>
              </a:spcBef>
              <a:spcAft>
                <a:spcPts val="400"/>
              </a:spcAft>
            </a:pPr>
            <a:r>
              <a:rPr b="1" sz="1100" i="0">
                <a:solidFill>
                  <a:srgbClr val="000000"/>
                </a:solidFill>
                <a:latin typeface="Aptos"/>
              </a:rPr>
              <a:t>• Cái giá của sự trừu tượng hóa: </a:t>
            </a:r>
            <a:r>
              <a:rPr sz="1050" b="0" i="0">
                <a:solidFill>
                  <a:srgbClr val="000000"/>
                </a:solidFill>
                <a:latin typeface="Aptos"/>
              </a:rPr>
              <a:t>Khi mật mã học biến thành các bài toán toán học thuần túy trên giấy, nó tạo ra điểm mù nguy hiểm trước các đòn tấn công vật lý trong thế giới thực.</a:t>
            </a:r>
          </a:p>
        </p:txBody>
      </p:sp>
      <p:sp>
        <p:nvSpPr>
          <p:cNvPr id="8" name="Rounded Rectangle 7"/>
          <p:cNvSpPr/>
          <p:nvPr/>
        </p:nvSpPr>
        <p:spPr>
          <a:xfrm>
            <a:off x="6217920" y="1691640"/>
            <a:ext cx="5212080" cy="4389120"/>
          </a:xfrm>
          <a:prstGeom prst="roundRect">
            <a:avLst/>
          </a:prstGeom>
          <a:solidFill>
            <a:srgbClr val="EAF8F2"/>
          </a:solidFill>
          <a:ln w="14604">
            <a:solidFill>
              <a:srgbClr val="B5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828800"/>
            <a:ext cx="4846320" cy="4114800"/>
          </a:xfrm>
          <a:prstGeom prst="rect">
            <a:avLst/>
          </a:prstGeom>
          <a:noFill/>
        </p:spPr>
        <p:txBody>
          <a:bodyPr wrap="square">
            <a:spAutoFit/>
          </a:bodyPr>
          <a:lstStyle/>
          <a:p>
            <a:pPr>
              <a:spcAft>
                <a:spcPts val="400"/>
              </a:spcAft>
              <a:defRPr sz="1350" b="1">
                <a:solidFill>
                  <a:srgbClr val="059669"/>
                </a:solidFill>
              </a:defRPr>
            </a:pPr>
            <a:r>
              <a:rPr sz="1230" b="1" i="0">
                <a:solidFill>
                  <a:srgbClr val="000000"/>
                </a:solidFill>
                <a:latin typeface="Aptos"/>
              </a:rPr>
              <a:t>2. Ba Đóng Góp Học Thuật Chính Của Harry Halpin</a:t>
            </a:r>
          </a:p>
          <a:p>
            <a:pPr>
              <a:spcBef>
                <a:spcPts val="800"/>
              </a:spcBef>
              <a:spcAft>
                <a:spcPts val="400"/>
              </a:spcAft>
            </a:pPr>
            <a:r>
              <a:rPr b="1" sz="1100" i="0">
                <a:solidFill>
                  <a:srgbClr val="000000"/>
                </a:solidFill>
                <a:latin typeface="Aptos"/>
              </a:rPr>
              <a:t>• Khảo sát Lịch sử &amp; Triết học: </a:t>
            </a:r>
            <a:r>
              <a:rPr sz="1050" b="0" i="0">
                <a:solidFill>
                  <a:srgbClr val="000000"/>
                </a:solidFill>
                <a:latin typeface="Aptos"/>
              </a:rPr>
              <a:t>Hệ thống hóa toàn diện quá trình tiến hóa mô hình đối thủ: từ Shannon (1949), PPT Adversary (1984), Dolev-Yao (1983) đến Random Oracle Model (1993).</a:t>
            </a:r>
          </a:p>
          <a:p>
            <a:pPr>
              <a:spcBef>
                <a:spcPts val="800"/>
              </a:spcBef>
              <a:spcAft>
                <a:spcPts val="400"/>
              </a:spcAft>
            </a:pPr>
            <a:r>
              <a:rPr b="1" sz="1100" i="0">
                <a:solidFill>
                  <a:srgbClr val="000000"/>
                </a:solidFill>
                <a:latin typeface="Aptos"/>
              </a:rPr>
              <a:t>• Phê phán Giới hạn Hình thức hóa: </a:t>
            </a:r>
            <a:r>
              <a:rPr sz="1050" b="0" i="0">
                <a:solidFill>
                  <a:srgbClr val="000000"/>
                </a:solidFill>
                <a:latin typeface="Aptos"/>
              </a:rPr>
              <a:t>Chỉ rõ sự sụp đổ của các mô hình toán học trước thực tiễn: rò rỉ kênh kề (Kocher 1996), độ dài bản mã, rò rỉ siêu dữ liệu và giám sát hàng loạt của NSA (Snowden 2013).</a:t>
            </a:r>
          </a:p>
          <a:p>
            <a:pPr>
              <a:spcBef>
                <a:spcPts val="800"/>
              </a:spcBef>
              <a:spcAft>
                <a:spcPts val="400"/>
              </a:spcAft>
            </a:pPr>
            <a:r>
              <a:rPr b="1" sz="1100" i="0">
                <a:solidFill>
                  <a:srgbClr val="000000"/>
                </a:solidFill>
                <a:latin typeface="Aptos"/>
              </a:rPr>
              <a:t>• Đề xuất Chương trình Mới: </a:t>
            </a:r>
            <a:r>
              <a:rPr sz="1050" b="0" i="0">
                <a:solidFill>
                  <a:srgbClr val="000000"/>
                </a:solidFill>
                <a:latin typeface="Aptos"/>
              </a:rPr>
              <a:t>Thiết lập 4 câu hỏi nghiên cứu mở (Section 7) nhằm mở rộng mật mã học từ một nhánh toán học biệt lập thành một khoa học an ninh hoàn chỉnh kết hợp thực nghiệm.</a:t>
            </a:r>
          </a:p>
        </p:txBody>
      </p:sp>
      <p:sp>
        <p:nvSpPr>
          <p:cNvPr id="10" name="TextBox 9"/>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rPr sz="819" b="0" i="1">
                <a:solidFill>
                  <a:srgbClr val="000000"/>
                </a:solidFill>
                <a:latin typeface="Aptos"/>
              </a:rPr>
              <a:t>Trích dẫn: Harry Halpin (2025), Section 1: Introduction, Journal of Cybersecurity, tr. 1–2.</a:t>
            </a:r>
          </a:p>
        </p:txBody>
      </p:sp>
      <p:sp>
        <p:nvSpPr>
          <p:cNvPr id="11" name="Oval 10"/>
          <p:cNvSpPr/>
          <p:nvPr/>
        </p:nvSpPr>
        <p:spPr>
          <a:xfrm>
            <a:off x="11155680" y="448056"/>
            <a:ext cx="77724" cy="77724"/>
          </a:xfrm>
          <a:prstGeom prst="ellipse">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356848" y="448056"/>
            <a:ext cx="77724" cy="77724"/>
          </a:xfrm>
          <a:prstGeom prst="ellipse">
            <a:avLst/>
          </a:prstGeom>
          <a:solidFill>
            <a:srgbClr val="F2C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1558016" y="448056"/>
            <a:ext cx="77724" cy="77724"/>
          </a:xfrm>
          <a:prstGeom prst="ellipse">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31520" y="1604772"/>
            <a:ext cx="658368" cy="41148"/>
          </a:xfrm>
          <a:prstGeom prst="round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426464" y="1604772"/>
            <a:ext cx="219456" cy="41148"/>
          </a:xfrm>
          <a:prstGeom prst="roundRect">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C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AF8F2"/>
          </a:solidFill>
          <a:ln w="12700">
            <a:solidFill>
              <a:srgbClr val="B5DFD3"/>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defRPr sz="1000" b="1">
                <a:solidFill>
                  <a:srgbClr val="1D4ED8"/>
                </a:solidFill>
              </a:defRPr>
            </a:pPr>
            <a:r>
              <a:rPr sz="840" b="1" i="0">
                <a:solidFill>
                  <a:srgbClr val="000000"/>
                </a:solidFill>
                <a:latin typeface="Aptos"/>
              </a:rPr>
              <a:t>SECTION 2 &amp; 3 — CƠ SỞ TRIẾT HỌC VỀ THÔNG TIN (TRANG 2–5)</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lgn="l">
              <a:spcAft>
                <a:spcPts val="0"/>
              </a:spcAft>
              <a:defRPr sz="2100" b="1">
                <a:solidFill>
                  <a:srgbClr val="0F172A"/>
                </a:solidFill>
              </a:defRPr>
            </a:pPr>
            <a:r>
              <a:rPr sz="2130" b="1" i="0">
                <a:solidFill>
                  <a:srgbClr val="000000"/>
                </a:solidFill>
                <a:latin typeface="Aptos"/>
              </a:rPr>
              <a:t>CƠ SỞ TRIẾT HỌC: THÔNG TIN, BÍ MẬT VÀ TÁC NHÂN</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lgn="l">
              <a:defRPr sz="1200">
                <a:solidFill>
                  <a:srgbClr val="475569"/>
                </a:solidFill>
              </a:defRPr>
            </a:pPr>
            <a:r>
              <a:rPr sz="1110" b="0" i="0">
                <a:solidFill>
                  <a:srgbClr val="000000"/>
                </a:solidFill>
                <a:latin typeface="Aptos"/>
              </a:rPr>
              <a:t>Khung lý thuyết của Fred Dretske và Brian Cantwell Smith ứng dụng trong Mật mã học</a:t>
            </a:r>
          </a:p>
        </p:txBody>
      </p:sp>
      <p:sp>
        <p:nvSpPr>
          <p:cNvPr id="6" name="Rounded Rectangle 5"/>
          <p:cNvSpPr/>
          <p:nvPr/>
        </p:nvSpPr>
        <p:spPr>
          <a:xfrm>
            <a:off x="731520" y="1691640"/>
            <a:ext cx="3383280" cy="4389120"/>
          </a:xfrm>
          <a:prstGeom prst="roundRect">
            <a:avLst/>
          </a:prstGeom>
          <a:solidFill>
            <a:srgbClr val="EEF4FF"/>
          </a:solidFill>
          <a:ln w="14604">
            <a:solidFill>
              <a:srgbClr val="C6D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17520" cy="4114800"/>
          </a:xfrm>
          <a:prstGeom prst="rect">
            <a:avLst/>
          </a:prstGeom>
          <a:noFill/>
        </p:spPr>
        <p:txBody>
          <a:bodyPr wrap="square">
            <a:spAutoFit/>
          </a:bodyPr>
          <a:lstStyle/>
          <a:p>
            <a:pPr>
              <a:spcAft>
                <a:spcPts val="400"/>
              </a:spcAft>
              <a:defRPr sz="1300" b="1">
                <a:solidFill>
                  <a:srgbClr val="1E40AF"/>
                </a:solidFill>
              </a:defRPr>
            </a:pPr>
            <a:r>
              <a:rPr sz="1230" b="1" i="0">
                <a:solidFill>
                  <a:srgbClr val="000000"/>
                </a:solidFill>
                <a:latin typeface="Aptos"/>
              </a:rPr>
              <a:t>1. Bản Thể Học Thông Tin</a:t>
            </a:r>
          </a:p>
          <a:p>
            <a:pPr>
              <a:spcAft>
                <a:spcPts val="400"/>
              </a:spcAft>
              <a:defRPr sz="950" b="1">
                <a:solidFill>
                  <a:srgbClr val="64748B"/>
                </a:solidFill>
              </a:defRPr>
            </a:pPr>
            <a:r>
              <a:rPr sz="930" b="1" i="0">
                <a:solidFill>
                  <a:srgbClr val="000000"/>
                </a:solidFill>
                <a:latin typeface="Aptos"/>
              </a:rPr>
              <a:t>BRIAN CANTWELL SMITH (1996)</a:t>
            </a:r>
          </a:p>
          <a:p>
            <a:pPr>
              <a:spcBef>
                <a:spcPts val="600"/>
              </a:spcBef>
              <a:spcAft>
                <a:spcPts val="400"/>
              </a:spcAft>
            </a:pPr>
            <a:r>
              <a:rPr b="1" sz="1100" i="0">
                <a:solidFill>
                  <a:srgbClr val="000000"/>
                </a:solidFill>
                <a:latin typeface="Aptos"/>
              </a:rPr>
              <a:t>• Dòng chảy nguyên thủy: </a:t>
            </a:r>
            <a:r>
              <a:rPr sz="1000" b="0" i="0">
                <a:solidFill>
                  <a:srgbClr val="000000"/>
                </a:solidFill>
                <a:latin typeface="Aptos"/>
              </a:rPr>
              <a:t>Dữ liệu ban đầu vốn là dòng chảy vô định; hệ thống định hình an toàn bằng cách phân định rõ các đối tượng ('đăng ký đối tượng').</a:t>
            </a:r>
          </a:p>
          <a:p>
            <a:pPr>
              <a:spcBef>
                <a:spcPts val="600"/>
              </a:spcBef>
              <a:spcAft>
                <a:spcPts val="400"/>
              </a:spcAft>
            </a:pPr>
            <a:r>
              <a:rPr b="1" sz="1100" i="0">
                <a:solidFill>
                  <a:srgbClr val="000000"/>
                </a:solidFill>
                <a:latin typeface="Aptos"/>
              </a:rPr>
              <a:t>• Phân ranh giới: </a:t>
            </a:r>
            <a:r>
              <a:rPr sz="1000" b="0" i="0">
                <a:solidFill>
                  <a:srgbClr val="000000"/>
                </a:solidFill>
                <a:latin typeface="Aptos"/>
              </a:rPr>
              <a:t>Tách bạch rạch ròi 3 thực thể then chốt: Bản rõ (M), Bản mã (C) và Chìa khóa bí mật (K).</a:t>
            </a:r>
          </a:p>
          <a:p>
            <a:pPr>
              <a:spcBef>
                <a:spcPts val="600"/>
              </a:spcBef>
              <a:spcAft>
                <a:spcPts val="400"/>
              </a:spcAft>
            </a:pPr>
            <a:r>
              <a:rPr b="1" sz="1100" i="0">
                <a:solidFill>
                  <a:srgbClr val="000000"/>
                </a:solidFill>
                <a:latin typeface="Aptos"/>
              </a:rPr>
              <a:t>• Tác nhân ở xa: </a:t>
            </a:r>
            <a:r>
              <a:rPr sz="1000" b="0" i="0">
                <a:solidFill>
                  <a:srgbClr val="000000"/>
                </a:solidFill>
                <a:latin typeface="Aptos"/>
              </a:rPr>
              <a:t>Mật mã ra đời để truyền đạt trạng thái an toàn giữa các thực thể ở xa nhau mà không thể tương tác trực tiếp.</a:t>
            </a:r>
          </a:p>
        </p:txBody>
      </p:sp>
      <p:sp>
        <p:nvSpPr>
          <p:cNvPr id="8" name="Rounded Rectangle 7"/>
          <p:cNvSpPr/>
          <p:nvPr/>
        </p:nvSpPr>
        <p:spPr>
          <a:xfrm>
            <a:off x="4389120" y="1691640"/>
            <a:ext cx="3383280" cy="4389120"/>
          </a:xfrm>
          <a:prstGeom prst="roundRect">
            <a:avLst/>
          </a:prstGeom>
          <a:solidFill>
            <a:srgbClr val="FFF8DF"/>
          </a:solidFill>
          <a:ln w="14604">
            <a:solidFill>
              <a:srgbClr val="EED8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28800"/>
            <a:ext cx="3017520" cy="4114800"/>
          </a:xfrm>
          <a:prstGeom prst="rect">
            <a:avLst/>
          </a:prstGeom>
          <a:noFill/>
        </p:spPr>
        <p:txBody>
          <a:bodyPr wrap="square">
            <a:spAutoFit/>
          </a:bodyPr>
          <a:lstStyle/>
          <a:p>
            <a:pPr>
              <a:spcAft>
                <a:spcPts val="400"/>
              </a:spcAft>
              <a:defRPr sz="1300" b="1">
                <a:solidFill>
                  <a:srgbClr val="D97706"/>
                </a:solidFill>
              </a:defRPr>
            </a:pPr>
            <a:r>
              <a:rPr sz="1230" b="1" i="0">
                <a:solidFill>
                  <a:srgbClr val="000000"/>
                </a:solidFill>
                <a:latin typeface="Aptos"/>
              </a:rPr>
              <a:t>2. Thuyết Thông Tin Khách Quan</a:t>
            </a:r>
          </a:p>
          <a:p>
            <a:pPr>
              <a:spcAft>
                <a:spcPts val="400"/>
              </a:spcAft>
              <a:defRPr sz="950" b="1">
                <a:solidFill>
                  <a:srgbClr val="64748B"/>
                </a:solidFill>
              </a:defRPr>
            </a:pPr>
            <a:r>
              <a:rPr sz="930" b="1" i="0">
                <a:solidFill>
                  <a:srgbClr val="000000"/>
                </a:solidFill>
                <a:latin typeface="Aptos"/>
              </a:rPr>
              <a:t>FRED DRETSKE (1981)</a:t>
            </a:r>
          </a:p>
          <a:p>
            <a:pPr>
              <a:spcBef>
                <a:spcPts val="600"/>
              </a:spcBef>
              <a:spcAft>
                <a:spcPts val="400"/>
              </a:spcAft>
            </a:pPr>
            <a:r>
              <a:rPr b="1" sz="1100" i="0">
                <a:solidFill>
                  <a:srgbClr val="000000"/>
                </a:solidFill>
                <a:latin typeface="Aptos"/>
              </a:rPr>
              <a:t>• Thông tin khách quan: </a:t>
            </a:r>
            <a:r>
              <a:rPr sz="1000" b="0" i="0">
                <a:solidFill>
                  <a:srgbClr val="000000"/>
                </a:solidFill>
                <a:latin typeface="Aptos"/>
              </a:rPr>
              <a:t>Thông tin tồn tại khách quan theo tự nhiên, độc lập với người nhận; bản rõ mang thông tin về nguồn.</a:t>
            </a:r>
          </a:p>
          <a:p>
            <a:pPr>
              <a:spcBef>
                <a:spcPts val="600"/>
              </a:spcBef>
              <a:spcAft>
                <a:spcPts val="400"/>
              </a:spcAft>
            </a:pPr>
            <a:r>
              <a:rPr b="1" sz="1100" i="0">
                <a:solidFill>
                  <a:srgbClr val="000000"/>
                </a:solidFill>
                <a:latin typeface="Aptos"/>
              </a:rPr>
              <a:t>• Thông tin và Bí mật: </a:t>
            </a:r>
            <a:r>
              <a:rPr sz="1000" b="0" i="0">
                <a:solidFill>
                  <a:srgbClr val="000000"/>
                </a:solidFill>
                <a:latin typeface="Aptos"/>
              </a:rPr>
              <a:t>Bản rõ chứa đựng thông tin về nguồn; bản mã khi được mã hóa hoàn hảo sẽ không làm rò rỉ bất kỳ thông tin nào về nguồn.</a:t>
            </a:r>
          </a:p>
          <a:p>
            <a:pPr>
              <a:spcBef>
                <a:spcPts val="600"/>
              </a:spcBef>
              <a:spcAft>
                <a:spcPts val="400"/>
              </a:spcAft>
            </a:pPr>
            <a:r>
              <a:rPr b="1" sz="1100" i="0">
                <a:solidFill>
                  <a:srgbClr val="000000"/>
                </a:solidFill>
                <a:latin typeface="Aptos"/>
              </a:rPr>
              <a:t>• Kiểm soát dòng tin: </a:t>
            </a:r>
            <a:r>
              <a:rPr sz="1000" b="0" i="0">
                <a:solidFill>
                  <a:srgbClr val="000000"/>
                </a:solidFill>
                <a:latin typeface="Aptos"/>
              </a:rPr>
              <a:t>Nhiệm vụ của mật mã là kiểm soát dòng chảy dữ liệu, chỉ người nhận có khóa hợp lệ mới giải mã được.</a:t>
            </a:r>
          </a:p>
        </p:txBody>
      </p:sp>
      <p:sp>
        <p:nvSpPr>
          <p:cNvPr id="10" name="Rounded Rectangle 9"/>
          <p:cNvSpPr/>
          <p:nvPr/>
        </p:nvSpPr>
        <p:spPr>
          <a:xfrm>
            <a:off x="8046720" y="1691640"/>
            <a:ext cx="3383280" cy="4389120"/>
          </a:xfrm>
          <a:prstGeom prst="roundRect">
            <a:avLst/>
          </a:prstGeom>
          <a:solidFill>
            <a:srgbClr val="EAF8F2"/>
          </a:solidFill>
          <a:ln w="14604">
            <a:solidFill>
              <a:srgbClr val="B5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28800"/>
            <a:ext cx="3017520" cy="4114800"/>
          </a:xfrm>
          <a:prstGeom prst="rect">
            <a:avLst/>
          </a:prstGeom>
          <a:noFill/>
        </p:spPr>
        <p:txBody>
          <a:bodyPr wrap="square">
            <a:spAutoFit/>
          </a:bodyPr>
          <a:lstStyle/>
          <a:p>
            <a:pPr>
              <a:spcAft>
                <a:spcPts val="400"/>
              </a:spcAft>
              <a:defRPr sz="1300" b="1">
                <a:solidFill>
                  <a:srgbClr val="059669"/>
                </a:solidFill>
              </a:defRPr>
            </a:pPr>
            <a:r>
              <a:rPr sz="1230" b="1" i="0">
                <a:solidFill>
                  <a:srgbClr val="000000"/>
                </a:solidFill>
                <a:latin typeface="Aptos"/>
              </a:rPr>
              <a:t>3. Tác Nhân Có Chủ Đích</a:t>
            </a:r>
          </a:p>
          <a:p>
            <a:pPr>
              <a:spcAft>
                <a:spcPts val="400"/>
              </a:spcAft>
              <a:defRPr sz="950" b="1">
                <a:solidFill>
                  <a:srgbClr val="64748B"/>
                </a:solidFill>
              </a:defRPr>
            </a:pPr>
            <a:r>
              <a:rPr sz="930" b="1" i="0">
                <a:solidFill>
                  <a:srgbClr val="000000"/>
                </a:solidFill>
                <a:latin typeface="Aptos"/>
              </a:rPr>
              <a:t>BẢN CHẤT CỦA ĐỐI THỦ</a:t>
            </a:r>
          </a:p>
          <a:p>
            <a:pPr>
              <a:spcBef>
                <a:spcPts val="600"/>
              </a:spcBef>
              <a:spcAft>
                <a:spcPts val="400"/>
              </a:spcAft>
            </a:pPr>
            <a:r>
              <a:rPr b="1" sz="1100" i="0">
                <a:solidFill>
                  <a:srgbClr val="000000"/>
                </a:solidFill>
                <a:latin typeface="Aptos"/>
              </a:rPr>
              <a:t>• Tính có chủ đích: </a:t>
            </a:r>
            <a:r>
              <a:rPr sz="1000" b="0" i="0">
                <a:solidFill>
                  <a:srgbClr val="000000"/>
                </a:solidFill>
                <a:latin typeface="Aptos"/>
              </a:rPr>
              <a:t>Đối thủ là tác nhân có chủ đích (intentional agent), có mục tiêu phá hoại rõ ràng, khác hoàn toàn với nhiễu ngẫu nhiên vật lý.</a:t>
            </a:r>
          </a:p>
          <a:p>
            <a:pPr>
              <a:spcBef>
                <a:spcPts val="600"/>
              </a:spcBef>
              <a:spcAft>
                <a:spcPts val="400"/>
              </a:spcAft>
            </a:pPr>
            <a:r>
              <a:rPr b="1" sz="1100" i="0">
                <a:solidFill>
                  <a:srgbClr val="000000"/>
                </a:solidFill>
                <a:latin typeface="Aptos"/>
              </a:rPr>
              <a:t>• Tính tương đối của bí mật: </a:t>
            </a:r>
            <a:r>
              <a:rPr sz="1000" b="0" i="0">
                <a:solidFill>
                  <a:srgbClr val="000000"/>
                </a:solidFill>
                <a:latin typeface="Aptos"/>
              </a:rPr>
              <a:t>Bí mật không tồn tại tự thân; nó là mối quan hệ giữa nhóm người giữ bí mật và thế giới bên ngoài trong một khoảng thời gian.</a:t>
            </a:r>
          </a:p>
          <a:p>
            <a:pPr>
              <a:spcBef>
                <a:spcPts val="600"/>
              </a:spcBef>
              <a:spcAft>
                <a:spcPts val="400"/>
              </a:spcAft>
            </a:pPr>
            <a:r>
              <a:rPr b="1" sz="1100" i="0">
                <a:solidFill>
                  <a:srgbClr val="000000"/>
                </a:solidFill>
                <a:latin typeface="Aptos"/>
              </a:rPr>
              <a:t>• Tri thức chung &amp; Công khai: </a:t>
            </a:r>
            <a:r>
              <a:rPr sz="1000" b="0" i="0">
                <a:solidFill>
                  <a:srgbClr val="000000"/>
                </a:solidFill>
                <a:latin typeface="Aptos"/>
              </a:rPr>
              <a:t>Common Knowledge: tri thức ai cũng biết và biết người khác cùng biết. Public Knowledge: thông tin công khai ai cũng có thể tiếp cận.</a:t>
            </a:r>
          </a:p>
        </p:txBody>
      </p:sp>
      <p:sp>
        <p:nvSpPr>
          <p:cNvPr id="12" name="TextBox 11"/>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rPr sz="819" b="0" i="1">
                <a:solidFill>
                  <a:srgbClr val="000000"/>
                </a:solidFill>
                <a:latin typeface="Aptos"/>
              </a:rPr>
              <a:t>Trích dẫn khoa học: Dretske (1981, Ref [1]); Cantwell Smith (1996, Ref [5]); Halpin (2025), tr. 2–5.</a:t>
            </a:r>
          </a:p>
        </p:txBody>
      </p:sp>
      <p:sp>
        <p:nvSpPr>
          <p:cNvPr id="13" name="Oval 12"/>
          <p:cNvSpPr/>
          <p:nvPr/>
        </p:nvSpPr>
        <p:spPr>
          <a:xfrm>
            <a:off x="11155680" y="448056"/>
            <a:ext cx="77724" cy="77724"/>
          </a:xfrm>
          <a:prstGeom prst="ellipse">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356848" y="448056"/>
            <a:ext cx="77724" cy="77724"/>
          </a:xfrm>
          <a:prstGeom prst="ellipse">
            <a:avLst/>
          </a:prstGeom>
          <a:solidFill>
            <a:srgbClr val="F2C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558016" y="448056"/>
            <a:ext cx="77724" cy="77724"/>
          </a:xfrm>
          <a:prstGeom prst="ellipse">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1604772"/>
            <a:ext cx="658368" cy="41148"/>
          </a:xfrm>
          <a:prstGeom prst="round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26464" y="1604772"/>
            <a:ext cx="219456" cy="41148"/>
          </a:xfrm>
          <a:prstGeom prst="roundRect">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C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FFF8DF"/>
          </a:solidFill>
          <a:ln w="12700">
            <a:solidFill>
              <a:srgbClr val="EED88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defRPr sz="1000" b="1">
                <a:solidFill>
                  <a:srgbClr val="1D4ED8"/>
                </a:solidFill>
              </a:defRPr>
            </a:pPr>
            <a:r>
              <a:rPr sz="840" b="1" i="0">
                <a:solidFill>
                  <a:srgbClr val="000000"/>
                </a:solidFill>
                <a:latin typeface="Aptos"/>
              </a:rPr>
              <a:t>SƠ ĐỒ 1: DÒNG THỜI GIAN TIẾN HÓA MÔ HÌNH ĐỐI THỦ</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lgn="l">
              <a:spcAft>
                <a:spcPts val="0"/>
              </a:spcAft>
              <a:defRPr sz="2100" b="1">
                <a:solidFill>
                  <a:srgbClr val="0F172A"/>
                </a:solidFill>
              </a:defRPr>
            </a:pPr>
            <a:r>
              <a:rPr sz="2130" b="1" i="0">
                <a:solidFill>
                  <a:srgbClr val="000000"/>
                </a:solidFill>
                <a:latin typeface="Aptos"/>
              </a:rPr>
              <a:t>TIẾN TRÌNH LỊCH SỬ MÔ HÌNH HÓA ĐỐI THỦ TRONG MẬT MÃ</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lgn="l">
              <a:defRPr sz="1200">
                <a:solidFill>
                  <a:srgbClr val="475569"/>
                </a:solidFill>
              </a:defRPr>
            </a:pPr>
            <a:r>
              <a:rPr sz="1110" b="0" i="0">
                <a:solidFill>
                  <a:srgbClr val="000000"/>
                </a:solidFill>
                <a:latin typeface="Aptos"/>
              </a:rPr>
              <a:t>Sự dịch chuyển từ Lý thuyết thông tin sang Giả định độ phức tạp tính toán và Phê phán hậu Snowden</a:t>
            </a:r>
          </a:p>
        </p:txBody>
      </p:sp>
      <p:sp>
        <p:nvSpPr>
          <p:cNvPr id="6" name="Rounded Rectangle 5"/>
          <p:cNvSpPr/>
          <p:nvPr/>
        </p:nvSpPr>
        <p:spPr>
          <a:xfrm>
            <a:off x="731520" y="1691640"/>
            <a:ext cx="10728655" cy="777240"/>
          </a:xfrm>
          <a:prstGeom prst="roundRect">
            <a:avLst/>
          </a:prstGeom>
          <a:solidFill>
            <a:srgbClr val="EEF4FF"/>
          </a:solidFill>
          <a:ln w="14604">
            <a:solidFill>
              <a:srgbClr val="C6D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37360"/>
            <a:ext cx="10362895" cy="685800"/>
          </a:xfrm>
          <a:prstGeom prst="rect">
            <a:avLst/>
          </a:prstGeom>
          <a:noFill/>
        </p:spPr>
        <p:txBody>
          <a:bodyPr wrap="square">
            <a:spAutoFit/>
          </a:bodyPr>
          <a:lstStyle/>
          <a:p>
            <a:pPr>
              <a:spcAft>
                <a:spcPts val="400"/>
              </a:spcAft>
            </a:pPr>
            <a:r>
              <a:rPr b="1" sz="1150" i="0">
                <a:solidFill>
                  <a:srgbClr val="000000"/>
                </a:solidFill>
                <a:latin typeface="Aptos"/>
              </a:rPr>
              <a:t>Giai đoạn 1 (1948–1949) — </a:t>
            </a:r>
            <a:r>
              <a:rPr b="1" sz="1100" i="0">
                <a:solidFill>
                  <a:srgbClr val="000000"/>
                </a:solidFill>
                <a:latin typeface="Aptos"/>
              </a:rPr>
              <a:t>[MÔ HÌNH SHANNON]: </a:t>
            </a:r>
            <a:r>
              <a:rPr sz="1050" b="0" i="0">
                <a:solidFill>
                  <a:srgbClr val="000000"/>
                </a:solidFill>
                <a:latin typeface="Aptos"/>
              </a:rPr>
              <a:t>Mô hình truyền thông bảo mật điểm - điểm; định nghĩa Bí mật hoàn hảo H(K) &gt;= H(M). Giới hạn: Giản lược đối thủ thành kẻ nghe lén trên kênh trừu tượng, bỏ qua chi phí phân phối khóa và thực tế xã hội - kỹ thuật.</a:t>
            </a:r>
          </a:p>
        </p:txBody>
      </p:sp>
      <p:sp>
        <p:nvSpPr>
          <p:cNvPr id="8" name="Rounded Rectangle 7"/>
          <p:cNvSpPr/>
          <p:nvPr/>
        </p:nvSpPr>
        <p:spPr>
          <a:xfrm>
            <a:off x="731520" y="2560320"/>
            <a:ext cx="10728655" cy="777240"/>
          </a:xfrm>
          <a:prstGeom prst="roundRect">
            <a:avLst/>
          </a:prstGeom>
          <a:solidFill>
            <a:srgbClr val="FFF8DF"/>
          </a:solidFill>
          <a:ln w="14604">
            <a:solidFill>
              <a:srgbClr val="EED8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606040"/>
            <a:ext cx="10362895" cy="685800"/>
          </a:xfrm>
          <a:prstGeom prst="rect">
            <a:avLst/>
          </a:prstGeom>
          <a:noFill/>
        </p:spPr>
        <p:txBody>
          <a:bodyPr wrap="square">
            <a:spAutoFit/>
          </a:bodyPr>
          <a:lstStyle/>
          <a:p>
            <a:pPr>
              <a:spcAft>
                <a:spcPts val="400"/>
              </a:spcAft>
            </a:pPr>
            <a:r>
              <a:rPr b="1" sz="1150" i="0">
                <a:solidFill>
                  <a:srgbClr val="000000"/>
                </a:solidFill>
                <a:latin typeface="Aptos"/>
              </a:rPr>
              <a:t>Giai đoạn 2 (1976) — </a:t>
            </a:r>
            <a:r>
              <a:rPr b="1" sz="1100" i="0">
                <a:solidFill>
                  <a:srgbClr val="000000"/>
                </a:solidFill>
                <a:latin typeface="Aptos"/>
              </a:rPr>
              <a:t>[CÁCH MẠNG KHÓA CÔNG KHAI]: </a:t>
            </a:r>
            <a:r>
              <a:rPr sz="1050" b="0" i="0">
                <a:solidFill>
                  <a:srgbClr val="000000"/>
                </a:solidFill>
                <a:latin typeface="Aptos"/>
              </a:rPr>
              <a:t>Diffie-Hellman và Merkle giải quyết bài toán phân phối khóa; chuyển gánh nặng bảo mật sang độ phức tạp tính toán một chiều.</a:t>
            </a:r>
          </a:p>
        </p:txBody>
      </p:sp>
      <p:sp>
        <p:nvSpPr>
          <p:cNvPr id="10" name="Rounded Rectangle 9"/>
          <p:cNvSpPr/>
          <p:nvPr/>
        </p:nvSpPr>
        <p:spPr>
          <a:xfrm>
            <a:off x="731520" y="3429000"/>
            <a:ext cx="10728655" cy="777240"/>
          </a:xfrm>
          <a:prstGeom prst="roundRect">
            <a:avLst/>
          </a:prstGeom>
          <a:solidFill>
            <a:srgbClr val="EAF8F2"/>
          </a:solidFill>
          <a:ln w="14604">
            <a:solidFill>
              <a:srgbClr val="B5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474720"/>
            <a:ext cx="10362895" cy="685800"/>
          </a:xfrm>
          <a:prstGeom prst="rect">
            <a:avLst/>
          </a:prstGeom>
          <a:noFill/>
        </p:spPr>
        <p:txBody>
          <a:bodyPr wrap="square">
            <a:spAutoFit/>
          </a:bodyPr>
          <a:lstStyle/>
          <a:p>
            <a:pPr>
              <a:spcAft>
                <a:spcPts val="400"/>
              </a:spcAft>
            </a:pPr>
            <a:r>
              <a:rPr b="1" sz="1150" i="0">
                <a:solidFill>
                  <a:srgbClr val="000000"/>
                </a:solidFill>
                <a:latin typeface="Aptos"/>
              </a:rPr>
              <a:t>Giai đoạn 3 (1982–1984) — </a:t>
            </a:r>
            <a:r>
              <a:rPr b="1" sz="1100" i="0">
                <a:solidFill>
                  <a:srgbClr val="000000"/>
                </a:solidFill>
                <a:latin typeface="Aptos"/>
              </a:rPr>
              <a:t>[PPT ADVERSARY &amp; SECURITY GAMES]: </a:t>
            </a:r>
            <a:r>
              <a:rPr sz="1050" b="0" i="0">
                <a:solidFill>
                  <a:srgbClr val="000000"/>
                </a:solidFill>
                <a:latin typeface="Aptos"/>
              </a:rPr>
              <a:t>Goldwasser-Micali định nghĩa an toàn ngữ nghĩa và đối thủ thời gian đa thức xác suất (PPT). Chứng minh an toàn bằng quy dẫn toán học.</a:t>
            </a:r>
          </a:p>
        </p:txBody>
      </p:sp>
      <p:sp>
        <p:nvSpPr>
          <p:cNvPr id="12" name="Rounded Rectangle 11"/>
          <p:cNvSpPr/>
          <p:nvPr/>
        </p:nvSpPr>
        <p:spPr>
          <a:xfrm>
            <a:off x="731520" y="4297680"/>
            <a:ext cx="10728655" cy="777240"/>
          </a:xfrm>
          <a:prstGeom prst="roundRect">
            <a:avLst/>
          </a:prstGeom>
          <a:solidFill>
            <a:srgbClr val="F5F0FF"/>
          </a:solidFill>
          <a:ln w="14604">
            <a:solidFill>
              <a:srgbClr val="D7C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343400"/>
            <a:ext cx="10362895" cy="685800"/>
          </a:xfrm>
          <a:prstGeom prst="rect">
            <a:avLst/>
          </a:prstGeom>
          <a:noFill/>
        </p:spPr>
        <p:txBody>
          <a:bodyPr wrap="square">
            <a:spAutoFit/>
          </a:bodyPr>
          <a:lstStyle/>
          <a:p>
            <a:pPr>
              <a:spcAft>
                <a:spcPts val="400"/>
              </a:spcAft>
            </a:pPr>
            <a:r>
              <a:rPr b="1" sz="1150" i="0">
                <a:solidFill>
                  <a:srgbClr val="000000"/>
                </a:solidFill>
                <a:latin typeface="Aptos"/>
              </a:rPr>
              <a:t>Giai đoạn 4 (1981–1993) — </a:t>
            </a:r>
            <a:r>
              <a:rPr b="1" sz="1100" i="0">
                <a:solidFill>
                  <a:srgbClr val="000000"/>
                </a:solidFill>
                <a:latin typeface="Aptos"/>
              </a:rPr>
              <a:t>[DOLEV-YAO &amp; RANDOM ORACLE]: </a:t>
            </a:r>
            <a:r>
              <a:rPr sz="1050" b="0" i="0">
                <a:solidFill>
                  <a:srgbClr val="000000"/>
                </a:solidFill>
                <a:latin typeface="Aptos"/>
              </a:rPr>
              <a:t>Dolev-Yao mô hình hóa đối thủ mạng kiểm soát hoàn toàn kênh truyền. Bellare-Rogaway đề xuất Random Oracle Model (ROM) ứng dụng thực hành.</a:t>
            </a:r>
          </a:p>
        </p:txBody>
      </p:sp>
      <p:sp>
        <p:nvSpPr>
          <p:cNvPr id="14" name="Rounded Rectangle 13"/>
          <p:cNvSpPr/>
          <p:nvPr/>
        </p:nvSpPr>
        <p:spPr>
          <a:xfrm>
            <a:off x="731520" y="5166360"/>
            <a:ext cx="10728655" cy="777240"/>
          </a:xfrm>
          <a:prstGeom prst="roundRect">
            <a:avLst/>
          </a:prstGeom>
          <a:solidFill>
            <a:srgbClr val="FFF0E9"/>
          </a:solidFill>
          <a:ln w="14604">
            <a:solidFill>
              <a:srgbClr val="F5C6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5212080"/>
            <a:ext cx="10362895" cy="685800"/>
          </a:xfrm>
          <a:prstGeom prst="rect">
            <a:avLst/>
          </a:prstGeom>
          <a:noFill/>
        </p:spPr>
        <p:txBody>
          <a:bodyPr wrap="square">
            <a:spAutoFit/>
          </a:bodyPr>
          <a:lstStyle/>
          <a:p>
            <a:pPr>
              <a:spcAft>
                <a:spcPts val="400"/>
              </a:spcAft>
            </a:pPr>
            <a:r>
              <a:rPr b="1" sz="1150" i="0">
                <a:solidFill>
                  <a:srgbClr val="000000"/>
                </a:solidFill>
                <a:latin typeface="Aptos"/>
              </a:rPr>
              <a:t>Giai đoạn 5 (2013–2025) — </a:t>
            </a:r>
            <a:r>
              <a:rPr b="1" sz="1100" i="0">
                <a:solidFill>
                  <a:srgbClr val="000000"/>
                </a:solidFill>
                <a:latin typeface="Aptos"/>
              </a:rPr>
              <a:t>[PHÊ PHÁN HẬU SNOWDEN]: </a:t>
            </a:r>
            <a:r>
              <a:rPr sz="1050" b="0" i="0">
                <a:solidFill>
                  <a:srgbClr val="000000"/>
                </a:solidFill>
                <a:latin typeface="Aptos"/>
              </a:rPr>
              <a:t>Tiết lộ của Snowden phơi bày năng lực thực tế của NSA: Kênh kề, cửa sau chuẩn mật mã, tấn công chuỗi cung ứng và giám sát siêu dữ liệu.</a:t>
            </a:r>
          </a:p>
        </p:txBody>
      </p:sp>
      <p:sp>
        <p:nvSpPr>
          <p:cNvPr id="16" name="TextBox 15"/>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rPr sz="819" b="0" i="1">
                <a:solidFill>
                  <a:srgbClr val="000000"/>
                </a:solidFill>
                <a:latin typeface="Aptos"/>
              </a:rPr>
              <a:t>Sơ đồ tổng hợp dựa trên Section 3–6, Harry Halpin (2025), Journal of Cybersecurity, tr. 3–12.</a:t>
            </a:r>
          </a:p>
        </p:txBody>
      </p:sp>
      <p:sp>
        <p:nvSpPr>
          <p:cNvPr id="17" name="Oval 16"/>
          <p:cNvSpPr/>
          <p:nvPr/>
        </p:nvSpPr>
        <p:spPr>
          <a:xfrm>
            <a:off x="11155680" y="448056"/>
            <a:ext cx="77724" cy="77724"/>
          </a:xfrm>
          <a:prstGeom prst="ellipse">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1356848" y="448056"/>
            <a:ext cx="77724" cy="77724"/>
          </a:xfrm>
          <a:prstGeom prst="ellipse">
            <a:avLst/>
          </a:prstGeom>
          <a:solidFill>
            <a:srgbClr val="F2C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1558016" y="448056"/>
            <a:ext cx="77724" cy="77724"/>
          </a:xfrm>
          <a:prstGeom prst="ellipse">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31520" y="1604772"/>
            <a:ext cx="658368" cy="41148"/>
          </a:xfrm>
          <a:prstGeom prst="round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1426464" y="1604772"/>
            <a:ext cx="219456" cy="41148"/>
          </a:xfrm>
          <a:prstGeom prst="roundRect">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C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F5F0FF"/>
          </a:solidFill>
          <a:ln w="12700">
            <a:solidFill>
              <a:srgbClr val="D7CAF4"/>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defRPr sz="1000" b="1">
                <a:solidFill>
                  <a:srgbClr val="1D4ED8"/>
                </a:solidFill>
              </a:defRPr>
            </a:pPr>
            <a:r>
              <a:rPr sz="840" b="1" i="0">
                <a:solidFill>
                  <a:srgbClr val="000000"/>
                </a:solidFill>
                <a:latin typeface="Aptos"/>
              </a:rPr>
              <a:t>SƠ ĐỒ 2: ĐỐI SÁNH MÔ HÌNH TRUYỀN THÔNG ĐIỂM-ĐIỂM VÀ MẠNG XÃ HỘI-KỸ THUẬT</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lgn="l">
              <a:spcAft>
                <a:spcPts val="0"/>
              </a:spcAft>
              <a:defRPr sz="2100" b="1">
                <a:solidFill>
                  <a:srgbClr val="0F172A"/>
                </a:solidFill>
              </a:defRPr>
            </a:pPr>
            <a:r>
              <a:rPr sz="2130" b="1" i="0">
                <a:solidFill>
                  <a:srgbClr val="000000"/>
                </a:solidFill>
                <a:latin typeface="Aptos"/>
              </a:rPr>
              <a:t>MÔ HÌNH TRUYỀN THÔNG CỦA SHANNON VÀ MẠNG THỰC TẾ</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lgn="l">
              <a:defRPr sz="1200">
                <a:solidFill>
                  <a:srgbClr val="475569"/>
                </a:solidFill>
              </a:defRPr>
            </a:pPr>
            <a:r>
              <a:rPr sz="1110" b="0" i="0">
                <a:solidFill>
                  <a:srgbClr val="000000"/>
                </a:solidFill>
                <a:latin typeface="Aptos"/>
              </a:rPr>
              <a:t>Khoảng cách giữa mô hình điểm-điểm đóng kín của Shannon và mạng phức hợp không đồng nhất</a:t>
            </a:r>
          </a:p>
        </p:txBody>
      </p:sp>
      <p:pic>
        <p:nvPicPr>
          <p:cNvPr id="6" name="Picture 5" descr="Slide6.drawio.png"/>
          <p:cNvPicPr>
            <a:picLocks noChangeAspect="1"/>
          </p:cNvPicPr>
          <p:nvPr/>
        </p:nvPicPr>
        <p:blipFill>
          <a:blip r:embed="rId2"/>
          <a:stretch>
            <a:fillRect/>
          </a:stretch>
        </p:blipFill>
        <p:spPr>
          <a:xfrm>
            <a:off x="1386687" y="1664208"/>
            <a:ext cx="9418320" cy="4425696"/>
          </a:xfrm>
          <a:prstGeom prst="rect">
            <a:avLst/>
          </a:prstGeom>
          <a:ln w="12700">
            <a:solidFill>
              <a:srgbClr val="E5DED2"/>
            </a:solidFill>
          </a:ln>
        </p:spPr>
      </p:pic>
      <p:sp>
        <p:nvSpPr>
          <p:cNvPr id="7" name="TextBox 6"/>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rPr sz="819" b="0" i="1">
                <a:solidFill>
                  <a:srgbClr val="000000"/>
                </a:solidFill>
                <a:latin typeface="Aptos"/>
              </a:rPr>
              <a:t>Sơ đồ tổng hợp dựa trên Shannon (1949) và Harry Halpin (2025), Journal of Cybersecurity, tr. 3–5.</a:t>
            </a:r>
          </a:p>
        </p:txBody>
      </p:sp>
      <p:sp>
        <p:nvSpPr>
          <p:cNvPr id="8" name="Oval 7"/>
          <p:cNvSpPr/>
          <p:nvPr/>
        </p:nvSpPr>
        <p:spPr>
          <a:xfrm>
            <a:off x="11155680" y="448056"/>
            <a:ext cx="77724" cy="77724"/>
          </a:xfrm>
          <a:prstGeom prst="ellipse">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56848" y="448056"/>
            <a:ext cx="77724" cy="77724"/>
          </a:xfrm>
          <a:prstGeom prst="ellipse">
            <a:avLst/>
          </a:prstGeom>
          <a:solidFill>
            <a:srgbClr val="F2C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58016" y="448056"/>
            <a:ext cx="77724" cy="77724"/>
          </a:xfrm>
          <a:prstGeom prst="ellipse">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04772"/>
            <a:ext cx="658368" cy="41148"/>
          </a:xfrm>
          <a:prstGeom prst="round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426464" y="1604772"/>
            <a:ext cx="219456" cy="41148"/>
          </a:xfrm>
          <a:prstGeom prst="roundRect">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C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EF4FF"/>
          </a:solidFill>
          <a:ln w="12700">
            <a:solidFill>
              <a:srgbClr val="C6D8F7"/>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defRPr sz="1000" b="1">
                <a:solidFill>
                  <a:srgbClr val="1D4ED8"/>
                </a:solidFill>
              </a:defRPr>
            </a:pPr>
            <a:r>
              <a:rPr sz="840" b="1" i="0">
                <a:solidFill>
                  <a:srgbClr val="000000"/>
                </a:solidFill>
                <a:latin typeface="Aptos"/>
              </a:rPr>
              <a:t>SECTION 4 — HÌNH THỨC HÓA ĐỐI THỦ (TRANG 5–8)</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lgn="l">
              <a:spcAft>
                <a:spcPts val="0"/>
              </a:spcAft>
              <a:defRPr sz="2100" b="1">
                <a:solidFill>
                  <a:srgbClr val="0F172A"/>
                </a:solidFill>
              </a:defRPr>
            </a:pPr>
            <a:r>
              <a:rPr sz="2130" b="1" i="0">
                <a:solidFill>
                  <a:srgbClr val="000000"/>
                </a:solidFill>
                <a:latin typeface="Aptos"/>
              </a:rPr>
              <a:t>BA MÔ HÌNH ĐỐI THỦ HÌNH THỨC TRONG MẬT MÃ HIỆN ĐẠI</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lgn="l">
              <a:defRPr sz="1200">
                <a:solidFill>
                  <a:srgbClr val="475569"/>
                </a:solidFill>
              </a:defRPr>
            </a:pPr>
            <a:r>
              <a:rPr sz="1110" b="0" i="0">
                <a:solidFill>
                  <a:srgbClr val="000000"/>
                </a:solidFill>
                <a:latin typeface="Aptos"/>
              </a:rPr>
              <a:t>Tiến trình toán học hóa kẻ thù: Độ phức tạp tính toán đa thức, Logic kênh truyền và Tiên tri ngẫu nhiên</a:t>
            </a:r>
          </a:p>
        </p:txBody>
      </p:sp>
      <p:sp>
        <p:nvSpPr>
          <p:cNvPr id="6" name="Rounded Rectangle 5"/>
          <p:cNvSpPr/>
          <p:nvPr/>
        </p:nvSpPr>
        <p:spPr>
          <a:xfrm>
            <a:off x="731520" y="1691640"/>
            <a:ext cx="3383280" cy="4389120"/>
          </a:xfrm>
          <a:prstGeom prst="roundRect">
            <a:avLst/>
          </a:prstGeom>
          <a:solidFill>
            <a:srgbClr val="EEF4FF"/>
          </a:solidFill>
          <a:ln w="14604">
            <a:solidFill>
              <a:srgbClr val="C6D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17520" cy="4114800"/>
          </a:xfrm>
          <a:prstGeom prst="rect">
            <a:avLst/>
          </a:prstGeom>
          <a:noFill/>
        </p:spPr>
        <p:txBody>
          <a:bodyPr wrap="square">
            <a:spAutoFit/>
          </a:bodyPr>
          <a:lstStyle/>
          <a:p>
            <a:pPr>
              <a:spcAft>
                <a:spcPts val="400"/>
              </a:spcAft>
              <a:defRPr sz="1300" b="1">
                <a:solidFill>
                  <a:srgbClr val="1E40AF"/>
                </a:solidFill>
              </a:defRPr>
            </a:pPr>
            <a:r>
              <a:rPr sz="1230" b="1" i="0">
                <a:solidFill>
                  <a:srgbClr val="000000"/>
                </a:solidFill>
                <a:latin typeface="Aptos"/>
              </a:rPr>
              <a:t>1. Mô Hình PPT Adversary</a:t>
            </a:r>
          </a:p>
          <a:p>
            <a:pPr>
              <a:spcAft>
                <a:spcPts val="400"/>
              </a:spcAft>
              <a:defRPr sz="950" b="1">
                <a:solidFill>
                  <a:srgbClr val="64748B"/>
                </a:solidFill>
              </a:defRPr>
            </a:pPr>
            <a:r>
              <a:rPr sz="930" b="1" i="0">
                <a:solidFill>
                  <a:srgbClr val="000000"/>
                </a:solidFill>
                <a:latin typeface="Aptos"/>
              </a:rPr>
              <a:t>GOLDWASSER-MICALI (1984)</a:t>
            </a:r>
          </a:p>
          <a:p>
            <a:pPr>
              <a:spcBef>
                <a:spcPts val="600"/>
              </a:spcBef>
              <a:spcAft>
                <a:spcPts val="400"/>
              </a:spcAft>
            </a:pPr>
            <a:r>
              <a:rPr b="1" sz="1100" i="0">
                <a:solidFill>
                  <a:srgbClr val="000000"/>
                </a:solidFill>
                <a:latin typeface="Aptos"/>
              </a:rPr>
              <a:t>• Khái niệm: </a:t>
            </a:r>
            <a:r>
              <a:rPr sz="1000" b="0" i="0">
                <a:solidFill>
                  <a:srgbClr val="000000"/>
                </a:solidFill>
                <a:latin typeface="Aptos"/>
              </a:rPr>
              <a:t>Đối thủ là thuật toán Turing xác suất chạy trong thời gian đa thức (Probabilistic Polynomial-Time).</a:t>
            </a:r>
          </a:p>
          <a:p>
            <a:pPr>
              <a:spcBef>
                <a:spcPts val="600"/>
              </a:spcBef>
              <a:spcAft>
                <a:spcPts val="400"/>
              </a:spcAft>
            </a:pPr>
            <a:r>
              <a:rPr b="1" sz="1100" i="0">
                <a:solidFill>
                  <a:srgbClr val="000000"/>
                </a:solidFill>
                <a:latin typeface="Aptos"/>
              </a:rPr>
              <a:t>• Security Games: </a:t>
            </a:r>
            <a:r>
              <a:rPr sz="1000" b="0" i="0">
                <a:solidFill>
                  <a:srgbClr val="000000"/>
                </a:solidFill>
                <a:latin typeface="Aptos"/>
              </a:rPr>
              <a:t>Định nghĩa an toàn thông qua các trò chơi thách đấu. Lợi thế Adv(A) phải là hàm không đáng kể (negligible).</a:t>
            </a:r>
          </a:p>
          <a:p>
            <a:pPr>
              <a:spcBef>
                <a:spcPts val="600"/>
              </a:spcBef>
              <a:spcAft>
                <a:spcPts val="400"/>
              </a:spcAft>
            </a:pPr>
            <a:r>
              <a:rPr b="1" sz="1100" i="0">
                <a:solidFill>
                  <a:srgbClr val="000000"/>
                </a:solidFill>
                <a:latin typeface="Aptos"/>
              </a:rPr>
              <a:t>• Quy dẫn toán học: </a:t>
            </a:r>
            <a:r>
              <a:rPr sz="1000" b="0" i="0">
                <a:solidFill>
                  <a:srgbClr val="000000"/>
                </a:solidFill>
                <a:latin typeface="Aptos"/>
              </a:rPr>
              <a:t>Chứng minh an toàn bằng cách quy dẫn: bẻ gãy hệ mật tương đương giải bài toán khó (phân tích thừa số nguyên, logarit rời rạc).</a:t>
            </a:r>
          </a:p>
        </p:txBody>
      </p:sp>
      <p:sp>
        <p:nvSpPr>
          <p:cNvPr id="8" name="Rounded Rectangle 7"/>
          <p:cNvSpPr/>
          <p:nvPr/>
        </p:nvSpPr>
        <p:spPr>
          <a:xfrm>
            <a:off x="4389120" y="1691640"/>
            <a:ext cx="3383280" cy="4389120"/>
          </a:xfrm>
          <a:prstGeom prst="roundRect">
            <a:avLst/>
          </a:prstGeom>
          <a:solidFill>
            <a:srgbClr val="EAF8F2"/>
          </a:solidFill>
          <a:ln w="14604">
            <a:solidFill>
              <a:srgbClr val="B5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28800"/>
            <a:ext cx="3017520" cy="4114800"/>
          </a:xfrm>
          <a:prstGeom prst="rect">
            <a:avLst/>
          </a:prstGeom>
          <a:noFill/>
        </p:spPr>
        <p:txBody>
          <a:bodyPr wrap="square">
            <a:spAutoFit/>
          </a:bodyPr>
          <a:lstStyle/>
          <a:p>
            <a:pPr>
              <a:spcAft>
                <a:spcPts val="400"/>
              </a:spcAft>
              <a:defRPr sz="1300" b="1">
                <a:solidFill>
                  <a:srgbClr val="0F172A"/>
                </a:solidFill>
              </a:defRPr>
            </a:pPr>
            <a:r>
              <a:rPr sz="1230" b="1" i="0">
                <a:solidFill>
                  <a:srgbClr val="000000"/>
                </a:solidFill>
                <a:latin typeface="Aptos"/>
              </a:rPr>
              <a:t>2. Mô Hình Đối Thủ Mạng Logic</a:t>
            </a:r>
          </a:p>
          <a:p>
            <a:pPr>
              <a:spcAft>
                <a:spcPts val="400"/>
              </a:spcAft>
              <a:defRPr sz="950" b="1">
                <a:solidFill>
                  <a:srgbClr val="64748B"/>
                </a:solidFill>
              </a:defRPr>
            </a:pPr>
            <a:r>
              <a:rPr sz="930" b="1" i="0">
                <a:solidFill>
                  <a:srgbClr val="000000"/>
                </a:solidFill>
                <a:latin typeface="Aptos"/>
              </a:rPr>
              <a:t>DOLEV-YAO (1983)</a:t>
            </a:r>
          </a:p>
          <a:p>
            <a:pPr>
              <a:spcBef>
                <a:spcPts val="600"/>
              </a:spcBef>
              <a:spcAft>
                <a:spcPts val="400"/>
              </a:spcAft>
            </a:pPr>
            <a:r>
              <a:rPr b="1" sz="1100" i="0">
                <a:solidFill>
                  <a:srgbClr val="000000"/>
                </a:solidFill>
                <a:latin typeface="Aptos"/>
              </a:rPr>
              <a:t>• Khái niệm: </a:t>
            </a:r>
            <a:r>
              <a:rPr sz="1000" b="0" i="0">
                <a:solidFill>
                  <a:srgbClr val="000000"/>
                </a:solidFill>
                <a:latin typeface="Aptos"/>
              </a:rPr>
              <a:t>Đối thủ kiểm soát toàn bộ kênh truyền mạng: có quyền đọc, chặn, sửa đổi, xóa, tráo đổi và phát lại gói tin.</a:t>
            </a:r>
          </a:p>
          <a:p>
            <a:pPr>
              <a:spcBef>
                <a:spcPts val="600"/>
              </a:spcBef>
              <a:spcAft>
                <a:spcPts val="400"/>
              </a:spcAft>
            </a:pPr>
            <a:r>
              <a:rPr b="1" sz="1100" i="0">
                <a:solidFill>
                  <a:srgbClr val="000000"/>
                </a:solidFill>
                <a:latin typeface="Aptos"/>
              </a:rPr>
              <a:t>• Hộp đen mật mã: </a:t>
            </a:r>
            <a:r>
              <a:rPr sz="1000" b="0" i="0">
                <a:solidFill>
                  <a:srgbClr val="000000"/>
                </a:solidFill>
                <a:latin typeface="Aptos"/>
              </a:rPr>
              <a:t>Mô hình Dolev-Yao xem mật mã như các hàm đại số hoàn hảo (Perfect Black-box). Kẻ thù không thể giải mã nếu không có khóa.</a:t>
            </a:r>
          </a:p>
          <a:p>
            <a:pPr>
              <a:spcBef>
                <a:spcPts val="600"/>
              </a:spcBef>
              <a:spcAft>
                <a:spcPts val="400"/>
              </a:spcAft>
            </a:pPr>
            <a:r>
              <a:rPr b="1" sz="1100" i="0">
                <a:solidFill>
                  <a:srgbClr val="000000"/>
                </a:solidFill>
                <a:latin typeface="Aptos"/>
              </a:rPr>
              <a:t>• Ứng dụng: </a:t>
            </a:r>
            <a:r>
              <a:rPr sz="1000" b="0" i="0">
                <a:solidFill>
                  <a:srgbClr val="000000"/>
                </a:solidFill>
                <a:latin typeface="Aptos"/>
              </a:rPr>
              <a:t>Kiểm chứng hình thức các giao thức mạng phức tạp thông qua các công cụ logic tự động.</a:t>
            </a:r>
          </a:p>
        </p:txBody>
      </p:sp>
      <p:sp>
        <p:nvSpPr>
          <p:cNvPr id="10" name="Rounded Rectangle 9"/>
          <p:cNvSpPr/>
          <p:nvPr/>
        </p:nvSpPr>
        <p:spPr>
          <a:xfrm>
            <a:off x="8046720" y="1691640"/>
            <a:ext cx="3383280" cy="4389120"/>
          </a:xfrm>
          <a:prstGeom prst="roundRect">
            <a:avLst/>
          </a:prstGeom>
          <a:solidFill>
            <a:srgbClr val="FFF8DF"/>
          </a:solidFill>
          <a:ln w="14604">
            <a:solidFill>
              <a:srgbClr val="EED8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28800"/>
            <a:ext cx="3017520" cy="4114800"/>
          </a:xfrm>
          <a:prstGeom prst="rect">
            <a:avLst/>
          </a:prstGeom>
          <a:noFill/>
        </p:spPr>
        <p:txBody>
          <a:bodyPr wrap="square">
            <a:spAutoFit/>
          </a:bodyPr>
          <a:lstStyle/>
          <a:p>
            <a:pPr>
              <a:spcAft>
                <a:spcPts val="400"/>
              </a:spcAft>
              <a:defRPr sz="1300" b="1">
                <a:solidFill>
                  <a:srgbClr val="D97706"/>
                </a:solidFill>
              </a:defRPr>
            </a:pPr>
            <a:r>
              <a:rPr sz="1230" b="1" i="0">
                <a:solidFill>
                  <a:srgbClr val="000000"/>
                </a:solidFill>
                <a:latin typeface="Aptos"/>
              </a:rPr>
              <a:t>3. Mô Hình Tiên Tri Ngẫu Nhiên</a:t>
            </a:r>
          </a:p>
          <a:p>
            <a:pPr>
              <a:spcAft>
                <a:spcPts val="400"/>
              </a:spcAft>
              <a:defRPr sz="950" b="1">
                <a:solidFill>
                  <a:srgbClr val="64748B"/>
                </a:solidFill>
              </a:defRPr>
            </a:pPr>
            <a:r>
              <a:rPr sz="930" b="1" i="0">
                <a:solidFill>
                  <a:srgbClr val="000000"/>
                </a:solidFill>
                <a:latin typeface="Aptos"/>
              </a:rPr>
              <a:t>BELLARE-ROGAWAY (1993)</a:t>
            </a:r>
          </a:p>
          <a:p>
            <a:pPr>
              <a:spcBef>
                <a:spcPts val="600"/>
              </a:spcBef>
              <a:spcAft>
                <a:spcPts val="400"/>
              </a:spcAft>
            </a:pPr>
            <a:r>
              <a:rPr b="1" sz="1100" i="0">
                <a:solidFill>
                  <a:srgbClr val="000000"/>
                </a:solidFill>
                <a:latin typeface="Aptos"/>
              </a:rPr>
              <a:t>• Khái niệm: </a:t>
            </a:r>
            <a:r>
              <a:rPr sz="1000" b="0" i="0">
                <a:solidFill>
                  <a:srgbClr val="000000"/>
                </a:solidFill>
                <a:latin typeface="Aptos"/>
              </a:rPr>
              <a:t>Giả định hàm băm thực tế hoạt động như một hàm ngẫu nhiên lý tưởng (Random Oracle Model - ROM) trả về chuỗi ngẫu nhiên đồng đều.</a:t>
            </a:r>
          </a:p>
          <a:p>
            <a:pPr>
              <a:spcBef>
                <a:spcPts val="600"/>
              </a:spcBef>
              <a:spcAft>
                <a:spcPts val="400"/>
              </a:spcAft>
            </a:pPr>
            <a:r>
              <a:rPr b="1" sz="1100" i="0">
                <a:solidFill>
                  <a:srgbClr val="000000"/>
                </a:solidFill>
                <a:latin typeface="Aptos"/>
              </a:rPr>
              <a:t>• Vai trò thực tế: </a:t>
            </a:r>
            <a:r>
              <a:rPr sz="1000" b="0" i="0">
                <a:solidFill>
                  <a:srgbClr val="000000"/>
                </a:solidFill>
                <a:latin typeface="Aptos"/>
              </a:rPr>
              <a:t>Cho phép xây dựng các hệ mật khóa công khai và chữ ký số hiệu năng cao có chứng minh an toàn.</a:t>
            </a:r>
          </a:p>
          <a:p>
            <a:pPr>
              <a:spcBef>
                <a:spcPts val="600"/>
              </a:spcBef>
              <a:spcAft>
                <a:spcPts val="400"/>
              </a:spcAft>
            </a:pPr>
            <a:r>
              <a:rPr b="1" sz="1100" i="0">
                <a:solidFill>
                  <a:srgbClr val="000000"/>
                </a:solidFill>
                <a:latin typeface="Aptos"/>
              </a:rPr>
              <a:t>• Giới hạn triết học: </a:t>
            </a:r>
            <a:r>
              <a:rPr sz="1000" b="0" i="0">
                <a:solidFill>
                  <a:srgbClr val="000000"/>
                </a:solidFill>
                <a:latin typeface="Aptos"/>
              </a:rPr>
              <a:t>Trong thế giới thực, không có hàm băm cụ thể nào (kể cả SHA-256) có thể tương đương toán học với một Random Oracle thực sự.</a:t>
            </a:r>
          </a:p>
        </p:txBody>
      </p:sp>
      <p:sp>
        <p:nvSpPr>
          <p:cNvPr id="12" name="TextBox 11"/>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rPr sz="819" b="0" i="1">
                <a:solidFill>
                  <a:srgbClr val="000000"/>
                </a:solidFill>
                <a:latin typeface="Aptos"/>
              </a:rPr>
              <a:t>Trích dẫn: Goldwasser-Micali (1984); Dolev-Yao (1983); Bellare-Rogaway (1993); Halpin (2025), tr. 5–8.</a:t>
            </a:r>
          </a:p>
        </p:txBody>
      </p:sp>
      <p:sp>
        <p:nvSpPr>
          <p:cNvPr id="13" name="Oval 12"/>
          <p:cNvSpPr/>
          <p:nvPr/>
        </p:nvSpPr>
        <p:spPr>
          <a:xfrm>
            <a:off x="11155680" y="448056"/>
            <a:ext cx="77724" cy="77724"/>
          </a:xfrm>
          <a:prstGeom prst="ellipse">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356848" y="448056"/>
            <a:ext cx="77724" cy="77724"/>
          </a:xfrm>
          <a:prstGeom prst="ellipse">
            <a:avLst/>
          </a:prstGeom>
          <a:solidFill>
            <a:srgbClr val="F2C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558016" y="448056"/>
            <a:ext cx="77724" cy="77724"/>
          </a:xfrm>
          <a:prstGeom prst="ellipse">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1604772"/>
            <a:ext cx="658368" cy="41148"/>
          </a:xfrm>
          <a:prstGeom prst="round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26464" y="1604772"/>
            <a:ext cx="219456" cy="41148"/>
          </a:xfrm>
          <a:prstGeom prst="roundRect">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C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FFF0E9"/>
          </a:solidFill>
          <a:ln w="12700">
            <a:solidFill>
              <a:srgbClr val="F5C6B6"/>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defRPr sz="1000" b="1">
                <a:solidFill>
                  <a:srgbClr val="1D4ED8"/>
                </a:solidFill>
              </a:defRPr>
            </a:pPr>
            <a:r>
              <a:rPr sz="840" b="1" i="0">
                <a:solidFill>
                  <a:srgbClr val="000000"/>
                </a:solidFill>
                <a:latin typeface="Aptos"/>
              </a:rPr>
              <a:t>SECTION 5 — GIỚI HẠN TRỪU TƯỢNG HÓA (TRANG 8–10)</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lgn="l">
              <a:spcAft>
                <a:spcPts val="0"/>
              </a:spcAft>
              <a:defRPr sz="2100" b="1">
                <a:solidFill>
                  <a:srgbClr val="0F172A"/>
                </a:solidFill>
              </a:defRPr>
            </a:pPr>
            <a:r>
              <a:rPr sz="2130" b="1" i="0">
                <a:solidFill>
                  <a:srgbClr val="000000"/>
                </a:solidFill>
                <a:latin typeface="Aptos"/>
              </a:rPr>
              <a:t>GIỚI HẠN CỦA SỰ HÌNH THỨC HÓA TRONG MẬT MÃ HỌC</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lgn="l">
              <a:defRPr sz="1200">
                <a:solidFill>
                  <a:srgbClr val="475569"/>
                </a:solidFill>
              </a:defRPr>
            </a:pPr>
            <a:r>
              <a:rPr sz="1110" b="0" i="0">
                <a:solidFill>
                  <a:srgbClr val="000000"/>
                </a:solidFill>
                <a:latin typeface="Aptos"/>
              </a:rPr>
              <a:t>Khoảng cách giữa các giả định toán học lý tưởng và thế giới vật lý thực tế</a:t>
            </a:r>
          </a:p>
        </p:txBody>
      </p:sp>
      <p:sp>
        <p:nvSpPr>
          <p:cNvPr id="6" name="Rounded Rectangle 5"/>
          <p:cNvSpPr/>
          <p:nvPr/>
        </p:nvSpPr>
        <p:spPr>
          <a:xfrm>
            <a:off x="731520" y="1691640"/>
            <a:ext cx="10728655" cy="960120"/>
          </a:xfrm>
          <a:prstGeom prst="roundRect">
            <a:avLst/>
          </a:prstGeom>
          <a:solidFill>
            <a:srgbClr val="EEF4FF"/>
          </a:solidFill>
          <a:ln w="14604">
            <a:solidFill>
              <a:srgbClr val="C6D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64792"/>
            <a:ext cx="10362895" cy="822960"/>
          </a:xfrm>
          <a:prstGeom prst="rect">
            <a:avLst/>
          </a:prstGeom>
          <a:noFill/>
        </p:spPr>
        <p:txBody>
          <a:bodyPr wrap="square">
            <a:spAutoFit/>
          </a:bodyPr>
          <a:lstStyle/>
          <a:p>
            <a:pPr>
              <a:spcAft>
                <a:spcPts val="400"/>
              </a:spcAft>
              <a:defRPr sz="1200" b="1">
                <a:solidFill>
                  <a:srgbClr val="1E40AF"/>
                </a:solidFill>
              </a:defRPr>
            </a:pPr>
            <a:r>
              <a:rPr sz="1230" b="1" i="0">
                <a:solidFill>
                  <a:srgbClr val="000000"/>
                </a:solidFill>
                <a:latin typeface="Aptos"/>
              </a:rPr>
              <a:t>BƯỚC 1: GIẢ ĐỊNH TOÁN HỌC HÌNH THỨC</a:t>
            </a:r>
          </a:p>
          <a:p>
            <a:pPr>
              <a:spcBef>
                <a:spcPts val="300"/>
              </a:spcBef>
              <a:spcAft>
                <a:spcPts val="400"/>
              </a:spcAft>
              <a:defRPr sz="1050">
                <a:solidFill>
                  <a:srgbClr val="1E293B"/>
                </a:solidFill>
              </a:defRPr>
            </a:pPr>
            <a:r>
              <a:rPr sz="1050" b="0" i="0">
                <a:solidFill>
                  <a:srgbClr val="000000"/>
                </a:solidFill>
                <a:latin typeface="Aptos"/>
              </a:rPr>
              <a:t>Hộp đen mật mã lý tưởng, thời gian thực thi là vô hình, độ dài bản mã công khai không rò rỉ nội dung, kênh truyền điểm-điểm độc lập.</a:t>
            </a:r>
          </a:p>
        </p:txBody>
      </p:sp>
      <p:sp>
        <p:nvSpPr>
          <p:cNvPr id="8" name="Rounded Rectangle 7"/>
          <p:cNvSpPr/>
          <p:nvPr/>
        </p:nvSpPr>
        <p:spPr>
          <a:xfrm>
            <a:off x="731520" y="2770632"/>
            <a:ext cx="10728655" cy="960120"/>
          </a:xfrm>
          <a:prstGeom prst="roundRect">
            <a:avLst/>
          </a:prstGeom>
          <a:solidFill>
            <a:srgbClr val="FFF8DF"/>
          </a:solidFill>
          <a:ln w="14604">
            <a:solidFill>
              <a:srgbClr val="EED8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43784"/>
            <a:ext cx="10362895" cy="822960"/>
          </a:xfrm>
          <a:prstGeom prst="rect">
            <a:avLst/>
          </a:prstGeom>
          <a:noFill/>
        </p:spPr>
        <p:txBody>
          <a:bodyPr wrap="square">
            <a:spAutoFit/>
          </a:bodyPr>
          <a:lstStyle/>
          <a:p>
            <a:pPr>
              <a:spcAft>
                <a:spcPts val="400"/>
              </a:spcAft>
              <a:defRPr sz="1200" b="1">
                <a:solidFill>
                  <a:srgbClr val="D97706"/>
                </a:solidFill>
              </a:defRPr>
            </a:pPr>
            <a:r>
              <a:rPr sz="1230" b="1" i="0">
                <a:solidFill>
                  <a:srgbClr val="000000"/>
                </a:solidFill>
                <a:latin typeface="Aptos"/>
              </a:rPr>
              <a:t>BƯỚC 2: CÁC YẾU TỐ VẬT LÝ BỊ TRỪU TƯỢNG HÓA LƯỢC BỎ</a:t>
            </a:r>
          </a:p>
          <a:p>
            <a:pPr>
              <a:spcBef>
                <a:spcPts val="300"/>
              </a:spcBef>
              <a:spcAft>
                <a:spcPts val="400"/>
              </a:spcAft>
              <a:defRPr sz="1050">
                <a:solidFill>
                  <a:srgbClr val="1E293B"/>
                </a:solidFill>
              </a:defRPr>
            </a:pPr>
            <a:r>
              <a:rPr sz="1050" b="0" i="0">
                <a:solidFill>
                  <a:srgbClr val="000000"/>
                </a:solidFill>
                <a:latin typeface="Aptos"/>
              </a:rPr>
              <a:t>Thời gian vi xử lý CPU, dao động điện năng tiêu thụ, phát xạ điện từ, kiến trúc bộ nhớ đệm (Cache), lỗi lập trình phần mềm.</a:t>
            </a:r>
          </a:p>
        </p:txBody>
      </p:sp>
      <p:sp>
        <p:nvSpPr>
          <p:cNvPr id="10" name="Rounded Rectangle 9"/>
          <p:cNvSpPr/>
          <p:nvPr/>
        </p:nvSpPr>
        <p:spPr>
          <a:xfrm>
            <a:off x="731520" y="3849624"/>
            <a:ext cx="10728655" cy="960120"/>
          </a:xfrm>
          <a:prstGeom prst="roundRect">
            <a:avLst/>
          </a:prstGeom>
          <a:solidFill>
            <a:srgbClr val="FFF0E9"/>
          </a:solidFill>
          <a:ln w="14604">
            <a:solidFill>
              <a:srgbClr val="F5C6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22776"/>
            <a:ext cx="10362895" cy="822960"/>
          </a:xfrm>
          <a:prstGeom prst="rect">
            <a:avLst/>
          </a:prstGeom>
          <a:noFill/>
        </p:spPr>
        <p:txBody>
          <a:bodyPr wrap="square">
            <a:spAutoFit/>
          </a:bodyPr>
          <a:lstStyle/>
          <a:p>
            <a:pPr>
              <a:spcAft>
                <a:spcPts val="400"/>
              </a:spcAft>
              <a:defRPr sz="1200" b="1">
                <a:solidFill>
                  <a:srgbClr val="DC2626"/>
                </a:solidFill>
              </a:defRPr>
            </a:pPr>
            <a:r>
              <a:rPr sz="1230" b="1" i="0">
                <a:solidFill>
                  <a:srgbClr val="000000"/>
                </a:solidFill>
                <a:latin typeface="Aptos"/>
              </a:rPr>
              <a:t>BƯỚC 3: CON ĐƯỜNG KHAI THÁC CỦA ĐỐI THỦ THẾ GIỚI THỰC</a:t>
            </a:r>
          </a:p>
          <a:p>
            <a:pPr>
              <a:spcBef>
                <a:spcPts val="300"/>
              </a:spcBef>
              <a:spcAft>
                <a:spcPts val="400"/>
              </a:spcAft>
              <a:defRPr sz="1050">
                <a:solidFill>
                  <a:srgbClr val="1E293B"/>
                </a:solidFill>
              </a:defRPr>
            </a:pPr>
            <a:r>
              <a:rPr sz="1050" b="0" i="0">
                <a:solidFill>
                  <a:srgbClr val="000000"/>
                </a:solidFill>
                <a:latin typeface="Aptos"/>
              </a:rPr>
              <a:t>Tấn công kênh kề (Timing Attack - Kocher 1996), phân tích độ dài và lưu lượng siêu dữ liệu (Traffic Analysis), khai thác lỗi cài đặt phần mềm và quản lý (Anderson 2001).</a:t>
            </a:r>
          </a:p>
        </p:txBody>
      </p:sp>
      <p:sp>
        <p:nvSpPr>
          <p:cNvPr id="12" name="Rounded Rectangle 11"/>
          <p:cNvSpPr/>
          <p:nvPr/>
        </p:nvSpPr>
        <p:spPr>
          <a:xfrm>
            <a:off x="731520" y="4928616"/>
            <a:ext cx="10728655" cy="960120"/>
          </a:xfrm>
          <a:prstGeom prst="roundRect">
            <a:avLst/>
          </a:prstGeom>
          <a:solidFill>
            <a:srgbClr val="EAF8F2"/>
          </a:solidFill>
          <a:ln w="14604">
            <a:solidFill>
              <a:srgbClr val="B5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001768"/>
            <a:ext cx="10362895" cy="822960"/>
          </a:xfrm>
          <a:prstGeom prst="rect">
            <a:avLst/>
          </a:prstGeom>
          <a:noFill/>
        </p:spPr>
        <p:txBody>
          <a:bodyPr wrap="square">
            <a:spAutoFit/>
          </a:bodyPr>
          <a:lstStyle/>
          <a:p>
            <a:pPr>
              <a:spcAft>
                <a:spcPts val="400"/>
              </a:spcAft>
              <a:defRPr sz="1200" b="1">
                <a:solidFill>
                  <a:srgbClr val="059669"/>
                </a:solidFill>
              </a:defRPr>
            </a:pPr>
            <a:r>
              <a:rPr sz="1230" b="1" i="0">
                <a:solidFill>
                  <a:srgbClr val="000000"/>
                </a:solidFill>
                <a:latin typeface="Aptos"/>
              </a:rPr>
              <a:t>BƯỚC 4: BÀI HỌC THỰC TIỄN TỪ HARRY HALPIN</a:t>
            </a:r>
          </a:p>
          <a:p>
            <a:pPr>
              <a:spcBef>
                <a:spcPts val="300"/>
              </a:spcBef>
              <a:spcAft>
                <a:spcPts val="400"/>
              </a:spcAft>
              <a:defRPr sz="1050">
                <a:solidFill>
                  <a:srgbClr val="1E293B"/>
                </a:solidFill>
              </a:defRPr>
            </a:pPr>
            <a:r>
              <a:rPr sz="1050" b="0" i="0">
                <a:solidFill>
                  <a:srgbClr val="000000"/>
                </a:solidFill>
                <a:latin typeface="Aptos"/>
              </a:rPr>
              <a:t>Cái giá của sự trừu tượng hóa là làm cho mật mã học mù quáng trước chính những năng lực thực tế của đối thủ nằm ngoài mô hình lý thuyết.</a:t>
            </a:r>
          </a:p>
        </p:txBody>
      </p:sp>
      <p:sp>
        <p:nvSpPr>
          <p:cNvPr id="14" name="TextBox 13"/>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rPr sz="819" b="0" i="1">
                <a:solidFill>
                  <a:srgbClr val="000000"/>
                </a:solidFill>
                <a:latin typeface="Aptos"/>
              </a:rPr>
              <a:t>Sơ đồ tổng hợp dựa trên Kocher (1996) và Halpin (2025), Section 5, tr. 8–10.</a:t>
            </a:r>
          </a:p>
        </p:txBody>
      </p:sp>
      <p:sp>
        <p:nvSpPr>
          <p:cNvPr id="15" name="Oval 14"/>
          <p:cNvSpPr/>
          <p:nvPr/>
        </p:nvSpPr>
        <p:spPr>
          <a:xfrm>
            <a:off x="11155680" y="448056"/>
            <a:ext cx="77724" cy="77724"/>
          </a:xfrm>
          <a:prstGeom prst="ellipse">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356848" y="448056"/>
            <a:ext cx="77724" cy="77724"/>
          </a:xfrm>
          <a:prstGeom prst="ellipse">
            <a:avLst/>
          </a:prstGeom>
          <a:solidFill>
            <a:srgbClr val="F2C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558016" y="448056"/>
            <a:ext cx="77724" cy="77724"/>
          </a:xfrm>
          <a:prstGeom prst="ellipse">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1604772"/>
            <a:ext cx="658368" cy="41148"/>
          </a:xfrm>
          <a:prstGeom prst="round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426464" y="1604772"/>
            <a:ext cx="219456" cy="41148"/>
          </a:xfrm>
          <a:prstGeom prst="roundRect">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C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AF8F2"/>
          </a:solidFill>
          <a:ln w="12700">
            <a:solidFill>
              <a:srgbClr val="B5DFD3"/>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defRPr sz="1000" b="1">
                <a:solidFill>
                  <a:srgbClr val="1D4ED8"/>
                </a:solidFill>
              </a:defRPr>
            </a:pPr>
            <a:r>
              <a:rPr sz="840" b="1" i="0">
                <a:solidFill>
                  <a:srgbClr val="000000"/>
                </a:solidFill>
                <a:latin typeface="Aptos"/>
              </a:rPr>
              <a:t>SECTION 6 — TIẾT LỘ CỦA SNOWDEN (TRANG 10–12)</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lgn="l">
              <a:spcAft>
                <a:spcPts val="0"/>
              </a:spcAft>
              <a:defRPr sz="2100" b="1">
                <a:solidFill>
                  <a:srgbClr val="0F172A"/>
                </a:solidFill>
              </a:defRPr>
            </a:pPr>
            <a:r>
              <a:rPr sz="2130" b="1" i="0">
                <a:solidFill>
                  <a:srgbClr val="000000"/>
                </a:solidFill>
                <a:latin typeface="Aptos"/>
              </a:rPr>
              <a:t>SNOWDEN VÀ ĐỐI THỦ THỂ CHẾ (THE REAL ADVERSARY)</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lgn="l">
              <a:defRPr sz="1200">
                <a:solidFill>
                  <a:srgbClr val="475569"/>
                </a:solidFill>
              </a:defRPr>
            </a:pPr>
            <a:r>
              <a:rPr sz="1110" b="0" i="0">
                <a:solidFill>
                  <a:srgbClr val="000000"/>
                </a:solidFill>
                <a:latin typeface="Aptos"/>
              </a:rPr>
              <a:t>Khủng hoảng mô hình an ninh trước đối thủ giám sát hàng loạt quy mô quốc gia</a:t>
            </a:r>
          </a:p>
        </p:txBody>
      </p:sp>
      <p:sp>
        <p:nvSpPr>
          <p:cNvPr id="6" name="Rounded Rectangle 5"/>
          <p:cNvSpPr/>
          <p:nvPr/>
        </p:nvSpPr>
        <p:spPr>
          <a:xfrm>
            <a:off x="731520" y="1691640"/>
            <a:ext cx="3383280" cy="4389120"/>
          </a:xfrm>
          <a:prstGeom prst="roundRect">
            <a:avLst/>
          </a:prstGeom>
          <a:solidFill>
            <a:srgbClr val="FFF0E9"/>
          </a:solidFill>
          <a:ln w="14604">
            <a:solidFill>
              <a:srgbClr val="F5C6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828800"/>
            <a:ext cx="3017520" cy="4114800"/>
          </a:xfrm>
          <a:prstGeom prst="rect">
            <a:avLst/>
          </a:prstGeom>
          <a:noFill/>
        </p:spPr>
        <p:txBody>
          <a:bodyPr wrap="square">
            <a:spAutoFit/>
          </a:bodyPr>
          <a:lstStyle/>
          <a:p>
            <a:pPr>
              <a:spcAft>
                <a:spcPts val="400"/>
              </a:spcAft>
              <a:defRPr sz="1300" b="1">
                <a:solidFill>
                  <a:srgbClr val="1E40AF"/>
                </a:solidFill>
              </a:defRPr>
            </a:pPr>
            <a:r>
              <a:rPr sz="1230" b="1" i="0">
                <a:solidFill>
                  <a:srgbClr val="000000"/>
                </a:solidFill>
                <a:latin typeface="Aptos"/>
              </a:rPr>
              <a:t>1. Khủng Hoảng Thực Tiễn</a:t>
            </a:r>
          </a:p>
          <a:p>
            <a:pPr>
              <a:spcAft>
                <a:spcPts val="400"/>
              </a:spcAft>
              <a:defRPr sz="950" b="1">
                <a:solidFill>
                  <a:srgbClr val="64748B"/>
                </a:solidFill>
              </a:defRPr>
            </a:pPr>
            <a:r>
              <a:rPr sz="930" b="1" i="0">
                <a:solidFill>
                  <a:srgbClr val="000000"/>
                </a:solidFill>
                <a:latin typeface="Aptos"/>
              </a:rPr>
              <a:t>TIẾT LỘ SNOWDEN (2013)</a:t>
            </a:r>
          </a:p>
          <a:p>
            <a:pPr>
              <a:spcBef>
                <a:spcPts val="600"/>
              </a:spcBef>
              <a:spcAft>
                <a:spcPts val="400"/>
              </a:spcAft>
            </a:pPr>
            <a:r>
              <a:rPr b="1" sz="1100" i="0">
                <a:solidFill>
                  <a:srgbClr val="000000"/>
                </a:solidFill>
                <a:latin typeface="Aptos"/>
              </a:rPr>
              <a:t>• Sự kiện bước ngoặt: </a:t>
            </a:r>
            <a:r>
              <a:rPr sz="1000" b="0" i="0">
                <a:solidFill>
                  <a:srgbClr val="000000"/>
                </a:solidFill>
                <a:latin typeface="Aptos"/>
              </a:rPr>
              <a:t>Các tài liệu Edward Snowden tiết lộ về NSA đã kéo mật mã học vào một cuộc khủng hoảng thực tiễn sâu sắc.</a:t>
            </a:r>
          </a:p>
          <a:p>
            <a:pPr>
              <a:spcBef>
                <a:spcPts val="600"/>
              </a:spcBef>
              <a:spcAft>
                <a:spcPts val="400"/>
              </a:spcAft>
            </a:pPr>
            <a:r>
              <a:rPr b="1" sz="1100" i="0">
                <a:solidFill>
                  <a:srgbClr val="000000"/>
                </a:solidFill>
                <a:latin typeface="Aptos"/>
              </a:rPr>
              <a:t>• Không phá toán học: </a:t>
            </a:r>
            <a:r>
              <a:rPr sz="1000" b="0" i="0">
                <a:solidFill>
                  <a:srgbClr val="000000"/>
                </a:solidFill>
                <a:latin typeface="Aptos"/>
              </a:rPr>
              <a:t>NSA không cần giải các bài toán toán học khó của RSA hay AES mà tấn công trực tiếp vào toàn bộ hệ sinh thái xung quanh.</a:t>
            </a:r>
          </a:p>
          <a:p>
            <a:pPr>
              <a:spcBef>
                <a:spcPts val="600"/>
              </a:spcBef>
              <a:spcAft>
                <a:spcPts val="400"/>
              </a:spcAft>
            </a:pPr>
            <a:r>
              <a:rPr b="1" sz="1100" i="0">
                <a:solidFill>
                  <a:srgbClr val="000000"/>
                </a:solidFill>
                <a:latin typeface="Aptos"/>
              </a:rPr>
              <a:t>• Mô hình thực tế: </a:t>
            </a:r>
            <a:r>
              <a:rPr sz="1000" b="0" i="0">
                <a:solidFill>
                  <a:srgbClr val="000000"/>
                </a:solidFill>
                <a:latin typeface="Aptos"/>
              </a:rPr>
              <a:t>Đối thủ bị động toàn cầu (Global Passive Adversary) và tấn công can thiệp vào đường truyền là mối đe dọa hoàn toàn có thật.</a:t>
            </a:r>
          </a:p>
        </p:txBody>
      </p:sp>
      <p:sp>
        <p:nvSpPr>
          <p:cNvPr id="8" name="Rounded Rectangle 7"/>
          <p:cNvSpPr/>
          <p:nvPr/>
        </p:nvSpPr>
        <p:spPr>
          <a:xfrm>
            <a:off x="4389120" y="1691640"/>
            <a:ext cx="3383280" cy="4389120"/>
          </a:xfrm>
          <a:prstGeom prst="roundRect">
            <a:avLst/>
          </a:prstGeom>
          <a:solidFill>
            <a:srgbClr val="FFF8DF"/>
          </a:solidFill>
          <a:ln w="14604">
            <a:solidFill>
              <a:srgbClr val="EED8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0" y="1828800"/>
            <a:ext cx="3017520" cy="4114800"/>
          </a:xfrm>
          <a:prstGeom prst="rect">
            <a:avLst/>
          </a:prstGeom>
          <a:noFill/>
        </p:spPr>
        <p:txBody>
          <a:bodyPr wrap="square">
            <a:spAutoFit/>
          </a:bodyPr>
          <a:lstStyle/>
          <a:p>
            <a:pPr>
              <a:spcAft>
                <a:spcPts val="400"/>
              </a:spcAft>
              <a:defRPr sz="1300" b="1">
                <a:solidFill>
                  <a:srgbClr val="D97706"/>
                </a:solidFill>
              </a:defRPr>
            </a:pPr>
            <a:r>
              <a:rPr sz="1230" b="1" i="0">
                <a:solidFill>
                  <a:srgbClr val="000000"/>
                </a:solidFill>
                <a:latin typeface="Aptos"/>
              </a:rPr>
              <a:t>2. Năng Lực Đối Thủ Thể Chế</a:t>
            </a:r>
          </a:p>
          <a:p>
            <a:pPr>
              <a:spcAft>
                <a:spcPts val="400"/>
              </a:spcAft>
              <a:defRPr sz="950" b="1">
                <a:solidFill>
                  <a:srgbClr val="64748B"/>
                </a:solidFill>
              </a:defRPr>
            </a:pPr>
            <a:r>
              <a:rPr sz="930" b="1" i="0">
                <a:solidFill>
                  <a:srgbClr val="000000"/>
                </a:solidFill>
                <a:latin typeface="Aptos"/>
              </a:rPr>
              <a:t>VƯỢT NGOÀI HÌNH THỨC</a:t>
            </a:r>
          </a:p>
          <a:p>
            <a:pPr>
              <a:spcBef>
                <a:spcPts val="600"/>
              </a:spcBef>
              <a:spcAft>
                <a:spcPts val="400"/>
              </a:spcAft>
            </a:pPr>
            <a:r>
              <a:rPr b="1" sz="1100" i="0">
                <a:solidFill>
                  <a:srgbClr val="000000"/>
                </a:solidFill>
                <a:latin typeface="Aptos"/>
              </a:rPr>
              <a:t>• Giám sát Siêu dữ liệu: </a:t>
            </a:r>
            <a:r>
              <a:rPr sz="1000" b="0" i="0">
                <a:solidFill>
                  <a:srgbClr val="000000"/>
                </a:solidFill>
                <a:latin typeface="Aptos"/>
              </a:rPr>
              <a:t>NSA tập trung khai thác Metadata (ai liên lạc với ai, thời gian, kích thước) để dựng lại mạng xã hội mà không cần bẻ khóa bản mã.</a:t>
            </a:r>
          </a:p>
          <a:p>
            <a:pPr>
              <a:spcBef>
                <a:spcPts val="600"/>
              </a:spcBef>
              <a:spcAft>
                <a:spcPts val="400"/>
              </a:spcAft>
            </a:pPr>
            <a:r>
              <a:rPr b="1" sz="1100" i="0">
                <a:solidFill>
                  <a:srgbClr val="000000"/>
                </a:solidFill>
                <a:latin typeface="Aptos"/>
              </a:rPr>
              <a:t>• Tấn công Chuỗi cung ứng: </a:t>
            </a:r>
            <a:r>
              <a:rPr sz="1000" b="0" i="0">
                <a:solidFill>
                  <a:srgbClr val="000000"/>
                </a:solidFill>
                <a:latin typeface="Aptos"/>
              </a:rPr>
              <a:t>Chèn cửa sau vào phần cứng, làm suy yếu chuẩn mật mã quốc tế (tiêu chuẩn NIST Dual_EC_DRBG bị cài cửa sau ngầm).</a:t>
            </a:r>
          </a:p>
          <a:p>
            <a:pPr>
              <a:spcBef>
                <a:spcPts val="600"/>
              </a:spcBef>
              <a:spcAft>
                <a:spcPts val="400"/>
              </a:spcAft>
            </a:pPr>
            <a:r>
              <a:rPr b="1" sz="1100" i="0">
                <a:solidFill>
                  <a:srgbClr val="000000"/>
                </a:solidFill>
                <a:latin typeface="Aptos"/>
              </a:rPr>
              <a:t>• Áp lực Thể chế: </a:t>
            </a:r>
            <a:r>
              <a:rPr sz="1000" b="0" i="0">
                <a:solidFill>
                  <a:srgbClr val="000000"/>
                </a:solidFill>
                <a:latin typeface="Aptos"/>
              </a:rPr>
              <a:t>Cưỡng chế pháp lý các tập đoàn công nghệ lớn bàn giao khóa bí mật và quyền truy cập dữ liệu máy chủ.</a:t>
            </a:r>
          </a:p>
        </p:txBody>
      </p:sp>
      <p:sp>
        <p:nvSpPr>
          <p:cNvPr id="10" name="Rounded Rectangle 9"/>
          <p:cNvSpPr/>
          <p:nvPr/>
        </p:nvSpPr>
        <p:spPr>
          <a:xfrm>
            <a:off x="8046720" y="1691640"/>
            <a:ext cx="3383280" cy="4389120"/>
          </a:xfrm>
          <a:prstGeom prst="roundRect">
            <a:avLst/>
          </a:prstGeom>
          <a:solidFill>
            <a:srgbClr val="EAF8F2"/>
          </a:solidFill>
          <a:ln w="14604">
            <a:solidFill>
              <a:srgbClr val="B5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0" y="1828800"/>
            <a:ext cx="3017520" cy="4114800"/>
          </a:xfrm>
          <a:prstGeom prst="rect">
            <a:avLst/>
          </a:prstGeom>
          <a:noFill/>
        </p:spPr>
        <p:txBody>
          <a:bodyPr wrap="square">
            <a:spAutoFit/>
          </a:bodyPr>
          <a:lstStyle/>
          <a:p>
            <a:pPr>
              <a:spcAft>
                <a:spcPts val="400"/>
              </a:spcAft>
              <a:defRPr sz="1300" b="1">
                <a:solidFill>
                  <a:srgbClr val="059669"/>
                </a:solidFill>
              </a:defRPr>
            </a:pPr>
            <a:r>
              <a:rPr sz="1230" b="1" i="0">
                <a:solidFill>
                  <a:srgbClr val="000000"/>
                </a:solidFill>
                <a:latin typeface="Aptos"/>
              </a:rPr>
              <a:t>3. Tính Tương Đối Của Kẻ Thù</a:t>
            </a:r>
          </a:p>
          <a:p>
            <a:pPr>
              <a:spcAft>
                <a:spcPts val="400"/>
              </a:spcAft>
              <a:defRPr sz="950" b="1">
                <a:solidFill>
                  <a:srgbClr val="64748B"/>
                </a:solidFill>
              </a:defRPr>
            </a:pPr>
            <a:r>
              <a:rPr sz="930" b="1" i="0">
                <a:solidFill>
                  <a:srgbClr val="000000"/>
                </a:solidFill>
                <a:latin typeface="Aptos"/>
              </a:rPr>
              <a:t>GÓC NHÌN BẢO MẬT</a:t>
            </a:r>
          </a:p>
          <a:p>
            <a:pPr>
              <a:spcBef>
                <a:spcPts val="600"/>
              </a:spcBef>
              <a:spcAft>
                <a:spcPts val="400"/>
              </a:spcAft>
            </a:pPr>
            <a:r>
              <a:rPr b="1" sz="1100" i="0">
                <a:solidFill>
                  <a:srgbClr val="000000"/>
                </a:solidFill>
                <a:latin typeface="Aptos"/>
              </a:rPr>
              <a:t>• Khái niệm tương đối: </a:t>
            </a:r>
            <a:r>
              <a:rPr sz="1000" b="0" i="0">
                <a:solidFill>
                  <a:srgbClr val="000000"/>
                </a:solidFill>
                <a:latin typeface="Aptos"/>
              </a:rPr>
              <a:t>Khái niệm 'Kẻ thù' mang tính vị thế: Đối với người dân, NSA là đối thủ giám sát; nhưng đối với NSA, Snowden lại là đối thủ làm rò rỉ bí mật.</a:t>
            </a:r>
          </a:p>
          <a:p>
            <a:pPr>
              <a:spcBef>
                <a:spcPts val="600"/>
              </a:spcBef>
              <a:spcAft>
                <a:spcPts val="400"/>
              </a:spcAft>
            </a:pPr>
            <a:r>
              <a:rPr b="1" sz="1100" i="0">
                <a:solidFill>
                  <a:srgbClr val="000000"/>
                </a:solidFill>
                <a:latin typeface="Aptos"/>
              </a:rPr>
              <a:t>• Dân chủ hóa mật mã: </a:t>
            </a:r>
            <a:r>
              <a:rPr sz="1000" b="0" i="0">
                <a:solidFill>
                  <a:srgbClr val="000000"/>
                </a:solidFill>
                <a:latin typeface="Aptos"/>
              </a:rPr>
              <a:t>Mật mã khóa công khai từng giúp cá nhân tự vệ, nhưng công cụ gián điệp của NSA nay đã lan rộng sang tội phạm mạng và các nhóm phi nhà nước.</a:t>
            </a:r>
          </a:p>
          <a:p>
            <a:pPr>
              <a:spcBef>
                <a:spcPts val="600"/>
              </a:spcBef>
              <a:spcAft>
                <a:spcPts val="400"/>
              </a:spcAft>
            </a:pPr>
            <a:r>
              <a:rPr b="1" sz="1100" i="0">
                <a:solidFill>
                  <a:srgbClr val="000000"/>
                </a:solidFill>
                <a:latin typeface="Aptos"/>
              </a:rPr>
              <a:t>• Hệ quả khoa học: </a:t>
            </a:r>
            <a:r>
              <a:rPr sz="1000" b="0" i="0">
                <a:solidFill>
                  <a:srgbClr val="000000"/>
                </a:solidFill>
                <a:latin typeface="Aptos"/>
              </a:rPr>
              <a:t>Mật mã học buộc phải từ bỏ giả định kênh truyền sạch để nghiên cứu phòng chống cửa sau (Cliptography).</a:t>
            </a:r>
          </a:p>
        </p:txBody>
      </p:sp>
      <p:sp>
        <p:nvSpPr>
          <p:cNvPr id="12" name="TextBox 11"/>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rPr sz="819" b="0" i="1">
                <a:solidFill>
                  <a:srgbClr val="000000"/>
                </a:solidFill>
                <a:latin typeface="Aptos"/>
              </a:rPr>
              <a:t>Trích dẫn: Harry Halpin (2025), Section 6: Snowden and the real adversary, tr. 10–12.</a:t>
            </a:r>
          </a:p>
        </p:txBody>
      </p:sp>
      <p:sp>
        <p:nvSpPr>
          <p:cNvPr id="13" name="Oval 12"/>
          <p:cNvSpPr/>
          <p:nvPr/>
        </p:nvSpPr>
        <p:spPr>
          <a:xfrm>
            <a:off x="11155680" y="448056"/>
            <a:ext cx="77724" cy="77724"/>
          </a:xfrm>
          <a:prstGeom prst="ellipse">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1356848" y="448056"/>
            <a:ext cx="77724" cy="77724"/>
          </a:xfrm>
          <a:prstGeom prst="ellipse">
            <a:avLst/>
          </a:prstGeom>
          <a:solidFill>
            <a:srgbClr val="F2C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1558016" y="448056"/>
            <a:ext cx="77724" cy="77724"/>
          </a:xfrm>
          <a:prstGeom prst="ellipse">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31520" y="1604772"/>
            <a:ext cx="658368" cy="41148"/>
          </a:xfrm>
          <a:prstGeom prst="round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426464" y="1604772"/>
            <a:ext cx="219456" cy="41148"/>
          </a:xfrm>
          <a:prstGeom prst="roundRect">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C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FFF8DF"/>
          </a:solidFill>
          <a:ln w="12700">
            <a:solidFill>
              <a:srgbClr val="EED88F"/>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defRPr sz="1000" b="1">
                <a:solidFill>
                  <a:srgbClr val="1D4ED8"/>
                </a:solidFill>
              </a:defRPr>
            </a:pPr>
            <a:r>
              <a:rPr sz="840" b="1" i="0">
                <a:solidFill>
                  <a:srgbClr val="000000"/>
                </a:solidFill>
                <a:latin typeface="Aptos"/>
              </a:rPr>
              <a:t>SECTION 7 — KẾT LUẬN &amp; CHƯƠNG TRÌNH NGHIÊN CỨU (TRANG 12–14)</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lgn="l">
              <a:spcAft>
                <a:spcPts val="0"/>
              </a:spcAft>
              <a:defRPr sz="2100" b="1">
                <a:solidFill>
                  <a:srgbClr val="0F172A"/>
                </a:solidFill>
              </a:defRPr>
            </a:pPr>
            <a:r>
              <a:rPr sz="2130" b="1" i="0">
                <a:solidFill>
                  <a:srgbClr val="000000"/>
                </a:solidFill>
                <a:latin typeface="Aptos"/>
              </a:rPr>
              <a:t>CHƯƠNG TRÌNH NGHIÊN CỨU TƯƠNG LAI: BỐN CÂU HỎI MỞ</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lgn="l">
              <a:defRPr sz="1200">
                <a:solidFill>
                  <a:srgbClr val="475569"/>
                </a:solidFill>
              </a:defRPr>
            </a:pPr>
            <a:r>
              <a:rPr sz="1110" b="0" i="0">
                <a:solidFill>
                  <a:srgbClr val="000000"/>
                </a:solidFill>
                <a:latin typeface="Aptos"/>
              </a:rPr>
              <a:t>Đề xuất hòa giải giữa trừu tượng hóa toán học và dữ liệu thực nghiệm thế giới thực</a:t>
            </a:r>
          </a:p>
        </p:txBody>
      </p:sp>
      <p:sp>
        <p:nvSpPr>
          <p:cNvPr id="6" name="Rounded Rectangle 5"/>
          <p:cNvSpPr/>
          <p:nvPr/>
        </p:nvSpPr>
        <p:spPr>
          <a:xfrm>
            <a:off x="731520" y="1691640"/>
            <a:ext cx="10728655" cy="960120"/>
          </a:xfrm>
          <a:prstGeom prst="roundRect">
            <a:avLst/>
          </a:prstGeom>
          <a:solidFill>
            <a:srgbClr val="EEF4FF"/>
          </a:solidFill>
          <a:ln w="14604">
            <a:solidFill>
              <a:srgbClr val="C6D8F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46504"/>
            <a:ext cx="10362895" cy="841248"/>
          </a:xfrm>
          <a:prstGeom prst="rect">
            <a:avLst/>
          </a:prstGeom>
          <a:noFill/>
        </p:spPr>
        <p:txBody>
          <a:bodyPr wrap="square">
            <a:spAutoFit/>
          </a:bodyPr>
          <a:lstStyle/>
          <a:p>
            <a:pPr>
              <a:spcAft>
                <a:spcPts val="400"/>
              </a:spcAft>
              <a:defRPr sz="1150" b="1">
                <a:solidFill>
                  <a:srgbClr val="1E40AF"/>
                </a:solidFill>
              </a:defRPr>
            </a:pPr>
            <a:r>
              <a:rPr sz="1230" b="1" i="0">
                <a:solidFill>
                  <a:srgbClr val="000000"/>
                </a:solidFill>
                <a:latin typeface="Aptos"/>
              </a:rPr>
              <a:t>Câu hỏi 1: Mạng Xã Hội Động của Truyền Thông Bí Mật</a:t>
            </a:r>
          </a:p>
          <a:p>
            <a:pPr>
              <a:spcAft>
                <a:spcPts val="400"/>
              </a:spcAft>
              <a:defRPr sz="950" i="1">
                <a:solidFill>
                  <a:srgbClr val="64748B"/>
                </a:solidFill>
              </a:defRPr>
            </a:pPr>
            <a:r>
              <a:rPr sz="1050" b="0" i="0">
                <a:solidFill>
                  <a:srgbClr val="000000"/>
                </a:solidFill>
                <a:latin typeface="Aptos"/>
              </a:rPr>
              <a:t>"Can we study dynamic social networks of secret communication modeled on the empirical behavior of secret keepers?"</a:t>
            </a:r>
          </a:p>
          <a:p>
            <a:pPr>
              <a:spcBef>
                <a:spcPts val="200"/>
              </a:spcBef>
              <a:spcAft>
                <a:spcPts val="400"/>
              </a:spcAft>
              <a:defRPr sz="1000">
                <a:solidFill>
                  <a:srgbClr val="1E293B"/>
                </a:solidFill>
              </a:defRPr>
            </a:pPr>
            <a:r>
              <a:rPr sz="1050" b="0" i="0">
                <a:solidFill>
                  <a:srgbClr val="000000"/>
                </a:solidFill>
                <a:latin typeface="Aptos"/>
              </a:rPr>
              <a:t>Nghiên cứu tổ chức thông tin dưới dạng mạng xã hội động giữa những người giữ bí mật. Kiểm tra xem các bất biến chính sách bảo vệ bí mật có được duy trì qua các biến động cấu trúc mạng và các sự cố Byzantine hay không.</a:t>
            </a:r>
          </a:p>
        </p:txBody>
      </p:sp>
      <p:sp>
        <p:nvSpPr>
          <p:cNvPr id="8" name="Rounded Rectangle 7"/>
          <p:cNvSpPr/>
          <p:nvPr/>
        </p:nvSpPr>
        <p:spPr>
          <a:xfrm>
            <a:off x="731520" y="2770632"/>
            <a:ext cx="10728655" cy="960120"/>
          </a:xfrm>
          <a:prstGeom prst="roundRect">
            <a:avLst/>
          </a:prstGeom>
          <a:solidFill>
            <a:srgbClr val="EAF8F2"/>
          </a:solidFill>
          <a:ln w="14604">
            <a:solidFill>
              <a:srgbClr val="B5DFD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2825496"/>
            <a:ext cx="10362895" cy="841248"/>
          </a:xfrm>
          <a:prstGeom prst="rect">
            <a:avLst/>
          </a:prstGeom>
          <a:noFill/>
        </p:spPr>
        <p:txBody>
          <a:bodyPr wrap="square">
            <a:spAutoFit/>
          </a:bodyPr>
          <a:lstStyle/>
          <a:p>
            <a:pPr>
              <a:spcAft>
                <a:spcPts val="400"/>
              </a:spcAft>
              <a:defRPr sz="1150" b="1">
                <a:solidFill>
                  <a:srgbClr val="1E40AF"/>
                </a:solidFill>
              </a:defRPr>
            </a:pPr>
            <a:r>
              <a:rPr sz="1230" b="1" i="0">
                <a:solidFill>
                  <a:srgbClr val="000000"/>
                </a:solidFill>
                <a:latin typeface="Aptos"/>
              </a:rPr>
              <a:t>Câu hỏi 2: Mô Hình Hóa Năng Lực và Liên Minh Đối Thủ Bằng Thống Kê</a:t>
            </a:r>
          </a:p>
          <a:p>
            <a:pPr>
              <a:spcAft>
                <a:spcPts val="400"/>
              </a:spcAft>
              <a:defRPr sz="950" i="1">
                <a:solidFill>
                  <a:srgbClr val="64748B"/>
                </a:solidFill>
              </a:defRPr>
            </a:pPr>
            <a:r>
              <a:rPr sz="1050" b="0" i="0">
                <a:solidFill>
                  <a:srgbClr val="000000"/>
                </a:solidFill>
                <a:latin typeface="Aptos"/>
              </a:rPr>
              <a:t>"By incorporating statistics, can new models of the adversary take into account more accurate data about their capabilities?"</a:t>
            </a:r>
          </a:p>
          <a:p>
            <a:pPr>
              <a:spcBef>
                <a:spcPts val="200"/>
              </a:spcBef>
              <a:spcAft>
                <a:spcPts val="400"/>
              </a:spcAft>
              <a:defRPr sz="1000">
                <a:solidFill>
                  <a:srgbClr val="1E293B"/>
                </a:solidFill>
              </a:defRPr>
            </a:pPr>
            <a:r>
              <a:rPr sz="1050" b="0" i="0">
                <a:solidFill>
                  <a:srgbClr val="000000"/>
                </a:solidFill>
                <a:latin typeface="Aptos"/>
              </a:rPr>
              <a:t>Sử dụng thống kê thực nghiệm và mô phỏng Monte Carlo để mô hình hóa chính xác hơn năng lực đối thủ; phân tích kinh tế chính trị của các liên minh giám sát (liên minh Five Eyes, Anonymous, quan hệ nhà nước - cá nhân).</a:t>
            </a:r>
          </a:p>
        </p:txBody>
      </p:sp>
      <p:sp>
        <p:nvSpPr>
          <p:cNvPr id="10" name="Rounded Rectangle 9"/>
          <p:cNvSpPr/>
          <p:nvPr/>
        </p:nvSpPr>
        <p:spPr>
          <a:xfrm>
            <a:off x="731520" y="3849624"/>
            <a:ext cx="10728655" cy="960120"/>
          </a:xfrm>
          <a:prstGeom prst="roundRect">
            <a:avLst/>
          </a:prstGeom>
          <a:solidFill>
            <a:srgbClr val="FFF8DF"/>
          </a:solidFill>
          <a:ln w="14604">
            <a:solidFill>
              <a:srgbClr val="EED8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3904488"/>
            <a:ext cx="10362895" cy="841248"/>
          </a:xfrm>
          <a:prstGeom prst="rect">
            <a:avLst/>
          </a:prstGeom>
          <a:noFill/>
        </p:spPr>
        <p:txBody>
          <a:bodyPr wrap="square">
            <a:spAutoFit/>
          </a:bodyPr>
          <a:lstStyle/>
          <a:p>
            <a:pPr>
              <a:spcAft>
                <a:spcPts val="400"/>
              </a:spcAft>
              <a:defRPr sz="1150" b="1">
                <a:solidFill>
                  <a:srgbClr val="1E40AF"/>
                </a:solidFill>
              </a:defRPr>
            </a:pPr>
            <a:r>
              <a:rPr sz="1230" b="1" i="0">
                <a:solidFill>
                  <a:srgbClr val="000000"/>
                </a:solidFill>
                <a:latin typeface="Aptos"/>
              </a:rPr>
              <a:t>Câu hỏi 3: Ứng Dụng Phương Pháp Liên Ngành &amp; Hệ Thống Phức Hợp</a:t>
            </a:r>
          </a:p>
          <a:p>
            <a:pPr>
              <a:spcAft>
                <a:spcPts val="400"/>
              </a:spcAft>
              <a:defRPr sz="950" i="1">
                <a:solidFill>
                  <a:srgbClr val="64748B"/>
                </a:solidFill>
              </a:defRPr>
            </a:pPr>
            <a:r>
              <a:rPr sz="1050" b="0" i="0">
                <a:solidFill>
                  <a:srgbClr val="000000"/>
                </a:solidFill>
                <a:latin typeface="Aptos"/>
              </a:rPr>
              <a:t>"Can cryptography incorporate interdisciplinary methods and insights that can capture the complexity of secure communication?"</a:t>
            </a:r>
          </a:p>
          <a:p>
            <a:pPr>
              <a:spcBef>
                <a:spcPts val="200"/>
              </a:spcBef>
              <a:spcAft>
                <a:spcPts val="400"/>
              </a:spcAft>
              <a:defRPr sz="1000">
                <a:solidFill>
                  <a:srgbClr val="1E293B"/>
                </a:solidFill>
              </a:defRPr>
            </a:pPr>
            <a:r>
              <a:rPr sz="1050" b="0" i="0">
                <a:solidFill>
                  <a:srgbClr val="000000"/>
                </a:solidFill>
                <a:latin typeface="Aptos"/>
              </a:rPr>
              <a:t>Áp dụng các công cụ từ lý thuyết hệ thống phức hợp, động lực học mạng và dịch tễ học để mô hình hóa sự lan truyền thông tin, nhận diện các điểm chuyển pha khi bị tấn công.</a:t>
            </a:r>
          </a:p>
        </p:txBody>
      </p:sp>
      <p:sp>
        <p:nvSpPr>
          <p:cNvPr id="12" name="Rounded Rectangle 11"/>
          <p:cNvSpPr/>
          <p:nvPr/>
        </p:nvSpPr>
        <p:spPr>
          <a:xfrm>
            <a:off x="731520" y="4928616"/>
            <a:ext cx="10728655" cy="960120"/>
          </a:xfrm>
          <a:prstGeom prst="roundRect">
            <a:avLst/>
          </a:prstGeom>
          <a:solidFill>
            <a:srgbClr val="F5F0FF"/>
          </a:solidFill>
          <a:ln w="14604">
            <a:solidFill>
              <a:srgbClr val="D7CA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4983480"/>
            <a:ext cx="10362895" cy="841248"/>
          </a:xfrm>
          <a:prstGeom prst="rect">
            <a:avLst/>
          </a:prstGeom>
          <a:noFill/>
        </p:spPr>
        <p:txBody>
          <a:bodyPr wrap="square">
            <a:spAutoFit/>
          </a:bodyPr>
          <a:lstStyle/>
          <a:p>
            <a:pPr>
              <a:spcAft>
                <a:spcPts val="400"/>
              </a:spcAft>
              <a:defRPr sz="1150" b="1">
                <a:solidFill>
                  <a:srgbClr val="1E40AF"/>
                </a:solidFill>
              </a:defRPr>
            </a:pPr>
            <a:r>
              <a:rPr sz="1230" b="1" i="0">
                <a:solidFill>
                  <a:srgbClr val="000000"/>
                </a:solidFill>
                <a:latin typeface="Aptos"/>
              </a:rPr>
              <a:t>Câu hỏi 4: Triết Học Giúp Tái Cấu Trúc Các Giả Định Ngầm Định</a:t>
            </a:r>
          </a:p>
          <a:p>
            <a:pPr>
              <a:spcAft>
                <a:spcPts val="400"/>
              </a:spcAft>
              <a:defRPr sz="950" i="1">
                <a:solidFill>
                  <a:srgbClr val="64748B"/>
                </a:solidFill>
              </a:defRPr>
            </a:pPr>
            <a:r>
              <a:rPr sz="1050" b="0" i="0">
                <a:solidFill>
                  <a:srgbClr val="000000"/>
                </a:solidFill>
                <a:latin typeface="Aptos"/>
              </a:rPr>
              <a:t>"Will philosophy let us make explicit and then reformulate the hidden assumptions of cryptographic communication, and vice versa?"</a:t>
            </a:r>
          </a:p>
          <a:p>
            <a:pPr>
              <a:spcBef>
                <a:spcPts val="200"/>
              </a:spcBef>
              <a:spcAft>
                <a:spcPts val="400"/>
              </a:spcAft>
              <a:defRPr sz="1000">
                <a:solidFill>
                  <a:srgbClr val="1E293B"/>
                </a:solidFill>
              </a:defRPr>
            </a:pPr>
            <a:r>
              <a:rPr sz="1050" b="0" i="0">
                <a:solidFill>
                  <a:srgbClr val="000000"/>
                </a:solidFill>
                <a:latin typeface="Aptos"/>
              </a:rPr>
              <a:t>Vận dụng triết học để chất vấn các giả định nền tảng của Shannon; xem xét ranh giới động giữa con người và môi trường kỹ thuật số theo Giả thuyết Tâm trí Mở rộng (Extended Mind Hypothesis).</a:t>
            </a:r>
          </a:p>
        </p:txBody>
      </p:sp>
      <p:sp>
        <p:nvSpPr>
          <p:cNvPr id="14" name="TextBox 13"/>
          <p:cNvSpPr txBox="1"/>
          <p:nvPr/>
        </p:nvSpPr>
        <p:spPr>
          <a:xfrm>
            <a:off x="731520" y="6217920"/>
            <a:ext cx="10698480" cy="365760"/>
          </a:xfrm>
          <a:prstGeom prst="rect">
            <a:avLst/>
          </a:prstGeom>
          <a:noFill/>
        </p:spPr>
        <p:txBody>
          <a:bodyPr wrap="none">
            <a:spAutoFit/>
          </a:bodyPr>
          <a:lstStyle/>
          <a:p>
            <a:pPr>
              <a:defRPr sz="1000" i="1">
                <a:solidFill>
                  <a:srgbClr val="64748B"/>
                </a:solidFill>
              </a:defRPr>
            </a:pPr>
            <a:r>
              <a:rPr sz="819" b="0" i="1">
                <a:solidFill>
                  <a:srgbClr val="000000"/>
                </a:solidFill>
                <a:latin typeface="Aptos"/>
              </a:rPr>
              <a:t>Trích dẫn nguyên văn 4 câu hỏi nghiên cứu mở: Harry Halpin (2025), Section 7, tr. 12–14.</a:t>
            </a:r>
          </a:p>
        </p:txBody>
      </p:sp>
      <p:sp>
        <p:nvSpPr>
          <p:cNvPr id="15" name="Oval 14"/>
          <p:cNvSpPr/>
          <p:nvPr/>
        </p:nvSpPr>
        <p:spPr>
          <a:xfrm>
            <a:off x="11155680" y="448056"/>
            <a:ext cx="77724" cy="77724"/>
          </a:xfrm>
          <a:prstGeom prst="ellipse">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1356848" y="448056"/>
            <a:ext cx="77724" cy="77724"/>
          </a:xfrm>
          <a:prstGeom prst="ellipse">
            <a:avLst/>
          </a:prstGeom>
          <a:solidFill>
            <a:srgbClr val="F2C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1558016" y="448056"/>
            <a:ext cx="77724" cy="77724"/>
          </a:xfrm>
          <a:prstGeom prst="ellipse">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731520" y="1604772"/>
            <a:ext cx="658368" cy="41148"/>
          </a:xfrm>
          <a:prstGeom prst="round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426464" y="1604772"/>
            <a:ext cx="219456" cy="41148"/>
          </a:xfrm>
          <a:prstGeom prst="roundRect">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C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EF4FF"/>
          </a:solidFill>
          <a:ln w="12700">
            <a:solidFill>
              <a:srgbClr val="C6D8F7"/>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defRPr sz="1000" b="1">
                <a:solidFill>
                  <a:srgbClr val="1D4ED8"/>
                </a:solidFill>
              </a:defRPr>
            </a:pPr>
            <a:r>
              <a:rPr sz="840" b="1" i="0">
                <a:solidFill>
                  <a:srgbClr val="000000"/>
                </a:solidFill>
                <a:latin typeface="Aptos"/>
              </a:rPr>
              <a:t>SƠ ĐỒ 4: KIẾN TRÚC DIỄN TẬP ĐỐI KHÁNG (PRE-DEMO ARCHITECTURE)</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lgn="l">
              <a:spcAft>
                <a:spcPts val="0"/>
              </a:spcAft>
              <a:defRPr sz="2100" b="1">
                <a:solidFill>
                  <a:srgbClr val="0F172A"/>
                </a:solidFill>
              </a:defRPr>
            </a:pPr>
            <a:r>
              <a:rPr sz="2130" b="1" i="0">
                <a:solidFill>
                  <a:srgbClr val="000000"/>
                </a:solidFill>
                <a:latin typeface="Aptos"/>
              </a:rPr>
              <a:t>KIẾN TRÚC DIỄN TẬP ĐỐI KHÁNG: RED TEAM VS BLUE TEAM</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lgn="l">
              <a:defRPr sz="1200">
                <a:solidFill>
                  <a:srgbClr val="475569"/>
                </a:solidFill>
              </a:defRPr>
            </a:pPr>
            <a:r>
              <a:rPr sz="1110" b="0" i="0">
                <a:solidFill>
                  <a:srgbClr val="000000"/>
                </a:solidFill>
                <a:latin typeface="Aptos"/>
              </a:rPr>
              <a:t>Mô hình đối kháng 2 màn hình trên tập dữ liệu kaggle_dataset (2.485 tệp tin) kiểm chứng trực quan luận điểm bài báo</a:t>
            </a:r>
          </a:p>
        </p:txBody>
      </p:sp>
      <p:pic>
        <p:nvPicPr>
          <p:cNvPr id="6" name="Picture 5" descr="Slide14.drawio.png"/>
          <p:cNvPicPr>
            <a:picLocks noChangeAspect="1"/>
          </p:cNvPicPr>
          <p:nvPr/>
        </p:nvPicPr>
        <p:blipFill>
          <a:blip r:embed="rId2"/>
          <a:stretch>
            <a:fillRect/>
          </a:stretch>
        </p:blipFill>
        <p:spPr>
          <a:xfrm>
            <a:off x="1706727" y="1572768"/>
            <a:ext cx="8778240" cy="3794760"/>
          </a:xfrm>
          <a:prstGeom prst="rect">
            <a:avLst/>
          </a:prstGeom>
          <a:ln w="12700">
            <a:solidFill>
              <a:srgbClr val="E5DED2"/>
            </a:solidFill>
          </a:ln>
        </p:spPr>
      </p:pic>
      <p:sp>
        <p:nvSpPr>
          <p:cNvPr id="7" name="Rounded Rectangle 6"/>
          <p:cNvSpPr/>
          <p:nvPr/>
        </p:nvSpPr>
        <p:spPr>
          <a:xfrm>
            <a:off x="731520" y="5468112"/>
            <a:ext cx="10728655" cy="749808"/>
          </a:xfrm>
          <a:prstGeom prst="roundRect">
            <a:avLst/>
          </a:prstGeom>
          <a:solidFill>
            <a:srgbClr val="FFF8DF"/>
          </a:solidFill>
          <a:ln w="14604">
            <a:solidFill>
              <a:srgbClr val="EED88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504688"/>
            <a:ext cx="10362895" cy="676656"/>
          </a:xfrm>
          <a:prstGeom prst="rect">
            <a:avLst/>
          </a:prstGeom>
          <a:noFill/>
        </p:spPr>
        <p:txBody>
          <a:bodyPr wrap="square">
            <a:spAutoFit/>
          </a:bodyPr>
          <a:lstStyle/>
          <a:p>
            <a:pPr>
              <a:spcAft>
                <a:spcPts val="400"/>
              </a:spcAft>
            </a:pPr>
            <a:r>
              <a:rPr b="1" sz="1230" i="0">
                <a:solidFill>
                  <a:srgbClr val="000000"/>
                </a:solidFill>
                <a:latin typeface="Aptos"/>
              </a:rPr>
              <a:t>Mô hình hóa thực nghiệm độc lập: </a:t>
            </a:r>
            <a:r>
              <a:rPr sz="1230" b="1" i="0">
                <a:solidFill>
                  <a:srgbClr val="000000"/>
                </a:solidFill>
                <a:latin typeface="Aptos"/>
              </a:rPr>
              <a:t>Bài báo Halpin là khảo luận triết học thuần túy (không có mã nguồn). Nhóm tự phát triển hệ thống kiểm tra toàn vẹn trên tập dữ liệu kaggle_dataset để kiểm chứng trực quan 3 luận điểm cốt lõi:</a:t>
            </a:r>
          </a:p>
          <a:p>
            <a:pPr>
              <a:spcBef>
                <a:spcPts val="200"/>
              </a:spcBef>
              <a:spcAft>
                <a:spcPts val="400"/>
              </a:spcAft>
            </a:pPr>
            <a:r>
              <a:rPr sz="950" b="0" i="0">
                <a:solidFill>
                  <a:srgbClr val="000000"/>
                </a:solidFill>
                <a:latin typeface="Aptos"/>
              </a:rPr>
              <a:t>• (1) Nhiễu vs Kẻ thù (Mã CRC32 bị qua mặt trên GF(2) vs SHA-256 phi tuyến) | • (2) Phân tách miền nút lá RFC 6962 | • (3) Rò rỉ kênh kề thời gian (Kocher 1996).</a:t>
            </a:r>
          </a:p>
        </p:txBody>
      </p:sp>
      <p:sp>
        <p:nvSpPr>
          <p:cNvPr id="9" name="TextBox 8"/>
          <p:cNvSpPr txBox="1"/>
          <p:nvPr/>
        </p:nvSpPr>
        <p:spPr>
          <a:xfrm>
            <a:off x="731520" y="6291072"/>
            <a:ext cx="10698480" cy="320040"/>
          </a:xfrm>
          <a:prstGeom prst="rect">
            <a:avLst/>
          </a:prstGeom>
          <a:noFill/>
        </p:spPr>
        <p:txBody>
          <a:bodyPr wrap="none">
            <a:spAutoFit/>
          </a:bodyPr>
          <a:lstStyle/>
          <a:p>
            <a:pPr>
              <a:defRPr sz="950" i="1">
                <a:solidFill>
                  <a:srgbClr val="64748B"/>
                </a:solidFill>
              </a:defRPr>
            </a:pPr>
            <a:r>
              <a:rPr sz="819" b="0" i="1">
                <a:solidFill>
                  <a:srgbClr val="000000"/>
                </a:solidFill>
                <a:latin typeface="Aptos"/>
              </a:rPr>
              <a:t>Sơ đồ kiến trúc diễn tập đối kháng độc lập do sinh viên thiết kế minh họa các khái niệm an ninh.</a:t>
            </a:r>
          </a:p>
        </p:txBody>
      </p:sp>
      <p:sp>
        <p:nvSpPr>
          <p:cNvPr id="10" name="Oval 9"/>
          <p:cNvSpPr/>
          <p:nvPr/>
        </p:nvSpPr>
        <p:spPr>
          <a:xfrm>
            <a:off x="11155680" y="448056"/>
            <a:ext cx="77724" cy="77724"/>
          </a:xfrm>
          <a:prstGeom prst="ellipse">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1356848" y="448056"/>
            <a:ext cx="77724" cy="77724"/>
          </a:xfrm>
          <a:prstGeom prst="ellipse">
            <a:avLst/>
          </a:prstGeom>
          <a:solidFill>
            <a:srgbClr val="F2C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1558016" y="448056"/>
            <a:ext cx="77724" cy="77724"/>
          </a:xfrm>
          <a:prstGeom prst="ellipse">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31520" y="1604772"/>
            <a:ext cx="658368" cy="41148"/>
          </a:xfrm>
          <a:prstGeom prst="round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426464" y="1604772"/>
            <a:ext cx="219456" cy="41148"/>
          </a:xfrm>
          <a:prstGeom prst="roundRect">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CF6"/>
        </a:solidFill>
        <a:effectLst/>
      </p:bgPr>
    </p:bg>
    <p:spTree>
      <p:nvGrpSpPr>
        <p:cNvPr id="1" name=""/>
        <p:cNvGrpSpPr/>
        <p:nvPr/>
      </p:nvGrpSpPr>
      <p:grpSpPr/>
      <p:sp>
        <p:nvSpPr>
          <p:cNvPr id="10" name="Oval 9"/>
          <p:cNvSpPr/>
          <p:nvPr/>
        </p:nvSpPr>
        <p:spPr>
          <a:xfrm>
            <a:off x="5303520" y="1060704"/>
            <a:ext cx="1581912" cy="1581912"/>
          </a:xfrm>
          <a:prstGeom prst="ellipse">
            <a:avLst/>
          </a:prstGeom>
          <a:noFill/>
          <a:ln w="25400">
            <a:solidFill>
              <a:srgbClr val="F5DCA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Rectangle 1"/>
          <p:cNvSpPr/>
          <p:nvPr/>
        </p:nvSpPr>
        <p:spPr>
          <a:xfrm>
            <a:off x="0" y="0"/>
            <a:ext cx="12191695" cy="6858000"/>
          </a:xfrm>
          <a:prstGeom prst="rect">
            <a:avLst/>
          </a:prstGeom>
          <a:solidFill>
            <a:srgbClr val="FFFCF6"/>
          </a:solidFill>
          <a:ln w="635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377440"/>
            <a:ext cx="8534095" cy="2011680"/>
          </a:xfrm>
          <a:prstGeom prst="rect">
            <a:avLst/>
          </a:prstGeom>
          <a:noFill/>
        </p:spPr>
        <p:txBody>
          <a:bodyPr wrap="square">
            <a:spAutoFit/>
          </a:bodyPr>
          <a:lstStyle/>
          <a:p>
            <a:pPr algn="ctr">
              <a:defRPr sz="8800" b="1">
                <a:solidFill>
                  <a:srgbClr val="1E40AF"/>
                </a:solidFill>
                <a:latin typeface="Calibri"/>
              </a:defRPr>
            </a:pPr>
            <a:r>
              <a:rPr sz="4200" b="1" i="0">
                <a:solidFill>
                  <a:srgbClr val="000000"/>
                </a:solidFill>
                <a:latin typeface="Aptos"/>
              </a:rPr>
              <a:t>DEMO</a:t>
            </a:r>
          </a:p>
        </p:txBody>
      </p:sp>
      <p:sp>
        <p:nvSpPr>
          <p:cNvPr id="4" name="Rectangle 3"/>
          <p:cNvSpPr/>
          <p:nvPr/>
        </p:nvSpPr>
        <p:spPr>
          <a:xfrm>
            <a:off x="0" y="0"/>
            <a:ext cx="12191695" cy="64008"/>
          </a:xfrm>
          <a:prstGeom prst="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93992"/>
            <a:ext cx="12191695" cy="64008"/>
          </a:xfrm>
          <a:prstGeom prst="rect">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477256" y="1234440"/>
            <a:ext cx="1234440" cy="1234440"/>
          </a:xfrm>
          <a:prstGeom prst="ellipse">
            <a:avLst/>
          </a:prstGeom>
          <a:solidFill>
            <a:srgbClr val="F06B4F"/>
          </a:solidFill>
          <a:ln w="17780">
            <a:solidFill>
              <a:srgbClr val="E95B4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Isosceles Triangle 6"/>
          <p:cNvSpPr/>
          <p:nvPr/>
        </p:nvSpPr>
        <p:spPr>
          <a:xfrm rot="5400000">
            <a:off x="5879592" y="1554480"/>
            <a:ext cx="475488" cy="548640"/>
          </a:xfrm>
          <a:prstGeom prst="triangl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5074920" y="1700784"/>
            <a:ext cx="91440" cy="91440"/>
          </a:xfrm>
          <a:prstGeom prst="ellipse">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022592" y="1554480"/>
            <a:ext cx="73152" cy="73152"/>
          </a:xfrm>
          <a:prstGeom prst="ellipse">
            <a:avLst/>
          </a:prstGeom>
          <a:solidFill>
            <a:srgbClr val="F2C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C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4114800" cy="320040"/>
          </a:xfrm>
          <a:prstGeom prst="roundRect">
            <a:avLst/>
          </a:prstGeom>
          <a:solidFill>
            <a:srgbClr val="EAF8F2"/>
          </a:solidFill>
          <a:ln w="12700">
            <a:solidFill>
              <a:srgbClr val="B5DFD3"/>
            </a:solidFill>
          </a:ln>
        </p:spPr>
        <p:style>
          <a:lnRef idx="1">
            <a:schemeClr val="accent1"/>
          </a:lnRef>
          <a:fillRef idx="3">
            <a:schemeClr val="accent1"/>
          </a:fillRef>
          <a:effectRef idx="2">
            <a:schemeClr val="accent1"/>
          </a:effectRef>
          <a:fontRef idx="minor">
            <a:schemeClr val="lt1"/>
          </a:fontRef>
        </p:style>
        <p:txBody>
          <a:bodyPr rtlCol="0" anchor="ctr" wrap="square" lIns="76200" rIns="76200"/>
          <a:lstStyle/>
          <a:p>
            <a:pPr algn="ctr">
              <a:defRPr sz="1000" b="1">
                <a:solidFill>
                  <a:srgbClr val="1D4ED8"/>
                </a:solidFill>
              </a:defRPr>
            </a:pPr>
            <a:r>
              <a:rPr sz="840" b="1" i="0">
                <a:solidFill>
                  <a:srgbClr val="000000"/>
                </a:solidFill>
                <a:latin typeface="Aptos"/>
              </a:rPr>
              <a:t>SECTION 7 — TỔNG KẾT TOÀN VĂN BÀI BÁO (HARRY HALPIN 2025)</a:t>
            </a:r>
          </a:p>
        </p:txBody>
      </p:sp>
      <p:sp>
        <p:nvSpPr>
          <p:cNvPr id="4" name="TextBox 3"/>
          <p:cNvSpPr txBox="1"/>
          <p:nvPr/>
        </p:nvSpPr>
        <p:spPr>
          <a:xfrm>
            <a:off x="731520" y="749808"/>
            <a:ext cx="10698480" cy="502920"/>
          </a:xfrm>
          <a:prstGeom prst="rect">
            <a:avLst/>
          </a:prstGeom>
          <a:noFill/>
        </p:spPr>
        <p:txBody>
          <a:bodyPr wrap="square" lIns="0" rIns="0" tIns="0" bIns="0">
            <a:spAutoFit/>
          </a:bodyPr>
          <a:lstStyle/>
          <a:p>
            <a:pPr algn="l">
              <a:spcAft>
                <a:spcPts val="0"/>
              </a:spcAft>
              <a:defRPr sz="2100" b="1">
                <a:solidFill>
                  <a:srgbClr val="0F172A"/>
                </a:solidFill>
              </a:defRPr>
            </a:pPr>
            <a:r>
              <a:rPr sz="2130" b="1" i="0">
                <a:solidFill>
                  <a:srgbClr val="000000"/>
                </a:solidFill>
                <a:latin typeface="Aptos"/>
              </a:rPr>
              <a:t>TỔNG KẾT BÁO CÁO: ĐÓNG GÓP HỌC THUẬT &amp; BÀI HỌC AN NINH</a:t>
            </a:r>
          </a:p>
        </p:txBody>
      </p:sp>
      <p:sp>
        <p:nvSpPr>
          <p:cNvPr id="5" name="TextBox 4"/>
          <p:cNvSpPr txBox="1"/>
          <p:nvPr/>
        </p:nvSpPr>
        <p:spPr>
          <a:xfrm>
            <a:off x="731520" y="1261872"/>
            <a:ext cx="10698480" cy="320040"/>
          </a:xfrm>
          <a:prstGeom prst="rect">
            <a:avLst/>
          </a:prstGeom>
          <a:noFill/>
        </p:spPr>
        <p:txBody>
          <a:bodyPr wrap="square" lIns="0" rIns="0" tIns="0" bIns="0">
            <a:spAutoFit/>
          </a:bodyPr>
          <a:lstStyle/>
          <a:p>
            <a:pPr algn="l">
              <a:defRPr sz="1200">
                <a:solidFill>
                  <a:srgbClr val="475569"/>
                </a:solidFill>
              </a:defRPr>
            </a:pPr>
            <a:r>
              <a:rPr sz="1110" b="0" i="0">
                <a:solidFill>
                  <a:srgbClr val="000000"/>
                </a:solidFill>
                <a:latin typeface="Aptos"/>
              </a:rPr>
              <a:t>Bảng đối sánh giữa các giả định hình thức truyền thống và nhận thức luận của Harry Halpin</a:t>
            </a:r>
          </a:p>
        </p:txBody>
      </p:sp>
      <p:graphicFrame>
        <p:nvGraphicFramePr>
          <p:cNvPr id="6" name="Table 5"/>
          <p:cNvGraphicFramePr>
            <a:graphicFrameLocks noGrp="1"/>
          </p:cNvGraphicFramePr>
          <p:nvPr/>
        </p:nvGraphicFramePr>
        <p:xfrm>
          <a:off x="731520" y="1691640"/>
          <a:ext cx="10728655" cy="4297680"/>
        </p:xfrm>
        <a:graphic>
          <a:graphicData uri="http://schemas.openxmlformats.org/drawingml/2006/table">
            <a:tbl>
              <a:tblPr firstRow="1" bandRow="1">
                <a:tableStyleId>{5C22544A-7EE6-4342-B048-85BDC9FD1C3A}</a:tableStyleId>
              </a:tblPr>
              <a:tblGrid>
                <a:gridCol w="1920240"/>
                <a:gridCol w="2834640"/>
                <a:gridCol w="3017520"/>
                <a:gridCol w="2956255"/>
              </a:tblGrid>
              <a:tr h="859536">
                <a:tc>
                  <a:txBody>
                    <a:bodyPr wrap="square" lIns="73152" rIns="73152"/>
                    <a:lstStyle/>
                    <a:p>
                      <a:pPr algn="ctr">
                        <a:spcAft>
                          <a:spcPts val="200"/>
                        </a:spcAft>
                        <a:defRPr b="1" sz="1050">
                          <a:solidFill>
                            <a:srgbClr val="FFFFFF"/>
                          </a:solidFill>
                        </a:defRPr>
                      </a:pPr>
                      <a:r>
                        <a:rPr sz="919" b="1" i="0">
                          <a:solidFill>
                            <a:srgbClr val="000000"/>
                          </a:solidFill>
                          <a:latin typeface="Aptos"/>
                        </a:rPr>
                        <a:t>Trụ Cột Khảo Cứu</a:t>
                      </a:r>
                    </a:p>
                  </a:txBody>
                  <a:tcPr anchor="ctr" marL="73152" marR="73152" marT="41148" marB="41148">
                    <a:solidFill>
                      <a:srgbClr val="F4D987"/>
                    </a:solidFill>
                  </a:tcPr>
                </a:tc>
                <a:tc>
                  <a:txBody>
                    <a:bodyPr wrap="square" lIns="73152" rIns="73152"/>
                    <a:lstStyle/>
                    <a:p>
                      <a:pPr algn="ctr">
                        <a:spcAft>
                          <a:spcPts val="200"/>
                        </a:spcAft>
                        <a:defRPr b="1" sz="1050">
                          <a:solidFill>
                            <a:srgbClr val="FFFFFF"/>
                          </a:solidFill>
                        </a:defRPr>
                      </a:pPr>
                      <a:r>
                        <a:rPr sz="919" b="1" i="0">
                          <a:solidFill>
                            <a:srgbClr val="000000"/>
                          </a:solidFill>
                          <a:latin typeface="Aptos"/>
                        </a:rPr>
                        <a:t>Mô Hình Toán Hình Thức</a:t>
                      </a:r>
                      <a:br/>
                      <a:r>
                        <a:rPr sz="919" b="1" i="0">
                          <a:solidFill>
                            <a:srgbClr val="000000"/>
                          </a:solidFill>
                          <a:latin typeface="Aptos"/>
                        </a:rPr>
                        <a:t>(Shannon &amp; Hộp Đen)</a:t>
                      </a:r>
                    </a:p>
                  </a:txBody>
                  <a:tcPr anchor="ctr" marL="73152" marR="73152" marT="41148" marB="41148">
                    <a:solidFill>
                      <a:srgbClr val="F4D987"/>
                    </a:solidFill>
                  </a:tcPr>
                </a:tc>
                <a:tc>
                  <a:txBody>
                    <a:bodyPr wrap="square" lIns="73152" rIns="73152"/>
                    <a:lstStyle/>
                    <a:p>
                      <a:pPr algn="ctr">
                        <a:spcAft>
                          <a:spcPts val="200"/>
                        </a:spcAft>
                        <a:defRPr b="1" sz="1050">
                          <a:solidFill>
                            <a:srgbClr val="FFFFFF"/>
                          </a:solidFill>
                        </a:defRPr>
                      </a:pPr>
                      <a:r>
                        <a:rPr sz="919" b="1" i="0">
                          <a:solidFill>
                            <a:srgbClr val="000000"/>
                          </a:solidFill>
                          <a:latin typeface="Aptos"/>
                        </a:rPr>
                        <a:t>Phê Phán Nhận Thức Luận</a:t>
                      </a:r>
                      <a:br/>
                      <a:r>
                        <a:rPr sz="919" b="1" i="0">
                          <a:solidFill>
                            <a:srgbClr val="000000"/>
                          </a:solidFill>
                          <a:latin typeface="Aptos"/>
                        </a:rPr>
                        <a:t>(Harry Halpin 2025)</a:t>
                      </a:r>
                    </a:p>
                  </a:txBody>
                  <a:tcPr anchor="ctr" marL="73152" marR="73152" marT="41148" marB="41148">
                    <a:solidFill>
                      <a:srgbClr val="F4D987"/>
                    </a:solidFill>
                  </a:tcPr>
                </a:tc>
                <a:tc>
                  <a:txBody>
                    <a:bodyPr wrap="square" lIns="73152" rIns="73152"/>
                    <a:lstStyle/>
                    <a:p>
                      <a:pPr algn="ctr">
                        <a:spcAft>
                          <a:spcPts val="200"/>
                        </a:spcAft>
                        <a:defRPr b="1" sz="1050">
                          <a:solidFill>
                            <a:srgbClr val="FFFFFF"/>
                          </a:solidFill>
                        </a:defRPr>
                      </a:pPr>
                      <a:r>
                        <a:rPr sz="919" b="1" i="0">
                          <a:solidFill>
                            <a:srgbClr val="000000"/>
                          </a:solidFill>
                          <a:latin typeface="Aptos"/>
                        </a:rPr>
                        <a:t>Bài Học &amp; Định Hướng</a:t>
                      </a:r>
                      <a:br/>
                      <a:r>
                        <a:rPr sz="919" b="1" i="0">
                          <a:solidFill>
                            <a:srgbClr val="000000"/>
                          </a:solidFill>
                          <a:latin typeface="Aptos"/>
                        </a:rPr>
                        <a:t>An Ninh Thực Tế</a:t>
                      </a:r>
                    </a:p>
                  </a:txBody>
                  <a:tcPr anchor="ctr" marL="73152" marR="73152" marT="41148" marB="41148">
                    <a:solidFill>
                      <a:srgbClr val="F4D987"/>
                    </a:solidFill>
                  </a:tcPr>
                </a:tc>
              </a:tr>
              <a:tr h="859536">
                <a:tc>
                  <a:txBody>
                    <a:bodyPr wrap="square" lIns="73152" rIns="73152"/>
                    <a:lstStyle/>
                    <a:p>
                      <a:pPr>
                        <a:spcAft>
                          <a:spcPts val="200"/>
                        </a:spcAft>
                        <a:defRPr b="1" sz="1000">
                          <a:solidFill>
                            <a:srgbClr val="1E40AF"/>
                          </a:solidFill>
                        </a:defRPr>
                      </a:pPr>
                      <a:r>
                        <a:rPr sz="880" i="0">
                          <a:solidFill>
                            <a:srgbClr val="000000"/>
                          </a:solidFill>
                          <a:latin typeface="Aptos"/>
                        </a:rPr>
                        <a:t>1. Bản chất thông tin &amp;</a:t>
                      </a:r>
                      <a:br/>
                      <a:r>
                        <a:rPr sz="880" i="0">
                          <a:solidFill>
                            <a:srgbClr val="000000"/>
                          </a:solidFill>
                          <a:latin typeface="Aptos"/>
                        </a:rPr>
                        <a:t>Bí mật an toàn (Sec 1–2)</a:t>
                      </a:r>
                    </a:p>
                  </a:txBody>
                  <a:tcPr anchor="ctr" marL="73152" marR="73152" marT="41148" marB="41148">
                    <a:solidFill>
                      <a:srgbClr val="FFFFFF"/>
                    </a:solidFill>
                  </a:tcPr>
                </a:tc>
                <a:tc>
                  <a:txBody>
                    <a:bodyPr wrap="square" lIns="73152" rIns="73152"/>
                    <a:lstStyle/>
                    <a:p>
                      <a:pPr>
                        <a:spcAft>
                          <a:spcPts val="200"/>
                        </a:spcAft>
                        <a:defRPr sz="950">
                          <a:solidFill>
                            <a:srgbClr val="1E293B"/>
                          </a:solidFill>
                        </a:defRPr>
                      </a:pPr>
                      <a:r>
                        <a:rPr sz="880" i="0">
                          <a:solidFill>
                            <a:srgbClr val="000000"/>
                          </a:solidFill>
                          <a:latin typeface="Aptos"/>
                        </a:rPr>
                        <a:t>Thông tin là xác suất thống kê; giả định kênh chỉ có nhiễu ngẫu nhiên.</a:t>
                      </a:r>
                    </a:p>
                  </a:txBody>
                  <a:tcPr anchor="ctr" marL="73152" marR="73152" marT="41148" marB="41148">
                    <a:solidFill>
                      <a:srgbClr val="FFFFFF"/>
                    </a:solidFill>
                  </a:tcPr>
                </a:tc>
                <a:tc>
                  <a:txBody>
                    <a:bodyPr wrap="square" lIns="73152" rIns="73152"/>
                    <a:lstStyle/>
                    <a:p>
                      <a:pPr>
                        <a:spcAft>
                          <a:spcPts val="200"/>
                        </a:spcAft>
                        <a:defRPr sz="950">
                          <a:solidFill>
                            <a:srgbClr val="1E293B"/>
                          </a:solidFill>
                        </a:defRPr>
                      </a:pPr>
                      <a:r>
                        <a:rPr sz="880" i="0">
                          <a:solidFill>
                            <a:srgbClr val="000000"/>
                          </a:solidFill>
                          <a:latin typeface="Aptos"/>
                        </a:rPr>
                        <a:t>Thông tin có ngữ nghĩa khách quan (Dretske); đối thủ là tác nhân có chủ đích.</a:t>
                      </a:r>
                    </a:p>
                  </a:txBody>
                  <a:tcPr anchor="ctr" marL="73152" marR="73152" marT="41148" marB="41148">
                    <a:solidFill>
                      <a:srgbClr val="FFFFFF"/>
                    </a:solidFill>
                  </a:tcPr>
                </a:tc>
                <a:tc>
                  <a:txBody>
                    <a:bodyPr wrap="square" lIns="73152" rIns="73152"/>
                    <a:lstStyle/>
                    <a:p>
                      <a:pPr>
                        <a:spcAft>
                          <a:spcPts val="200"/>
                        </a:spcAft>
                        <a:defRPr sz="950">
                          <a:solidFill>
                            <a:srgbClr val="1E293B"/>
                          </a:solidFill>
                        </a:defRPr>
                      </a:pPr>
                      <a:r>
                        <a:rPr sz="880" i="0">
                          <a:solidFill>
                            <a:srgbClr val="000000"/>
                          </a:solidFill>
                          <a:latin typeface="Aptos"/>
                        </a:rPr>
                        <a:t>Mã tuyến tính (CRC32) chỉ bắt nhiễu; an ninh đối kháng cần hàm băm phi tuyến (SHA-256).</a:t>
                      </a:r>
                    </a:p>
                  </a:txBody>
                  <a:tcPr anchor="ctr" marL="73152" marR="73152" marT="41148" marB="41148">
                    <a:solidFill>
                      <a:srgbClr val="FFFFFF"/>
                    </a:solidFill>
                  </a:tcPr>
                </a:tc>
              </a:tr>
              <a:tr h="859536">
                <a:tc>
                  <a:txBody>
                    <a:bodyPr wrap="square" lIns="73152" rIns="73152"/>
                    <a:lstStyle/>
                    <a:p>
                      <a:pPr>
                        <a:spcAft>
                          <a:spcPts val="200"/>
                        </a:spcAft>
                        <a:defRPr b="1" sz="1000">
                          <a:solidFill>
                            <a:srgbClr val="1E40AF"/>
                          </a:solidFill>
                        </a:defRPr>
                      </a:pPr>
                      <a:r>
                        <a:rPr sz="880" i="0">
                          <a:solidFill>
                            <a:srgbClr val="000000"/>
                          </a:solidFill>
                          <a:latin typeface="Aptos"/>
                        </a:rPr>
                        <a:t>2. Giới hạn của sự</a:t>
                      </a:r>
                      <a:br/>
                      <a:r>
                        <a:rPr sz="880" i="0">
                          <a:solidFill>
                            <a:srgbClr val="000000"/>
                          </a:solidFill>
                          <a:latin typeface="Aptos"/>
                        </a:rPr>
                        <a:t>hình thức hóa (Sec 5)</a:t>
                      </a:r>
                    </a:p>
                  </a:txBody>
                  <a:tcPr anchor="ctr" marL="73152" marR="73152" marT="41148" marB="41148">
                    <a:solidFill>
                      <a:srgbClr val="F5F8F6"/>
                    </a:solidFill>
                  </a:tcPr>
                </a:tc>
                <a:tc>
                  <a:txBody>
                    <a:bodyPr wrap="square" lIns="73152" rIns="73152"/>
                    <a:lstStyle/>
                    <a:p>
                      <a:pPr>
                        <a:spcAft>
                          <a:spcPts val="200"/>
                        </a:spcAft>
                        <a:defRPr sz="950">
                          <a:solidFill>
                            <a:srgbClr val="1E293B"/>
                          </a:solidFill>
                        </a:defRPr>
                      </a:pPr>
                      <a:r>
                        <a:rPr sz="880" i="0">
                          <a:solidFill>
                            <a:srgbClr val="000000"/>
                          </a:solidFill>
                          <a:latin typeface="Aptos"/>
                        </a:rPr>
                        <a:t>Coi mật mã là hộp đen toán học lý tưởng; coi thời gian thực thi là vô hình.</a:t>
                      </a:r>
                    </a:p>
                  </a:txBody>
                  <a:tcPr anchor="ctr" marL="73152" marR="73152" marT="41148" marB="41148">
                    <a:solidFill>
                      <a:srgbClr val="F5F8F6"/>
                    </a:solidFill>
                  </a:tcPr>
                </a:tc>
                <a:tc>
                  <a:txBody>
                    <a:bodyPr wrap="square" lIns="73152" rIns="73152"/>
                    <a:lstStyle/>
                    <a:p>
                      <a:pPr>
                        <a:spcAft>
                          <a:spcPts val="200"/>
                        </a:spcAft>
                        <a:defRPr sz="950">
                          <a:solidFill>
                            <a:srgbClr val="1E293B"/>
                          </a:solidFill>
                        </a:defRPr>
                      </a:pPr>
                      <a:r>
                        <a:rPr sz="880" i="0">
                          <a:solidFill>
                            <a:srgbClr val="000000"/>
                          </a:solidFill>
                          <a:latin typeface="Aptos"/>
                        </a:rPr>
                        <a:t>Điểm mù vật lý: bỏ qua thời gian CPU, năng lượng, kiến trúc bộ nhớ cache.</a:t>
                      </a:r>
                    </a:p>
                  </a:txBody>
                  <a:tcPr anchor="ctr" marL="73152" marR="73152" marT="41148" marB="41148">
                    <a:solidFill>
                      <a:srgbClr val="F5F8F6"/>
                    </a:solidFill>
                  </a:tcPr>
                </a:tc>
                <a:tc>
                  <a:txBody>
                    <a:bodyPr wrap="square" lIns="73152" rIns="73152"/>
                    <a:lstStyle/>
                    <a:p>
                      <a:pPr>
                        <a:spcAft>
                          <a:spcPts val="200"/>
                        </a:spcAft>
                        <a:defRPr sz="950">
                          <a:solidFill>
                            <a:srgbClr val="1E293B"/>
                          </a:solidFill>
                        </a:defRPr>
                      </a:pPr>
                      <a:r>
                        <a:rPr sz="880" i="0">
                          <a:solidFill>
                            <a:srgbClr val="000000"/>
                          </a:solidFill>
                          <a:latin typeface="Aptos"/>
                        </a:rPr>
                        <a:t>Phòng thủ đa tầng; dùng hàm thời gian hằng số (hmac.compare_digest) chống rò rỉ thời gian phần mềm.</a:t>
                      </a:r>
                    </a:p>
                  </a:txBody>
                  <a:tcPr anchor="ctr" marL="73152" marR="73152" marT="41148" marB="41148">
                    <a:solidFill>
                      <a:srgbClr val="F5F8F6"/>
                    </a:solidFill>
                  </a:tcPr>
                </a:tc>
              </a:tr>
              <a:tr h="859536">
                <a:tc>
                  <a:txBody>
                    <a:bodyPr wrap="square" lIns="73152" rIns="73152"/>
                    <a:lstStyle/>
                    <a:p>
                      <a:pPr>
                        <a:spcAft>
                          <a:spcPts val="200"/>
                        </a:spcAft>
                        <a:defRPr b="1" sz="1000">
                          <a:solidFill>
                            <a:srgbClr val="1E40AF"/>
                          </a:solidFill>
                        </a:defRPr>
                      </a:pPr>
                      <a:r>
                        <a:rPr sz="880" i="0">
                          <a:solidFill>
                            <a:srgbClr val="000000"/>
                          </a:solidFill>
                          <a:latin typeface="Aptos"/>
                        </a:rPr>
                        <a:t>3. Đối thủ trong</a:t>
                      </a:r>
                      <a:br/>
                      <a:r>
                        <a:rPr sz="880" i="0">
                          <a:solidFill>
                            <a:srgbClr val="000000"/>
                          </a:solidFill>
                          <a:latin typeface="Aptos"/>
                        </a:rPr>
                        <a:t>thế giới thực (Sec 6)</a:t>
                      </a:r>
                    </a:p>
                  </a:txBody>
                  <a:tcPr anchor="ctr" marL="73152" marR="73152" marT="41148" marB="41148">
                    <a:solidFill>
                      <a:srgbClr val="FFFFFF"/>
                    </a:solidFill>
                  </a:tcPr>
                </a:tc>
                <a:tc>
                  <a:txBody>
                    <a:bodyPr wrap="square" lIns="73152" rIns="73152"/>
                    <a:lstStyle/>
                    <a:p>
                      <a:pPr>
                        <a:spcAft>
                          <a:spcPts val="200"/>
                        </a:spcAft>
                        <a:defRPr sz="950">
                          <a:solidFill>
                            <a:srgbClr val="1E293B"/>
                          </a:solidFill>
                        </a:defRPr>
                      </a:pPr>
                      <a:r>
                        <a:rPr sz="880" i="0">
                          <a:solidFill>
                            <a:srgbClr val="000000"/>
                          </a:solidFill>
                          <a:latin typeface="Aptos"/>
                        </a:rPr>
                        <a:t>Đối thủ bị giới hạn toán học (PPT) hoặc tấn công kênh truyền sạch (Dolev-Yao).</a:t>
                      </a:r>
                    </a:p>
                  </a:txBody>
                  <a:tcPr anchor="ctr" marL="73152" marR="73152" marT="41148" marB="41148">
                    <a:solidFill>
                      <a:srgbClr val="FFFFFF"/>
                    </a:solidFill>
                  </a:tcPr>
                </a:tc>
                <a:tc>
                  <a:txBody>
                    <a:bodyPr wrap="square" lIns="73152" rIns="73152"/>
                    <a:lstStyle/>
                    <a:p>
                      <a:pPr>
                        <a:spcAft>
                          <a:spcPts val="200"/>
                        </a:spcAft>
                        <a:defRPr sz="950">
                          <a:solidFill>
                            <a:srgbClr val="1E293B"/>
                          </a:solidFill>
                        </a:defRPr>
                      </a:pPr>
                      <a:r>
                        <a:rPr sz="880" i="0">
                          <a:solidFill>
                            <a:srgbClr val="000000"/>
                          </a:solidFill>
                          <a:latin typeface="Aptos"/>
                        </a:rPr>
                        <a:t>Đối thủ thể chế (NSA): khai thác siêu dữ liệu, cài cửa sau chuẩn NIST (Dual_EC).</a:t>
                      </a:r>
                    </a:p>
                  </a:txBody>
                  <a:tcPr anchor="ctr" marL="73152" marR="73152" marT="41148" marB="41148">
                    <a:solidFill>
                      <a:srgbClr val="FFFFFF"/>
                    </a:solidFill>
                  </a:tcPr>
                </a:tc>
                <a:tc>
                  <a:txBody>
                    <a:bodyPr wrap="square" lIns="73152" rIns="73152"/>
                    <a:lstStyle/>
                    <a:p>
                      <a:pPr>
                        <a:spcAft>
                          <a:spcPts val="200"/>
                        </a:spcAft>
                        <a:defRPr sz="950">
                          <a:solidFill>
                            <a:srgbClr val="1E293B"/>
                          </a:solidFill>
                        </a:defRPr>
                      </a:pPr>
                      <a:r>
                        <a:rPr sz="880" i="0">
                          <a:solidFill>
                            <a:srgbClr val="000000"/>
                          </a:solidFill>
                          <a:latin typeface="Aptos"/>
                        </a:rPr>
                        <a:t>Nghiên cứu mật mã chống cửa sau (Cliptography) và phân tách miền (RFC 6962).</a:t>
                      </a:r>
                    </a:p>
                  </a:txBody>
                  <a:tcPr anchor="ctr" marL="73152" marR="73152" marT="41148" marB="41148">
                    <a:solidFill>
                      <a:srgbClr val="FFFFFF"/>
                    </a:solidFill>
                  </a:tcPr>
                </a:tc>
              </a:tr>
              <a:tr h="859536">
                <a:tc>
                  <a:txBody>
                    <a:bodyPr wrap="square" lIns="73152" rIns="73152"/>
                    <a:lstStyle/>
                    <a:p>
                      <a:pPr>
                        <a:spcAft>
                          <a:spcPts val="200"/>
                        </a:spcAft>
                        <a:defRPr b="1" sz="1000">
                          <a:solidFill>
                            <a:srgbClr val="1E40AF"/>
                          </a:solidFill>
                        </a:defRPr>
                      </a:pPr>
                      <a:r>
                        <a:rPr sz="880" i="0">
                          <a:solidFill>
                            <a:srgbClr val="000000"/>
                          </a:solidFill>
                          <a:latin typeface="Aptos"/>
                        </a:rPr>
                        <a:t>4. Chương trình nghiên cứu</a:t>
                      </a:r>
                      <a:br/>
                      <a:r>
                        <a:rPr sz="880" i="0">
                          <a:solidFill>
                            <a:srgbClr val="000000"/>
                          </a:solidFill>
                          <a:latin typeface="Aptos"/>
                        </a:rPr>
                        <a:t>tương lai (Sec 7)</a:t>
                      </a:r>
                    </a:p>
                  </a:txBody>
                  <a:tcPr anchor="ctr" marL="73152" marR="73152" marT="41148" marB="41148">
                    <a:solidFill>
                      <a:srgbClr val="F5F8F6"/>
                    </a:solidFill>
                  </a:tcPr>
                </a:tc>
                <a:tc>
                  <a:txBody>
                    <a:bodyPr wrap="square" lIns="73152" rIns="73152"/>
                    <a:lstStyle/>
                    <a:p>
                      <a:pPr>
                        <a:spcAft>
                          <a:spcPts val="200"/>
                        </a:spcAft>
                        <a:defRPr sz="950">
                          <a:solidFill>
                            <a:srgbClr val="1E293B"/>
                          </a:solidFill>
                        </a:defRPr>
                      </a:pPr>
                      <a:r>
                        <a:rPr sz="880" i="0">
                          <a:solidFill>
                            <a:srgbClr val="000000"/>
                          </a:solidFill>
                          <a:latin typeface="Aptos"/>
                        </a:rPr>
                        <a:t>Mật mã học chỉ là phân nhánh của toán học rời rạc và lý thuyết tính toán.</a:t>
                      </a:r>
                    </a:p>
                  </a:txBody>
                  <a:tcPr anchor="ctr" marL="73152" marR="73152" marT="41148" marB="41148">
                    <a:solidFill>
                      <a:srgbClr val="F5F8F6"/>
                    </a:solidFill>
                  </a:tcPr>
                </a:tc>
                <a:tc>
                  <a:txBody>
                    <a:bodyPr wrap="square" lIns="73152" rIns="73152"/>
                    <a:lstStyle/>
                    <a:p>
                      <a:pPr>
                        <a:spcAft>
                          <a:spcPts val="200"/>
                        </a:spcAft>
                        <a:defRPr sz="950">
                          <a:solidFill>
                            <a:srgbClr val="1E293B"/>
                          </a:solidFill>
                        </a:defRPr>
                      </a:pPr>
                      <a:r>
                        <a:rPr sz="880" i="0">
                          <a:solidFill>
                            <a:srgbClr val="000000"/>
                          </a:solidFill>
                          <a:latin typeface="Aptos"/>
                        </a:rPr>
                        <a:t>4 câu hỏi mở: dùng thống kê lượng hóa đối thủ, mô hình hóa mạng xã hội động.</a:t>
                      </a:r>
                    </a:p>
                  </a:txBody>
                  <a:tcPr anchor="ctr" marL="73152" marR="73152" marT="41148" marB="41148">
                    <a:solidFill>
                      <a:srgbClr val="F5F8F6"/>
                    </a:solidFill>
                  </a:tcPr>
                </a:tc>
                <a:tc>
                  <a:txBody>
                    <a:bodyPr wrap="square" lIns="73152" rIns="73152"/>
                    <a:lstStyle/>
                    <a:p>
                      <a:pPr>
                        <a:spcAft>
                          <a:spcPts val="200"/>
                        </a:spcAft>
                        <a:defRPr sz="950">
                          <a:solidFill>
                            <a:srgbClr val="1E293B"/>
                          </a:solidFill>
                        </a:defRPr>
                      </a:pPr>
                      <a:r>
                        <a:rPr sz="880" i="0">
                          <a:solidFill>
                            <a:srgbClr val="000000"/>
                          </a:solidFill>
                          <a:latin typeface="Aptos"/>
                        </a:rPr>
                        <a:t>Kết hợp toán học, triết học nhận thức và dữ liệu thực nghiệm thành khoa học an ninh.</a:t>
                      </a:r>
                    </a:p>
                  </a:txBody>
                  <a:tcPr anchor="ctr" marL="73152" marR="73152" marT="41148" marB="41148">
                    <a:solidFill>
                      <a:srgbClr val="F5F8F6"/>
                    </a:solidFill>
                  </a:tcPr>
                </a:tc>
              </a:tr>
            </a:tbl>
          </a:graphicData>
        </a:graphic>
      </p:graphicFrame>
      <p:sp>
        <p:nvSpPr>
          <p:cNvPr id="7" name="TextBox 6"/>
          <p:cNvSpPr txBox="1"/>
          <p:nvPr/>
        </p:nvSpPr>
        <p:spPr>
          <a:xfrm>
            <a:off x="731520" y="6217920"/>
            <a:ext cx="10698480" cy="365760"/>
          </a:xfrm>
          <a:prstGeom prst="rect">
            <a:avLst/>
          </a:prstGeom>
          <a:noFill/>
        </p:spPr>
        <p:txBody>
          <a:bodyPr wrap="none">
            <a:spAutoFit/>
          </a:bodyPr>
          <a:lstStyle/>
          <a:p>
            <a:pPr>
              <a:defRPr sz="950" i="1">
                <a:solidFill>
                  <a:srgbClr val="64748B"/>
                </a:solidFill>
              </a:defRPr>
            </a:pPr>
            <a:r>
              <a:rPr sz="819" b="0" i="1">
                <a:solidFill>
                  <a:srgbClr val="000000"/>
                </a:solidFill>
                <a:latin typeface="Aptos"/>
              </a:rPr>
              <a:t>Tài liệu tham khảo chính: Halpin (2025), Shannon (1949), Goldwasser-Micali (1984), Dolev-Yao (1983), Kocher (1996), RFC 6962.</a:t>
            </a:r>
          </a:p>
        </p:txBody>
      </p:sp>
      <p:sp>
        <p:nvSpPr>
          <p:cNvPr id="8" name="Oval 7"/>
          <p:cNvSpPr/>
          <p:nvPr/>
        </p:nvSpPr>
        <p:spPr>
          <a:xfrm>
            <a:off x="11155680" y="448056"/>
            <a:ext cx="77724" cy="77724"/>
          </a:xfrm>
          <a:prstGeom prst="ellipse">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356848" y="448056"/>
            <a:ext cx="77724" cy="77724"/>
          </a:xfrm>
          <a:prstGeom prst="ellipse">
            <a:avLst/>
          </a:prstGeom>
          <a:solidFill>
            <a:srgbClr val="F2C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558016" y="448056"/>
            <a:ext cx="77724" cy="77724"/>
          </a:xfrm>
          <a:prstGeom prst="ellipse">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31520" y="1604772"/>
            <a:ext cx="658368" cy="41148"/>
          </a:xfrm>
          <a:prstGeom prst="round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1426464" y="1604772"/>
            <a:ext cx="219456" cy="41148"/>
          </a:xfrm>
          <a:prstGeom prst="roundRect">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CF6"/>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FFFC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65760" y="731520"/>
            <a:ext cx="164592" cy="5394960"/>
          </a:xfrm>
          <a:prstGeom prst="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31520" y="621792"/>
            <a:ext cx="32004" cy="5577840"/>
          </a:xfrm>
          <a:prstGeom prst="rect">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621792"/>
            <a:ext cx="6858000" cy="292608"/>
          </a:xfrm>
          <a:prstGeom prst="rect">
            <a:avLst/>
          </a:prstGeom>
          <a:noFill/>
        </p:spPr>
        <p:txBody>
          <a:bodyPr wrap="square" lIns="0" rIns="0" tIns="0" bIns="0">
            <a:spAutoFit/>
          </a:bodyPr>
          <a:lstStyle/>
          <a:p>
            <a:pPr algn="l"/>
            <a:r>
              <a:rPr sz="1150" b="1" i="0">
                <a:solidFill>
                  <a:srgbClr val="000000"/>
                </a:solidFill>
                <a:latin typeface="Aptos"/>
              </a:rPr>
              <a:t>Trường Đại học Tài nguyên và Môi trường TP. Hồ Chí Minh</a:t>
            </a:r>
          </a:p>
        </p:txBody>
      </p:sp>
      <p:sp>
        <p:nvSpPr>
          <p:cNvPr id="6" name="TextBox 5"/>
          <p:cNvSpPr txBox="1"/>
          <p:nvPr/>
        </p:nvSpPr>
        <p:spPr>
          <a:xfrm>
            <a:off x="1051560" y="941832"/>
            <a:ext cx="6858000" cy="274320"/>
          </a:xfrm>
          <a:prstGeom prst="rect">
            <a:avLst/>
          </a:prstGeom>
          <a:noFill/>
        </p:spPr>
        <p:txBody>
          <a:bodyPr wrap="square" lIns="0" rIns="0" tIns="0" bIns="0">
            <a:spAutoFit/>
          </a:bodyPr>
          <a:lstStyle/>
          <a:p>
            <a:pPr algn="l"/>
            <a:r>
              <a:rPr sz="1050" b="0" i="0">
                <a:solidFill>
                  <a:srgbClr val="000000"/>
                </a:solidFill>
                <a:latin typeface="Aptos"/>
              </a:rPr>
              <a:t>Khoa Công nghệ thông tin</a:t>
            </a:r>
          </a:p>
        </p:txBody>
      </p:sp>
      <p:sp>
        <p:nvSpPr>
          <p:cNvPr id="7" name="TextBox 6"/>
          <p:cNvSpPr txBox="1"/>
          <p:nvPr/>
        </p:nvSpPr>
        <p:spPr>
          <a:xfrm>
            <a:off x="1051560" y="1984248"/>
            <a:ext cx="7040880" cy="1097280"/>
          </a:xfrm>
          <a:prstGeom prst="rect">
            <a:avLst/>
          </a:prstGeom>
          <a:noFill/>
        </p:spPr>
        <p:txBody>
          <a:bodyPr wrap="square" lIns="0" rIns="0" tIns="0" bIns="0">
            <a:spAutoFit/>
          </a:bodyPr>
          <a:lstStyle/>
          <a:p>
            <a:pPr algn="l"/>
            <a:r>
              <a:rPr sz="2900" b="1" i="0">
                <a:solidFill>
                  <a:srgbClr val="000000"/>
                </a:solidFill>
                <a:latin typeface="Aptos"/>
              </a:rPr>
              <a:t>CẢM ƠN THẦY VÀ CÁC BẠN
ĐÃ LẮNG NGHE!</a:t>
            </a:r>
          </a:p>
        </p:txBody>
      </p:sp>
      <p:sp>
        <p:nvSpPr>
          <p:cNvPr id="8" name="Rounded Rectangle 7"/>
          <p:cNvSpPr/>
          <p:nvPr/>
        </p:nvSpPr>
        <p:spPr>
          <a:xfrm>
            <a:off x="1051560" y="3319272"/>
            <a:ext cx="731520" cy="50292"/>
          </a:xfrm>
          <a:prstGeom prst="round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1810512" y="3319272"/>
            <a:ext cx="256032" cy="50292"/>
          </a:xfrm>
          <a:prstGeom prst="roundRect">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1051560" y="3767328"/>
            <a:ext cx="1024128" cy="393192"/>
          </a:xfrm>
          <a:prstGeom prst="roundRect">
            <a:avLst/>
          </a:prstGeom>
          <a:solidFill>
            <a:srgbClr val="FFE9A8"/>
          </a:solidFill>
          <a:ln w="12700">
            <a:solidFill>
              <a:srgbClr val="E8C8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3840480"/>
            <a:ext cx="1024128" cy="182880"/>
          </a:xfrm>
          <a:prstGeom prst="rect">
            <a:avLst/>
          </a:prstGeom>
          <a:noFill/>
        </p:spPr>
        <p:txBody>
          <a:bodyPr wrap="square" lIns="0" rIns="0" tIns="0" bIns="0">
            <a:spAutoFit/>
          </a:bodyPr>
          <a:lstStyle/>
          <a:p>
            <a:pPr algn="ctr"/>
            <a:r>
              <a:rPr sz="1200" b="1" i="0">
                <a:solidFill>
                  <a:srgbClr val="000000"/>
                </a:solidFill>
                <a:latin typeface="Aptos"/>
              </a:rPr>
              <a:t>Q &amp; A</a:t>
            </a:r>
          </a:p>
        </p:txBody>
      </p:sp>
      <p:sp>
        <p:nvSpPr>
          <p:cNvPr id="12" name="TextBox 11"/>
          <p:cNvSpPr txBox="1"/>
          <p:nvPr/>
        </p:nvSpPr>
        <p:spPr>
          <a:xfrm>
            <a:off x="1051560" y="4389120"/>
            <a:ext cx="6903720" cy="841248"/>
          </a:xfrm>
          <a:prstGeom prst="rect">
            <a:avLst/>
          </a:prstGeom>
          <a:noFill/>
        </p:spPr>
        <p:txBody>
          <a:bodyPr wrap="square" lIns="0" rIns="0" tIns="0" bIns="0">
            <a:spAutoFit/>
          </a:bodyPr>
          <a:lstStyle/>
          <a:p>
            <a:pPr algn="l"/>
            <a:r>
              <a:rPr sz="1450" b="0" i="0">
                <a:solidFill>
                  <a:srgbClr val="000000"/>
                </a:solidFill>
                <a:latin typeface="Aptos"/>
              </a:rPr>
              <a:t>Xin đón nhận các câu hỏi và ý kiến đóng góp của Thầy và Hội đồng</a:t>
            </a:r>
          </a:p>
        </p:txBody>
      </p:sp>
      <p:sp>
        <p:nvSpPr>
          <p:cNvPr id="13" name="Oval 12"/>
          <p:cNvSpPr/>
          <p:nvPr/>
        </p:nvSpPr>
        <p:spPr>
          <a:xfrm>
            <a:off x="8366760" y="1874519"/>
            <a:ext cx="2514600" cy="2514600"/>
          </a:xfrm>
          <a:prstGeom prst="ellipse">
            <a:avLst/>
          </a:prstGeom>
          <a:solidFill>
            <a:srgbClr val="FFF0C7"/>
          </a:solidFill>
          <a:ln w="12700">
            <a:solidFill>
              <a:srgbClr val="F0D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613648" y="2121408"/>
            <a:ext cx="2020824" cy="2020824"/>
          </a:xfrm>
          <a:prstGeom prst="ellipse">
            <a:avLst/>
          </a:prstGeom>
          <a:noFill/>
          <a:ln w="25400">
            <a:solidFill>
              <a:srgbClr val="2FAE9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887968" y="2395728"/>
            <a:ext cx="1463040" cy="1463040"/>
          </a:xfrm>
          <a:prstGeom prst="ellipse">
            <a:avLst/>
          </a:prstGeom>
          <a:solidFill>
            <a:srgbClr val="2FAE9B"/>
          </a:solidFill>
          <a:ln w="15240">
            <a:solidFill>
              <a:srgbClr val="23958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217152" y="2724912"/>
            <a:ext cx="804672" cy="80467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rot="2700000">
            <a:off x="9372600" y="3108960"/>
            <a:ext cx="192024" cy="59436"/>
          </a:xfrm>
          <a:prstGeom prst="round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rot="18900000">
            <a:off x="9482328" y="3035808"/>
            <a:ext cx="320040" cy="59436"/>
          </a:xfrm>
          <a:prstGeom prst="roundRect">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247888" y="2240280"/>
            <a:ext cx="118872" cy="118872"/>
          </a:xfrm>
          <a:prstGeom prst="ellipse">
            <a:avLst/>
          </a:prstGeom>
          <a:solidFill>
            <a:srgbClr val="F06B4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0808208" y="2395728"/>
            <a:ext cx="100584" cy="100584"/>
          </a:xfrm>
          <a:prstGeom prst="ellipse">
            <a:avLst/>
          </a:prstGeom>
          <a:solidFill>
            <a:srgbClr val="F2C6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561320" y="4169663"/>
            <a:ext cx="137160" cy="137160"/>
          </a:xfrm>
          <a:prstGeom prst="ellipse">
            <a:avLst/>
          </a:prstGeom>
          <a:solidFill>
            <a:srgbClr val="2FAE9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8449056" y="4325112"/>
            <a:ext cx="91440" cy="91440"/>
          </a:xfrm>
          <a:prstGeom prst="ellipse">
            <a:avLst/>
          </a:prstGeom>
          <a:solidFill>
            <a:srgbClr val="8BB9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5989320"/>
            <a:ext cx="6949440" cy="228600"/>
          </a:xfrm>
          <a:prstGeom prst="rect">
            <a:avLst/>
          </a:prstGeom>
          <a:noFill/>
        </p:spPr>
        <p:txBody>
          <a:bodyPr wrap="square" lIns="0" rIns="0" tIns="0" bIns="0">
            <a:spAutoFit/>
          </a:bodyPr>
          <a:lstStyle/>
          <a:p>
            <a:pPr algn="l"/>
            <a:r>
              <a:rPr sz="900" b="1" i="0">
                <a:solidFill>
                  <a:srgbClr val="000000"/>
                </a:solidFill>
                <a:latin typeface="Aptos"/>
              </a:rPr>
              <a:t>DT005  •  SHA-256  •  HMAC  •  MERKLE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giữa kỳ DT005 — Bright Modern</dc:title>
  <dc:subject>Thiết kế giao diện nền sáng, typography đen, nội dung được giữ nguyên</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