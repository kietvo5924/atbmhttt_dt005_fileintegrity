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640080"/>
            <a:ext cx="4389120"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BÁO CÁO TIẾN ĐỘ GIỮA KỲ — ĐỀ TÀI DT005</a:t>
            </a:r>
          </a:p>
        </p:txBody>
      </p:sp>
      <p:sp>
        <p:nvSpPr>
          <p:cNvPr id="5" name="TextBox 4"/>
          <p:cNvSpPr txBox="1"/>
          <p:nvPr/>
        </p:nvSpPr>
        <p:spPr>
          <a:xfrm>
            <a:off x="914400" y="1143000"/>
            <a:ext cx="10362895" cy="1188720"/>
          </a:xfrm>
          <a:prstGeom prst="rect">
            <a:avLst/>
          </a:prstGeom>
          <a:noFill/>
        </p:spPr>
        <p:txBody>
          <a:bodyPr wrap="square">
            <a:spAutoFit/>
          </a:bodyPr>
          <a:lstStyle/>
          <a:p>
            <a:pPr>
              <a:defRPr sz="2500" b="1">
                <a:solidFill>
                  <a:srgbClr val="0F172A"/>
                </a:solidFill>
              </a:defRPr>
            </a:pPr>
            <a:r>
              <a:t>NGHIÊN CỨU BÀI BÁO:</a:t>
            </a:r>
            <a:br/>
            <a:r>
              <a:t>THE ADVERSARY — THE PHILOSOPHY OF CRYPTOGRAPHY</a:t>
            </a:r>
          </a:p>
        </p:txBody>
      </p:sp>
      <p:sp>
        <p:nvSpPr>
          <p:cNvPr id="6" name="TextBox 5"/>
          <p:cNvSpPr txBox="1"/>
          <p:nvPr/>
        </p:nvSpPr>
        <p:spPr>
          <a:xfrm>
            <a:off x="914400" y="2468880"/>
            <a:ext cx="10362895" cy="548640"/>
          </a:xfrm>
          <a:prstGeom prst="rect">
            <a:avLst/>
          </a:prstGeom>
          <a:noFill/>
        </p:spPr>
        <p:txBody>
          <a:bodyPr wrap="square">
            <a:spAutoFit/>
          </a:bodyPr>
          <a:lstStyle/>
          <a:p>
            <a:pPr>
              <a:defRPr sz="1400">
                <a:solidFill>
                  <a:srgbClr val="1E40AF"/>
                </a:solidFill>
              </a:defRPr>
            </a:pPr>
            <a:r>
              <a:t>Khảo cứu Triết học về Kẻ thù trong Mật mã học, Phê phán Giới hạn Hình thức hóa và Thí nghiệm Minh họa Độc lập</a:t>
            </a:r>
          </a:p>
        </p:txBody>
      </p:sp>
      <p:sp>
        <p:nvSpPr>
          <p:cNvPr id="7" name="Rounded Rectangle 6"/>
          <p:cNvSpPr/>
          <p:nvPr/>
        </p:nvSpPr>
        <p:spPr>
          <a:xfrm>
            <a:off x="914400" y="3154680"/>
            <a:ext cx="5029200" cy="30175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291840"/>
            <a:ext cx="4663440" cy="2743200"/>
          </a:xfrm>
          <a:prstGeom prst="rect">
            <a:avLst/>
          </a:prstGeom>
          <a:noFill/>
        </p:spPr>
        <p:txBody>
          <a:bodyPr wrap="square">
            <a:spAutoFit/>
          </a:bodyPr>
          <a:lstStyle/>
          <a:p>
            <a:pPr>
              <a:defRPr sz="1300" b="1">
                <a:solidFill>
                  <a:srgbClr val="1E40AF"/>
                </a:solidFill>
              </a:defRPr>
            </a:pPr>
            <a:r>
              <a:t>THÔNG TIN BÀI BÁO THAM CHIẾU</a:t>
            </a:r>
          </a:p>
          <a:p>
            <a:pPr>
              <a:spcBef>
                <a:spcPts val="500"/>
              </a:spcBef>
            </a:pPr>
            <a:r>
              <a:rPr b="1" sz="1100">
                <a:solidFill>
                  <a:srgbClr val="1E293B"/>
                </a:solidFill>
              </a:rPr>
              <a:t>• Tạp chí: </a:t>
            </a:r>
            <a:r>
              <a:rPr sz="1100">
                <a:solidFill>
                  <a:srgbClr val="475569"/>
                </a:solidFill>
              </a:rPr>
              <a:t>Journal of Cybersecurity, Oxford Academic (2025)</a:t>
            </a:r>
          </a:p>
          <a:p>
            <a:pPr>
              <a:spcBef>
                <a:spcPts val="500"/>
              </a:spcBef>
            </a:pPr>
            <a:r>
              <a:rPr b="1" sz="1100">
                <a:solidFill>
                  <a:srgbClr val="1E293B"/>
                </a:solidFill>
              </a:rPr>
              <a:t>• Tác giả: </a:t>
            </a:r>
            <a:r>
              <a:rPr sz="1100">
                <a:solidFill>
                  <a:srgbClr val="475569"/>
                </a:solidFill>
              </a:rPr>
              <a:t>TS. Harry Halpin (Nym Technologies, Thụy Sĩ)</a:t>
            </a:r>
          </a:p>
          <a:p>
            <a:pPr>
              <a:spcBef>
                <a:spcPts val="500"/>
              </a:spcBef>
            </a:pPr>
            <a:r>
              <a:rPr b="1" sz="1100">
                <a:solidFill>
                  <a:srgbClr val="1E293B"/>
                </a:solidFill>
              </a:rPr>
              <a:t>• DOI: </a:t>
            </a:r>
            <a:r>
              <a:rPr sz="1100">
                <a:solidFill>
                  <a:srgbClr val="475569"/>
                </a:solidFill>
              </a:rPr>
              <a:t>10.1093/cybsec/tyaf006 (Volume 11, Issue 1)</a:t>
            </a:r>
          </a:p>
          <a:p>
            <a:pPr>
              <a:spcBef>
                <a:spcPts val="500"/>
              </a:spcBef>
            </a:pPr>
            <a:r>
              <a:rPr b="1" sz="1100">
                <a:solidFill>
                  <a:srgbClr val="1E293B"/>
                </a:solidFill>
              </a:rPr>
              <a:t>• Bản chất: </a:t>
            </a:r>
            <a:r>
              <a:rPr sz="1100">
                <a:solidFill>
                  <a:srgbClr val="475569"/>
                </a:solidFill>
              </a:rPr>
              <a:t>Nghiên cứu triết học, lịch sử &amp; nhận thức luận mật mã</a:t>
            </a:r>
          </a:p>
          <a:p>
            <a:pPr>
              <a:spcBef>
                <a:spcPts val="500"/>
              </a:spcBef>
            </a:pPr>
            <a:r>
              <a:rPr b="1" sz="1100">
                <a:solidFill>
                  <a:srgbClr val="1E293B"/>
                </a:solidFill>
              </a:rPr>
              <a:t>• Tài nguyên: </a:t>
            </a:r>
            <a:r>
              <a:rPr sz="1100">
                <a:solidFill>
                  <a:srgbClr val="475569"/>
                </a:solidFill>
              </a:rPr>
              <a:t>Bài báo thuần lý thuyết; 0% code, 0% benchmark thực nghiệm</a:t>
            </a:r>
          </a:p>
          <a:p>
            <a:pPr>
              <a:spcBef>
                <a:spcPts val="500"/>
              </a:spcBef>
            </a:pPr>
            <a:r>
              <a:rPr b="1" sz="1100">
                <a:solidFill>
                  <a:srgbClr val="1E293B"/>
                </a:solidFill>
              </a:rPr>
              <a:t>• Định hướng: </a:t>
            </a:r>
            <a:r>
              <a:rPr sz="1100">
                <a:solidFill>
                  <a:srgbClr val="475569"/>
                </a:solidFill>
              </a:rPr>
              <a:t>Phê phán trừu tượng hóa &amp; đề xuất 4 câu hỏi nghiên cứu mở</a:t>
            </a:r>
          </a:p>
        </p:txBody>
      </p:sp>
      <p:sp>
        <p:nvSpPr>
          <p:cNvPr id="9" name="Rounded Rectangle 8"/>
          <p:cNvSpPr/>
          <p:nvPr/>
        </p:nvSpPr>
        <p:spPr>
          <a:xfrm>
            <a:off x="6217920" y="3154680"/>
            <a:ext cx="5029200" cy="30175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291840"/>
            <a:ext cx="4663440" cy="2743200"/>
          </a:xfrm>
          <a:prstGeom prst="rect">
            <a:avLst/>
          </a:prstGeom>
          <a:noFill/>
        </p:spPr>
        <p:txBody>
          <a:bodyPr wrap="square">
            <a:spAutoFit/>
          </a:bodyPr>
          <a:lstStyle/>
          <a:p>
            <a:pPr>
              <a:defRPr sz="1300" b="1">
                <a:solidFill>
                  <a:srgbClr val="059669"/>
                </a:solidFill>
              </a:defRPr>
            </a:pPr>
            <a:r>
              <a:t>THÔNG TIN HỌC PHẦN &amp; ĐỀ TÀI DT005</a:t>
            </a:r>
          </a:p>
          <a:p>
            <a:pPr>
              <a:spcBef>
                <a:spcPts val="500"/>
              </a:spcBef>
            </a:pPr>
            <a:r>
              <a:rPr b="1" sz="1100">
                <a:solidFill>
                  <a:srgbClr val="1E293B"/>
                </a:solidFill>
              </a:rPr>
              <a:t>• Trường: </a:t>
            </a:r>
            <a:r>
              <a:rPr sz="1100">
                <a:solidFill>
                  <a:srgbClr val="475569"/>
                </a:solidFill>
              </a:rPr>
              <a:t>Đại học Tài nguyên và Môi trường TP. Hồ Chí Minh</a:t>
            </a:r>
          </a:p>
          <a:p>
            <a:pPr>
              <a:spcBef>
                <a:spcPts val="500"/>
              </a:spcBef>
            </a:pPr>
            <a:r>
              <a:rPr b="1" sz="1100">
                <a:solidFill>
                  <a:srgbClr val="1E293B"/>
                </a:solidFill>
              </a:rPr>
              <a:t>• Khoa / Ngành: </a:t>
            </a:r>
            <a:r>
              <a:rPr sz="1100">
                <a:solidFill>
                  <a:srgbClr val="475569"/>
                </a:solidFill>
              </a:rPr>
              <a:t>Khoa Công nghệ Thông tin</a:t>
            </a:r>
          </a:p>
          <a:p>
            <a:pPr>
              <a:spcBef>
                <a:spcPts val="500"/>
              </a:spcBef>
            </a:pPr>
            <a:r>
              <a:rPr b="1" sz="1100">
                <a:solidFill>
                  <a:srgbClr val="1E293B"/>
                </a:solidFill>
              </a:rPr>
              <a:t>• Học phần: </a:t>
            </a:r>
            <a:r>
              <a:rPr sz="1100">
                <a:solidFill>
                  <a:srgbClr val="475569"/>
                </a:solidFill>
              </a:rPr>
              <a:t>An toàn và Bảo mật Hệ thống Thông tin</a:t>
            </a:r>
          </a:p>
          <a:p>
            <a:pPr>
              <a:spcBef>
                <a:spcPts val="500"/>
              </a:spcBef>
            </a:pPr>
            <a:r>
              <a:rPr b="1" sz="1100">
                <a:solidFill>
                  <a:srgbClr val="1E293B"/>
                </a:solidFill>
              </a:rPr>
              <a:t>• Đề tài DT005: </a:t>
            </a:r>
            <a:r>
              <a:rPr sz="1100">
                <a:solidFill>
                  <a:srgbClr val="475569"/>
                </a:solidFill>
              </a:rPr>
              <a:t>Hệ thống kiểm tra toàn vẹn tệp bằng SHA-256, HMAC, Merkle Tree</a:t>
            </a:r>
          </a:p>
          <a:p>
            <a:pPr>
              <a:spcBef>
                <a:spcPts val="500"/>
              </a:spcBef>
            </a:pPr>
            <a:r>
              <a:rPr b="1" sz="1100">
                <a:solidFill>
                  <a:srgbClr val="1E293B"/>
                </a:solidFill>
              </a:rPr>
              <a:t>• Đóng góp nhóm: </a:t>
            </a:r>
            <a:r>
              <a:rPr sz="1100">
                <a:solidFill>
                  <a:srgbClr val="475569"/>
                </a:solidFill>
              </a:rPr>
              <a:t>Kiểm toán học thuật toàn văn bài báo &amp; Xây dựng bộ thí nghiệm minh họa thực nghiệm độc lập (Red Team vs Blue Team)</a:t>
            </a:r>
          </a:p>
          <a:p>
            <a:pPr>
              <a:spcBef>
                <a:spcPts val="500"/>
              </a:spcBef>
            </a:pPr>
            <a:r>
              <a:rPr b="1" sz="1100">
                <a:solidFill>
                  <a:srgbClr val="1E293B"/>
                </a:solidFill>
              </a:rPr>
              <a:t>• Phạm vi giữa kỳ: </a:t>
            </a:r>
            <a:r>
              <a:rPr sz="1100">
                <a:solidFill>
                  <a:srgbClr val="475569"/>
                </a:solidFill>
              </a:rPr>
              <a:t>Báo cáo lý thuyết bài báo + Demo đối kháng minh họa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1 — GIỚI THIỆU (TRANG 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BỐI CẢNH BÀI BÁO &amp; VẤN ĐỀ NGHIÊN CỨU</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Khảo sát mối quan hệ giữa Mật mã học, Kẻ thù và Triết học về Thông tin</a:t>
            </a:r>
          </a:p>
        </p:txBody>
      </p:sp>
      <p:sp>
        <p:nvSpPr>
          <p:cNvPr id="6" name="Rounded Rectangle 5"/>
          <p:cNvSpPr/>
          <p:nvPr/>
        </p:nvSpPr>
        <p:spPr>
          <a:xfrm>
            <a:off x="731520" y="1691640"/>
            <a:ext cx="52120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400" b="1">
                <a:solidFill>
                  <a:srgbClr val="1E40AF"/>
                </a:solidFill>
              </a:defRPr>
            </a:pPr>
            <a:r>
              <a:t>1. Mật Mã Học Trong Kỷ Nguyên Số</a:t>
            </a:r>
          </a:p>
          <a:p>
            <a:pPr>
              <a:spcBef>
                <a:spcPts val="1000"/>
              </a:spcBef>
            </a:pPr>
            <a:r>
              <a:rPr b="1" sz="1200">
                <a:solidFill>
                  <a:srgbClr val="1E293B"/>
                </a:solidFill>
              </a:rPr>
              <a:t>Bản chất cốt lõi: </a:t>
            </a:r>
            <a:r>
              <a:rPr sz="1150">
                <a:solidFill>
                  <a:srgbClr val="475569"/>
                </a:solidFill>
              </a:rPr>
              <a:t>Mật mã học là ngành khoa học về kỹ thuật truyền thông an toàn trong sự hiện diện của các đối thủ có chủ đích (adversaries).</a:t>
            </a:r>
          </a:p>
          <a:p>
            <a:pPr>
              <a:spcBef>
                <a:spcPts val="1000"/>
              </a:spcBef>
            </a:pPr>
            <a:r>
              <a:rPr b="1" sz="1200">
                <a:solidFill>
                  <a:srgbClr val="1E293B"/>
                </a:solidFill>
              </a:rPr>
              <a:t>Không gian vô tận: </a:t>
            </a:r>
            <a:r>
              <a:rPr sz="1150">
                <a:solidFill>
                  <a:srgbClr val="475569"/>
                </a:solidFill>
              </a:rPr>
              <a:t>Sự bùng nổ của Internet toàn cầu đã biến không gian số thành môi trường tương tác với vô vàn đối thủ tiềm tàng, xa lạ và phân tán (distal agents).</a:t>
            </a:r>
          </a:p>
          <a:p>
            <a:pPr>
              <a:spcBef>
                <a:spcPts val="1000"/>
              </a:spcBef>
            </a:pPr>
            <a:r>
              <a:rPr b="1" sz="1200">
                <a:solidFill>
                  <a:srgbClr val="1E293B"/>
                </a:solidFill>
              </a:rPr>
              <a:t>Niềm tin và Bí mật: </a:t>
            </a:r>
            <a:r>
              <a:rPr sz="1150">
                <a:solidFill>
                  <a:srgbClr val="475569"/>
                </a:solidFill>
              </a:rPr>
              <a:t>Trong xã hội hiện đại, niềm tin giữa các bên không quen biết không còn dựa trên gia tộc hay bộ lạc nhỏ, mà phải dựa trên các thủ tục quan liêu, hệ thống giám sát và các công cụ toán học mật mã bảo vệ bí mật.</a:t>
            </a:r>
          </a:p>
        </p:txBody>
      </p:sp>
      <p:sp>
        <p:nvSpPr>
          <p:cNvPr id="8" name="Rounded Rectangle 7"/>
          <p:cNvSpPr/>
          <p:nvPr/>
        </p:nvSpPr>
        <p:spPr>
          <a:xfrm>
            <a:off x="6217920" y="1691640"/>
            <a:ext cx="5212080" cy="4389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400" b="1">
                <a:solidFill>
                  <a:srgbClr val="D97706"/>
                </a:solidFill>
              </a:defRPr>
            </a:pPr>
            <a:r>
              <a:t>2. Nghịch Lý Thiếu Vắng Khảo Sát Triết Học</a:t>
            </a:r>
          </a:p>
          <a:p>
            <a:pPr>
              <a:spcBef>
                <a:spcPts val="1000"/>
              </a:spcBef>
            </a:pPr>
            <a:r>
              <a:rPr b="1" sz="1200">
                <a:solidFill>
                  <a:srgbClr val="1E293B"/>
                </a:solidFill>
              </a:rPr>
              <a:t>Nghịch lý nhận thức: </a:t>
            </a:r>
            <a:r>
              <a:rPr sz="1150">
                <a:solidFill>
                  <a:srgbClr val="475569"/>
                </a:solidFill>
              </a:rPr>
              <a:t>Lý thuyết thông tin của Claude Shannon (1948) đã được triết học phân tích sâu sắc (Bar-Hillel, Dretske, Floridi), nhưng chính mật mã học — cái nôi khai sinh lý thuyết thông tin — lại bị triết học bỏ quên.</a:t>
            </a:r>
          </a:p>
          <a:p>
            <a:pPr>
              <a:spcBef>
                <a:spcPts val="1000"/>
              </a:spcBef>
            </a:pPr>
            <a:r>
              <a:rPr b="1" sz="1200">
                <a:solidFill>
                  <a:srgbClr val="1E293B"/>
                </a:solidFill>
              </a:rPr>
              <a:t>Tuyên bố cách mạng: </a:t>
            </a:r>
            <a:r>
              <a:rPr sz="1150">
                <a:solidFill>
                  <a:srgbClr val="475569"/>
                </a:solidFill>
              </a:rPr>
              <a:t>Mật mã học đưa ra một tuyên bố mang tính triết học cách mạng: 'Bí mật có thể được truyền đưa an toàn trong thế giới kỹ thuật số thông qua việc ứng dụng toán học'.</a:t>
            </a:r>
          </a:p>
          <a:p>
            <a:pPr>
              <a:spcBef>
                <a:spcPts val="1000"/>
              </a:spcBef>
            </a:pPr>
            <a:r>
              <a:rPr b="1" sz="1200">
                <a:solidFill>
                  <a:srgbClr val="1E293B"/>
                </a:solidFill>
              </a:rPr>
              <a:t>Lỗ hổng thực tiễn: </a:t>
            </a:r>
            <a:r>
              <a:rPr sz="1150">
                <a:solidFill>
                  <a:srgbClr val="475569"/>
                </a:solidFill>
              </a:rPr>
              <a:t>Khi mật mã học chuyển mình thành khoa học toán thuần túy thông qua sự trừu tượng hóa, nó tạo ra một điểm mù nguy hiểm trước các đối thủ trong thế giới thực.</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khoa học: Harry Halpin (2025), Section 1: Introduction, Journal of Cybersecurity, tr.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1 &amp; 2 (TRANG 1–3)</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MỤC TIÊU &amp; BA ĐÓNG GÓP HỌC THUẬT CỦA BÀI BÁO</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Ba trụ cột đóng góp chính của công trình Harry Halpin đối với mật mã học và an ninh mạng</a:t>
            </a:r>
          </a:p>
        </p:txBody>
      </p:sp>
      <p:sp>
        <p:nvSpPr>
          <p:cNvPr id="6" name="Rounded Rectangle 5"/>
          <p:cNvSpPr/>
          <p:nvPr/>
        </p:nvSpPr>
        <p:spPr>
          <a:xfrm>
            <a:off x="731520" y="1691640"/>
            <a:ext cx="3383280" cy="4389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Trụ Cột 1: Cầu Nối Hai Chiều</a:t>
            </a:r>
          </a:p>
          <a:p>
            <a:pPr>
              <a:spcAft>
                <a:spcPts val="800"/>
              </a:spcAft>
              <a:defRPr sz="1000" b="1">
                <a:solidFill>
                  <a:srgbClr val="64748B"/>
                </a:solidFill>
              </a:defRPr>
            </a:pPr>
            <a:r>
              <a:t>KẾT NỐI TRIẾT HỌC &amp; MẬT MÃ</a:t>
            </a:r>
          </a:p>
          <a:p>
            <a:pPr>
              <a:spcBef>
                <a:spcPts val="600"/>
              </a:spcBef>
            </a:pPr>
            <a:r>
              <a:rPr b="1" sz="1100">
                <a:solidFill>
                  <a:srgbClr val="1E293B"/>
                </a:solidFill>
              </a:rPr>
              <a:t>• Mục tiêu 1: </a:t>
            </a:r>
            <a:r>
              <a:rPr sz="1050">
                <a:solidFill>
                  <a:srgbClr val="475569"/>
                </a:solidFill>
              </a:rPr>
              <a:t>Làm cho các hiểu biết triết học trở nên sáng tỏ và hữu ích đối với các nhà mật mã học.</a:t>
            </a:r>
          </a:p>
          <a:p>
            <a:pPr>
              <a:spcBef>
                <a:spcPts val="600"/>
              </a:spcBef>
            </a:pPr>
            <a:r>
              <a:rPr b="1" sz="1100">
                <a:solidFill>
                  <a:srgbClr val="1E293B"/>
                </a:solidFill>
              </a:rPr>
              <a:t>• Mục tiêu 2: </a:t>
            </a:r>
            <a:r>
              <a:rPr sz="1050">
                <a:solidFill>
                  <a:srgbClr val="475569"/>
                </a:solidFill>
              </a:rPr>
              <a:t>Kêu gọi các triết gia áp dụng công cụ triết học vào mật mã học thay vì chỉ dừng lại ở lý thuyết thông tin thuần túy.</a:t>
            </a:r>
          </a:p>
          <a:p>
            <a:pPr>
              <a:spcBef>
                <a:spcPts val="600"/>
              </a:spcBef>
            </a:pPr>
            <a:r>
              <a:rPr b="1" sz="1100">
                <a:solidFill>
                  <a:srgbClr val="1E293B"/>
                </a:solidFill>
              </a:rPr>
              <a:t>• Ý nghĩa: </a:t>
            </a:r>
            <a:r>
              <a:rPr sz="1050">
                <a:solidFill>
                  <a:srgbClr val="475569"/>
                </a:solidFill>
              </a:rPr>
              <a:t>Mở rộng mật mã học từ một nhánh toán học thuần túy thành một 'khoa học an ninh tổng quát' (general science of security).</a:t>
            </a:r>
          </a:p>
        </p:txBody>
      </p:sp>
      <p:sp>
        <p:nvSpPr>
          <p:cNvPr id="8" name="Rounded Rectangle 7"/>
          <p:cNvSpPr/>
          <p:nvPr/>
        </p:nvSpPr>
        <p:spPr>
          <a:xfrm>
            <a:off x="4389120" y="1691640"/>
            <a:ext cx="33832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0F172A"/>
                </a:solidFill>
              </a:defRPr>
            </a:pPr>
            <a:r>
              <a:t>Trụ Cột 2: Lịch Sử Hình Thức Hóa</a:t>
            </a:r>
          </a:p>
          <a:p>
            <a:pPr>
              <a:spcAft>
                <a:spcPts val="800"/>
              </a:spcAft>
              <a:defRPr sz="1000" b="1">
                <a:solidFill>
                  <a:srgbClr val="64748B"/>
                </a:solidFill>
              </a:defRPr>
            </a:pPr>
            <a:r>
              <a:t>TỪ NGHỆ THUẬT SANG KHOA HỌC</a:t>
            </a:r>
          </a:p>
          <a:p>
            <a:pPr>
              <a:spcBef>
                <a:spcPts val="600"/>
              </a:spcBef>
            </a:pPr>
            <a:r>
              <a:rPr b="1" sz="1100">
                <a:solidFill>
                  <a:srgbClr val="1E293B"/>
                </a:solidFill>
              </a:rPr>
              <a:t>• Tiến trình lịch sử: </a:t>
            </a:r>
            <a:r>
              <a:rPr sz="1050">
                <a:solidFill>
                  <a:srgbClr val="475569"/>
                </a:solidFill>
              </a:rPr>
              <a:t>Khảo cứu quá trình mật mã học chuyển mình từ một môn 'nghệ thuật bí truyền' thành một ngành 'khoa học chính xác'.</a:t>
            </a:r>
          </a:p>
          <a:p>
            <a:pPr>
              <a:spcBef>
                <a:spcPts val="600"/>
              </a:spcBef>
            </a:pPr>
            <a:r>
              <a:rPr b="1" sz="1100">
                <a:solidFill>
                  <a:srgbClr val="1E293B"/>
                </a:solidFill>
              </a:rPr>
              <a:t>• Toán học hóa đối thủ: </a:t>
            </a:r>
            <a:r>
              <a:rPr sz="1050">
                <a:solidFill>
                  <a:srgbClr val="475569"/>
                </a:solidFill>
              </a:rPr>
              <a:t>Quá trình này đạt được chủ yếu nhờ việc mô hình hóa và hình thức hóa đối thủ (Shannon, PPT Game, Dolev-Yao, Random Oracle).</a:t>
            </a:r>
          </a:p>
          <a:p>
            <a:pPr>
              <a:spcBef>
                <a:spcPts val="600"/>
              </a:spcBef>
            </a:pPr>
            <a:r>
              <a:rPr b="1" sz="1100">
                <a:solidFill>
                  <a:srgbClr val="1E293B"/>
                </a:solidFill>
              </a:rPr>
              <a:t>• Phân tích nhận thức luận: </a:t>
            </a:r>
            <a:r>
              <a:rPr sz="1050">
                <a:solidFill>
                  <a:srgbClr val="475569"/>
                </a:solidFill>
              </a:rPr>
              <a:t>Làm rõ các giả định triết học ngầm định đằng sau từng bước hình thức hóa.</a:t>
            </a:r>
          </a:p>
        </p:txBody>
      </p:sp>
      <p:sp>
        <p:nvSpPr>
          <p:cNvPr id="10" name="Rounded Rectangle 9"/>
          <p:cNvSpPr/>
          <p:nvPr/>
        </p:nvSpPr>
        <p:spPr>
          <a:xfrm>
            <a:off x="8046720" y="1691640"/>
            <a:ext cx="3383280" cy="4389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D97706"/>
                </a:solidFill>
              </a:defRPr>
            </a:pPr>
            <a:r>
              <a:t>Trụ Cột 3: Phê Phán Trừu Tượng Hóa</a:t>
            </a:r>
          </a:p>
          <a:p>
            <a:pPr>
              <a:spcAft>
                <a:spcPts val="800"/>
              </a:spcAft>
              <a:defRPr sz="1000" b="1">
                <a:solidFill>
                  <a:srgbClr val="64748B"/>
                </a:solidFill>
              </a:defRPr>
            </a:pPr>
            <a:r>
              <a:t>PHÊ PHÁN GIỚI HẠN MÔ HÌNH</a:t>
            </a:r>
          </a:p>
          <a:p>
            <a:pPr>
              <a:spcBef>
                <a:spcPts val="600"/>
              </a:spcBef>
            </a:pPr>
            <a:r>
              <a:rPr b="1" sz="1100">
                <a:solidFill>
                  <a:srgbClr val="1E293B"/>
                </a:solidFill>
              </a:rPr>
              <a:t>• Bản đồ vs Lãnh thổ: </a:t>
            </a:r>
            <a:r>
              <a:rPr sz="1050">
                <a:solidFill>
                  <a:srgbClr val="475569"/>
                </a:solidFill>
              </a:rPr>
              <a:t>Vận dụng luận điểm của Korzybski và Cantwell Smith: Sự trừu tượng hóa luôn đi kèm cái giá là lược bỏ chi tiết thực tế.</a:t>
            </a:r>
          </a:p>
          <a:p>
            <a:pPr>
              <a:spcBef>
                <a:spcPts val="600"/>
              </a:spcBef>
            </a:pPr>
            <a:r>
              <a:rPr b="1" sz="1100">
                <a:solidFill>
                  <a:srgbClr val="1E293B"/>
                </a:solidFill>
              </a:rPr>
              <a:t>• Khủng hoảng Snowden: </a:t>
            </a:r>
            <a:r>
              <a:rPr sz="1050">
                <a:solidFill>
                  <a:srgbClr val="475569"/>
                </a:solidFill>
              </a:rPr>
              <a:t>Vụ rò rỉ Snowden (2013) là bằng chứng thực tế cho thấy các mô hình hình thức thất bại trước đối thủ thể chế (NSA).</a:t>
            </a:r>
          </a:p>
          <a:p>
            <a:pPr>
              <a:spcBef>
                <a:spcPts val="600"/>
              </a:spcBef>
            </a:pPr>
            <a:r>
              <a:rPr b="1" sz="1100">
                <a:solidFill>
                  <a:srgbClr val="1E293B"/>
                </a:solidFill>
              </a:rPr>
              <a:t>• Lời giải: </a:t>
            </a:r>
            <a:r>
              <a:rPr sz="1050">
                <a:solidFill>
                  <a:srgbClr val="475569"/>
                </a:solidFill>
              </a:rPr>
              <a:t>Đề xuất chương trình nghiên cứu 'hòa giải' (reconciliation) với dữ liệu thực tế và mạng xã hội-kỹ thuật phức hợp.</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khoa học: Harry Halpin (2025), Section 1–2, Journal of Cybersecurity, tr.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2 — TIỀN ĐỀ TRIẾT HỌC (TRANG 2–3)</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CƠ SỞ TRIẾT HỌC: DRETSKE, CANTWELL SMITH &amp; BẢN CHẤT BÍ MẬT</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Xây dựng khung nhận thức luận về tác nhân có chủ đích, sự phân ranh thế giới và khái niệm bí mật</a:t>
            </a:r>
          </a:p>
        </p:txBody>
      </p:sp>
      <p:sp>
        <p:nvSpPr>
          <p:cNvPr id="6" name="Rounded Rectangle 5"/>
          <p:cNvSpPr/>
          <p:nvPr/>
        </p:nvSpPr>
        <p:spPr>
          <a:xfrm>
            <a:off x="731520" y="1691640"/>
            <a:ext cx="10728655" cy="1298448"/>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01368"/>
            <a:ext cx="10362895" cy="1078992"/>
          </a:xfrm>
          <a:prstGeom prst="rect">
            <a:avLst/>
          </a:prstGeom>
          <a:noFill/>
        </p:spPr>
        <p:txBody>
          <a:bodyPr wrap="square">
            <a:spAutoFit/>
          </a:bodyPr>
          <a:lstStyle/>
          <a:p>
            <a:pPr>
              <a:defRPr sz="1300" b="1">
                <a:solidFill>
                  <a:srgbClr val="1E40AF"/>
                </a:solidFill>
              </a:defRPr>
            </a:pPr>
            <a:r>
              <a:t>1. Fred Dretske (1981) — Dòng Chảy Thông Tin và Tác Nhân Có Chủ Đích</a:t>
            </a:r>
          </a:p>
          <a:p>
            <a:pPr>
              <a:spcBef>
                <a:spcPts val="400"/>
              </a:spcBef>
              <a:defRPr sz="1100">
                <a:solidFill>
                  <a:srgbClr val="475569"/>
                </a:solidFill>
              </a:defRPr>
            </a:pPr>
            <a:r>
              <a:t>Thông tin là các quy luật (regularities) trong các trạng thái sự vật. Tác nhân có chủ đích (như con người) khác biệt hoàn toàn với các vật mang tin vô tri (nhiệt kế, DNA): tác nhân sở hữu cấu trúc ý niệm, niềm tin, kế hoạch hành động và có khả năng tích hợp thông tin vào trạng thái cục bộ để ra quyết định.</a:t>
            </a:r>
          </a:p>
        </p:txBody>
      </p:sp>
      <p:sp>
        <p:nvSpPr>
          <p:cNvPr id="8" name="Rounded Rectangle 7"/>
          <p:cNvSpPr/>
          <p:nvPr/>
        </p:nvSpPr>
        <p:spPr>
          <a:xfrm>
            <a:off x="731520" y="3136392"/>
            <a:ext cx="10728655" cy="12984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10362895" cy="1078992"/>
          </a:xfrm>
          <a:prstGeom prst="rect">
            <a:avLst/>
          </a:prstGeom>
          <a:noFill/>
        </p:spPr>
        <p:txBody>
          <a:bodyPr wrap="square">
            <a:spAutoFit/>
          </a:bodyPr>
          <a:lstStyle/>
          <a:p>
            <a:pPr>
              <a:defRPr sz="1300" b="1">
                <a:solidFill>
                  <a:srgbClr val="0F172A"/>
                </a:solidFill>
              </a:defRPr>
            </a:pPr>
            <a:r>
              <a:t>2. Brian Cantwell Smith (1996) — Siêu Hình Học Dòng Chảy &amp; Sự Phân Ranh (Cutting at the Joints)</a:t>
            </a:r>
          </a:p>
          <a:p>
            <a:pPr>
              <a:spcBef>
                <a:spcPts val="400"/>
              </a:spcBef>
              <a:defRPr sz="1100">
                <a:solidFill>
                  <a:srgbClr val="475569"/>
                </a:solidFill>
              </a:defRPr>
            </a:pPr>
            <a:r>
              <a:t>Thế giới là dòng chảy siêu hình nguyên thủy (primordial metaphysical flux). Con người phân tích thế giới bằng cách 'cắt' nó thành các hệ thống riêng biệt (proximal vs distal agents). Mọi mô hình trừu tượng đều là phép xấp xỉ; ranh giới giữa các tác nhân luôn mang tính động và tương đối.</a:t>
            </a:r>
          </a:p>
        </p:txBody>
      </p:sp>
      <p:sp>
        <p:nvSpPr>
          <p:cNvPr id="10" name="Rounded Rectangle 9"/>
          <p:cNvSpPr/>
          <p:nvPr/>
        </p:nvSpPr>
        <p:spPr>
          <a:xfrm>
            <a:off x="731520" y="4581144"/>
            <a:ext cx="10728655" cy="1298448"/>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690872"/>
            <a:ext cx="10362895" cy="1078992"/>
          </a:xfrm>
          <a:prstGeom prst="rect">
            <a:avLst/>
          </a:prstGeom>
          <a:noFill/>
        </p:spPr>
        <p:txBody>
          <a:bodyPr wrap="square">
            <a:spAutoFit/>
          </a:bodyPr>
          <a:lstStyle/>
          <a:p>
            <a:pPr>
              <a:defRPr sz="1300" b="1">
                <a:solidFill>
                  <a:srgbClr val="059669"/>
                </a:solidFill>
              </a:defRPr>
            </a:pPr>
            <a:r>
              <a:t>3. Bản Chất Của Bí Mật: Bí Mật Là Gì Dưới Góc Nhìn Triết Học?</a:t>
            </a:r>
          </a:p>
          <a:p>
            <a:pPr>
              <a:spcBef>
                <a:spcPts val="400"/>
              </a:spcBef>
              <a:defRPr sz="1100">
                <a:solidFill>
                  <a:srgbClr val="475569"/>
                </a:solidFill>
              </a:defRPr>
            </a:pPr>
            <a:r>
              <a:t>Bí mật KHÔNG tồn tại tự thân và không có bí mật vĩnh cửu. Bí mật là mối quan hệ xã hội tương đối giữa thông tin và nhóm người giữ bí mật (secret keepers) qua một khoảng thời gian nhất định, trong đó nhóm người này chủ đích loại trừ những kẻ khác (adversaries) khỏi quyền tiếp cận thông tin đó.</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Dretske (1981, Ref [1]); Cantwell Smith (1996, Ref [5]); Halpin (2025), tr.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SECTIONS 3–6 (TRANG 3–12)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SƠ ĐỒ 1: DÒNG THỜI GIAN 7 THẬP KỶ TIẾN HÓA MÔ HÌNH ĐỐI THỦ</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Tiến trình lịch sử từ mô hình truyền thông Shannon đến các đối thủ hình thức và khủng hoảng Snowden</a:t>
            </a:r>
          </a:p>
        </p:txBody>
      </p:sp>
      <p:sp>
        <p:nvSpPr>
          <p:cNvPr id="6" name="Rectangle 5"/>
          <p:cNvSpPr/>
          <p:nvPr/>
        </p:nvSpPr>
        <p:spPr>
          <a:xfrm>
            <a:off x="914400" y="3749039"/>
            <a:ext cx="10362895" cy="73152"/>
          </a:xfrm>
          <a:prstGeom prst="rect">
            <a:avLst/>
          </a:prstGeom>
          <a:solidFill>
            <a:srgbClr val="BFD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53896" y="3648456"/>
            <a:ext cx="274320" cy="274320"/>
          </a:xfrm>
          <a:prstGeom prst="ellipse">
            <a:avLst/>
          </a:prstGeom>
          <a:solidFill>
            <a:srgbClr val="1E40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737360"/>
            <a:ext cx="13533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810512"/>
            <a:ext cx="1207008" cy="1545336"/>
          </a:xfrm>
          <a:prstGeom prst="rect">
            <a:avLst/>
          </a:prstGeom>
          <a:noFill/>
        </p:spPr>
        <p:txBody>
          <a:bodyPr wrap="square">
            <a:spAutoFit/>
          </a:bodyPr>
          <a:lstStyle/>
          <a:p>
            <a:pPr>
              <a:defRPr sz="1300" b="1">
                <a:solidFill>
                  <a:srgbClr val="1E40AF"/>
                </a:solidFill>
              </a:defRPr>
            </a:pPr>
            <a:r>
              <a:t>1948</a:t>
            </a:r>
          </a:p>
          <a:p>
            <a:pPr>
              <a:defRPr sz="1000" b="1">
                <a:solidFill>
                  <a:srgbClr val="0F172A"/>
                </a:solidFill>
              </a:defRPr>
            </a:pPr>
            <a:r>
              <a:t>Shannon</a:t>
            </a:r>
          </a:p>
          <a:p>
            <a:pPr>
              <a:spcBef>
                <a:spcPts val="300"/>
              </a:spcBef>
              <a:defRPr sz="850">
                <a:solidFill>
                  <a:srgbClr val="475569"/>
                </a:solidFill>
              </a:defRPr>
            </a:pPr>
            <a:r>
              <a:t>Nhiễu ngẫu nhiên, One-Time Pad, Bí mật hoàn hảo</a:t>
            </a:r>
          </a:p>
        </p:txBody>
      </p:sp>
      <p:sp>
        <p:nvSpPr>
          <p:cNvPr id="10" name="Oval 9"/>
          <p:cNvSpPr/>
          <p:nvPr/>
        </p:nvSpPr>
        <p:spPr>
          <a:xfrm>
            <a:off x="2971800" y="3648456"/>
            <a:ext cx="274320" cy="274320"/>
          </a:xfrm>
          <a:prstGeom prst="ellipse">
            <a:avLst/>
          </a:prstGeom>
          <a:solidFill>
            <a:srgbClr val="1E40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32304" y="4114800"/>
            <a:ext cx="13533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5456" y="4187952"/>
            <a:ext cx="1207008" cy="1545336"/>
          </a:xfrm>
          <a:prstGeom prst="rect">
            <a:avLst/>
          </a:prstGeom>
          <a:noFill/>
        </p:spPr>
        <p:txBody>
          <a:bodyPr wrap="square">
            <a:spAutoFit/>
          </a:bodyPr>
          <a:lstStyle/>
          <a:p>
            <a:pPr>
              <a:defRPr sz="1300" b="1">
                <a:solidFill>
                  <a:srgbClr val="1E40AF"/>
                </a:solidFill>
              </a:defRPr>
            </a:pPr>
            <a:r>
              <a:t>1976</a:t>
            </a:r>
          </a:p>
          <a:p>
            <a:pPr>
              <a:defRPr sz="1000" b="1">
                <a:solidFill>
                  <a:srgbClr val="0F172A"/>
                </a:solidFill>
              </a:defRPr>
            </a:pPr>
            <a:r>
              <a:t>Diffie-Hellman</a:t>
            </a:r>
          </a:p>
          <a:p>
            <a:pPr>
              <a:spcBef>
                <a:spcPts val="300"/>
              </a:spcBef>
              <a:defRPr sz="850">
                <a:solidFill>
                  <a:srgbClr val="475569"/>
                </a:solidFill>
              </a:defRPr>
            </a:pPr>
            <a:r>
              <a:t>Mật mã khóa công khai, Kênh truyền mở</a:t>
            </a:r>
          </a:p>
        </p:txBody>
      </p:sp>
      <p:sp>
        <p:nvSpPr>
          <p:cNvPr id="13" name="Oval 12"/>
          <p:cNvSpPr/>
          <p:nvPr/>
        </p:nvSpPr>
        <p:spPr>
          <a:xfrm>
            <a:off x="4489704" y="3648456"/>
            <a:ext cx="274320" cy="274320"/>
          </a:xfrm>
          <a:prstGeom prst="ellipse">
            <a:avLst/>
          </a:prstGeom>
          <a:solidFill>
            <a:srgbClr val="1E40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50208" y="1737360"/>
            <a:ext cx="13533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1810512"/>
            <a:ext cx="1207008" cy="1545336"/>
          </a:xfrm>
          <a:prstGeom prst="rect">
            <a:avLst/>
          </a:prstGeom>
          <a:noFill/>
        </p:spPr>
        <p:txBody>
          <a:bodyPr wrap="square">
            <a:spAutoFit/>
          </a:bodyPr>
          <a:lstStyle/>
          <a:p>
            <a:pPr>
              <a:defRPr sz="1300" b="1">
                <a:solidFill>
                  <a:srgbClr val="1E40AF"/>
                </a:solidFill>
              </a:defRPr>
            </a:pPr>
            <a:r>
              <a:t>1984</a:t>
            </a:r>
          </a:p>
          <a:p>
            <a:pPr>
              <a:defRPr sz="1000" b="1">
                <a:solidFill>
                  <a:srgbClr val="0F172A"/>
                </a:solidFill>
              </a:defRPr>
            </a:pPr>
            <a:r>
              <a:t>Goldwasser-Micali</a:t>
            </a:r>
          </a:p>
          <a:p>
            <a:pPr>
              <a:spcBef>
                <a:spcPts val="300"/>
              </a:spcBef>
              <a:defRPr sz="850">
                <a:solidFill>
                  <a:srgbClr val="475569"/>
                </a:solidFill>
              </a:defRPr>
            </a:pPr>
            <a:r>
              <a:t>Mô hình PPT Adversary, Security Games</a:t>
            </a:r>
          </a:p>
        </p:txBody>
      </p:sp>
      <p:sp>
        <p:nvSpPr>
          <p:cNvPr id="16" name="Oval 15"/>
          <p:cNvSpPr/>
          <p:nvPr/>
        </p:nvSpPr>
        <p:spPr>
          <a:xfrm>
            <a:off x="6007608" y="3648456"/>
            <a:ext cx="274320" cy="274320"/>
          </a:xfrm>
          <a:prstGeom prst="ellipse">
            <a:avLst/>
          </a:prstGeom>
          <a:solidFill>
            <a:srgbClr val="1E40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68112" y="4114800"/>
            <a:ext cx="13533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41264" y="4187952"/>
            <a:ext cx="1207008" cy="1545336"/>
          </a:xfrm>
          <a:prstGeom prst="rect">
            <a:avLst/>
          </a:prstGeom>
          <a:noFill/>
        </p:spPr>
        <p:txBody>
          <a:bodyPr wrap="square">
            <a:spAutoFit/>
          </a:bodyPr>
          <a:lstStyle/>
          <a:p>
            <a:pPr>
              <a:defRPr sz="1300" b="1">
                <a:solidFill>
                  <a:srgbClr val="1E40AF"/>
                </a:solidFill>
              </a:defRPr>
            </a:pPr>
            <a:r>
              <a:t>1983</a:t>
            </a:r>
          </a:p>
          <a:p>
            <a:pPr>
              <a:defRPr sz="1000" b="1">
                <a:solidFill>
                  <a:srgbClr val="0F172A"/>
                </a:solidFill>
              </a:defRPr>
            </a:pPr>
            <a:r>
              <a:t>Dolev-Yao</a:t>
            </a:r>
          </a:p>
          <a:p>
            <a:pPr>
              <a:spcBef>
                <a:spcPts val="300"/>
              </a:spcBef>
              <a:defRPr sz="850">
                <a:solidFill>
                  <a:srgbClr val="475569"/>
                </a:solidFill>
              </a:defRPr>
            </a:pPr>
            <a:r>
              <a:t>Đối thủ mạng kiểm soát kênh, Hộp đen mật mã</a:t>
            </a:r>
          </a:p>
        </p:txBody>
      </p:sp>
      <p:sp>
        <p:nvSpPr>
          <p:cNvPr id="19" name="Oval 18"/>
          <p:cNvSpPr/>
          <p:nvPr/>
        </p:nvSpPr>
        <p:spPr>
          <a:xfrm>
            <a:off x="7525512" y="3648456"/>
            <a:ext cx="274320" cy="274320"/>
          </a:xfrm>
          <a:prstGeom prst="ellipse">
            <a:avLst/>
          </a:prstGeom>
          <a:solidFill>
            <a:srgbClr val="1E40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86016" y="1737360"/>
            <a:ext cx="1353312"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9168" y="1810512"/>
            <a:ext cx="1207008" cy="1545336"/>
          </a:xfrm>
          <a:prstGeom prst="rect">
            <a:avLst/>
          </a:prstGeom>
          <a:noFill/>
        </p:spPr>
        <p:txBody>
          <a:bodyPr wrap="square">
            <a:spAutoFit/>
          </a:bodyPr>
          <a:lstStyle/>
          <a:p>
            <a:pPr>
              <a:defRPr sz="1300" b="1">
                <a:solidFill>
                  <a:srgbClr val="1E40AF"/>
                </a:solidFill>
              </a:defRPr>
            </a:pPr>
            <a:r>
              <a:t>1993</a:t>
            </a:r>
          </a:p>
          <a:p>
            <a:pPr>
              <a:defRPr sz="1000" b="1">
                <a:solidFill>
                  <a:srgbClr val="0F172A"/>
                </a:solidFill>
              </a:defRPr>
            </a:pPr>
            <a:r>
              <a:t>Bellare-Rogaway</a:t>
            </a:r>
          </a:p>
          <a:p>
            <a:pPr>
              <a:spcBef>
                <a:spcPts val="300"/>
              </a:spcBef>
              <a:defRPr sz="850">
                <a:solidFill>
                  <a:srgbClr val="475569"/>
                </a:solidFill>
              </a:defRPr>
            </a:pPr>
            <a:r>
              <a:t>Random Oracle Model (ROM), Băm lý tưởng</a:t>
            </a:r>
          </a:p>
        </p:txBody>
      </p:sp>
      <p:sp>
        <p:nvSpPr>
          <p:cNvPr id="22" name="Oval 21"/>
          <p:cNvSpPr/>
          <p:nvPr/>
        </p:nvSpPr>
        <p:spPr>
          <a:xfrm>
            <a:off x="9043416" y="3648456"/>
            <a:ext cx="274320" cy="274320"/>
          </a:xfrm>
          <a:prstGeom prst="ellipse">
            <a:avLst/>
          </a:prstGeom>
          <a:solidFill>
            <a:srgbClr val="D9770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503920" y="4114800"/>
            <a:ext cx="1353312" cy="169164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7072" y="4187952"/>
            <a:ext cx="1207008" cy="1545336"/>
          </a:xfrm>
          <a:prstGeom prst="rect">
            <a:avLst/>
          </a:prstGeom>
          <a:noFill/>
        </p:spPr>
        <p:txBody>
          <a:bodyPr wrap="square">
            <a:spAutoFit/>
          </a:bodyPr>
          <a:lstStyle/>
          <a:p>
            <a:pPr>
              <a:defRPr sz="1300" b="1">
                <a:solidFill>
                  <a:srgbClr val="D97706"/>
                </a:solidFill>
              </a:defRPr>
            </a:pPr>
            <a:r>
              <a:t>1996</a:t>
            </a:r>
          </a:p>
          <a:p>
            <a:pPr>
              <a:defRPr sz="1000" b="1">
                <a:solidFill>
                  <a:srgbClr val="0F172A"/>
                </a:solidFill>
              </a:defRPr>
            </a:pPr>
            <a:r>
              <a:t>Paul Kocher</a:t>
            </a:r>
          </a:p>
          <a:p>
            <a:pPr>
              <a:spcBef>
                <a:spcPts val="300"/>
              </a:spcBef>
              <a:defRPr sz="850">
                <a:solidFill>
                  <a:srgbClr val="475569"/>
                </a:solidFill>
              </a:defRPr>
            </a:pPr>
            <a:r>
              <a:t>Phê phán: Tấn công kênh kề (Side-Channels)</a:t>
            </a:r>
          </a:p>
        </p:txBody>
      </p:sp>
      <p:sp>
        <p:nvSpPr>
          <p:cNvPr id="25" name="Oval 24"/>
          <p:cNvSpPr/>
          <p:nvPr/>
        </p:nvSpPr>
        <p:spPr>
          <a:xfrm>
            <a:off x="10561320" y="3648456"/>
            <a:ext cx="274320" cy="274320"/>
          </a:xfrm>
          <a:prstGeom prst="ellipse">
            <a:avLst/>
          </a:prstGeom>
          <a:solidFill>
            <a:srgbClr val="DC262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21824" y="1737360"/>
            <a:ext cx="1353312" cy="16916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94976" y="1810512"/>
            <a:ext cx="1207008" cy="1545336"/>
          </a:xfrm>
          <a:prstGeom prst="rect">
            <a:avLst/>
          </a:prstGeom>
          <a:noFill/>
        </p:spPr>
        <p:txBody>
          <a:bodyPr wrap="square">
            <a:spAutoFit/>
          </a:bodyPr>
          <a:lstStyle/>
          <a:p>
            <a:pPr>
              <a:defRPr sz="1300" b="1">
                <a:solidFill>
                  <a:srgbClr val="DC2626"/>
                </a:solidFill>
              </a:defRPr>
            </a:pPr>
            <a:r>
              <a:t>2013</a:t>
            </a:r>
          </a:p>
          <a:p>
            <a:pPr>
              <a:defRPr sz="1000" b="1">
                <a:solidFill>
                  <a:srgbClr val="0F172A"/>
                </a:solidFill>
              </a:defRPr>
            </a:pPr>
            <a:r>
              <a:t>Snowden / NSA</a:t>
            </a:r>
          </a:p>
          <a:p>
            <a:pPr>
              <a:spcBef>
                <a:spcPts val="300"/>
              </a:spcBef>
              <a:defRPr sz="850">
                <a:solidFill>
                  <a:srgbClr val="475569"/>
                </a:solidFill>
              </a:defRPr>
            </a:pPr>
            <a:r>
              <a:t>Đối thủ thể chế, Giám sát siêu dữ liệu</a:t>
            </a:r>
          </a:p>
        </p:txBody>
      </p:sp>
      <p:sp>
        <p:nvSpPr>
          <p:cNvPr id="28" name="TextBox 27"/>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của người trình bày dựa trên bài báo Harry Halpin (2025), Sections 3–6, tr. 3–12.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2 &amp; 3 (TRANG 3–5)</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SHANNON VÀ GIỚI HẠN CỦA MÔ HÌNH NHIỄU</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Đối sánh mô hình truyền thông điểm-điểm của Shannon và mạng xã hội-kỹ thuật phức hợp</a:t>
            </a:r>
          </a:p>
        </p:txBody>
      </p:sp>
      <p:sp>
        <p:nvSpPr>
          <p:cNvPr id="6" name="Rounded Rectangle 5"/>
          <p:cNvSpPr/>
          <p:nvPr/>
        </p:nvSpPr>
        <p:spPr>
          <a:xfrm>
            <a:off x="731520" y="1691640"/>
            <a:ext cx="5212080" cy="4389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300" b="1">
                <a:solidFill>
                  <a:srgbClr val="1E40AF"/>
                </a:solidFill>
              </a:defRPr>
            </a:pPr>
            <a:r>
              <a:t>Mô hình Điểm - Điểm Cổ Điển của Shannon</a:t>
            </a:r>
          </a:p>
          <a:p>
            <a:pPr>
              <a:spcBef>
                <a:spcPts val="800"/>
              </a:spcBef>
              <a:defRPr sz="950">
                <a:solidFill>
                  <a:srgbClr val="1E293B"/>
                </a:solidFill>
                <a:latin typeface="Consolas"/>
              </a:defRPr>
            </a:pPr>
            <a:r>
              <a:t>[Sender Alice]  ──────&gt;  [Channel: Key + Ciphertext]  ──────&gt;  [Receiver Bob]</a:t>
            </a:r>
            <a:br/>
            <a:r>
              <a:t>                                    ▲</a:t>
            </a:r>
            <a:br/>
            <a:r>
              <a:t>                                    │</a:t>
            </a:r>
            <a:br/>
            <a:r>
              <a:t>                         [Adversary Eve (Passive)]</a:t>
            </a:r>
          </a:p>
          <a:p>
            <a:pPr>
              <a:spcBef>
                <a:spcPts val="600"/>
              </a:spcBef>
            </a:pPr>
            <a:r>
              <a:rPr b="1" sz="1050">
                <a:solidFill>
                  <a:srgbClr val="1E293B"/>
                </a:solidFill>
              </a:rPr>
              <a:t>• Nguồn gốc mật mã: </a:t>
            </a:r>
            <a:r>
              <a:rPr sz="1000">
                <a:solidFill>
                  <a:srgbClr val="475569"/>
                </a:solidFill>
              </a:rPr>
              <a:t>Lý thuyết thông tin Shannon (1948) thực chất bắt nguồn từ báo cáo mật mã tối mật năm 1945 ('A Mathematical Theory of Cryptography').</a:t>
            </a:r>
          </a:p>
          <a:p>
            <a:pPr>
              <a:spcBef>
                <a:spcPts val="600"/>
              </a:spcBef>
            </a:pPr>
            <a:r>
              <a:rPr b="1" sz="1050">
                <a:solidFill>
                  <a:srgbClr val="1E293B"/>
                </a:solidFill>
              </a:rPr>
              <a:t>• Bí mật hoàn hảo: </a:t>
            </a:r>
            <a:r>
              <a:rPr sz="1000">
                <a:solidFill>
                  <a:srgbClr val="475569"/>
                </a:solidFill>
              </a:rPr>
              <a:t>Shannon chứng minh hệ mật hoàn hảo duy nhất là One-Time Pad, nhưng đòi hỏi khóa ngẫu nhiên dài bằng thông điệp ($H(K) &gt;= H(M)$).</a:t>
            </a:r>
          </a:p>
          <a:p>
            <a:pPr>
              <a:spcBef>
                <a:spcPts val="600"/>
              </a:spcBef>
            </a:pPr>
            <a:r>
              <a:rPr b="1" sz="1050">
                <a:solidFill>
                  <a:srgbClr val="1E293B"/>
                </a:solidFill>
              </a:rPr>
              <a:t>• Giả định giới hạn: </a:t>
            </a:r>
            <a:r>
              <a:rPr sz="1000">
                <a:solidFill>
                  <a:srgbClr val="475569"/>
                </a:solidFill>
              </a:rPr>
              <a:t>Shannon xem sự sai lệch thông tin là 'nhiễu ngẫu nhiên' (random noise). Tuy nhiên, kẻ thù mật mã là tác nhân có chủ đích (intentional agent), không phải nhiễu ngẫu nhiên!</a:t>
            </a:r>
          </a:p>
        </p:txBody>
      </p:sp>
      <p:sp>
        <p:nvSpPr>
          <p:cNvPr id="8" name="Rounded Rectangle 7"/>
          <p:cNvSpPr/>
          <p:nvPr/>
        </p:nvSpPr>
        <p:spPr>
          <a:xfrm>
            <a:off x="6217920" y="1691640"/>
            <a:ext cx="5212080" cy="4389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300" b="1">
                <a:solidFill>
                  <a:srgbClr val="059669"/>
                </a:solidFill>
              </a:defRPr>
            </a:pPr>
            <a:r>
              <a:t>Thực Tế: Mạng Xã Hội - Kỹ Thuật Không Đồng Nhất</a:t>
            </a:r>
          </a:p>
          <a:p>
            <a:pPr>
              <a:spcBef>
                <a:spcPts val="800"/>
              </a:spcBef>
              <a:defRPr sz="950">
                <a:solidFill>
                  <a:srgbClr val="1E293B"/>
                </a:solidFill>
                <a:latin typeface="Consolas"/>
              </a:defRPr>
            </a:pPr>
            <a:r>
              <a:t>[Nhiều Bên Giữ Bí Mật]  ◄──►  [Hạ Tầng Viễn Thông / Đám Mây]</a:t>
            </a:r>
            <a:br/>
            <a:r>
              <a:t>           ▲                                     ▲</a:t>
            </a:r>
            <a:br/>
            <a:r>
              <a:t>           │                                     │</a:t>
            </a:r>
            <a:br/>
            <a:r>
              <a:t>[Kẻ Tấn Công Thể Chế]   ◄──►  [Lỗ Hổng Triển Khai / Kênh Kề]</a:t>
            </a:r>
          </a:p>
          <a:p>
            <a:pPr>
              <a:spcBef>
                <a:spcPts val="600"/>
              </a:spcBef>
            </a:pPr>
            <a:r>
              <a:rPr b="1" sz="1050">
                <a:solidFill>
                  <a:srgbClr val="1E293B"/>
                </a:solidFill>
              </a:rPr>
              <a:t>• Vượt qua kênh đơn: </a:t>
            </a:r>
            <a:r>
              <a:rPr sz="1000">
                <a:solidFill>
                  <a:srgbClr val="475569"/>
                </a:solidFill>
              </a:rPr>
              <a:t>Trong thực tế, thông tin không đi qua 1 kênh duy nhất mà chảy qua mạng lưới phức tạp gồm con người, thiết bị, hệ điều hành và nhà mạng.</a:t>
            </a:r>
          </a:p>
          <a:p>
            <a:pPr>
              <a:spcBef>
                <a:spcPts val="600"/>
              </a:spcBef>
            </a:pPr>
            <a:r>
              <a:rPr b="1" sz="1050">
                <a:solidFill>
                  <a:srgbClr val="1E293B"/>
                </a:solidFill>
              </a:rPr>
              <a:t>• Tổ chức thông tin: </a:t>
            </a:r>
            <a:r>
              <a:rPr sz="1000">
                <a:solidFill>
                  <a:srgbClr val="475569"/>
                </a:solidFill>
              </a:rPr>
              <a:t>Bảo toàn bí mật là duy trì bất biến chính sách (policy invariant) giữa nhóm người giữ bí mật trước các lỗi Byzantine và hành vi phản bội.</a:t>
            </a:r>
          </a:p>
          <a:p>
            <a:pPr>
              <a:spcBef>
                <a:spcPts val="600"/>
              </a:spcBef>
            </a:pPr>
            <a:r>
              <a:rPr b="1" sz="1050">
                <a:solidFill>
                  <a:srgbClr val="1E293B"/>
                </a:solidFill>
              </a:rPr>
              <a:t>• Điểm mù của Shannon: </a:t>
            </a:r>
            <a:r>
              <a:rPr sz="1000">
                <a:solidFill>
                  <a:srgbClr val="475569"/>
                </a:solidFill>
              </a:rPr>
              <a:t>Mô hình Shannon bỏ qua hoàn toàn chi phí phân phối khóa, lưu trữ khóa và sự can thiệp trực tiếp vào hành vi của bên giữ bí mật.</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dựa trên Shannon (1948, Ref [3]) và Halpin (2025), Section 2–3, tr.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4 — HÌNH THỨC HÓA ĐỐI THỦ (TRANG 5–8)</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BA MÔ HÌNH ĐỐI THỦ HÌNH THỨC TRONG MẬT MÃ HIỆN ĐẠI</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Tiến trình toán học hóa kẻ thù: Độ phức tạp tính toán đa thức, Logic kênh truyền và Tiên tri ngẫu nhiên</a:t>
            </a:r>
          </a:p>
        </p:txBody>
      </p:sp>
      <p:sp>
        <p:nvSpPr>
          <p:cNvPr id="6" name="Rounded Rectangle 5"/>
          <p:cNvSpPr/>
          <p:nvPr/>
        </p:nvSpPr>
        <p:spPr>
          <a:xfrm>
            <a:off x="731520" y="1691640"/>
            <a:ext cx="3383280" cy="4389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1. Mô Hình PPT Adversary</a:t>
            </a:r>
          </a:p>
          <a:p>
            <a:pPr>
              <a:spcAft>
                <a:spcPts val="800"/>
              </a:spcAft>
              <a:defRPr sz="950" b="1">
                <a:solidFill>
                  <a:srgbClr val="64748B"/>
                </a:solidFill>
              </a:defRPr>
            </a:pPr>
            <a:r>
              <a:t>GOLDWASSER-MICALI (1984)</a:t>
            </a:r>
          </a:p>
          <a:p>
            <a:pPr>
              <a:spcBef>
                <a:spcPts val="600"/>
              </a:spcBef>
            </a:pPr>
            <a:r>
              <a:rPr b="1" sz="1100">
                <a:solidFill>
                  <a:srgbClr val="1E293B"/>
                </a:solidFill>
              </a:rPr>
              <a:t>• Khái niệm: </a:t>
            </a:r>
            <a:r>
              <a:rPr sz="1000">
                <a:solidFill>
                  <a:srgbClr val="475569"/>
                </a:solidFill>
              </a:rPr>
              <a:t>Đối thủ là thuật toán Turing xác suất chạy trong thời gian đa thức (Probabilistic Polynomial-Time).</a:t>
            </a:r>
          </a:p>
          <a:p>
            <a:pPr>
              <a:spcBef>
                <a:spcPts val="600"/>
              </a:spcBef>
            </a:pPr>
            <a:r>
              <a:rPr b="1" sz="1100">
                <a:solidFill>
                  <a:srgbClr val="1E293B"/>
                </a:solidFill>
              </a:rPr>
              <a:t>• Security Games: </a:t>
            </a:r>
            <a:r>
              <a:rPr sz="1000">
                <a:solidFill>
                  <a:srgbClr val="475569"/>
                </a:solidFill>
              </a:rPr>
              <a:t>Định nghĩa an toàn thông qua các trò chơi thách đấu (Challenger vs Adversary). Lợi thế Adv(A) phải là hàm không đáng kể (negligible).</a:t>
            </a:r>
          </a:p>
          <a:p>
            <a:pPr>
              <a:spcBef>
                <a:spcPts val="600"/>
              </a:spcBef>
            </a:pPr>
            <a:r>
              <a:rPr b="1" sz="1100">
                <a:solidFill>
                  <a:srgbClr val="1E293B"/>
                </a:solidFill>
              </a:rPr>
              <a:t>• Quy dẫn toán học: </a:t>
            </a:r>
            <a:r>
              <a:rPr sz="1000">
                <a:solidFill>
                  <a:srgbClr val="475569"/>
                </a:solidFill>
              </a:rPr>
              <a:t>Chứng minh an toàn bằng cách quy dẫn rằng việc phá vỡ hệ mật tương đương với giải các bài toán toán học khó (phân tích thừa số nguyên, logarit rời rạc).</a:t>
            </a:r>
          </a:p>
        </p:txBody>
      </p:sp>
      <p:sp>
        <p:nvSpPr>
          <p:cNvPr id="8" name="Rounded Rectangle 7"/>
          <p:cNvSpPr/>
          <p:nvPr/>
        </p:nvSpPr>
        <p:spPr>
          <a:xfrm>
            <a:off x="4389120" y="1691640"/>
            <a:ext cx="33832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0F172A"/>
                </a:solidFill>
              </a:defRPr>
            </a:pPr>
            <a:r>
              <a:t>2. Mô Hình Đối Thủ Mạng Logic</a:t>
            </a:r>
          </a:p>
          <a:p>
            <a:pPr>
              <a:spcAft>
                <a:spcPts val="800"/>
              </a:spcAft>
              <a:defRPr sz="950" b="1">
                <a:solidFill>
                  <a:srgbClr val="64748B"/>
                </a:solidFill>
              </a:defRPr>
            </a:pPr>
            <a:r>
              <a:t>DOLEV-YAO (1983)</a:t>
            </a:r>
          </a:p>
          <a:p>
            <a:pPr>
              <a:spcBef>
                <a:spcPts val="600"/>
              </a:spcBef>
            </a:pPr>
            <a:r>
              <a:rPr b="1" sz="1100">
                <a:solidFill>
                  <a:srgbClr val="1E293B"/>
                </a:solidFill>
              </a:rPr>
              <a:t>• Khái niệm: </a:t>
            </a:r>
            <a:r>
              <a:rPr sz="1000">
                <a:solidFill>
                  <a:srgbClr val="475569"/>
                </a:solidFill>
              </a:rPr>
              <a:t>Đối thủ là thực thể kiểm soát toàn bộ kênh truyền mạng: có quyền đọc, chặn, sửa đổi, xóa, tráo đổi và phát lại gói tin.</a:t>
            </a:r>
          </a:p>
          <a:p>
            <a:pPr>
              <a:spcBef>
                <a:spcPts val="600"/>
              </a:spcBef>
            </a:pPr>
            <a:r>
              <a:rPr b="1" sz="1100">
                <a:solidFill>
                  <a:srgbClr val="1E293B"/>
                </a:solidFill>
              </a:rPr>
              <a:t>• Hộp đen mật mã: </a:t>
            </a:r>
            <a:r>
              <a:rPr sz="1000">
                <a:solidFill>
                  <a:srgbClr val="475569"/>
                </a:solidFill>
              </a:rPr>
              <a:t>Mô hình Dolev-Yao xem các thuật toán mật mã như các hàm đại số hoàn hảo (Perfect Black-box). Kẻ thù không thể giải mã nếu không có khóa.</a:t>
            </a:r>
          </a:p>
          <a:p>
            <a:pPr>
              <a:spcBef>
                <a:spcPts val="600"/>
              </a:spcBef>
            </a:pPr>
            <a:r>
              <a:rPr b="1" sz="1100">
                <a:solidFill>
                  <a:srgbClr val="1E293B"/>
                </a:solidFill>
              </a:rPr>
              <a:t>• Ứng dụng: </a:t>
            </a:r>
            <a:r>
              <a:rPr sz="1000">
                <a:solidFill>
                  <a:srgbClr val="475569"/>
                </a:solidFill>
              </a:rPr>
              <a:t>Kiểm chứng hình thức các giao thức mạng phức tạp thông qua các công cụ logic tự động.</a:t>
            </a:r>
          </a:p>
        </p:txBody>
      </p:sp>
      <p:sp>
        <p:nvSpPr>
          <p:cNvPr id="10" name="Rounded Rectangle 9"/>
          <p:cNvSpPr/>
          <p:nvPr/>
        </p:nvSpPr>
        <p:spPr>
          <a:xfrm>
            <a:off x="8046720" y="1691640"/>
            <a:ext cx="3383280" cy="4389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D97706"/>
                </a:solidFill>
              </a:defRPr>
            </a:pPr>
            <a:r>
              <a:t>3. Mô Hình Tiên Tri Ngẫu Nhiên</a:t>
            </a:r>
          </a:p>
          <a:p>
            <a:pPr>
              <a:spcAft>
                <a:spcPts val="800"/>
              </a:spcAft>
              <a:defRPr sz="950" b="1">
                <a:solidFill>
                  <a:srgbClr val="64748B"/>
                </a:solidFill>
              </a:defRPr>
            </a:pPr>
            <a:r>
              <a:t>BELLARE-ROGAWAY (1993)</a:t>
            </a:r>
          </a:p>
          <a:p>
            <a:pPr>
              <a:spcBef>
                <a:spcPts val="600"/>
              </a:spcBef>
            </a:pPr>
            <a:r>
              <a:rPr b="1" sz="1100">
                <a:solidFill>
                  <a:srgbClr val="1E293B"/>
                </a:solidFill>
              </a:rPr>
              <a:t>• Khái niệm: </a:t>
            </a:r>
            <a:r>
              <a:rPr sz="1000">
                <a:solidFill>
                  <a:srgbClr val="475569"/>
                </a:solidFill>
              </a:rPr>
              <a:t>Giả định hàm băm thực tế hoạt động như một hàm ngẫu nhiên lý tưởng (Random Oracle Model - ROM) trả về chuỗi ngẫu nhiên đồng đều.</a:t>
            </a:r>
          </a:p>
          <a:p>
            <a:pPr>
              <a:spcBef>
                <a:spcPts val="600"/>
              </a:spcBef>
            </a:pPr>
            <a:r>
              <a:rPr b="1" sz="1100">
                <a:solidFill>
                  <a:srgbClr val="1E293B"/>
                </a:solidFill>
              </a:rPr>
              <a:t>• Vai trò thực tế: </a:t>
            </a:r>
            <a:r>
              <a:rPr sz="1000">
                <a:solidFill>
                  <a:srgbClr val="475569"/>
                </a:solidFill>
              </a:rPr>
              <a:t>Cho phép xây dựng các hệ mật khóa công khai và chữ ký số hiệu năng cao có chứng minh an toàn.</a:t>
            </a:r>
          </a:p>
          <a:p>
            <a:pPr>
              <a:spcBef>
                <a:spcPts val="600"/>
              </a:spcBef>
            </a:pPr>
            <a:r>
              <a:rPr b="1" sz="1100">
                <a:solidFill>
                  <a:srgbClr val="1E293B"/>
                </a:solidFill>
              </a:rPr>
              <a:t>• Giới hạn triết học: </a:t>
            </a:r>
            <a:r>
              <a:rPr sz="1000">
                <a:solidFill>
                  <a:srgbClr val="475569"/>
                </a:solidFill>
              </a:rPr>
              <a:t>Trong thế giới thực, không có hàm băm cụ thể nào (kể cả SHA-256) có thể tương đương toán học với một Random Oracle thực sự.</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Goldwasser-Micali (1984, Ref [34]); Dolev-Yao (1983, Ref [52]); Bellare-Rogaway (1993, Ref [40]); Halpin (2025), tr. 5–8.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5 — GIỚI HẠN TRỪU TƯỢNG HÓA (TRANG 8–10)</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GIỚI HẠN CỦA SỰ HÌNH THỨC HÓA TRONG MẬT MÃ HỌC</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Khoảng cách giữa các giả định toán học lý tưởng và thế giới vật lý thực tế</a:t>
            </a:r>
          </a:p>
        </p:txBody>
      </p:sp>
      <p:sp>
        <p:nvSpPr>
          <p:cNvPr id="6" name="Rounded Rectangle 5"/>
          <p:cNvSpPr/>
          <p:nvPr/>
        </p:nvSpPr>
        <p:spPr>
          <a:xfrm>
            <a:off x="731520" y="1691640"/>
            <a:ext cx="10728655" cy="960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10362895" cy="822960"/>
          </a:xfrm>
          <a:prstGeom prst="rect">
            <a:avLst/>
          </a:prstGeom>
          <a:noFill/>
        </p:spPr>
        <p:txBody>
          <a:bodyPr wrap="square">
            <a:spAutoFit/>
          </a:bodyPr>
          <a:lstStyle/>
          <a:p>
            <a:pPr>
              <a:defRPr sz="1200" b="1">
                <a:solidFill>
                  <a:srgbClr val="1E40AF"/>
                </a:solidFill>
              </a:defRPr>
            </a:pPr>
            <a:r>
              <a:t>BƯỚC 1: GIẢ ĐỊNH TOÁN HỌC HÌNH THỨC</a:t>
            </a:r>
          </a:p>
          <a:p>
            <a:pPr>
              <a:spcBef>
                <a:spcPts val="300"/>
              </a:spcBef>
              <a:defRPr sz="1050">
                <a:solidFill>
                  <a:srgbClr val="1E293B"/>
                </a:solidFill>
              </a:defRPr>
            </a:pPr>
            <a:r>
              <a:t>Hộp đen mật mã lý tưởng, thời gian thực thi là vô hình, độ dài bản mã công khai không rò rỉ nội dung, kênh truyền điểm-điểm độc lập.</a:t>
            </a:r>
          </a:p>
        </p:txBody>
      </p:sp>
      <p:sp>
        <p:nvSpPr>
          <p:cNvPr id="8" name="Rounded Rectangle 7"/>
          <p:cNvSpPr/>
          <p:nvPr/>
        </p:nvSpPr>
        <p:spPr>
          <a:xfrm>
            <a:off x="731520" y="2770632"/>
            <a:ext cx="10728655" cy="960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43784"/>
            <a:ext cx="10362895" cy="822960"/>
          </a:xfrm>
          <a:prstGeom prst="rect">
            <a:avLst/>
          </a:prstGeom>
          <a:noFill/>
        </p:spPr>
        <p:txBody>
          <a:bodyPr wrap="square">
            <a:spAutoFit/>
          </a:bodyPr>
          <a:lstStyle/>
          <a:p>
            <a:pPr>
              <a:defRPr sz="1200" b="1">
                <a:solidFill>
                  <a:srgbClr val="D97706"/>
                </a:solidFill>
              </a:defRPr>
            </a:pPr>
            <a:r>
              <a:t>BƯỚC 2: CÁC YẾU TỐ VẬT LÝ BỊ TRỪU TƯỢNG HÓA LƯỢC BỎ</a:t>
            </a:r>
          </a:p>
          <a:p>
            <a:pPr>
              <a:spcBef>
                <a:spcPts val="300"/>
              </a:spcBef>
              <a:defRPr sz="1050">
                <a:solidFill>
                  <a:srgbClr val="1E293B"/>
                </a:solidFill>
              </a:defRPr>
            </a:pPr>
            <a:r>
              <a:t>Thời gian vi xử lý CPU, dao động điện năng tiêu thụ, phát xạ điện từ, kiến trúc bộ nhớ đệm (Cache), lỗi lập trình phần mềm.</a:t>
            </a:r>
          </a:p>
        </p:txBody>
      </p:sp>
      <p:sp>
        <p:nvSpPr>
          <p:cNvPr id="10" name="Rounded Rectangle 9"/>
          <p:cNvSpPr/>
          <p:nvPr/>
        </p:nvSpPr>
        <p:spPr>
          <a:xfrm>
            <a:off x="731520" y="3849624"/>
            <a:ext cx="10728655" cy="9601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22776"/>
            <a:ext cx="10362895" cy="822960"/>
          </a:xfrm>
          <a:prstGeom prst="rect">
            <a:avLst/>
          </a:prstGeom>
          <a:noFill/>
        </p:spPr>
        <p:txBody>
          <a:bodyPr wrap="square">
            <a:spAutoFit/>
          </a:bodyPr>
          <a:lstStyle/>
          <a:p>
            <a:pPr>
              <a:defRPr sz="1200" b="1">
                <a:solidFill>
                  <a:srgbClr val="DC2626"/>
                </a:solidFill>
              </a:defRPr>
            </a:pPr>
            <a:r>
              <a:t>BƯỚC 3: CON ĐƯỜNG KHAI THÁC CỦA ĐỐI THỦ THẾ GIỚI THỰC</a:t>
            </a:r>
          </a:p>
          <a:p>
            <a:pPr>
              <a:spcBef>
                <a:spcPts val="300"/>
              </a:spcBef>
              <a:defRPr sz="1050">
                <a:solidFill>
                  <a:srgbClr val="1E293B"/>
                </a:solidFill>
              </a:defRPr>
            </a:pPr>
            <a:r>
              <a:t>Tấn công kênh kề (Timing Attack - Kocher 1996), phân tích lưu lượng siêu dữ liệu, tấn công tiền ảnh cấp hai cấu trúc (Node-Leaf Confusion).</a:t>
            </a:r>
          </a:p>
        </p:txBody>
      </p:sp>
      <p:sp>
        <p:nvSpPr>
          <p:cNvPr id="12" name="Rounded Rectangle 11"/>
          <p:cNvSpPr/>
          <p:nvPr/>
        </p:nvSpPr>
        <p:spPr>
          <a:xfrm>
            <a:off x="731520" y="4928616"/>
            <a:ext cx="10728655" cy="960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01768"/>
            <a:ext cx="10362895" cy="822960"/>
          </a:xfrm>
          <a:prstGeom prst="rect">
            <a:avLst/>
          </a:prstGeom>
          <a:noFill/>
        </p:spPr>
        <p:txBody>
          <a:bodyPr wrap="square">
            <a:spAutoFit/>
          </a:bodyPr>
          <a:lstStyle/>
          <a:p>
            <a:pPr>
              <a:defRPr sz="1200" b="1">
                <a:solidFill>
                  <a:srgbClr val="059669"/>
                </a:solidFill>
              </a:defRPr>
            </a:pPr>
            <a:r>
              <a:t>BƯỚC 4: KẾT LUẬN NHẬN THỨC LUẬN CỦA HARRY HALPIN</a:t>
            </a:r>
          </a:p>
          <a:p>
            <a:pPr>
              <a:spcBef>
                <a:spcPts val="300"/>
              </a:spcBef>
              <a:defRPr sz="1050">
                <a:solidFill>
                  <a:srgbClr val="1E293B"/>
                </a:solidFill>
              </a:defRPr>
            </a:pPr>
            <a:r>
              <a:t>Cái giá của sự trừu tượng hóa là làm cho mật mã học mù quáng trước chính những năng lực thực tế của đối thủ nằm ngoài mô hình lý thuyết.</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dựa trên Kocher (1996, Ref [36]) và Halpin (2025), Section 5, tr.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6 — TIẾT LỘ CỦA SNOWDEN (TRANG 10–12)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SNOWDEN VÀ ĐỐI THỦ THỂ CHẾ (THE REAL ADVERSARY)</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Khủng hoảng mô hình an ninh trước đối thủ giám sát hàng loạt quy mô quốc gia</a:t>
            </a:r>
          </a:p>
        </p:txBody>
      </p:sp>
      <p:sp>
        <p:nvSpPr>
          <p:cNvPr id="6" name="Rounded Rectangle 5"/>
          <p:cNvSpPr/>
          <p:nvPr/>
        </p:nvSpPr>
        <p:spPr>
          <a:xfrm>
            <a:off x="731520" y="1691640"/>
            <a:ext cx="3383280" cy="4389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1. Khủng Hoảng Thực Tiễn</a:t>
            </a:r>
          </a:p>
          <a:p>
            <a:pPr>
              <a:spcAft>
                <a:spcPts val="800"/>
              </a:spcAft>
              <a:defRPr sz="950" b="1">
                <a:solidFill>
                  <a:srgbClr val="64748B"/>
                </a:solidFill>
              </a:defRPr>
            </a:pPr>
            <a:r>
              <a:t>TIẾT LỘ SNOWDEN (2013)</a:t>
            </a:r>
          </a:p>
          <a:p>
            <a:pPr>
              <a:spcBef>
                <a:spcPts val="600"/>
              </a:spcBef>
            </a:pPr>
            <a:r>
              <a:rPr b="1" sz="1100">
                <a:solidFill>
                  <a:srgbClr val="1E293B"/>
                </a:solidFill>
              </a:rPr>
              <a:t>• Sự kiện bước ngoặt: </a:t>
            </a:r>
            <a:r>
              <a:rPr sz="1000">
                <a:solidFill>
                  <a:srgbClr val="475569"/>
                </a:solidFill>
              </a:rPr>
              <a:t>Các tài liệu Edward Snowden tiết lộ về NSA đã lột bỏ tấm mặt nạ, kéo mật mã học vào một cuộc khủng hoảng thực tiễn sâu sắc.</a:t>
            </a:r>
          </a:p>
          <a:p>
            <a:pPr>
              <a:spcBef>
                <a:spcPts val="600"/>
              </a:spcBef>
            </a:pPr>
            <a:r>
              <a:rPr b="1" sz="1100">
                <a:solidFill>
                  <a:srgbClr val="1E293B"/>
                </a:solidFill>
              </a:rPr>
              <a:t>• Không phá toán học: </a:t>
            </a:r>
            <a:r>
              <a:rPr sz="1000">
                <a:solidFill>
                  <a:srgbClr val="475569"/>
                </a:solidFill>
              </a:rPr>
              <a:t>NSA không cần giải các bài toán toán học khó của RSA hay AES mà tấn công trực tiếp vào toàn bộ hệ sinh thái xung quanh.</a:t>
            </a:r>
          </a:p>
          <a:p>
            <a:pPr>
              <a:spcBef>
                <a:spcPts val="600"/>
              </a:spcBef>
            </a:pPr>
            <a:r>
              <a:rPr b="1" sz="1100">
                <a:solidFill>
                  <a:srgbClr val="1E293B"/>
                </a:solidFill>
              </a:rPr>
              <a:t>• Mô hình thực tế: </a:t>
            </a:r>
            <a:r>
              <a:rPr sz="1000">
                <a:solidFill>
                  <a:srgbClr val="475569"/>
                </a:solidFill>
              </a:rPr>
              <a:t>Đối thủ bị động toàn cầu (Global Passive Adversary) và tấn công chủ động vào kênh truyền là mối đe dọa hoàn toàn có thật.</a:t>
            </a:r>
          </a:p>
        </p:txBody>
      </p:sp>
      <p:sp>
        <p:nvSpPr>
          <p:cNvPr id="8" name="Rounded Rectangle 7"/>
          <p:cNvSpPr/>
          <p:nvPr/>
        </p:nvSpPr>
        <p:spPr>
          <a:xfrm>
            <a:off x="4389120" y="1691640"/>
            <a:ext cx="3383280" cy="4389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D97706"/>
                </a:solidFill>
              </a:defRPr>
            </a:pPr>
            <a:r>
              <a:t>2. Năng Lực Đối Thủ Thể Chế</a:t>
            </a:r>
          </a:p>
          <a:p>
            <a:pPr>
              <a:spcAft>
                <a:spcPts val="800"/>
              </a:spcAft>
              <a:defRPr sz="950" b="1">
                <a:solidFill>
                  <a:srgbClr val="64748B"/>
                </a:solidFill>
              </a:defRPr>
            </a:pPr>
            <a:r>
              <a:t>VƯỢT NGOÀI HÌNH THỨC</a:t>
            </a:r>
          </a:p>
          <a:p>
            <a:pPr>
              <a:spcBef>
                <a:spcPts val="600"/>
              </a:spcBef>
            </a:pPr>
            <a:r>
              <a:rPr b="1" sz="1100">
                <a:solidFill>
                  <a:srgbClr val="1E293B"/>
                </a:solidFill>
              </a:rPr>
              <a:t>• Giám sát Siêu dữ liệu: </a:t>
            </a:r>
            <a:r>
              <a:rPr sz="1000">
                <a:solidFill>
                  <a:srgbClr val="475569"/>
                </a:solidFill>
              </a:rPr>
              <a:t>NSA tập trung khai thác Metadata (ai liên lạc với ai, thời gian, kích thước) để dựng lại mạng xã hội mà không cần bẻ khóa bản mã.</a:t>
            </a:r>
          </a:p>
          <a:p>
            <a:pPr>
              <a:spcBef>
                <a:spcPts val="600"/>
              </a:spcBef>
            </a:pPr>
            <a:r>
              <a:rPr b="1" sz="1100">
                <a:solidFill>
                  <a:srgbClr val="1E293B"/>
                </a:solidFill>
              </a:rPr>
              <a:t>• Tấn công Chuỗi cung ứng: </a:t>
            </a:r>
            <a:r>
              <a:rPr sz="1000">
                <a:solidFill>
                  <a:srgbClr val="475569"/>
                </a:solidFill>
              </a:rPr>
              <a:t>Chèn cửa sau vào phần cứng, làm suy yếu chuẩn mật mã quốc tế (tiêu chuẩn NIST Dual_EC_DRBG bị cài cửa sau ngầm).</a:t>
            </a:r>
          </a:p>
          <a:p>
            <a:pPr>
              <a:spcBef>
                <a:spcPts val="600"/>
              </a:spcBef>
            </a:pPr>
            <a:r>
              <a:rPr b="1" sz="1100">
                <a:solidFill>
                  <a:srgbClr val="1E293B"/>
                </a:solidFill>
              </a:rPr>
              <a:t>• Áp lực Thể chế: </a:t>
            </a:r>
            <a:r>
              <a:rPr sz="1000">
                <a:solidFill>
                  <a:srgbClr val="475569"/>
                </a:solidFill>
              </a:rPr>
              <a:t>Cưỡng chế pháp lý các tập đoàn công nghệ lớn bàn giao khóa bí mật và quyền truy cập dữ liệu máy chủ.</a:t>
            </a:r>
          </a:p>
        </p:txBody>
      </p:sp>
      <p:sp>
        <p:nvSpPr>
          <p:cNvPr id="10" name="Rounded Rectangle 9"/>
          <p:cNvSpPr/>
          <p:nvPr/>
        </p:nvSpPr>
        <p:spPr>
          <a:xfrm>
            <a:off x="8046720" y="1691640"/>
            <a:ext cx="3383280" cy="4389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059669"/>
                </a:solidFill>
              </a:defRPr>
            </a:pPr>
            <a:r>
              <a:t>3. Tính Tương Đối Của Kẻ Thù</a:t>
            </a:r>
          </a:p>
          <a:p>
            <a:pPr>
              <a:spcAft>
                <a:spcPts val="800"/>
              </a:spcAft>
              <a:defRPr sz="950" b="1">
                <a:solidFill>
                  <a:srgbClr val="64748B"/>
                </a:solidFill>
              </a:defRPr>
            </a:pPr>
            <a:r>
              <a:t>BẢN CHẤT NHẬN THỨC LUẬN</a:t>
            </a:r>
          </a:p>
          <a:p>
            <a:pPr>
              <a:spcBef>
                <a:spcPts val="600"/>
              </a:spcBef>
            </a:pPr>
            <a:r>
              <a:rPr b="1" sz="1100">
                <a:solidFill>
                  <a:srgbClr val="1E293B"/>
                </a:solidFill>
              </a:rPr>
              <a:t>• Khái niệm tương đối: </a:t>
            </a:r>
            <a:r>
              <a:rPr sz="1000">
                <a:solidFill>
                  <a:srgbClr val="475569"/>
                </a:solidFill>
              </a:rPr>
              <a:t>Khái niệm 'Kẻ thù' mang tính vị thế: Đối với người dân, NSA là đối thủ giám sát; nhưng đối với NSA, Snowden lại là đối thủ (insider) làm rò rỉ bí mật.</a:t>
            </a:r>
          </a:p>
          <a:p>
            <a:pPr>
              <a:spcBef>
                <a:spcPts val="600"/>
              </a:spcBef>
            </a:pPr>
            <a:r>
              <a:rPr b="1" sz="1100">
                <a:solidFill>
                  <a:srgbClr val="1E293B"/>
                </a:solidFill>
              </a:rPr>
              <a:t>• Dân chủ hóa mật mã: </a:t>
            </a:r>
            <a:r>
              <a:rPr sz="1000">
                <a:solidFill>
                  <a:srgbClr val="475569"/>
                </a:solidFill>
              </a:rPr>
              <a:t>Mật mã khóa công khai từng giúp cá nhân tự vệ, nhưng công cụ gián điệp của NSA nay đã lan rộng sang tội phạm mạng và các nhóm phi nhà nước.</a:t>
            </a:r>
          </a:p>
          <a:p>
            <a:pPr>
              <a:spcBef>
                <a:spcPts val="600"/>
              </a:spcBef>
            </a:pPr>
            <a:r>
              <a:rPr b="1" sz="1100">
                <a:solidFill>
                  <a:srgbClr val="1E293B"/>
                </a:solidFill>
              </a:rPr>
              <a:t>• Hệ quả khoa học: </a:t>
            </a:r>
            <a:r>
              <a:rPr sz="1000">
                <a:solidFill>
                  <a:srgbClr val="475569"/>
                </a:solidFill>
              </a:rPr>
              <a:t>Mật mã học buộc phải từ bỏ giả định kênh truyền sạch để nghiên cứu phòng chống cửa sau (Cliptography).</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khoa học: Harry Halpin (2025), Section 6: Snowden and the real adversary, tr. 10–12.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7 — KẾT LUẬN &amp; CHƯƠNG TRÌNH NGHIÊN CỨU (TRANG 12–14)</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CHƯƠNG TRÌNH NGHIÊN CỨU TƯƠNG LAI: BỐN CÂU HỎI MỞ</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Đề xuất hòa giải giữa trừu tượng hóa toán học và dữ liệu thực nghiệm thế giới thực</a:t>
            </a:r>
          </a:p>
        </p:txBody>
      </p:sp>
      <p:sp>
        <p:nvSpPr>
          <p:cNvPr id="6" name="Rounded Rectangle 5"/>
          <p:cNvSpPr/>
          <p:nvPr/>
        </p:nvSpPr>
        <p:spPr>
          <a:xfrm>
            <a:off x="731520" y="1691640"/>
            <a:ext cx="10728655" cy="960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10362895" cy="841248"/>
          </a:xfrm>
          <a:prstGeom prst="rect">
            <a:avLst/>
          </a:prstGeom>
          <a:noFill/>
        </p:spPr>
        <p:txBody>
          <a:bodyPr wrap="square">
            <a:spAutoFit/>
          </a:bodyPr>
          <a:lstStyle/>
          <a:p>
            <a:pPr>
              <a:defRPr sz="1150" b="1">
                <a:solidFill>
                  <a:srgbClr val="1E40AF"/>
                </a:solidFill>
              </a:defRPr>
            </a:pPr>
            <a:r>
              <a:t>Câu hỏi 1: Mạng Xã Hội Động của Truyền Thông Bí Mật</a:t>
            </a:r>
          </a:p>
          <a:p>
            <a:pPr>
              <a:defRPr sz="950" i="1">
                <a:solidFill>
                  <a:srgbClr val="64748B"/>
                </a:solidFill>
              </a:defRPr>
            </a:pPr>
            <a:r>
              <a:t>"Can we study dynamic social networks of secret communication modeled on the empirical behavior of secret keepers?"</a:t>
            </a:r>
          </a:p>
          <a:p>
            <a:pPr>
              <a:spcBef>
                <a:spcPts val="200"/>
              </a:spcBef>
              <a:defRPr sz="1000">
                <a:solidFill>
                  <a:srgbClr val="1E293B"/>
                </a:solidFill>
              </a:defRPr>
            </a:pPr>
            <a:r>
              <a:t>Nghiên cứu tổ chức thông tin dưới dạng mạng xã hội động giữa những người giữ bí mật. Kiểm tra xem các bất biến chính sách bảo vệ bí mật có được duy trì qua các biến động cấu trúc mạng và các sự cố Byzantine hay không.</a:t>
            </a:r>
          </a:p>
        </p:txBody>
      </p:sp>
      <p:sp>
        <p:nvSpPr>
          <p:cNvPr id="8" name="Rounded Rectangle 7"/>
          <p:cNvSpPr/>
          <p:nvPr/>
        </p:nvSpPr>
        <p:spPr>
          <a:xfrm>
            <a:off x="731520" y="2770632"/>
            <a:ext cx="10728655" cy="960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25496"/>
            <a:ext cx="10362895" cy="841248"/>
          </a:xfrm>
          <a:prstGeom prst="rect">
            <a:avLst/>
          </a:prstGeom>
          <a:noFill/>
        </p:spPr>
        <p:txBody>
          <a:bodyPr wrap="square">
            <a:spAutoFit/>
          </a:bodyPr>
          <a:lstStyle/>
          <a:p>
            <a:pPr>
              <a:defRPr sz="1150" b="1">
                <a:solidFill>
                  <a:srgbClr val="1E40AF"/>
                </a:solidFill>
              </a:defRPr>
            </a:pPr>
            <a:r>
              <a:t>Câu hỏi 2: Mô Hình Hóa Năng Lực và Liên Minh Đối Thủ Bằng Thống Kê</a:t>
            </a:r>
          </a:p>
          <a:p>
            <a:pPr>
              <a:defRPr sz="950" i="1">
                <a:solidFill>
                  <a:srgbClr val="64748B"/>
                </a:solidFill>
              </a:defRPr>
            </a:pPr>
            <a:r>
              <a:t>"By incorporating statistics, can new models of the adversary take into account more accurate data about their capabilities?"</a:t>
            </a:r>
          </a:p>
          <a:p>
            <a:pPr>
              <a:spcBef>
                <a:spcPts val="200"/>
              </a:spcBef>
              <a:defRPr sz="1000">
                <a:solidFill>
                  <a:srgbClr val="1E293B"/>
                </a:solidFill>
              </a:defRPr>
            </a:pPr>
            <a:r>
              <a:t>Sử dụng thống kê thực nghiệm và mô phỏng Monte Carlo để mô hình hóa chính xác hơn năng lực đối thủ; phân tích kinh tế chính trị của các liên minh giám sát (liên minh Five Eyes, Anonymous, quan hệ nhà nước - cá nhân).</a:t>
            </a:r>
          </a:p>
        </p:txBody>
      </p:sp>
      <p:sp>
        <p:nvSpPr>
          <p:cNvPr id="10" name="Rounded Rectangle 9"/>
          <p:cNvSpPr/>
          <p:nvPr/>
        </p:nvSpPr>
        <p:spPr>
          <a:xfrm>
            <a:off x="731520" y="3849624"/>
            <a:ext cx="10728655" cy="960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04488"/>
            <a:ext cx="10362895" cy="841248"/>
          </a:xfrm>
          <a:prstGeom prst="rect">
            <a:avLst/>
          </a:prstGeom>
          <a:noFill/>
        </p:spPr>
        <p:txBody>
          <a:bodyPr wrap="square">
            <a:spAutoFit/>
          </a:bodyPr>
          <a:lstStyle/>
          <a:p>
            <a:pPr>
              <a:defRPr sz="1150" b="1">
                <a:solidFill>
                  <a:srgbClr val="1E40AF"/>
                </a:solidFill>
              </a:defRPr>
            </a:pPr>
            <a:r>
              <a:t>Câu hỏi 3: Ứng Dụng Phương Pháp Liên Ngành &amp; Hệ Thống Phức Hợp</a:t>
            </a:r>
          </a:p>
          <a:p>
            <a:pPr>
              <a:defRPr sz="950" i="1">
                <a:solidFill>
                  <a:srgbClr val="64748B"/>
                </a:solidFill>
              </a:defRPr>
            </a:pPr>
            <a:r>
              <a:t>"Can cryptography incorporate interdisciplinary methods and insights that can capture the complexity of secure communication?"</a:t>
            </a:r>
          </a:p>
          <a:p>
            <a:pPr>
              <a:spcBef>
                <a:spcPts val="200"/>
              </a:spcBef>
              <a:defRPr sz="1000">
                <a:solidFill>
                  <a:srgbClr val="1E293B"/>
                </a:solidFill>
              </a:defRPr>
            </a:pPr>
            <a:r>
              <a:t>Áp dụng các công cụ từ lý thuyết hệ thống phức hợp, động lực học mạng và dịch tễ học để mô hình hóa sự lan truyền thông tin, nhận diện các điểm chuyển pha (phase shifts) khi bị tấn công.</a:t>
            </a:r>
          </a:p>
        </p:txBody>
      </p:sp>
      <p:sp>
        <p:nvSpPr>
          <p:cNvPr id="12" name="Rounded Rectangle 11"/>
          <p:cNvSpPr/>
          <p:nvPr/>
        </p:nvSpPr>
        <p:spPr>
          <a:xfrm>
            <a:off x="731520" y="4928616"/>
            <a:ext cx="10728655" cy="960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83480"/>
            <a:ext cx="10362895" cy="841248"/>
          </a:xfrm>
          <a:prstGeom prst="rect">
            <a:avLst/>
          </a:prstGeom>
          <a:noFill/>
        </p:spPr>
        <p:txBody>
          <a:bodyPr wrap="square">
            <a:spAutoFit/>
          </a:bodyPr>
          <a:lstStyle/>
          <a:p>
            <a:pPr>
              <a:defRPr sz="1150" b="1">
                <a:solidFill>
                  <a:srgbClr val="1E40AF"/>
                </a:solidFill>
              </a:defRPr>
            </a:pPr>
            <a:r>
              <a:t>Câu hỏi 4: Triết Học Giúp Tái Cấu Trúc Các Giả Định Ngầm Định</a:t>
            </a:r>
          </a:p>
          <a:p>
            <a:pPr>
              <a:defRPr sz="950" i="1">
                <a:solidFill>
                  <a:srgbClr val="64748B"/>
                </a:solidFill>
              </a:defRPr>
            </a:pPr>
            <a:r>
              <a:t>"Will philosophy let us make explicit and then reformulate the hidden assumptions of cryptographic communication, and vice versa?"</a:t>
            </a:r>
          </a:p>
          <a:p>
            <a:pPr>
              <a:spcBef>
                <a:spcPts val="200"/>
              </a:spcBef>
              <a:defRPr sz="1000">
                <a:solidFill>
                  <a:srgbClr val="1E293B"/>
                </a:solidFill>
              </a:defRPr>
            </a:pPr>
            <a:r>
              <a:t>Vận dụng triết học để chất vấn các giả định nền tảng của Shannon; xem xét ranh giới động giữa con người và môi trường kỹ thuật số theo Giả thuyết Tâm trí Mở rộng (Extended Mind Hypothesis).</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nguyên văn 4 câu hỏi nghiên cứu mở: Harry Halpin (2025), Section 7, tr. 12–14.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ĐÁNH GIÁ PHƯƠNG PHÁP LUẬN &amp; HƯỚNG TIẾP CẬN THỰC NGHIỆM</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PHƯƠNG PHÁP LUẬN &amp; KHẢ NĂNG TÁI LẬP BÀI BÁO</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Làm rõ tính khả thi tái lập đối với một công trình triết học và định hướng thí nghiệm độc lập</a:t>
            </a:r>
          </a:p>
        </p:txBody>
      </p:sp>
      <p:sp>
        <p:nvSpPr>
          <p:cNvPr id="6" name="Rounded Rectangle 5"/>
          <p:cNvSpPr/>
          <p:nvPr/>
        </p:nvSpPr>
        <p:spPr>
          <a:xfrm>
            <a:off x="731520" y="1691640"/>
            <a:ext cx="5212080" cy="438912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300" b="1">
                <a:solidFill>
                  <a:srgbClr val="D97706"/>
                </a:solidFill>
              </a:defRPr>
            </a:pPr>
            <a:r>
              <a:t>1. Đánh Giá Khả Năng Tái Lập (Replication Feasibility)</a:t>
            </a:r>
          </a:p>
          <a:p>
            <a:pPr>
              <a:spcBef>
                <a:spcPts val="800"/>
              </a:spcBef>
            </a:pPr>
            <a:r>
              <a:rPr b="1" sz="1100">
                <a:solidFill>
                  <a:srgbClr val="1E293B"/>
                </a:solidFill>
              </a:rPr>
              <a:t>• Bản chất công trình: </a:t>
            </a:r>
            <a:r>
              <a:rPr sz="1050">
                <a:solidFill>
                  <a:srgbClr val="475569"/>
                </a:solidFill>
              </a:rPr>
              <a:t>Bài báo của TS. Harry Halpin là một luận văn tổng quan triết học và phân tích nhận thức luận, không phải là một công trình kỹ thuật phần mềm.</a:t>
            </a:r>
          </a:p>
          <a:p>
            <a:pPr>
              <a:spcBef>
                <a:spcPts val="800"/>
              </a:spcBef>
            </a:pPr>
            <a:r>
              <a:rPr b="1" sz="1100">
                <a:solidFill>
                  <a:srgbClr val="1E293B"/>
                </a:solidFill>
              </a:rPr>
              <a:t>• Không có tài nguyên phần mềm: </a:t>
            </a:r>
            <a:r>
              <a:rPr sz="1050">
                <a:solidFill>
                  <a:srgbClr val="475569"/>
                </a:solidFill>
              </a:rPr>
              <a:t>Bài báo HOÀN TOÀN KHÔNG có mã nguồn triển khai, không có tập dữ liệu thực nghiệm, không có các bảng đo thời gian (ms) hay dung lượng benchmark.</a:t>
            </a:r>
          </a:p>
          <a:p>
            <a:pPr>
              <a:spcBef>
                <a:spcPts val="800"/>
              </a:spcBef>
            </a:pPr>
            <a:r>
              <a:rPr b="1" sz="1100">
                <a:solidFill>
                  <a:srgbClr val="1E293B"/>
                </a:solidFill>
              </a:rPr>
              <a:t>• Phương pháp thẩm định: </a:t>
            </a:r>
            <a:r>
              <a:rPr sz="1050">
                <a:solidFill>
                  <a:srgbClr val="475569"/>
                </a:solidFill>
              </a:rPr>
              <a:t>Nhóm sinh viên thực hiện thẩm định học thuật (Scholarly Audit) đối chiếu toàn bộ 17 trang bản in PDF, 7 mục nội dung và 134 tài liệu tham khảo.</a:t>
            </a:r>
          </a:p>
          <a:p>
            <a:pPr>
              <a:spcBef>
                <a:spcPts val="800"/>
              </a:spcBef>
            </a:pPr>
            <a:r>
              <a:rPr b="1" sz="1100">
                <a:solidFill>
                  <a:srgbClr val="1E293B"/>
                </a:solidFill>
              </a:rPr>
              <a:t>• Tính trung thực học thuật: </a:t>
            </a:r>
            <a:r>
              <a:rPr sz="1050">
                <a:solidFill>
                  <a:srgbClr val="475569"/>
                </a:solidFill>
              </a:rPr>
              <a:t>Không bịa đặt số liệu gốc của tác giả; không tuyên bố 'tái lập 100% benchmark bài báo' khi tác giả không công bố benchmark.</a:t>
            </a:r>
          </a:p>
        </p:txBody>
      </p:sp>
      <p:sp>
        <p:nvSpPr>
          <p:cNvPr id="8" name="Rounded Rectangle 7"/>
          <p:cNvSpPr/>
          <p:nvPr/>
        </p:nvSpPr>
        <p:spPr>
          <a:xfrm>
            <a:off x="6217920" y="1691640"/>
            <a:ext cx="5212080" cy="4389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300" b="1">
                <a:solidFill>
                  <a:srgbClr val="059669"/>
                </a:solidFill>
              </a:defRPr>
            </a:pPr>
            <a:r>
              <a:t>2. Định Hướng Thí Nghiệm Minh Họa Độc Lập</a:t>
            </a:r>
          </a:p>
          <a:p>
            <a:pPr>
              <a:spcBef>
                <a:spcPts val="800"/>
              </a:spcBef>
            </a:pPr>
            <a:r>
              <a:rPr b="1" sz="1100">
                <a:solidFill>
                  <a:srgbClr val="1E293B"/>
                </a:solidFill>
              </a:rPr>
              <a:t>• Mục tiêu thực nghiệm: </a:t>
            </a:r>
            <a:r>
              <a:rPr sz="1050">
                <a:solidFill>
                  <a:srgbClr val="475569"/>
                </a:solidFill>
              </a:rPr>
              <a:t>Sinh viên tự xây dựng hệ thống kiểm tra toàn vẹn tệp nhằm chuyển hóa các luận điểm lý thuyết trừu tượng của Halpin thành các kịch bản quan sát được.</a:t>
            </a:r>
          </a:p>
          <a:p>
            <a:pPr>
              <a:spcBef>
                <a:spcPts val="800"/>
              </a:spcBef>
            </a:pPr>
            <a:r>
              <a:rPr b="1" sz="1100">
                <a:solidFill>
                  <a:srgbClr val="1E293B"/>
                </a:solidFill>
              </a:rPr>
              <a:t>• Minh họa trực quan: </a:t>
            </a:r>
            <a:r>
              <a:rPr sz="1050">
                <a:solidFill>
                  <a:srgbClr val="475569"/>
                </a:solidFill>
              </a:rPr>
              <a:t>Thiết kế các thí nghiệm minh họa: sự bất lực của mã tuyến tính CRC32 trước kẻ thù toán học; can thiệp đường truyền Dolev-Yao; rò rỉ siêu dữ liệu kênh truyền.</a:t>
            </a:r>
          </a:p>
          <a:p>
            <a:pPr>
              <a:spcBef>
                <a:spcPts val="800"/>
              </a:spcBef>
            </a:pPr>
            <a:r>
              <a:rPr b="1" sz="1100">
                <a:solidFill>
                  <a:srgbClr val="1E293B"/>
                </a:solidFill>
              </a:rPr>
              <a:t>• Phân định ranh giới rõ ràng: </a:t>
            </a:r>
            <a:r>
              <a:rPr sz="1050">
                <a:solidFill>
                  <a:srgbClr val="475569"/>
                </a:solidFill>
              </a:rPr>
              <a:t>Mã nguồn và hệ thống kiểm tra toàn vẹn là đóng góp kỹ thuật độc lập của sinh viên; không được nhầm lẫn là thuật toán do Halpin đề xuất.</a:t>
            </a:r>
          </a:p>
          <a:p>
            <a:pPr>
              <a:spcBef>
                <a:spcPts val="800"/>
              </a:spcBef>
            </a:pPr>
            <a:r>
              <a:rPr b="1" sz="1100">
                <a:solidFill>
                  <a:srgbClr val="1E293B"/>
                </a:solidFill>
              </a:rPr>
              <a:t>• Báo cáo khoa học nghiêm túc: </a:t>
            </a:r>
            <a:r>
              <a:rPr sz="1050">
                <a:solidFill>
                  <a:srgbClr val="475569"/>
                </a:solidFill>
              </a:rPr>
              <a:t>Tất cả kết quả đo đạc được lưu vết kiểm toán tại file MIDTERM_CODE_AUDIT.md.</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Báo cáo phân định phương pháp luận của nhóm nghiên cứu đề tài DT005.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SƠ ĐỒ 4: PHÂN ĐỊNH LÝ THUYẾT &amp; THÍ NGHIỆM ĐỘC LẬP</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MINH HỌA PAPER-TO-CODE ĐỘC LẬP &amp; GIỚI HẠN DIỄN GIẢI</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Đối sánh minh bạch giữa các luận điểm bài báo và thí nghiệm minh họa do sinh viên xây dựng</a:t>
            </a:r>
          </a:p>
        </p:txBody>
      </p:sp>
      <p:sp>
        <p:nvSpPr>
          <p:cNvPr id="6" name="Rounded Rectangle 5"/>
          <p:cNvSpPr/>
          <p:nvPr/>
        </p:nvSpPr>
        <p:spPr>
          <a:xfrm>
            <a:off x="731520" y="1691640"/>
            <a:ext cx="5212080" cy="77724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5029200" cy="685800"/>
          </a:xfrm>
          <a:prstGeom prst="rect">
            <a:avLst/>
          </a:prstGeom>
          <a:noFill/>
        </p:spPr>
        <p:txBody>
          <a:bodyPr wrap="none">
            <a:spAutoFit/>
          </a:bodyPr>
          <a:lstStyle/>
          <a:p>
            <a:pPr>
              <a:defRPr sz="1100" b="1">
                <a:solidFill>
                  <a:srgbClr val="1E40AF"/>
                </a:solidFill>
              </a:defRPr>
            </a:pPr>
            <a:r>
              <a:t>LUỒNG LÝ THUYẾT BÀI BÁO (HARRY HALPIN 2025)</a:t>
            </a:r>
          </a:p>
          <a:p>
            <a:pPr>
              <a:defRPr sz="950">
                <a:solidFill>
                  <a:srgbClr val="64748B"/>
                </a:solidFill>
              </a:defRPr>
            </a:pPr>
            <a:r>
              <a:t>Khảo sát triết học, phê phán trừu tượng hóa, phân tích Dolev-Yao &amp; NSA</a:t>
            </a:r>
          </a:p>
        </p:txBody>
      </p:sp>
      <p:sp>
        <p:nvSpPr>
          <p:cNvPr id="8" name="Rounded Rectangle 7"/>
          <p:cNvSpPr/>
          <p:nvPr/>
        </p:nvSpPr>
        <p:spPr>
          <a:xfrm>
            <a:off x="6217920" y="1691640"/>
            <a:ext cx="5212080" cy="7772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737360"/>
            <a:ext cx="5029200" cy="685800"/>
          </a:xfrm>
          <a:prstGeom prst="rect">
            <a:avLst/>
          </a:prstGeom>
          <a:noFill/>
        </p:spPr>
        <p:txBody>
          <a:bodyPr wrap="none">
            <a:spAutoFit/>
          </a:bodyPr>
          <a:lstStyle/>
          <a:p>
            <a:pPr>
              <a:defRPr sz="1100" b="1">
                <a:solidFill>
                  <a:srgbClr val="059669"/>
                </a:solidFill>
              </a:defRPr>
            </a:pPr>
            <a:r>
              <a:t>LUỒNG THỰC NGHIỆM ĐỘC LẬP (SINH VIÊN DT005)</a:t>
            </a:r>
          </a:p>
          <a:p>
            <a:pPr>
              <a:defRPr sz="950">
                <a:solidFill>
                  <a:srgbClr val="64748B"/>
                </a:solidFill>
              </a:defRPr>
            </a:pPr>
            <a:r>
              <a:t>Hệ thống kiểm tra toàn vẹn tệp, 7 thí nghiệm minh họa, đối kháng Red/Blue</a:t>
            </a:r>
          </a:p>
        </p:txBody>
      </p:sp>
      <p:sp>
        <p:nvSpPr>
          <p:cNvPr id="10" name="Rounded Rectangle 9"/>
          <p:cNvSpPr/>
          <p:nvPr/>
        </p:nvSpPr>
        <p:spPr>
          <a:xfrm>
            <a:off x="731520" y="2606040"/>
            <a:ext cx="10728655" cy="3520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97480"/>
            <a:ext cx="10362895" cy="3337560"/>
          </a:xfrm>
          <a:prstGeom prst="rect">
            <a:avLst/>
          </a:prstGeom>
          <a:noFill/>
        </p:spPr>
        <p:txBody>
          <a:bodyPr wrap="square">
            <a:spAutoFit/>
          </a:bodyPr>
          <a:lstStyle/>
          <a:p>
            <a:pPr>
              <a:defRPr sz="1200" b="1">
                <a:solidFill>
                  <a:srgbClr val="0F172A"/>
                </a:solidFill>
              </a:defRPr>
            </a:pPr>
            <a:r>
              <a:t>BẢNG ĐỐI CHIẾU BA MINH HỌA THỰC NGHIỆM TIÊU BIỂU VÀ GIỚI HẠN DIỄN GIẢI</a:t>
            </a:r>
          </a:p>
          <a:p>
            <a:pPr>
              <a:spcBef>
                <a:spcPts val="600"/>
              </a:spcBef>
            </a:pPr>
            <a:r>
              <a:rPr b="1" sz="1050">
                <a:solidFill>
                  <a:srgbClr val="1E40AF"/>
                </a:solidFill>
              </a:rPr>
              <a:t>1. Noise vs Adversary (Sec. 1 &amp; 2) — </a:t>
            </a:r>
            <a:r>
              <a:rPr sz="1000">
                <a:solidFill>
                  <a:srgbClr val="1E293B"/>
                </a:solidFill>
              </a:rPr>
              <a:t>Luận điểm Halpin: Kẻ thù có chủ đích khác với nhiễu ngẫu nhiên; mã tuyến tính CRC32 bất lực. | </a:t>
            </a:r>
            <a:r>
              <a:rPr sz="1000">
                <a:solidFill>
                  <a:srgbClr val="475569"/>
                </a:solidFill>
              </a:rPr>
              <a:t>Code DT005: Code giải mã bù đại số trên trường nhị phân GF(2), tìm 4 byte bù qua mặt CRC32 100%; SHA-256 phát hiện tức thì. </a:t>
            </a:r>
          </a:p>
          <a:p>
            <a:pPr>
              <a:spcBef>
                <a:spcPts val="200"/>
              </a:spcBef>
            </a:pPr>
            <a:r>
              <a:rPr b="1" sz="950">
                <a:solidFill>
                  <a:srgbClr val="059669"/>
                </a:solidFill>
              </a:rPr>
              <a:t>   ► Bằng chứng đã chạy: orig_crc == forged_crc (Trùng 100%), SHA-256 lệch hoàn toàn.  |  </a:t>
            </a:r>
            <a:r>
              <a:rPr sz="950">
                <a:solidFill>
                  <a:srgbClr val="D97706"/>
                </a:solidFill>
              </a:rPr>
              <a:t>▲ Giới hạn diễn giải: Minh họa tính phi tuyến của hàm băm; không chứng minh an toàn toàn diện cho toàn hệ thống.</a:t>
            </a:r>
          </a:p>
          <a:p>
            <a:pPr>
              <a:spcBef>
                <a:spcPts val="600"/>
              </a:spcBef>
            </a:pPr>
            <a:r>
              <a:rPr b="1" sz="1050">
                <a:solidFill>
                  <a:srgbClr val="1E40AF"/>
                </a:solidFill>
              </a:rPr>
              <a:t>2. Node-Leaf Confusion (Sec. 5) — </a:t>
            </a:r>
            <a:r>
              <a:rPr sz="1000">
                <a:solidFill>
                  <a:srgbClr val="1E293B"/>
                </a:solidFill>
              </a:rPr>
              <a:t>Luận điểm Halpin: Ghép chuỗi thô H(L||R) gây va chạm tiền ảnh cấp hai cấu trúc (nút cha bị nhầm với nút lá). | </a:t>
            </a:r>
            <a:r>
              <a:rPr sz="1000">
                <a:solidFill>
                  <a:srgbClr val="475569"/>
                </a:solidFill>
              </a:rPr>
              <a:t>Code DT005: Triển khai phân tách miền chuẩn RFC 6962: Tiền tố 0x00 cho lá, 0x01 cho nhánh nội bộ. </a:t>
            </a:r>
          </a:p>
          <a:p>
            <a:pPr>
              <a:spcBef>
                <a:spcPts val="200"/>
              </a:spcBef>
            </a:pPr>
            <a:r>
              <a:rPr b="1" sz="950">
                <a:solidFill>
                  <a:srgbClr val="059669"/>
                </a:solidFill>
              </a:rPr>
              <a:t>   ► Bằng chứng đã chạy: Standard Merkle Tree ghép thô bị va chạm; HD-Merkle phân tách miền chặn đứng hoàn toàn.  |  </a:t>
            </a:r>
            <a:r>
              <a:rPr sz="950">
                <a:solidFill>
                  <a:srgbClr val="D97706"/>
                </a:solidFill>
              </a:rPr>
              <a:t>▲ Giới hạn diễn giải: Chỉ giải quyết va chạm cấu trúc tầng cây; không loại trừ va chạm ngẫu nhiên 2^256 của SHA-256.</a:t>
            </a:r>
          </a:p>
          <a:p>
            <a:pPr>
              <a:spcBef>
                <a:spcPts val="600"/>
              </a:spcBef>
            </a:pPr>
            <a:r>
              <a:rPr b="1" sz="1050">
                <a:solidFill>
                  <a:srgbClr val="1E40AF"/>
                </a:solidFill>
              </a:rPr>
              <a:t>3. Timing Side-Channel (Sec. 5) — </a:t>
            </a:r>
            <a:r>
              <a:rPr sz="1000">
                <a:solidFill>
                  <a:srgbClr val="1E293B"/>
                </a:solidFill>
              </a:rPr>
              <a:t>Luận điểm Halpin: Rò rỉ thông tin qua thời gian so sánh chuỗi (Early-return comparison leak - Kocher 1996). | </a:t>
            </a:r>
            <a:r>
              <a:rPr sz="1000">
                <a:solidFill>
                  <a:srgbClr val="475569"/>
                </a:solidFill>
              </a:rPr>
              <a:t>Code DT005: Khảo sát đo lường 5 vòng so sánh chuỗi naive vs hàm thời gian hằng số hmac.compare_digest. </a:t>
            </a:r>
          </a:p>
          <a:p>
            <a:pPr>
              <a:spcBef>
                <a:spcPts val="200"/>
              </a:spcBef>
            </a:pPr>
            <a:r>
              <a:rPr b="1" sz="950">
                <a:solidFill>
                  <a:srgbClr val="059669"/>
                </a:solidFill>
              </a:rPr>
              <a:t>   ► Bằng chứng đã chạy: Naive so sánh tuần tự lộ độ lệch trung vị ~0.08 µs; hmac.compare_digest triệt tiêu độ lệch.  |  </a:t>
            </a:r>
            <a:r>
              <a:rPr sz="950">
                <a:solidFill>
                  <a:srgbClr val="D97706"/>
                </a:solidFill>
              </a:rPr>
              <a:t>▲ Giới hạn diễn giải: Phép đo trên Python máy đơn có jitter; chỉ minh họa mức thư viện C, không chứng minh miễn nhiễm kênh kề phần cứng.</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và bảng đối chiếu do sinh viên tự xây dựng; chi tiết mã nguồn và kiểm toán lưu tại MIDTERM_CODE_AUDIT.md.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48495" cy="2743200"/>
          </a:xfrm>
          <a:prstGeom prst="rect">
            <a:avLst/>
          </a:prstGeom>
          <a:noFill/>
        </p:spPr>
        <p:txBody>
          <a:bodyPr wrap="square">
            <a:spAutoFit/>
          </a:bodyPr>
          <a:lstStyle/>
          <a:p>
            <a:pPr algn="ctr">
              <a:defRPr sz="1300" b="1">
                <a:solidFill>
                  <a:srgbClr val="38BDF8"/>
                </a:solidFill>
              </a:defRPr>
            </a:pPr>
            <a:r>
              <a:t>DIỄN TẬP AN NINH MẠNG TRỰC TIẾP</a:t>
            </a:r>
          </a:p>
          <a:p>
            <a:pPr algn="ctr">
              <a:spcBef>
                <a:spcPts val="1600"/>
              </a:spcBef>
              <a:defRPr sz="6400" b="1">
                <a:solidFill>
                  <a:srgbClr val="FFFFFF"/>
                </a:solidFill>
              </a:defRPr>
            </a:pPr>
            <a:r>
              <a:t>DEMO</a:t>
            </a:r>
          </a:p>
          <a:p>
            <a:pPr algn="ctr">
              <a:spcBef>
                <a:spcPts val="1600"/>
              </a:spcBef>
              <a:defRPr sz="1500" b="1">
                <a:solidFill>
                  <a:srgbClr val="E2E8F0"/>
                </a:solidFill>
              </a:defRPr>
            </a:pPr>
            <a:r>
              <a:t>HỆ THỐNG GIÁM SÁT TOÀN VẸN TỆP &amp; MÔ HÌNH ĐỐI KHÁNG RED TEAM VS BLUE TEAM</a:t>
            </a:r>
          </a:p>
          <a:p>
            <a:pPr algn="ctr">
              <a:spcBef>
                <a:spcPts val="800"/>
              </a:spcBef>
              <a:defRPr sz="1100" i="1">
                <a:solidFill>
                  <a:srgbClr val="94A3B8"/>
                </a:solidFill>
              </a:defRPr>
            </a:pPr>
            <a:r>
              <a:t>Minh họa thực nghiệm các luận điểm lý thuyết: Can thiệp dữ liệu, Nhập nhằng nút lá RFC 6962, và So sánh chuỗi thời gian hằng số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THÍ NGHIỆM MINH HỌA ĐỘC LẬP DO SINH VIÊN THIẾT KẾ</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KẾT QUẢ THỰC NGHIỆM MINH HỌA ĐỘC LẬP: RED TEAM VS BLUE TEAM</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Diễn tập an ninh mạng trực quan minh họa các luận điểm đối thủ trên tập dữ liệu thực tế</a:t>
            </a:r>
          </a:p>
        </p:txBody>
      </p:sp>
      <p:sp>
        <p:nvSpPr>
          <p:cNvPr id="6" name="Rounded Rectangle 5"/>
          <p:cNvSpPr/>
          <p:nvPr/>
        </p:nvSpPr>
        <p:spPr>
          <a:xfrm>
            <a:off x="731520" y="1691640"/>
            <a:ext cx="5212080" cy="438912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300" b="1">
                <a:solidFill>
                  <a:srgbClr val="1E40AF"/>
                </a:solidFill>
              </a:defRPr>
            </a:pPr>
            <a:r>
              <a:t>1. Kiến Trúc Diễn Tập Đối Kháng Trực Quan</a:t>
            </a:r>
          </a:p>
          <a:p>
            <a:pPr>
              <a:spcBef>
                <a:spcPts val="600"/>
              </a:spcBef>
              <a:defRPr sz="950">
                <a:solidFill>
                  <a:srgbClr val="1E293B"/>
                </a:solidFill>
                <a:latin typeface="Consolas"/>
              </a:defRPr>
            </a:pPr>
            <a:r>
              <a:t>[BLUE TEAM - Cổng 8080]        [RED TEAM - Cổng 8081]</a:t>
            </a:r>
            <a:br/>
            <a:r>
              <a:t>- Giám sát kaggle_dataset (2.483 tệp)  - 6 Vector tấn công đối kháng</a:t>
            </a:r>
            <a:br/>
            <a:r>
              <a:t>- Quét mốc tin cậy ban đầu H_0         - Sửa tệp, CRC32, Dolev-Yao</a:t>
            </a:r>
            <a:br/>
            <a:r>
              <a:t>- Phát hiện sai lệch &amp; Dirty Path     - Phục hồi an toàn (Rollback)</a:t>
            </a:r>
          </a:p>
          <a:p>
            <a:pPr>
              <a:spcBef>
                <a:spcPts val="500"/>
              </a:spcBef>
            </a:pPr>
            <a:r>
              <a:rPr b="1" sz="1050">
                <a:solidFill>
                  <a:srgbClr val="1E293B"/>
                </a:solidFill>
              </a:rPr>
              <a:t>• Kịch bản 1 (CRC32 Forge): </a:t>
            </a:r>
            <a:r>
              <a:rPr sz="1000">
                <a:solidFill>
                  <a:srgbClr val="475569"/>
                </a:solidFill>
              </a:rPr>
              <a:t>Red Team sửa giao dịch, bù 4 byte GF(2) qua mặt CRC32; Blue Team dùng SHA-256 bắt quả tang tức thì.</a:t>
            </a:r>
          </a:p>
          <a:p>
            <a:pPr>
              <a:spcBef>
                <a:spcPts val="500"/>
              </a:spcBef>
            </a:pPr>
            <a:r>
              <a:rPr b="1" sz="1050">
                <a:solidFill>
                  <a:srgbClr val="1E293B"/>
                </a:solidFill>
              </a:rPr>
              <a:t>• Kịch bản 2 (In-place Tamper): </a:t>
            </a:r>
            <a:r>
              <a:rPr sz="1000">
                <a:solidFill>
                  <a:srgbClr val="475569"/>
                </a:solidFill>
              </a:rPr>
              <a:t>Sửa nội dung tệp; Blue Team phát hiện FILE_MODIFIED và định vị chính xác qua Dirty Path O(log N).</a:t>
            </a:r>
          </a:p>
          <a:p>
            <a:pPr>
              <a:spcBef>
                <a:spcPts val="500"/>
              </a:spcBef>
            </a:pPr>
            <a:r>
              <a:rPr b="1" sz="1050">
                <a:solidFill>
                  <a:srgbClr val="1E293B"/>
                </a:solidFill>
              </a:rPr>
              <a:t>• Kịch bản 3 (Dolev-Yao MitM): </a:t>
            </a:r>
            <a:r>
              <a:rPr sz="1000">
                <a:solidFill>
                  <a:srgbClr val="475569"/>
                </a:solidFill>
              </a:rPr>
              <a:t>Đánh tráo Merkle Proof trên đường truyền mạng; bộ xác thực từ chối 100% chữ ký bằng chứng.</a:t>
            </a:r>
          </a:p>
          <a:p>
            <a:pPr>
              <a:spcBef>
                <a:spcPts val="500"/>
              </a:spcBef>
            </a:pPr>
            <a:r>
              <a:rPr b="1" sz="1050">
                <a:solidFill>
                  <a:srgbClr val="1E293B"/>
                </a:solidFill>
              </a:rPr>
              <a:t>• Khôi phục an toàn (Rollback): </a:t>
            </a:r>
            <a:r>
              <a:rPr sz="1000">
                <a:solidFill>
                  <a:srgbClr val="475569"/>
                </a:solidFill>
              </a:rPr>
              <a:t>Nút 'ROLLBACK ALL' phục hồi 100% nguyên trạng từ thư mục an toàn .adversary_backups/.</a:t>
            </a:r>
          </a:p>
        </p:txBody>
      </p:sp>
      <p:sp>
        <p:nvSpPr>
          <p:cNvPr id="8" name="Rounded Rectangle 7"/>
          <p:cNvSpPr/>
          <p:nvPr/>
        </p:nvSpPr>
        <p:spPr>
          <a:xfrm>
            <a:off x="6217920" y="1691640"/>
            <a:ext cx="5212080" cy="4389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300" b="1">
                <a:solidFill>
                  <a:srgbClr val="059669"/>
                </a:solidFill>
              </a:defRPr>
            </a:pPr>
            <a:r>
              <a:t>2. Bằng Chứng Chạy Thật &amp; Giới Hạn Thực Nghiệm</a:t>
            </a:r>
          </a:p>
          <a:p>
            <a:pPr>
              <a:spcBef>
                <a:spcPts val="600"/>
              </a:spcBef>
              <a:defRPr sz="900">
                <a:solidFill>
                  <a:srgbClr val="0F172A"/>
                </a:solidFill>
                <a:latin typeface="Consolas"/>
              </a:defRPr>
            </a:pPr>
            <a:r>
              <a:t>[LOG THỰC TẾ: python -m src.proposed_model.security_games]</a:t>
            </a:r>
            <a:br/>
            <a:r>
              <a:t>[*] Thư mục kiểm định : kaggle_dataset (2,483 tệp tin)</a:t>
            </a:r>
            <a:br/>
            <a:r>
              <a:t>[*] PPT Integrity Game: Phát hiện 100/100 phép thử (Tỷ lệ = 0.0)</a:t>
            </a:r>
            <a:br/>
            <a:r>
              <a:t>[*] Dolev-Yao Network : Chặn đứng 3/3 kịch bản (Swap, Tamper, Replay)</a:t>
            </a:r>
            <a:br/>
            <a:r>
              <a:t>[*] Consistency Proof : Xác thực nhất quán chỉ-thêm RFC 6962</a:t>
            </a:r>
            <a:br/>
            <a:r>
              <a:t>[*] Tuyết lở SAC Monte Carlo: 128.00/256 bit biến đổi (~50.00%)</a:t>
            </a:r>
            <a:br/>
            <a:r>
              <a:t>[*] Thời gian tổng cộng: 2,885.05 ms (Đạt chuẩn 7/7 thí nghiệm)</a:t>
            </a:r>
          </a:p>
          <a:p>
            <a:pPr>
              <a:spcBef>
                <a:spcPts val="500"/>
              </a:spcBef>
            </a:pPr>
            <a:r>
              <a:rPr b="1" sz="1050">
                <a:solidFill>
                  <a:srgbClr val="1E293B"/>
                </a:solidFill>
              </a:rPr>
              <a:t>• Bản chất minh họa: </a:t>
            </a:r>
            <a:r>
              <a:rPr sz="1000">
                <a:solidFill>
                  <a:srgbClr val="475569"/>
                </a:solidFill>
              </a:rPr>
              <a:t>Thực nghiệm được thiết kế độc lập nhằm kiểm chứng tính đúng đắn logic của các khái niệm; không phải là việc chạy lại số liệu của tác giả.</a:t>
            </a:r>
          </a:p>
          <a:p>
            <a:pPr>
              <a:spcBef>
                <a:spcPts val="500"/>
              </a:spcBef>
            </a:pPr>
            <a:r>
              <a:rPr b="1" sz="1050">
                <a:solidFill>
                  <a:srgbClr val="1E293B"/>
                </a:solidFill>
              </a:rPr>
              <a:t>• Môi trường kiểm thử: </a:t>
            </a:r>
            <a:r>
              <a:rPr sz="1000">
                <a:solidFill>
                  <a:srgbClr val="475569"/>
                </a:solidFill>
              </a:rPr>
              <a:t>Đo đạc trên máy tính cá nhân (Intel Core i7, Windows 11). Các phép đo thời gian vi mô chịu ảnh hưởng của jitter hệ điều hành.</a:t>
            </a:r>
          </a:p>
          <a:p>
            <a:pPr>
              <a:spcBef>
                <a:spcPts val="500"/>
              </a:spcBef>
            </a:pPr>
            <a:r>
              <a:rPr b="1" sz="1050">
                <a:solidFill>
                  <a:srgbClr val="1E293B"/>
                </a:solidFill>
              </a:rPr>
              <a:t>• Hướng dẫn chạy: </a:t>
            </a:r>
            <a:r>
              <a:rPr sz="1000">
                <a:solidFill>
                  <a:srgbClr val="475569"/>
                </a:solidFill>
              </a:rPr>
              <a:t>Chi tiết lệnh chạy và các bước thao tác màn hình kép được hướng dẫn trong file MIDTERM_DEMO.md.</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Số liệu thực tế đo đạc trực tiếp từ mã nguồn đề tài DT005; xem hướng dẫn chạy tại MIDTERM_DEMO.md.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7 — KẾT LUẬN &amp; THÔNG ĐIỆP HỌC THUẬT</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TỔNG KẾT BÁO CÁO GIỮA KỲ &amp; ĐỊNH HƯỚNG NGHIÊN CỨU</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Tổng kết các đóng góp lý thuyết của Halpin và lộ trình kỹ thuật cho giai đoạn cuối kỳ</a:t>
            </a:r>
          </a:p>
        </p:txBody>
      </p:sp>
      <p:sp>
        <p:nvSpPr>
          <p:cNvPr id="6" name="Rounded Rectangle 5"/>
          <p:cNvSpPr/>
          <p:nvPr/>
        </p:nvSpPr>
        <p:spPr>
          <a:xfrm>
            <a:off x="731520" y="1691640"/>
            <a:ext cx="5212080" cy="420624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3931920"/>
          </a:xfrm>
          <a:prstGeom prst="rect">
            <a:avLst/>
          </a:prstGeom>
          <a:noFill/>
        </p:spPr>
        <p:txBody>
          <a:bodyPr wrap="square">
            <a:spAutoFit/>
          </a:bodyPr>
          <a:lstStyle/>
          <a:p>
            <a:pPr>
              <a:defRPr sz="1300" b="1">
                <a:solidFill>
                  <a:srgbClr val="1E40AF"/>
                </a:solidFill>
              </a:defRPr>
            </a:pPr>
            <a:r>
              <a:t>1. Thông Điệp Học Thuật Cốt Lõi (Harry Halpin 2025)</a:t>
            </a:r>
          </a:p>
          <a:p>
            <a:pPr>
              <a:spcBef>
                <a:spcPts val="800"/>
              </a:spcBef>
            </a:pPr>
            <a:r>
              <a:rPr b="1" sz="1100">
                <a:solidFill>
                  <a:srgbClr val="1E293B"/>
                </a:solidFill>
              </a:rPr>
              <a:t>• Vượt qua sự trừu tượng hóa: </a:t>
            </a:r>
            <a:r>
              <a:rPr sz="1050">
                <a:solidFill>
                  <a:srgbClr val="475569"/>
                </a:solidFill>
              </a:rPr>
              <a:t>Mật mã học không chỉ là toán học thuần túy trên giấy tờ. Các hệ thống an toàn trong thế giới thực phải nhận thức rõ khoảng cách giữa mô hình lý tưởng và thực tế vật lý (kênh kề, siêu dữ liệu, chuỗi cung ứng, áp lực thể chế).</a:t>
            </a:r>
          </a:p>
          <a:p>
            <a:pPr>
              <a:spcBef>
                <a:spcPts val="800"/>
              </a:spcBef>
            </a:pPr>
            <a:r>
              <a:rPr b="1" sz="1100">
                <a:solidFill>
                  <a:srgbClr val="1E293B"/>
                </a:solidFill>
              </a:rPr>
              <a:t>• Bản chất của đối thủ: </a:t>
            </a:r>
            <a:r>
              <a:rPr sz="1050">
                <a:solidFill>
                  <a:srgbClr val="475569"/>
                </a:solidFill>
              </a:rPr>
              <a:t>Đối thủ không phải là 'nhiễu ngẫu nhiên' mà là tác nhân có chủ đích, liên tục tìm kiếm các kênh rò rỉ bị mô hình toán học bỏ qua.</a:t>
            </a:r>
          </a:p>
          <a:p>
            <a:pPr>
              <a:spcBef>
                <a:spcPts val="800"/>
              </a:spcBef>
            </a:pPr>
            <a:r>
              <a:rPr b="1" sz="1100">
                <a:solidFill>
                  <a:srgbClr val="1E293B"/>
                </a:solidFill>
              </a:rPr>
              <a:t>• Chương trình nghiên cứu mở: </a:t>
            </a:r>
            <a:r>
              <a:rPr sz="1050">
                <a:solidFill>
                  <a:srgbClr val="475569"/>
                </a:solidFill>
              </a:rPr>
              <a:t>Halpin đặt nền móng triết học và vạch ra 4 câu hỏi nghiên cứu liên ngành nhằm mở rộng mật mã học thành một khoa học an ninh hoàn chỉnh.</a:t>
            </a:r>
          </a:p>
        </p:txBody>
      </p:sp>
      <p:sp>
        <p:nvSpPr>
          <p:cNvPr id="8" name="Rounded Rectangle 7"/>
          <p:cNvSpPr/>
          <p:nvPr/>
        </p:nvSpPr>
        <p:spPr>
          <a:xfrm>
            <a:off x="6217920" y="1691640"/>
            <a:ext cx="5212080" cy="42062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3931920"/>
          </a:xfrm>
          <a:prstGeom prst="rect">
            <a:avLst/>
          </a:prstGeom>
          <a:noFill/>
        </p:spPr>
        <p:txBody>
          <a:bodyPr wrap="square">
            <a:spAutoFit/>
          </a:bodyPr>
          <a:lstStyle/>
          <a:p>
            <a:pPr>
              <a:defRPr sz="1300" b="1">
                <a:solidFill>
                  <a:srgbClr val="059669"/>
                </a:solidFill>
              </a:defRPr>
            </a:pPr>
            <a:r>
              <a:t>2. Hoàn Thành Giữa Kỳ &amp; Lộ Trình Cuối Kỳ (Nhóm DT005)</a:t>
            </a:r>
          </a:p>
          <a:p>
            <a:pPr>
              <a:spcBef>
                <a:spcPts val="800"/>
              </a:spcBef>
            </a:pPr>
            <a:r>
              <a:rPr b="1" sz="1100">
                <a:solidFill>
                  <a:srgbClr val="1E293B"/>
                </a:solidFill>
              </a:rPr>
              <a:t>• Nghiệm thu tiến độ giữa kỳ: </a:t>
            </a:r>
            <a:r>
              <a:rPr sz="1050">
                <a:solidFill>
                  <a:srgbClr val="475569"/>
                </a:solidFill>
              </a:rPr>
              <a:t>Hoàn thành thẩm định học thuật sâu sắc toàn văn bài báo gốc (17 trang PDF), phân tích đầy đủ 7 mục nội dung và xây dựng bộ diễn tập minh họa thực nghiệm sống động phục vụ báo cáo.</a:t>
            </a:r>
          </a:p>
          <a:p>
            <a:pPr>
              <a:spcBef>
                <a:spcPts val="800"/>
              </a:spcBef>
            </a:pPr>
            <a:r>
              <a:rPr b="1" sz="1100">
                <a:solidFill>
                  <a:srgbClr val="1E293B"/>
                </a:solidFill>
              </a:rPr>
              <a:t>• Minh bạch phương pháp luận: </a:t>
            </a:r>
            <a:r>
              <a:rPr sz="1050">
                <a:solidFill>
                  <a:srgbClr val="475569"/>
                </a:solidFill>
              </a:rPr>
              <a:t>Không ngụy tạo số liệu tác giả; phân định rạch ròi giữa công trình triết học của Halpin và các thử nghiệm độc lập của sinh viên.</a:t>
            </a:r>
          </a:p>
          <a:p>
            <a:pPr>
              <a:spcBef>
                <a:spcPts val="800"/>
              </a:spcBef>
            </a:pPr>
            <a:r>
              <a:rPr b="1" sz="1100">
                <a:solidFill>
                  <a:srgbClr val="1E293B"/>
                </a:solidFill>
              </a:rPr>
              <a:t>• Lộ trình nghiên cứu cuối kỳ: </a:t>
            </a:r>
            <a:r>
              <a:rPr sz="1050">
                <a:solidFill>
                  <a:srgbClr val="475569"/>
                </a:solidFill>
              </a:rPr>
              <a:t>Đề xuất phát triển chuyên sâu giải pháp tối ưu hóa cấu trúc cây Merkle phân cấp (HD-Merkle Dirty-Path Caching, nén CompactProof O(1)) làm đóng góp kỹ thuật trọng tâm cho đồ án cuối kỳ.</a:t>
            </a:r>
          </a:p>
        </p:txBody>
      </p:sp>
      <p:sp>
        <p:nvSpPr>
          <p:cNvPr id="10" name="TextBox 9"/>
          <p:cNvSpPr txBox="1"/>
          <p:nvPr/>
        </p:nvSpPr>
        <p:spPr>
          <a:xfrm>
            <a:off x="731520" y="6035040"/>
            <a:ext cx="10698480" cy="502920"/>
          </a:xfrm>
          <a:prstGeom prst="rect">
            <a:avLst/>
          </a:prstGeom>
          <a:noFill/>
        </p:spPr>
        <p:txBody>
          <a:bodyPr wrap="none">
            <a:spAutoFit/>
          </a:bodyPr>
          <a:lstStyle/>
          <a:p>
            <a:pPr>
              <a:defRPr sz="950" i="1">
                <a:solidFill>
                  <a:srgbClr val="64748B"/>
                </a:solidFill>
              </a:defRPr>
            </a:pPr>
            <a:r>
              <a:t>Tài liệu tham khảo chính: [1] H. Halpin, Oxford J. Cybersec., 2025 (DOI: 10.1093/cybsec/tyaf006); [2] Shannon (1949); [3] Goldwasser-Micali (1984); [4] Dolev-Yao (1983); [5] Kocher (1996); [6] RFC 6962 (2013).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