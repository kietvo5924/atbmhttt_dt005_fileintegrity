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tồn tại tự thân; nó là mối quan hệ giữa nhóm người giữ bí mật và thế giới bên ngoài trong một khoảng thời gian.</a:t>
            </a:r>
          </a:p>
          <a:p>
            <a:pPr>
              <a:spcBef>
                <a:spcPts val="600"/>
              </a:spcBef>
            </a:pPr>
            <a:r>
              <a:rPr b="1" sz="1100">
                <a:solidFill>
                  <a:srgbClr val="1E293B"/>
                </a:solidFill>
              </a:rPr>
              <a:t>• Public vs Common Knowledge: </a:t>
            </a:r>
            <a:r>
              <a:rPr sz="1000">
                <a:solidFill>
                  <a:srgbClr val="475569"/>
                </a:solidFill>
              </a:rPr>
              <a:t>Common Knowledge (Lewis): Mọi tác nhân đều biết và tin trạng thái sự việc. Public Knowledge: Thông tin mà bất kỳ ai cũng có tiềm năng tiếp cận (như khi bí mật bị rò rỉ - leak).</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Mô hình truyền thông bảo mật điểm - điểm; định nghĩa Bí mật hoàn hảo H(K) &gt;= H(M). Giới hạn: Giản lược đối thủ thành kẻ nghe lén trên kênh trừu tượng, bỏ qua chi phí phân phối khóa và thực tế xã hội - kỹ thuật.</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pic>
        <p:nvPicPr>
          <p:cNvPr id="6" name="Picture 5" descr="Slide6.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Harry Halpin (2025), Journal of Cybersecurity, tr.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độ dài và lưu lượng siêu dữ liệu (Traffic Analysis), khai thác lỗi cài đặt phần mềm và quản lý (Anderson 2001).</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KIẾN TRÚC DIỄN TẬP ĐỐI KHÁNG (PRE-DEMO ARCHITECTURE)</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2 màn hình trên tập dữ liệu kaggle_dataset (2.485 tệp tin) kiểm chứng trực quan luận điểm bài báo</a:t>
            </a:r>
          </a:p>
        </p:txBody>
      </p:sp>
      <p:pic>
        <p:nvPicPr>
          <p:cNvPr id="6" name="Picture 5" descr="Slide14.drawio.png"/>
          <p:cNvPicPr>
            <a:picLocks noChangeAspect="1"/>
          </p:cNvPicPr>
          <p:nvPr/>
        </p:nvPicPr>
        <p:blipFill>
          <a:blip r:embed="rId2"/>
          <a:stretch>
            <a:fillRect/>
          </a:stretch>
        </p:blipFill>
        <p:spPr>
          <a:xfrm>
            <a:off x="1706727" y="1572768"/>
            <a:ext cx="8778240" cy="3794760"/>
          </a:xfrm>
          <a:prstGeom prst="rect">
            <a:avLst/>
          </a:prstGeom>
        </p:spPr>
      </p:pic>
      <p:sp>
        <p:nvSpPr>
          <p:cNvPr id="7" name="Rounded Rectangle 6"/>
          <p:cNvSpPr/>
          <p:nvPr/>
        </p:nvSpPr>
        <p:spPr>
          <a:xfrm>
            <a:off x="731520" y="5468112"/>
            <a:ext cx="10728655" cy="749808"/>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504688"/>
            <a:ext cx="10362895" cy="676656"/>
          </a:xfrm>
          <a:prstGeom prst="rect">
            <a:avLst/>
          </a:prstGeom>
          <a:noFill/>
        </p:spPr>
        <p:txBody>
          <a:bodyPr wrap="square">
            <a:spAutoFit/>
          </a:bodyPr>
          <a:lstStyle/>
          <a:p>
            <a:r>
              <a:rPr b="1" sz="1050">
                <a:solidFill>
                  <a:srgbClr val="1E40AF"/>
                </a:solidFill>
              </a:rPr>
              <a:t>Mô hình hóa thực nghiệm độc lập: </a:t>
            </a:r>
            <a:r>
              <a:rPr sz="950">
                <a:solidFill>
                  <a:srgbClr val="1E293B"/>
                </a:solidFill>
              </a:rPr>
              <a:t>Bài báo Halpin là khảo luận triết học thuần túy (không có mã nguồn). Nhóm tự phát triển hệ thống kiểm tra toàn vẹn trên tập dữ liệu kaggle_dataset để kiểm chứng trực quan 3 luận điểm cốt lõi:</a:t>
            </a:r>
          </a:p>
          <a:p>
            <a:pPr>
              <a:spcBef>
                <a:spcPts val="200"/>
              </a:spcBef>
            </a:pPr>
            <a:r>
              <a:rPr sz="950">
                <a:solidFill>
                  <a:srgbClr val="475569"/>
                </a:solidFill>
              </a:rPr>
              <a:t>• (1) Nhiễu vs Kẻ thù (Mã CRC32 bị qua mặt trên GF(2) vs SHA-256 phi tuyến) | • (2) Phân tách miền nút lá RFC 6962 | • (3) Rò rỉ kênh kề thời gian (Kocher 1996).</a:t>
            </a:r>
          </a:p>
        </p:txBody>
      </p:sp>
      <p:sp>
        <p:nvSpPr>
          <p:cNvPr id="9" name="TextBox 8"/>
          <p:cNvSpPr txBox="1"/>
          <p:nvPr/>
        </p:nvSpPr>
        <p:spPr>
          <a:xfrm>
            <a:off x="731520" y="6291072"/>
            <a:ext cx="10698480" cy="320040"/>
          </a:xfrm>
          <a:prstGeom prst="rect">
            <a:avLst/>
          </a:prstGeom>
          <a:noFill/>
        </p:spPr>
        <p:txBody>
          <a:bodyPr wrap="none">
            <a:spAutoFit/>
          </a:bodyPr>
          <a:lstStyle/>
          <a:p>
            <a:pPr>
              <a:defRPr sz="950" i="1">
                <a:solidFill>
                  <a:srgbClr val="64748B"/>
                </a:solidFill>
              </a:defRPr>
            </a:pPr>
            <a:r>
              <a:t>Sơ đồ kiến trúc diễn tập đối kháng độc lập do sinh viên thiết kế minh họa các khái niệm an ninh.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377440"/>
            <a:ext cx="8534095" cy="2011680"/>
          </a:xfrm>
          <a:prstGeom prst="rect">
            <a:avLst/>
          </a:prstGeom>
          <a:noFill/>
        </p:spPr>
        <p:txBody>
          <a:bodyPr wrap="square">
            <a:spAutoFit/>
          </a:bodyPr>
          <a:lstStyle/>
          <a:p>
            <a:pPr algn="ctr">
              <a:defRPr sz="8800" b="1">
                <a:solidFill>
                  <a:srgbClr val="1E40AF"/>
                </a:solidFill>
                <a:latin typeface="Calibri"/>
              </a:defRPr>
            </a:pPr>
            <a:r>
              <a:t>DEMO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TỔNG KẾT TOÀN VĂN BÀI BÁO (HARRY HALPIN 2025)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ĐÓNG GÓP HỌC THUẬT &amp; BÀI HỌC AN NINH</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Bảng đối sánh giữa các giả định hình thức truyền thống và nhận thức luận của Harry Halpin</a:t>
            </a:r>
          </a:p>
        </p:txBody>
      </p:sp>
      <p:graphicFrame>
        <p:nvGraphicFramePr>
          <p:cNvPr id="6" name="Table 5"/>
          <p:cNvGraphicFramePr>
            <a:graphicFrameLocks noGrp="1"/>
          </p:cNvGraphicFramePr>
          <p:nvPr/>
        </p:nvGraphicFramePr>
        <p:xfrm>
          <a:off x="731520" y="1691640"/>
          <a:ext cx="10728655" cy="4297680"/>
        </p:xfrm>
        <a:graphic>
          <a:graphicData uri="http://schemas.openxmlformats.org/drawingml/2006/table">
            <a:tbl>
              <a:tblPr firstRow="1" bandRow="1">
                <a:tableStyleId>{5C22544A-7EE6-4342-B048-85BDC9FD1C3A}</a:tableStyleId>
              </a:tblPr>
              <a:tblGrid>
                <a:gridCol w="1920240"/>
                <a:gridCol w="2834640"/>
                <a:gridCol w="3017520"/>
                <a:gridCol w="2956255"/>
              </a:tblGrid>
              <a:tr h="859536">
                <a:tc>
                  <a:txBody>
                    <a:bodyPr wrap="square" lIns="73152" rIns="73152"/>
                    <a:lstStyle/>
                    <a:p>
                      <a:pPr algn="ctr">
                        <a:defRPr b="1" sz="1050">
                          <a:solidFill>
                            <a:srgbClr val="FFFFFF"/>
                          </a:solidFill>
                        </a:defRPr>
                      </a:pPr>
                      <a:r>
                        <a:t>Trụ Cột Khảo Cứu</a:t>
                      </a:r>
                    </a:p>
                  </a:txBody>
                  <a:tcPr anchor="ctr">
                    <a:solidFill>
                      <a:srgbClr val="1E40AF"/>
                    </a:solidFill>
                  </a:tcPr>
                </a:tc>
                <a:tc>
                  <a:txBody>
                    <a:bodyPr wrap="square" lIns="73152" rIns="73152"/>
                    <a:lstStyle/>
                    <a:p>
                      <a:pPr algn="ctr">
                        <a:defRPr b="1" sz="1050">
                          <a:solidFill>
                            <a:srgbClr val="FFFFFF"/>
                          </a:solidFill>
                        </a:defRPr>
                      </a:pPr>
                      <a:r>
                        <a:t>Mô Hình Toán Hình Thức</a:t>
                      </a:r>
                      <a:br/>
                      <a:r>
                        <a:t>(Shannon &amp; Hộp Đen)</a:t>
                      </a:r>
                    </a:p>
                  </a:txBody>
                  <a:tcPr anchor="ctr">
                    <a:solidFill>
                      <a:srgbClr val="1E40AF"/>
                    </a:solidFill>
                  </a:tcPr>
                </a:tc>
                <a:tc>
                  <a:txBody>
                    <a:bodyPr wrap="square" lIns="73152" rIns="73152"/>
                    <a:lstStyle/>
                    <a:p>
                      <a:pPr algn="ctr">
                        <a:defRPr b="1" sz="1050">
                          <a:solidFill>
                            <a:srgbClr val="FFFFFF"/>
                          </a:solidFill>
                        </a:defRPr>
                      </a:pPr>
                      <a:r>
                        <a:t>Phê Phán Nhận Thức Luận</a:t>
                      </a:r>
                      <a:br/>
                      <a:r>
                        <a:t>(Harry Halpin 2025)</a:t>
                      </a:r>
                    </a:p>
                  </a:txBody>
                  <a:tcPr anchor="ctr">
                    <a:solidFill>
                      <a:srgbClr val="1E40AF"/>
                    </a:solidFill>
                  </a:tcPr>
                </a:tc>
                <a:tc>
                  <a:txBody>
                    <a:bodyPr wrap="square" lIns="73152" rIns="73152"/>
                    <a:lstStyle/>
                    <a:p>
                      <a:pPr algn="ctr">
                        <a:defRPr b="1" sz="1050">
                          <a:solidFill>
                            <a:srgbClr val="FFFFFF"/>
                          </a:solidFill>
                        </a:defRPr>
                      </a:pPr>
                      <a:r>
                        <a:t>Bài Học &amp; Định Hướng</a:t>
                      </a:r>
                      <a:br/>
                      <a:r>
                        <a:t>An Ninh Thực Tế</a:t>
                      </a:r>
                    </a:p>
                  </a:txBody>
                  <a:tcPr anchor="ctr">
                    <a:solidFill>
                      <a:srgbClr val="1E40AF"/>
                    </a:solidFill>
                  </a:tcPr>
                </a:tc>
              </a:tr>
              <a:tr h="859536">
                <a:tc>
                  <a:txBody>
                    <a:bodyPr wrap="square" lIns="73152" rIns="73152"/>
                    <a:lstStyle/>
                    <a:p>
                      <a:pPr>
                        <a:defRPr b="1" sz="1000">
                          <a:solidFill>
                            <a:srgbClr val="1E40AF"/>
                          </a:solidFill>
                        </a:defRPr>
                      </a:pPr>
                      <a:r>
                        <a:t>1. Bản chất thông tin &amp;</a:t>
                      </a:r>
                      <a:br/>
                      <a:r>
                        <a:t>Bí mật an toàn (Sec 1–2)</a:t>
                      </a:r>
                    </a:p>
                  </a:txBody>
                  <a:tcPr anchor="ctr">
                    <a:solidFill>
                      <a:srgbClr val="F8FAFC"/>
                    </a:solidFill>
                  </a:tcPr>
                </a:tc>
                <a:tc>
                  <a:txBody>
                    <a:bodyPr wrap="square" lIns="73152" rIns="73152"/>
                    <a:lstStyle/>
                    <a:p>
                      <a:pPr>
                        <a:defRPr sz="950">
                          <a:solidFill>
                            <a:srgbClr val="1E293B"/>
                          </a:solidFill>
                        </a:defRPr>
                      </a:pPr>
                      <a:r>
                        <a:t>Thông tin là xác suất thống kê; giả định kênh chỉ có nhiễu ngẫu nhiên.</a:t>
                      </a:r>
                    </a:p>
                  </a:txBody>
                  <a:tcPr anchor="ctr">
                    <a:solidFill>
                      <a:srgbClr val="F8FAFC"/>
                    </a:solidFill>
                  </a:tcPr>
                </a:tc>
                <a:tc>
                  <a:txBody>
                    <a:bodyPr wrap="square" lIns="73152" rIns="73152"/>
                    <a:lstStyle/>
                    <a:p>
                      <a:pPr>
                        <a:defRPr sz="950">
                          <a:solidFill>
                            <a:srgbClr val="1E293B"/>
                          </a:solidFill>
                        </a:defRPr>
                      </a:pPr>
                      <a:r>
                        <a:t>Thông tin có ngữ nghĩa khách quan (Dretske); đối thủ là tác nhân có chủ đích.</a:t>
                      </a:r>
                    </a:p>
                  </a:txBody>
                  <a:tcPr anchor="ctr">
                    <a:solidFill>
                      <a:srgbClr val="F8FAFC"/>
                    </a:solidFill>
                  </a:tcPr>
                </a:tc>
                <a:tc>
                  <a:txBody>
                    <a:bodyPr wrap="square" lIns="73152" rIns="73152"/>
                    <a:lstStyle/>
                    <a:p>
                      <a:pPr>
                        <a:defRPr sz="950">
                          <a:solidFill>
                            <a:srgbClr val="1E293B"/>
                          </a:solidFill>
                        </a:defRPr>
                      </a:pPr>
                      <a:r>
                        <a:t>Mã tuyến tính (CRC32) chỉ bắt nhiễu; an ninh đối kháng cần hàm băm phi tuyến (SHA-256).</a:t>
                      </a:r>
                    </a:p>
                  </a:txBody>
                  <a:tcPr anchor="ctr">
                    <a:solidFill>
                      <a:srgbClr val="F8FAFC"/>
                    </a:solidFill>
                  </a:tcPr>
                </a:tc>
              </a:tr>
              <a:tr h="859536">
                <a:tc>
                  <a:txBody>
                    <a:bodyPr wrap="square" lIns="73152" rIns="73152"/>
                    <a:lstStyle/>
                    <a:p>
                      <a:pPr>
                        <a:defRPr b="1" sz="1000">
                          <a:solidFill>
                            <a:srgbClr val="1E40AF"/>
                          </a:solidFill>
                        </a:defRPr>
                      </a:pPr>
                      <a:r>
                        <a:t>2. Giới hạn của sự</a:t>
                      </a:r>
                      <a:br/>
                      <a:r>
                        <a:t>hình thức hóa (Sec 5)</a:t>
                      </a:r>
                    </a:p>
                  </a:txBody>
                  <a:tcPr anchor="ctr">
                    <a:solidFill>
                      <a:srgbClr val="FFFFFF"/>
                    </a:solidFill>
                  </a:tcPr>
                </a:tc>
                <a:tc>
                  <a:txBody>
                    <a:bodyPr wrap="square" lIns="73152" rIns="73152"/>
                    <a:lstStyle/>
                    <a:p>
                      <a:pPr>
                        <a:defRPr sz="950">
                          <a:solidFill>
                            <a:srgbClr val="1E293B"/>
                          </a:solidFill>
                        </a:defRPr>
                      </a:pPr>
                      <a:r>
                        <a:t>Coi mật mã là hộp đen toán học lý tưởng; coi thời gian thực thi là vô hình.</a:t>
                      </a:r>
                    </a:p>
                  </a:txBody>
                  <a:tcPr anchor="ctr">
                    <a:solidFill>
                      <a:srgbClr val="FFFFFF"/>
                    </a:solidFill>
                  </a:tcPr>
                </a:tc>
                <a:tc>
                  <a:txBody>
                    <a:bodyPr wrap="square" lIns="73152" rIns="73152"/>
                    <a:lstStyle/>
                    <a:p>
                      <a:pPr>
                        <a:defRPr sz="950">
                          <a:solidFill>
                            <a:srgbClr val="1E293B"/>
                          </a:solidFill>
                        </a:defRPr>
                      </a:pPr>
                      <a:r>
                        <a:t>Điểm mù vật lý: bỏ qua thời gian CPU, năng lượng, kiến trúc bộ nhớ cache.</a:t>
                      </a:r>
                    </a:p>
                  </a:txBody>
                  <a:tcPr anchor="ctr">
                    <a:solidFill>
                      <a:srgbClr val="FFFFFF"/>
                    </a:solidFill>
                  </a:tcPr>
                </a:tc>
                <a:tc>
                  <a:txBody>
                    <a:bodyPr wrap="square" lIns="73152" rIns="73152"/>
                    <a:lstStyle/>
                    <a:p>
                      <a:pPr>
                        <a:defRPr sz="950">
                          <a:solidFill>
                            <a:srgbClr val="1E293B"/>
                          </a:solidFill>
                        </a:defRPr>
                      </a:pPr>
                      <a:r>
                        <a:t>Phòng thủ đa tầng; dùng hàm thời gian hằng số (hmac.compare_digest) triệt tiêu kênh kề.</a:t>
                      </a:r>
                    </a:p>
                  </a:txBody>
                  <a:tcPr anchor="ctr">
                    <a:solidFill>
                      <a:srgbClr val="FFFFFF"/>
                    </a:solidFill>
                  </a:tcPr>
                </a:tc>
              </a:tr>
              <a:tr h="859536">
                <a:tc>
                  <a:txBody>
                    <a:bodyPr wrap="square" lIns="73152" rIns="73152"/>
                    <a:lstStyle/>
                    <a:p>
                      <a:pPr>
                        <a:defRPr b="1" sz="1000">
                          <a:solidFill>
                            <a:srgbClr val="1E40AF"/>
                          </a:solidFill>
                        </a:defRPr>
                      </a:pPr>
                      <a:r>
                        <a:t>3. Đối thủ trong</a:t>
                      </a:r>
                      <a:br/>
                      <a:r>
                        <a:t>thế giới thực (Sec 6)</a:t>
                      </a:r>
                    </a:p>
                  </a:txBody>
                  <a:tcPr anchor="ctr">
                    <a:solidFill>
                      <a:srgbClr val="F8FAFC"/>
                    </a:solidFill>
                  </a:tcPr>
                </a:tc>
                <a:tc>
                  <a:txBody>
                    <a:bodyPr wrap="square" lIns="73152" rIns="73152"/>
                    <a:lstStyle/>
                    <a:p>
                      <a:pPr>
                        <a:defRPr sz="950">
                          <a:solidFill>
                            <a:srgbClr val="1E293B"/>
                          </a:solidFill>
                        </a:defRPr>
                      </a:pPr>
                      <a:r>
                        <a:t>Đối thủ bị giới hạn toán học (PPT) hoặc tấn công kênh truyền sạch (Dolev-Yao).</a:t>
                      </a:r>
                    </a:p>
                  </a:txBody>
                  <a:tcPr anchor="ctr">
                    <a:solidFill>
                      <a:srgbClr val="F8FAFC"/>
                    </a:solidFill>
                  </a:tcPr>
                </a:tc>
                <a:tc>
                  <a:txBody>
                    <a:bodyPr wrap="square" lIns="73152" rIns="73152"/>
                    <a:lstStyle/>
                    <a:p>
                      <a:pPr>
                        <a:defRPr sz="950">
                          <a:solidFill>
                            <a:srgbClr val="1E293B"/>
                          </a:solidFill>
                        </a:defRPr>
                      </a:pPr>
                      <a:r>
                        <a:t>Đối thủ thể chế (NSA): khai thác siêu dữ liệu, cài cửa sau chuẩn NIST (Dual_EC).</a:t>
                      </a:r>
                    </a:p>
                  </a:txBody>
                  <a:tcPr anchor="ctr">
                    <a:solidFill>
                      <a:srgbClr val="F8FAFC"/>
                    </a:solidFill>
                  </a:tcPr>
                </a:tc>
                <a:tc>
                  <a:txBody>
                    <a:bodyPr wrap="square" lIns="73152" rIns="73152"/>
                    <a:lstStyle/>
                    <a:p>
                      <a:pPr>
                        <a:defRPr sz="950">
                          <a:solidFill>
                            <a:srgbClr val="1E293B"/>
                          </a:solidFill>
                        </a:defRPr>
                      </a:pPr>
                      <a:r>
                        <a:t>Nghiên cứu mật mã chống cửa sau (Cliptography) và phân tách miền (RFC 6962).</a:t>
                      </a:r>
                    </a:p>
                  </a:txBody>
                  <a:tcPr anchor="ctr">
                    <a:solidFill>
                      <a:srgbClr val="F8FAFC"/>
                    </a:solidFill>
                  </a:tcPr>
                </a:tc>
              </a:tr>
              <a:tr h="859536">
                <a:tc>
                  <a:txBody>
                    <a:bodyPr wrap="square" lIns="73152" rIns="73152"/>
                    <a:lstStyle/>
                    <a:p>
                      <a:pPr>
                        <a:defRPr b="1" sz="1000">
                          <a:solidFill>
                            <a:srgbClr val="1E40AF"/>
                          </a:solidFill>
                        </a:defRPr>
                      </a:pPr>
                      <a:r>
                        <a:t>4. Chương trình nghiên cứu</a:t>
                      </a:r>
                      <a:br/>
                      <a:r>
                        <a:t>tương lai (Sec 7)</a:t>
                      </a:r>
                    </a:p>
                  </a:txBody>
                  <a:tcPr anchor="ctr">
                    <a:solidFill>
                      <a:srgbClr val="FFFFFF"/>
                    </a:solidFill>
                  </a:tcPr>
                </a:tc>
                <a:tc>
                  <a:txBody>
                    <a:bodyPr wrap="square" lIns="73152" rIns="73152"/>
                    <a:lstStyle/>
                    <a:p>
                      <a:pPr>
                        <a:defRPr sz="950">
                          <a:solidFill>
                            <a:srgbClr val="1E293B"/>
                          </a:solidFill>
                        </a:defRPr>
                      </a:pPr>
                      <a:r>
                        <a:t>Mật mã học chỉ là phân nhánh của toán học rời rạc và lý thuyết tính toán.</a:t>
                      </a:r>
                    </a:p>
                  </a:txBody>
                  <a:tcPr anchor="ctr">
                    <a:solidFill>
                      <a:srgbClr val="FFFFFF"/>
                    </a:solidFill>
                  </a:tcPr>
                </a:tc>
                <a:tc>
                  <a:txBody>
                    <a:bodyPr wrap="square" lIns="73152" rIns="73152"/>
                    <a:lstStyle/>
                    <a:p>
                      <a:pPr>
                        <a:defRPr sz="950">
                          <a:solidFill>
                            <a:srgbClr val="1E293B"/>
                          </a:solidFill>
                        </a:defRPr>
                      </a:pPr>
                      <a:r>
                        <a:t>4 câu hỏi mở: dùng thống kê lượng hóa đối thủ, mô hình hóa mạng xã hội động.</a:t>
                      </a:r>
                    </a:p>
                  </a:txBody>
                  <a:tcPr anchor="ctr">
                    <a:solidFill>
                      <a:srgbClr val="FFFFFF"/>
                    </a:solidFill>
                  </a:tcPr>
                </a:tc>
                <a:tc>
                  <a:txBody>
                    <a:bodyPr wrap="square" lIns="73152" rIns="73152"/>
                    <a:lstStyle/>
                    <a:p>
                      <a:pPr>
                        <a:defRPr sz="950">
                          <a:solidFill>
                            <a:srgbClr val="1E293B"/>
                          </a:solidFill>
                        </a:defRPr>
                      </a:pPr>
                      <a:r>
                        <a:t>Kết hợp toán học, triết học nhận thức và dữ liệu thực nghiệm thành khoa học an ninh.</a:t>
                      </a:r>
                    </a:p>
                  </a:txBody>
                  <a:tcPr anchor="ctr">
                    <a:solidFill>
                      <a:srgbClr val="FFFFFF"/>
                    </a:solidFill>
                  </a:tcPr>
                </a:tc>
              </a:tr>
            </a:tbl>
          </a:graphicData>
        </a:graphic>
      </p:graphicFrame>
      <p:sp>
        <p:nvSpPr>
          <p:cNvPr id="7" name="TextBox 6"/>
          <p:cNvSpPr txBox="1"/>
          <p:nvPr/>
        </p:nvSpPr>
        <p:spPr>
          <a:xfrm>
            <a:off x="731520" y="6217920"/>
            <a:ext cx="10698480" cy="365760"/>
          </a:xfrm>
          <a:prstGeom prst="rect">
            <a:avLst/>
          </a:prstGeom>
          <a:noFill/>
        </p:spPr>
        <p:txBody>
          <a:bodyPr wrap="none">
            <a:spAutoFit/>
          </a:bodyPr>
          <a:lstStyle/>
          <a:p>
            <a:pPr>
              <a:defRPr sz="950" i="1">
                <a:solidFill>
                  <a:srgbClr val="64748B"/>
                </a:solidFill>
              </a:defRPr>
            </a:pPr>
            <a:r>
              <a:t>Tài liệu tham khảo chính: Halpin (2025), Shannon (1949), Goldwasser-Micali (1984), Dolev-Yao (1983), Kocher (1996), RFC 6962.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