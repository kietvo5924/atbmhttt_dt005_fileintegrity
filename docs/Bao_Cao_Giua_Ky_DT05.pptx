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657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822960"/>
            <a:ext cx="10362895" cy="53035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1097280"/>
            <a:ext cx="9448495" cy="4754880"/>
          </a:xfrm>
          <a:prstGeom prst="rect">
            <a:avLst/>
          </a:prstGeom>
          <a:noFill/>
        </p:spPr>
        <p:txBody>
          <a:bodyPr wrap="square">
            <a:spAutoFit/>
          </a:bodyPr>
          <a:lstStyle/>
          <a:p>
            <a:pPr algn="ctr">
              <a:defRPr b="1" sz="1350">
                <a:solidFill>
                  <a:srgbClr val="1E3A8A"/>
                </a:solidFill>
              </a:defRPr>
            </a:pPr>
            <a:r>
              <a:t>TRƯỜNG ĐẠI HỌC TÀI NGUYÊN VÀ MÔI TRƯỜNG TP. HỒ CHÍ MINH</a:t>
            </a:r>
          </a:p>
          <a:p>
            <a:pPr algn="ctr">
              <a:spcAft>
                <a:spcPts val="1400"/>
              </a:spcAft>
              <a:defRPr b="1" sz="1200">
                <a:solidFill>
                  <a:srgbClr val="2563EB"/>
                </a:solidFill>
              </a:defRPr>
            </a:pPr>
            <a:r>
              <a:t>KHOA CÔNG NGHỆ THÔNG TIN</a:t>
            </a:r>
          </a:p>
          <a:p>
            <a:pPr algn="ctr">
              <a:defRPr b="1" sz="2200">
                <a:solidFill>
                  <a:srgbClr val="DC2626"/>
                </a:solidFill>
              </a:defRPr>
            </a:pPr>
            <a:r>
              <a:t>BÁO CÁO THUYẾT TRÌNH ĐỒ ÁN GIỮA KỲ</a:t>
            </a:r>
          </a:p>
          <a:p>
            <a:pPr algn="ctr">
              <a:spcAft>
                <a:spcPts val="1000"/>
              </a:spcAft>
              <a:defRPr b="1" sz="1550">
                <a:solidFill>
                  <a:srgbClr val="1E3A8A"/>
                </a:solidFill>
              </a:defRPr>
            </a:pPr>
            <a:r>
              <a:t>ĐỀ TÀI DT005: HỆ THỐNG KIỂM TRA TOÀN VẸN TỆP BẰNG SHA-256, HMAC VÀ CÂY MERKLE</a:t>
            </a:r>
          </a:p>
          <a:p>
            <a:pPr algn="ctr">
              <a:defRPr b="1" sz="1200">
                <a:solidFill>
                  <a:srgbClr val="0F172A"/>
                </a:solidFill>
              </a:defRPr>
            </a:pPr>
            <a:r>
              <a:t>Học phần: An Toàn và Bảo Mật Hệ Thống Thông Tin</a:t>
            </a:r>
          </a:p>
          <a:p>
            <a:pPr algn="ctr">
              <a:spcAft>
                <a:spcPts val="1200"/>
              </a:spcAft>
              <a:defRPr b="1" sz="1250">
                <a:solidFill>
                  <a:srgbClr val="1E3A8A"/>
                </a:solidFill>
              </a:defRPr>
            </a:pPr>
            <a:r>
              <a:t>Giảng viên hướng dẫn: ThS. Phạm Trọng Huynh</a:t>
            </a:r>
            <a:br/>
            <a:r>
              <a:t>Sinh viên thực hiện: Võ Anh Kiệt  —  MSSV: 1150080143  —  Lớp: 11_CNPM2</a:t>
            </a:r>
          </a:p>
          <a:p>
            <a:pPr algn="ctr">
              <a:spcAft>
                <a:spcPts val="800"/>
              </a:spcAft>
              <a:defRPr sz="1000">
                <a:solidFill>
                  <a:srgbClr val="64748B"/>
                </a:solidFill>
              </a:defRPr>
            </a:pPr>
            <a:r>
              <a:t>Nghiên Cứu Và Phát Triển Dựa Trên Bài Báo Khoa Học Gốc: The Adversary: The Philosophy of Cryptography</a:t>
            </a:r>
            <a:br/>
            <a:r>
              <a:t>Tác giả: Harry Halpin — Xuất bản trên Tạp chí An ninh mạng Oxford (Oxford Journal of Cybersecurity, 2025)</a:t>
            </a:r>
          </a:p>
          <a:p>
            <a:pPr algn="ctr">
              <a:defRPr b="1" sz="1050">
                <a:solidFill>
                  <a:srgbClr val="059669"/>
                </a:solidFill>
              </a:defRPr>
            </a:pPr>
            <a:r>
              <a:t>Phương Pháp Luận Nghiên Cứu: Triển khai 3 Trụ cột độc lập (Kỹ thuật PoC, Mô phỏng an ninh 7 Games, Thực nghiệm trên 1.000 tệp)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1: DỊCH BÀI BÁO VÀ TÓM TẮT NỘI DUNG</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 Giới Thiệu Và Tóm Tắt Bài Báo Khoa Học Của Tác Giả Harry Halpin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Hồ Sơ Bài Báo Và Luận Điểm Cốt Lõi</a:t>
            </a:r>
          </a:p>
          <a:p>
            <a:pPr>
              <a:spcBef>
                <a:spcPts val="500"/>
              </a:spcBef>
              <a:defRPr b="1" sz="1030">
                <a:solidFill>
                  <a:srgbClr val="2563EB"/>
                </a:solidFill>
              </a:defRPr>
            </a:pPr>
            <a:r>
              <a:t>• Tác giả và xuất bản:</a:t>
            </a:r>
          </a:p>
          <a:p>
            <a:pPr>
              <a:spcBef>
                <a:spcPts val="150"/>
              </a:spcBef>
              <a:defRPr sz="950">
                <a:solidFill>
                  <a:srgbClr val="0F172A"/>
                </a:solidFill>
              </a:defRPr>
            </a:pPr>
            <a:r>
              <a:t>Bài báo khoa học Kẻ thù: Triết học về mật mã học của TS. Harry Halpin thuộc Viện nghiên cứu khoa học máy tính Inria Pháp và Nym Technologies, đăng trên Tạp chí An ninh mạng Oxford năm 2025.</a:t>
            </a:r>
          </a:p>
          <a:p>
            <a:pPr>
              <a:spcBef>
                <a:spcPts val="500"/>
              </a:spcBef>
              <a:defRPr b="1" sz="1030">
                <a:solidFill>
                  <a:srgbClr val="2563EB"/>
                </a:solidFill>
              </a:defRPr>
            </a:pPr>
            <a:r>
              <a:t>• Luận điểm hạt nhân của bài báo:</a:t>
            </a:r>
          </a:p>
          <a:p>
            <a:pPr>
              <a:spcBef>
                <a:spcPts val="150"/>
              </a:spcBef>
              <a:defRPr sz="950">
                <a:solidFill>
                  <a:srgbClr val="0F172A"/>
                </a:solidFill>
              </a:defRPr>
            </a:pPr>
            <a:r>
              <a:t>Mật mã học không chỉ là công thức toán học trừu tượng. Linh hồn thực sự của ngành nằm ở mô hình đối đầu với Kẻ thù có chủ đích, luôn tìm cách phá hoại tính toàn vẹn của dữ liệu.</a:t>
            </a:r>
          </a:p>
          <a:p>
            <a:pPr>
              <a:spcBef>
                <a:spcPts val="500"/>
              </a:spcBef>
              <a:defRPr b="1" sz="1030">
                <a:solidFill>
                  <a:srgbClr val="2563EB"/>
                </a:solidFill>
              </a:defRPr>
            </a:pPr>
            <a:r>
              <a:t>• Khoảng cách giữa lý thuyết và thực tiễn:</a:t>
            </a:r>
          </a:p>
          <a:p>
            <a:pPr>
              <a:spcBef>
                <a:spcPts val="150"/>
              </a:spcBef>
              <a:defRPr sz="950">
                <a:solidFill>
                  <a:srgbClr val="0F172A"/>
                </a:solidFill>
              </a:defRPr>
            </a:pPr>
            <a:r>
              <a:t>Nhiều hệ thống chứng minh an toàn tuyệt đối trên giấy tờ nhưng khi triển khai thực tế lại sụp đổ trước các cuộc tấn công khai thác cấu trúc dữ liệu và kênh kề đo thời gian.</a:t>
            </a:r>
          </a:p>
          <a:p>
            <a:pPr>
              <a:spcBef>
                <a:spcPts val="500"/>
              </a:spcBef>
              <a:defRPr b="1" sz="1030">
                <a:solidFill>
                  <a:srgbClr val="2563EB"/>
                </a:solidFill>
              </a:defRPr>
            </a:pPr>
            <a:r>
              <a:t>• Định hướng nghiên cứu:</a:t>
            </a:r>
          </a:p>
          <a:p>
            <a:pPr>
              <a:spcBef>
                <a:spcPts val="150"/>
              </a:spcBef>
              <a:defRPr sz="950">
                <a:solidFill>
                  <a:srgbClr val="0F172A"/>
                </a:solidFill>
              </a:defRPr>
            </a:pPr>
            <a:r>
              <a:t>Đưa các nguyên lý mật mã học vào kiểm nghiệm thực nghiệm trên các hệ thống tệp tin phân cấp phức tạp thay vì chỉ dựa vào giả định lý thuyết đơn giản.</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Ảnh Chụp Trang Đầu Tiên Bản Dịch Tiếng Việt</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Chèn ảnh chụp trang bìa hoặc trang 1 tệp PDF bản dịch tiếng Việt của bài báo.</a:t>
            </a:r>
          </a:p>
          <a:p>
            <a:pPr>
              <a:spcBef>
                <a:spcPts val="300"/>
              </a:spcBef>
              <a:defRPr sz="880">
                <a:solidFill>
                  <a:srgbClr val="0F172A"/>
                </a:solidFill>
              </a:defRPr>
            </a:pPr>
            <a:r>
              <a:t>• Tiêu đề hiển thị: Kẻ thù - Triết học về mật mã học.</a:t>
            </a:r>
          </a:p>
          <a:p>
            <a:pPr>
              <a:spcBef>
                <a:spcPts val="300"/>
              </a:spcBef>
              <a:defRPr sz="880">
                <a:solidFill>
                  <a:srgbClr val="0F172A"/>
                </a:solidFill>
              </a:defRPr>
            </a:pPr>
            <a:r>
              <a:t>• Thông tin tác giả: Harry Halpin, Tạp chí An ninh mạng Oxford (2025).</a:t>
            </a:r>
          </a:p>
          <a:p>
            <a:pPr>
              <a:spcBef>
                <a:spcPts val="300"/>
              </a:spcBef>
              <a:defRPr sz="880">
                <a:solidFill>
                  <a:srgbClr val="0F172A"/>
                </a:solidFill>
              </a:defRPr>
            </a:pPr>
            <a:r>
              <a:t>• Đoạn tóm tắt mở đầu (Abstract) đã được dịch sang tiếng Việt chuẩn mực.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1: DỊCH BÀI BÁO VÀ TÓM TẮT NỘI DUNG</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2. Tóm Tắt Các Chương Trọng Tâm Của Bài Báo Từ Chương 1 Đến Chương 4</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Lý Thuyết Cốt Lõi Trong Chương 1 Đến Chương 4</a:t>
            </a:r>
          </a:p>
          <a:p>
            <a:pPr>
              <a:spcBef>
                <a:spcPts val="500"/>
              </a:spcBef>
              <a:defRPr b="1" sz="1030">
                <a:solidFill>
                  <a:srgbClr val="2563EB"/>
                </a:solidFill>
              </a:defRPr>
            </a:pPr>
            <a:r>
              <a:t>• Nhiễu ngẫu nhiên so với Kẻ thù có chủ đích (Mục 1-2):</a:t>
            </a:r>
          </a:p>
          <a:p>
            <a:pPr>
              <a:spcBef>
                <a:spcPts val="150"/>
              </a:spcBef>
              <a:defRPr sz="950">
                <a:solidFill>
                  <a:srgbClr val="0F172A"/>
                </a:solidFill>
              </a:defRPr>
            </a:pPr>
            <a:r>
              <a:t>Phân biệt rành mạch: Nhiễu đường truyền vật lý mang tính ngẫu nhiên, mã CRC32 xử lý tốt. Ngược lại, Kẻ thù mật mã có chủ ý sửa đổi dữ liệu và tính toán lại mã CRC32 mới chỉ trong 1 mili-giây do tính chất tuyến tính. Do đó CRC32 hoàn toàn vô dụng trước kẻ thù.</a:t>
            </a:r>
          </a:p>
          <a:p>
            <a:pPr>
              <a:spcBef>
                <a:spcPts val="500"/>
              </a:spcBef>
              <a:defRPr b="1" sz="1030">
                <a:solidFill>
                  <a:srgbClr val="2563EB"/>
                </a:solidFill>
              </a:defRPr>
            </a:pPr>
            <a:r>
              <a:t>• Bắt buộc dùng hàm băm mật mã học một chiều (Mục 2):</a:t>
            </a:r>
          </a:p>
          <a:p>
            <a:pPr>
              <a:spcBef>
                <a:spcPts val="150"/>
              </a:spcBef>
              <a:defRPr sz="950">
                <a:solidFill>
                  <a:srgbClr val="0F172A"/>
                </a:solidFill>
              </a:defRPr>
            </a:pPr>
            <a:r>
              <a:t>Giải pháp duy nhất là hàm băm một chiều như SHA-256 với hiệu ứng tuyết lở: sửa 1 bit dữ liệu làm biến đổi hơn 50% trong 256 bit băm, khiến kẻ thù không thể đảo ngược.</a:t>
            </a:r>
          </a:p>
          <a:p>
            <a:pPr>
              <a:spcBef>
                <a:spcPts val="500"/>
              </a:spcBef>
              <a:defRPr b="1" sz="1030">
                <a:solidFill>
                  <a:srgbClr val="2563EB"/>
                </a:solidFill>
              </a:defRPr>
            </a:pPr>
            <a:r>
              <a:t>• Nguyên lý Kerckhoffs về tính minh bạch (Mục 2-3):</a:t>
            </a:r>
          </a:p>
          <a:p>
            <a:pPr>
              <a:spcBef>
                <a:spcPts val="150"/>
              </a:spcBef>
              <a:defRPr sz="950">
                <a:solidFill>
                  <a:srgbClr val="0F172A"/>
                </a:solidFill>
              </a:defRPr>
            </a:pPr>
            <a:r>
              <a:t>Khẳng định: Hệ thống bảo mật tuyệt đối không được giấu kín thuật toán. Độ an toàn chỉ dựa vào tính bất khả nghịch của toán học và chuỗi băm gốc 32 byte.</a:t>
            </a:r>
          </a:p>
          <a:p>
            <a:pPr>
              <a:spcBef>
                <a:spcPts val="500"/>
              </a:spcBef>
              <a:defRPr b="1" sz="1030">
                <a:solidFill>
                  <a:srgbClr val="2563EB"/>
                </a:solidFill>
              </a:defRPr>
            </a:pPr>
            <a:r>
              <a:t>• Khắc phục giới hạn của Claude Shannon và Ralph Merkle (Mục 3-4):</a:t>
            </a:r>
          </a:p>
          <a:p>
            <a:pPr>
              <a:spcBef>
                <a:spcPts val="150"/>
              </a:spcBef>
              <a:defRPr sz="950">
                <a:solidFill>
                  <a:srgbClr val="0F172A"/>
                </a:solidFill>
              </a:defRPr>
            </a:pPr>
            <a:r>
              <a:t>Định lý Shannon: Giữ bí mật hoàn hảo đòi hỏi khóa dài bằng thông điệp. Cây Merkle giải quyết triệt để vấn đề này khi nén toàn bộ 1.000 tệp thành đúng 32 byte băm gốc.</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Đối Sánh Nhiễu Vật Lý vs Kẻ Thù Mật Mã &amp; Shannon</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Vẽ 2 nhánh đối sánh: Nhánh trên là Nhiễu ngẫu nhiên (Gaussian Noise) -&gt; CRC32 giải quyết tốt.</a:t>
            </a:r>
          </a:p>
          <a:p>
            <a:pPr>
              <a:spcBef>
                <a:spcPts val="300"/>
              </a:spcBef>
              <a:defRPr sz="880">
                <a:solidFill>
                  <a:srgbClr val="0F172A"/>
                </a:solidFill>
              </a:defRPr>
            </a:pPr>
            <a:r>
              <a:t>• Nhánh dưới là Kẻ thù mật mã chủ động (Active Adversary) -&gt; CRC32 bị phá vỡ do tuyến tính.</a:t>
            </a:r>
          </a:p>
          <a:p>
            <a:pPr>
              <a:spcBef>
                <a:spcPts val="300"/>
              </a:spcBef>
              <a:defRPr sz="880">
                <a:solidFill>
                  <a:srgbClr val="0F172A"/>
                </a:solidFill>
              </a:defRPr>
            </a:pPr>
            <a:r>
              <a:t>• Khối giải pháp: Hàm băm SHA-256 phi tuyến tính với hiệu ứng tuyết lở (Avalanche Effect).</a:t>
            </a:r>
          </a:p>
          <a:p>
            <a:pPr>
              <a:spcBef>
                <a:spcPts val="300"/>
              </a:spcBef>
              <a:defRPr sz="880">
                <a:solidFill>
                  <a:srgbClr val="0F172A"/>
                </a:solidFill>
              </a:defRPr>
            </a:pPr>
            <a:r>
              <a:t>• Khối nguyên lý Kerckhoffs: Công khai thuật toán, chỉ tin cậy vào chuỗi băm gốc 32 byte.</a:t>
            </a:r>
          </a:p>
          <a:p>
            <a:pPr>
              <a:spcBef>
                <a:spcPts val="300"/>
              </a:spcBef>
              <a:defRPr sz="880">
                <a:solidFill>
                  <a:srgbClr val="0F172A"/>
                </a:solidFill>
              </a:defRPr>
            </a:pPr>
            <a:r>
              <a:t>• Khối khắc phục Claude Shannon: Nén không gian dữ liệu bằng Cây Merkle Ralph Merkle 1978.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1: DỊCH BÀI BÁO VÀ TÓM TẮT NỘI DUNG</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3. Tóm Tắt Các Chương Trọng Tâm Của Bài Báo Từ Chương 5 Đến Kết Luận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Khung An Toàn Mật Mã Học Và Kêu Gọi Kiểm Nghiệm</a:t>
            </a:r>
          </a:p>
          <a:p>
            <a:pPr>
              <a:spcBef>
                <a:spcPts val="500"/>
              </a:spcBef>
              <a:defRPr b="1" sz="1030">
                <a:solidFill>
                  <a:srgbClr val="2563EB"/>
                </a:solidFill>
              </a:defRPr>
            </a:pPr>
            <a:r>
              <a:t>• Mục 4: Khung kiểm định an toàn mật mã học hiện đại:</a:t>
            </a:r>
          </a:p>
          <a:p>
            <a:pPr>
              <a:spcBef>
                <a:spcPts val="150"/>
              </a:spcBef>
              <a:defRPr sz="950">
                <a:solidFill>
                  <a:srgbClr val="0F172A"/>
                </a:solidFill>
              </a:defRPr>
            </a:pPr>
            <a:r>
              <a:t>Định nghĩa qua mô hình thách đấu toán học PPT của Goldwasser-Micali. Với SHA-256, kẻ địch cần 2 mũ 128 phép tính để tìm va chạm, vượt xa giới hạn năng lực tính toán của siêu máy tính.</a:t>
            </a:r>
          </a:p>
          <a:p>
            <a:pPr>
              <a:spcBef>
                <a:spcPts val="500"/>
              </a:spcBef>
              <a:defRPr b="1" sz="1030">
                <a:solidFill>
                  <a:srgbClr val="2563EB"/>
                </a:solidFill>
              </a:defRPr>
            </a:pPr>
            <a:r>
              <a:t>• Mục 5: Giới hạn của sự hình thức hóa toán học:</a:t>
            </a:r>
          </a:p>
          <a:p>
            <a:pPr>
              <a:spcBef>
                <a:spcPts val="150"/>
              </a:spcBef>
              <a:defRPr sz="950">
                <a:solidFill>
                  <a:srgbClr val="0F172A"/>
                </a:solidFill>
              </a:defRPr>
            </a:pPr>
            <a:r>
              <a:t>Cảnh báo tấn công kênh kề đo thời gian và tấn công giả mạo tiền ảnh cấp 2 trên cây Merkle phẳng nếu không phân tách miền dữ liệu chuẩn.</a:t>
            </a:r>
          </a:p>
          <a:p>
            <a:pPr>
              <a:spcBef>
                <a:spcPts val="500"/>
              </a:spcBef>
              <a:defRPr b="1" sz="1030">
                <a:solidFill>
                  <a:srgbClr val="2563EB"/>
                </a:solidFill>
              </a:defRPr>
            </a:pPr>
            <a:r>
              <a:t>• Mục 6: Kẻ thù mạng Dolev-Yao và Tiết lộ Snowden:</a:t>
            </a:r>
          </a:p>
          <a:p>
            <a:pPr>
              <a:spcBef>
                <a:spcPts val="150"/>
              </a:spcBef>
              <a:defRPr sz="950">
                <a:solidFill>
                  <a:srgbClr val="0F172A"/>
                </a:solidFill>
              </a:defRPr>
            </a:pPr>
            <a:r>
              <a:t>Kẻ thù kiểm soát toàn diện đường truyền mạng, có khả năng sửa đổi, tráo đổi gói tin và thu thập siêu dữ liệu. Chuẩn RFC 6962 Certificate Transparency là chìa khóa chống sửa đổi lén.</a:t>
            </a:r>
          </a:p>
          <a:p>
            <a:pPr>
              <a:spcBef>
                <a:spcPts val="500"/>
              </a:spcBef>
              <a:defRPr b="1" sz="1030">
                <a:solidFill>
                  <a:srgbClr val="2563EB"/>
                </a:solidFill>
              </a:defRPr>
            </a:pPr>
            <a:r>
              <a:t>• Mục 7 và Kết luận: Yêu cầu kiểm nghiệm thực nghiệm:</a:t>
            </a:r>
          </a:p>
          <a:p>
            <a:pPr>
              <a:spcBef>
                <a:spcPts val="150"/>
              </a:spcBef>
              <a:defRPr sz="950">
                <a:solidFill>
                  <a:srgbClr val="0F172A"/>
                </a:solidFill>
              </a:defRPr>
            </a:pPr>
            <a:r>
              <a:t>Tác giả nhấn mạnh: Mật mã học là khoa học thực nghiệm, bắt buộc phải đưa giải pháp vào đo đạc đối đầu trên các hệ thống tệp tin phức tạp ngoài đời thực.</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Mô Hình 3 Hành Vi Của Kẻ Thù Mạng Dolev-Yao</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Khối trung tâm: Kẻ thù mạng Dolev-Yao kiểm soát toàn diện đường truyền kênh mạng.</a:t>
            </a:r>
          </a:p>
          <a:p>
            <a:pPr>
              <a:spcBef>
                <a:spcPts val="300"/>
              </a:spcBef>
              <a:defRPr sz="880">
                <a:solidFill>
                  <a:srgbClr val="0F172A"/>
                </a:solidFill>
              </a:defRPr>
            </a:pPr>
            <a:r>
              <a:t>• Hành vi 1: Tấn công sửa đổi gói tin trên đường truyền (Tamper in-transit) -&gt; Đảo bit.</a:t>
            </a:r>
          </a:p>
          <a:p>
            <a:pPr>
              <a:spcBef>
                <a:spcPts val="300"/>
              </a:spcBef>
              <a:defRPr sz="880">
                <a:solidFill>
                  <a:srgbClr val="0F172A"/>
                </a:solidFill>
              </a:defRPr>
            </a:pPr>
            <a:r>
              <a:t>• Hành vi 2: Tấn công tráo đổi bằng chứng chéo giữa các tệp (Cross-proof swap).</a:t>
            </a:r>
          </a:p>
          <a:p>
            <a:pPr>
              <a:spcBef>
                <a:spcPts val="300"/>
              </a:spcBef>
              <a:defRPr sz="880">
                <a:solidFill>
                  <a:srgbClr val="0F172A"/>
                </a:solidFill>
              </a:defRPr>
            </a:pPr>
            <a:r>
              <a:t>• Hành vi 3: Tấn công phát lại dữ liệu cũ đã thu thập (Replay attack).</a:t>
            </a:r>
          </a:p>
          <a:p>
            <a:pPr>
              <a:spcBef>
                <a:spcPts val="300"/>
              </a:spcBef>
              <a:defRPr sz="880">
                <a:solidFill>
                  <a:srgbClr val="0F172A"/>
                </a:solidFill>
              </a:defRPr>
            </a:pPr>
            <a:r>
              <a:t>• Khối phòng vệ: Bằng chứng Merkle tự chứng thực độc lập, phát hiện sai khác 100%.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2: PHƯƠNG PHÁP LUẬN NGHIÊN CỨU</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4. Khung Phương Pháp Luận Khoa Học: 3 Trụ Cột Độc Lập Hiện Thực Hóa Bài Báo</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Chuyển Hóa Lý Thuyết Trừu Tượng Bằng 3 Trụ Cột Riêng Biệt</a:t>
            </a:r>
          </a:p>
          <a:p>
            <a:pPr>
              <a:spcBef>
                <a:spcPts val="500"/>
              </a:spcBef>
              <a:defRPr b="1" sz="920">
                <a:solidFill>
                  <a:srgbClr val="2563EB"/>
                </a:solidFill>
              </a:defRPr>
            </a:pPr>
            <a:r>
              <a:t>• Bản chất bài báo gốc:</a:t>
            </a:r>
          </a:p>
          <a:p>
            <a:pPr>
              <a:spcBef>
                <a:spcPts val="150"/>
              </a:spcBef>
              <a:defRPr sz="840">
                <a:solidFill>
                  <a:srgbClr val="0F172A"/>
                </a:solidFill>
              </a:defRPr>
            </a:pPr>
            <a:r>
              <a:t>Bài báo của Harry Halpin (2025) là công trình thuần lý thuyết và triết học mật mã học (không có mã nguồn hay dataset sẵn). Để đạt chuẩn nghiên cứu khoa học thực nghiệm cao nhất, nhóm triển khai 3 Trụ cột độc lập, không gộp chung:</a:t>
            </a:r>
          </a:p>
          <a:p>
            <a:pPr>
              <a:spcBef>
                <a:spcPts val="500"/>
              </a:spcBef>
              <a:defRPr b="1" sz="920">
                <a:solidFill>
                  <a:srgbClr val="2563EB"/>
                </a:solidFill>
              </a:defRPr>
            </a:pPr>
            <a:r>
              <a:t>• Trụ cột I - Hướng 1: Kỹ thuật hệ thống &amp; PoC (Operationalization):</a:t>
            </a:r>
          </a:p>
          <a:p>
            <a:pPr>
              <a:spcBef>
                <a:spcPts val="150"/>
              </a:spcBef>
              <a:defRPr sz="840">
                <a:solidFill>
                  <a:srgbClr val="0F172A"/>
                </a:solidFill>
              </a:defRPr>
            </a:pPr>
            <a:r>
              <a:t>- Mục tiêu: Hiện thực hóa tư tưởng bài báo thành cấu trúc cây phân cấp HD-MerkleTree, phân tách miền RFC 6962 và cơ chế xóa an toàn bộ nhớ (Zeroization).</a:t>
            </a:r>
            <a:br/>
            <a:r>
              <a:t>- Tệp thực thi độc lập: src/proposed_model/hd_merkle_tree.py</a:t>
            </a:r>
          </a:p>
          <a:p>
            <a:pPr>
              <a:spcBef>
                <a:spcPts val="500"/>
              </a:spcBef>
              <a:defRPr b="1" sz="920">
                <a:solidFill>
                  <a:srgbClr val="2563EB"/>
                </a:solidFill>
              </a:defRPr>
            </a:pPr>
            <a:r>
              <a:t>• Trụ cột II - Hướng 2: Mô phỏng an ninh hình thức (7 Security Games):</a:t>
            </a:r>
          </a:p>
          <a:p>
            <a:pPr>
              <a:spcBef>
                <a:spcPts val="150"/>
              </a:spcBef>
              <a:defRPr sz="840">
                <a:solidFill>
                  <a:srgbClr val="0F172A"/>
                </a:solidFill>
              </a:defRPr>
            </a:pPr>
            <a:r>
              <a:t>- Mục tiêu: Chuyển các định nghĩa toán học (PPT, Dolev-Yao, Biba) thành 7 Game đối đầu độc lập, đo lường xác suất thắng và Advantage của Kẻ tấn công.</a:t>
            </a:r>
            <a:br/>
            <a:r>
              <a:t>- Lệnh chạy độc lập: python src/proposed_model/security_games.py</a:t>
            </a:r>
          </a:p>
          <a:p>
            <a:pPr>
              <a:spcBef>
                <a:spcPts val="500"/>
              </a:spcBef>
              <a:defRPr b="1" sz="920">
                <a:solidFill>
                  <a:srgbClr val="2563EB"/>
                </a:solidFill>
              </a:defRPr>
            </a:pPr>
            <a:r>
              <a:t>• Trụ cột III - Hướng 4: Thực nghiệm định lượng quy mô lớn (Case Study):</a:t>
            </a:r>
          </a:p>
          <a:p>
            <a:pPr>
              <a:spcBef>
                <a:spcPts val="150"/>
              </a:spcBef>
              <a:defRPr sz="840">
                <a:solidFill>
                  <a:srgbClr val="0F172A"/>
                </a:solidFill>
              </a:defRPr>
            </a:pPr>
            <a:r>
              <a:t>- Mục tiêu: Áp dụng vào bài toán kiểm tra toàn vẹn 1.000 tệp tin thực tế, đo đạc tốc độ CPU, băng thông mạng và độ trễ cập nhật.</a:t>
            </a:r>
            <a:br/>
            <a:r>
              <a:t>- Khởi chạy độc lập: run_demo_web.bat (Dashboard tại http://127.0.0.1:8080)</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3 Trụ Cột Phương Pháp Luận Chuyển Hóa Lý Thuyết</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Khối đỉnh: Bài báo lý thuyết Harry Halpin (Oxford Cybersecurity 2025).</a:t>
            </a:r>
          </a:p>
          <a:p>
            <a:pPr>
              <a:spcBef>
                <a:spcPts val="300"/>
              </a:spcBef>
              <a:defRPr sz="880">
                <a:solidFill>
                  <a:srgbClr val="0F172A"/>
                </a:solidFill>
              </a:defRPr>
            </a:pPr>
            <a:r>
              <a:t>• Rẽ nhánh thành 3 Trụ cột nghiên cứu độc lập (3 màu sắc phân biệt):</a:t>
            </a:r>
          </a:p>
          <a:p>
            <a:pPr>
              <a:spcBef>
                <a:spcPts val="300"/>
              </a:spcBef>
              <a:defRPr sz="880">
                <a:solidFill>
                  <a:srgbClr val="0F172A"/>
                </a:solidFill>
              </a:defRPr>
            </a:pPr>
            <a:r>
              <a:t>• 1. Trụ Cột I (Xanh dương): Kỹ thuật Hệ thống PoC (hd_merkle_tree.py).</a:t>
            </a:r>
          </a:p>
          <a:p>
            <a:pPr>
              <a:spcBef>
                <a:spcPts val="300"/>
              </a:spcBef>
              <a:defRPr sz="880">
                <a:solidFill>
                  <a:srgbClr val="0F172A"/>
                </a:solidFill>
              </a:defRPr>
            </a:pPr>
            <a:r>
              <a:t>• 2. Trụ Cột II (Tím đỏ): Mô phỏng Đấu trường An ninh 7 Games (security_games.py).</a:t>
            </a:r>
          </a:p>
          <a:p>
            <a:pPr>
              <a:spcBef>
                <a:spcPts val="300"/>
              </a:spcBef>
              <a:defRPr sz="880">
                <a:solidFill>
                  <a:srgbClr val="0F172A"/>
                </a:solidFill>
              </a:defRPr>
            </a:pPr>
            <a:r>
              <a:t>• 3. Trụ Cột III (Xanh ngọc): Thực nghiệm Định lượng 1.000 tệp (web_demo.py).</a:t>
            </a:r>
          </a:p>
          <a:p>
            <a:pPr>
              <a:spcBef>
                <a:spcPts val="300"/>
              </a:spcBef>
              <a:defRPr sz="880">
                <a:solidFill>
                  <a:srgbClr val="0F172A"/>
                </a:solidFill>
              </a:defRPr>
            </a:pPr>
            <a:r>
              <a:t>• Khối đáy: Hội tụ chứng minh toàn diện cả Lý thuyết - Toán học - Thực tiễn.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2: PHƯƠNG PHÁP LUẬN NGHIÊN CỨU</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5. Bảng Đối Chiếu Trực Tiếp Giữa Bài Báo Gốc Và Bài Làm Của Nhóm</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6 Luận Điểm Đối Chiếu: Bài Báo Có Gì Nhóm Có Đó</a:t>
            </a:r>
          </a:p>
          <a:p>
            <a:pPr>
              <a:spcBef>
                <a:spcPts val="500"/>
              </a:spcBef>
              <a:defRPr b="1" sz="960">
                <a:solidFill>
                  <a:srgbClr val="2563EB"/>
                </a:solidFill>
              </a:defRPr>
            </a:pPr>
            <a:r>
              <a:t>1. Bản chất Kẻ tấn công (Mục 1-2 Trang 2-3) sang hàm băm SHA-256:</a:t>
            </a:r>
          </a:p>
          <a:p>
            <a:pPr>
              <a:spcBef>
                <a:spcPts val="150"/>
              </a:spcBef>
              <a:defRPr sz="880">
                <a:solidFill>
                  <a:srgbClr val="0F172A"/>
                </a:solidFill>
              </a:defRPr>
            </a:pPr>
            <a:r>
              <a:t>Bài báo chứng minh CRC32 tuyến tính bị vượt qua dễ dàng. Nhóm thay thế bằng SHA-256 phi tuyến tính, đạt hiệu ứng tuyết lở 51.95%, phát hiện 100% can thiệp.</a:t>
            </a:r>
          </a:p>
          <a:p>
            <a:pPr>
              <a:spcBef>
                <a:spcPts val="500"/>
              </a:spcBef>
              <a:defRPr b="1" sz="960">
                <a:solidFill>
                  <a:srgbClr val="2563EB"/>
                </a:solidFill>
              </a:defRPr>
            </a:pPr>
            <a:r>
              <a:t>2. Nguyên lý Kerckhoffs (Mục 2 Trang 3 Tài liệu [14, 15]) sang tính minh bạch:</a:t>
            </a:r>
          </a:p>
          <a:p>
            <a:pPr>
              <a:spcBef>
                <a:spcPts val="150"/>
              </a:spcBef>
              <a:defRPr sz="880">
                <a:solidFill>
                  <a:srgbClr val="0F172A"/>
                </a:solidFill>
              </a:defRPr>
            </a:pPr>
            <a:r>
              <a:t>Bài báo yêu cầu mở thuật toán, nhóm công khai toàn bộ mã nguồn và cấu trúc cây, độ an toàn chỉ dựa vào chuỗi băm gốc 32 byte không thể đảo ngược.</a:t>
            </a:r>
          </a:p>
          <a:p>
            <a:pPr>
              <a:spcBef>
                <a:spcPts val="500"/>
              </a:spcBef>
              <a:defRPr b="1" sz="960">
                <a:solidFill>
                  <a:srgbClr val="2563EB"/>
                </a:solidFill>
              </a:defRPr>
            </a:pPr>
            <a:r>
              <a:t>3. Kẻ thù chủ động Dolev-Yao (Mục 4 Trang 8 Tài liệu [52]) sang 3 kịch bản tấn công:</a:t>
            </a:r>
          </a:p>
          <a:p>
            <a:pPr>
              <a:spcBef>
                <a:spcPts val="150"/>
              </a:spcBef>
              <a:defRPr sz="880">
                <a:solidFill>
                  <a:srgbClr val="0F172A"/>
                </a:solidFill>
              </a:defRPr>
            </a:pPr>
            <a:r>
              <a:t>Bài báo chỉ rõ kẻ thù can thiệp gói tin, nhóm lập trình đủ 3 nút mô phỏng can thiệp: Đảo bit, Bơm tệp lạ và Xóa tệp trên giao diện web.</a:t>
            </a:r>
          </a:p>
          <a:p>
            <a:pPr>
              <a:spcBef>
                <a:spcPts val="500"/>
              </a:spcBef>
              <a:defRPr b="1" sz="960">
                <a:solidFill>
                  <a:srgbClr val="2563EB"/>
                </a:solidFill>
              </a:defRPr>
            </a:pPr>
            <a:r>
              <a:t>4. Cảnh báo thông điệp biến thiên (Mục 5 Trang 10) sang 1.000 tệp thực tế:</a:t>
            </a:r>
          </a:p>
          <a:p>
            <a:pPr>
              <a:spcBef>
                <a:spcPts val="150"/>
              </a:spcBef>
              <a:defRPr sz="880">
                <a:solidFill>
                  <a:srgbClr val="0F172A"/>
                </a:solidFill>
              </a:defRPr>
            </a:pPr>
            <a:r>
              <a:t>Bài báo cảnh báo dữ liệu thực tế luôn phân cấp và dài ngắn khác nhau, nhóm xây dựng tập 1.000 tệp tin từ 15 byte đến 350 KB thuộc 14 định dạng.</a:t>
            </a:r>
          </a:p>
          <a:p>
            <a:pPr>
              <a:spcBef>
                <a:spcPts val="500"/>
              </a:spcBef>
              <a:defRPr b="1" sz="960">
                <a:solidFill>
                  <a:srgbClr val="2563EB"/>
                </a:solidFill>
              </a:defRPr>
            </a:pPr>
            <a:r>
              <a:t>5. Nguy cơ va chạm ghép chuỗi (Mục 5 Trang 8-10) sang chuẩn RFC 6962:</a:t>
            </a:r>
          </a:p>
          <a:p>
            <a:pPr>
              <a:spcBef>
                <a:spcPts val="150"/>
              </a:spcBef>
              <a:defRPr sz="880">
                <a:solidFill>
                  <a:srgbClr val="0F172A"/>
                </a:solidFill>
              </a:defRPr>
            </a:pPr>
            <a:r>
              <a:t>Bài báo cảnh báo nguy cơ ghép chuỗi thô, nhóm áp dụng chuẩn RFC 6962 gắn tiền tố 0x00 cho lá và 0x01 cho nhánh, triệt tiêu 100% va chạm.</a:t>
            </a:r>
          </a:p>
          <a:p>
            <a:pPr>
              <a:spcBef>
                <a:spcPts val="500"/>
              </a:spcBef>
              <a:defRPr b="1" sz="960">
                <a:solidFill>
                  <a:srgbClr val="2563EB"/>
                </a:solidFill>
              </a:defRPr>
            </a:pPr>
            <a:r>
              <a:t>6. Kêu gọi kiểm nghiệm thực nghiệm (Mục 7 Trang 14-15) sang đo đạc đối chuẩn:</a:t>
            </a:r>
          </a:p>
          <a:p>
            <a:pPr>
              <a:spcBef>
                <a:spcPts val="150"/>
              </a:spcBef>
              <a:defRPr sz="880">
                <a:solidFill>
                  <a:srgbClr val="0F172A"/>
                </a:solidFill>
              </a:defRPr>
            </a:pPr>
            <a:r>
              <a:t>Bài báo yêu cầu đo thực tế, nhóm đo đạc đối đầu 4 cơ chế trên 1.000 tệp tin với 5 lần lặp CPU perf_counter độc lập.</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Ma Trận Ánh Xạ 1:1 Giữa Bài Báo Và Đồ Án</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Bảng hoặc sơ đồ trực quan 2 cột song song đối chiếu 6 luận điểm.</a:t>
            </a:r>
          </a:p>
          <a:p>
            <a:pPr>
              <a:spcBef>
                <a:spcPts val="300"/>
              </a:spcBef>
              <a:defRPr sz="880">
                <a:solidFill>
                  <a:srgbClr val="0F172A"/>
                </a:solidFill>
              </a:defRPr>
            </a:pPr>
            <a:r>
              <a:t>• Cột trái: 6 Luận điểm lý thuyết của bài báo Harry Halpin (Oxford Cybersecurity 2025).</a:t>
            </a:r>
          </a:p>
          <a:p>
            <a:pPr>
              <a:spcBef>
                <a:spcPts val="300"/>
              </a:spcBef>
              <a:defRPr sz="880">
                <a:solidFill>
                  <a:srgbClr val="0F172A"/>
                </a:solidFill>
              </a:defRPr>
            </a:pPr>
            <a:r>
              <a:t>• Cột phải: 6 Giải pháp kỹ thuật và mã nguồn hiện thực hóa tương ứng của đồ án.</a:t>
            </a:r>
          </a:p>
          <a:p>
            <a:pPr>
              <a:spcBef>
                <a:spcPts val="300"/>
              </a:spcBef>
              <a:defRPr sz="880">
                <a:solidFill>
                  <a:srgbClr val="0F172A"/>
                </a:solidFill>
              </a:defRPr>
            </a:pPr>
            <a:r>
              <a:t>• Các đường nối mũi tên màu xanh lá thể hiện sự khớp nối 1:1 tuyệt đối giữa lý thuyết và thực tiễn.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2: PHƯƠNG PHÁP LUẬN NGHIÊN CỨU</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6. Dẫn Chứng Chứng Minh Chi Tiết Điểm Đối Chiếu 1, 2 Và 3</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Cơ Sở Lý Thuyết Và Bằng Chứng Đo Đạc Thực Tế</a:t>
            </a:r>
          </a:p>
          <a:p>
            <a:pPr>
              <a:spcBef>
                <a:spcPts val="500"/>
              </a:spcBef>
              <a:defRPr b="1" sz="960">
                <a:solidFill>
                  <a:srgbClr val="2563EB"/>
                </a:solidFill>
              </a:defRPr>
            </a:pPr>
            <a:r>
              <a:t>• Điểm 1: Kẻ tấn công có chủ đích so với Nhiễu (Mục 1-2 Trang 2-3):</a:t>
            </a:r>
          </a:p>
          <a:p>
            <a:pPr>
              <a:spcBef>
                <a:spcPts val="150"/>
              </a:spcBef>
              <a:defRPr sz="880">
                <a:solidFill>
                  <a:srgbClr val="0F172A"/>
                </a:solidFill>
              </a:defRPr>
            </a:pPr>
            <a:r>
              <a:t>- Lý thuyết bài báo: CRC32 có tính chất tuyến tính CRC(A ⊕ B) = CRC(A) ⊕ CRC(B), kẻ tấn công dễ dàng tạo ra vi sai bù trừ chỉ trong 0.001 ms để giữ nguyên mã CRC.</a:t>
            </a:r>
            <a:br/>
            <a:r>
              <a:t>- Dẫn chứng chứng minh: Nhóm kiểm nghiệm thực tế trên sha256_manifest.py. Khi đổi 1 bit ký tự trong tệp 350 KB, SHA-256 biến đổi 133/256 bit băm (51.95%), chuỗi băm 64 ký tự sai khác hoàn toàn, báo động tức thì 100%.</a:t>
            </a:r>
          </a:p>
          <a:p>
            <a:pPr>
              <a:spcBef>
                <a:spcPts val="500"/>
              </a:spcBef>
              <a:defRPr b="1" sz="960">
                <a:solidFill>
                  <a:srgbClr val="2563EB"/>
                </a:solidFill>
              </a:defRPr>
            </a:pPr>
            <a:r>
              <a:t>• Điểm 2: Nguyên lý Kerckhoffs về tính minh bạch (Mục 2 Trang 3 Tài liệu [14, 15]):</a:t>
            </a:r>
          </a:p>
          <a:p>
            <a:pPr>
              <a:spcBef>
                <a:spcPts val="150"/>
              </a:spcBef>
              <a:defRPr sz="880">
                <a:solidFill>
                  <a:srgbClr val="0F172A"/>
                </a:solidFill>
              </a:defRPr>
            </a:pPr>
            <a:r>
              <a:t>- Lý thuyết bài báo: Độ an toàn của hệ thống không được dựa vào sự bí mật của mã nguồn mà chỉ dựa vào khóa hoặc giá trị băm tin cậy.</a:t>
            </a:r>
            <a:br/>
            <a:r>
              <a:t>- Dẫn chứng chứng minh: Nhóm công khai toàn bộ mã nguồn trên máy chủ, công khai cấu trúc cây Merkle. Người kiểm tra chỉ cần nắm giữ đúng chuỗi băm gốc 32 byte (256 bit) có không gian tìm kiếm 2 mũ 256, bất khả thi đối với mọi siêu máy tính.</a:t>
            </a:r>
          </a:p>
          <a:p>
            <a:pPr>
              <a:spcBef>
                <a:spcPts val="500"/>
              </a:spcBef>
              <a:defRPr b="1" sz="960">
                <a:solidFill>
                  <a:srgbClr val="2563EB"/>
                </a:solidFill>
              </a:defRPr>
            </a:pPr>
            <a:r>
              <a:t>• Điểm 3: Ba hành vi kẻ thù chủ động Dolev-Yao (Mục 4 Trang 8 Tài liệu [52]):</a:t>
            </a:r>
          </a:p>
          <a:p>
            <a:pPr>
              <a:spcBef>
                <a:spcPts val="150"/>
              </a:spcBef>
              <a:defRPr sz="880">
                <a:solidFill>
                  <a:srgbClr val="0F172A"/>
                </a:solidFill>
              </a:defRPr>
            </a:pPr>
            <a:r>
              <a:t>- Lý thuyết bài báo: Kẻ tấn công mạng có toàn quyền can thiệp, đánh tráo và giả mạo thông điệp.</a:t>
            </a:r>
            <a:br/>
            <a:r>
              <a:t>- Dẫn chứng chứng minh: Lập trình sẵn 3 nút mô phỏng tấn công trong web_demo.py. Thao tác trên 1.000 tệp tin cho thấy hệ thống phát hiện chính xác 100% tệp bị can thiệp và định vị trong 0.228 ms.</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Ảnh Chụp Web Demo: Báo Động Khi Bị Tấn Công Đảo Bit</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Chèn ảnh chụp màn hình thực tế từ Web Demo khi nhấn nút Đảo 1 bit ngẫu nhiên.</a:t>
            </a:r>
          </a:p>
          <a:p>
            <a:pPr>
              <a:spcBef>
                <a:spcPts val="300"/>
              </a:spcBef>
              <a:defRPr sz="880">
                <a:solidFill>
                  <a:srgbClr val="0F172A"/>
                </a:solidFill>
              </a:defRPr>
            </a:pPr>
            <a:r>
              <a:t>• Khung thông báo màu đỏ hiển thị rõ: Phát hiện vi phạm toàn vẹn dữ liệu.</a:t>
            </a:r>
          </a:p>
          <a:p>
            <a:pPr>
              <a:spcBef>
                <a:spcPts val="300"/>
              </a:spcBef>
              <a:defRPr sz="880">
                <a:solidFill>
                  <a:srgbClr val="0F172A"/>
                </a:solidFill>
              </a:defRPr>
            </a:pPr>
            <a:r>
              <a:t>• Chỉ rõ tên tệp tin bị can thiệp và định vị tệp lỗi chính xác 100%.</a:t>
            </a:r>
          </a:p>
          <a:p>
            <a:pPr>
              <a:spcBef>
                <a:spcPts val="300"/>
              </a:spcBef>
              <a:defRPr sz="880">
                <a:solidFill>
                  <a:srgbClr val="0F172A"/>
                </a:solidFill>
              </a:defRPr>
            </a:pPr>
            <a:r>
              <a:t>• Hiển thị tốc độ phát hiện sai khác chỉ trong 0.228 mili-giây.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2: PHƯƠNG PHÁP LUẬN NGHIÊN CỨU</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7. Dẫn Chứng Chứng Minh Chi Tiết Điểm Đối Chiếu 4, 5 Và 6</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Chứng Minh Toán Học Và Khảo Nghiệm Thực Tế</a:t>
            </a:r>
          </a:p>
          <a:p>
            <a:pPr>
              <a:spcBef>
                <a:spcPts val="500"/>
              </a:spcBef>
              <a:defRPr b="1" sz="960">
                <a:solidFill>
                  <a:srgbClr val="2563EB"/>
                </a:solidFill>
              </a:defRPr>
            </a:pPr>
            <a:r>
              <a:t>• Điểm 4: Nguy cơ va chạm ghép chuỗi và Chuẩn RFC 6962 (Mục 5 Trang 8-10):</a:t>
            </a:r>
          </a:p>
          <a:p>
            <a:pPr>
              <a:spcBef>
                <a:spcPts val="150"/>
              </a:spcBef>
              <a:defRPr sz="880">
                <a:solidFill>
                  <a:srgbClr val="0F172A"/>
                </a:solidFill>
              </a:defRPr>
            </a:pPr>
            <a:r>
              <a:t>- Lý thuyết bài báo: Cây Merkle thông thường nếu băm nút lá và nhánh cùng chung định dạng H(a || b) sẽ bị tấn công tráo đổi lá thành nhánh.</a:t>
            </a:r>
            <a:br/>
            <a:r>
              <a:t>- Dẫn chứng toán học: Nhóm áp dụng RFC 6962 phân tách miền: Lá = H(0x00 || Dữ liệu) và Nhánh = H(0x01 || Trái || Phải). Do tập tiền tố rời nhau, xác suất va chạm giả mạo triệt tiêu về dưới 2 mũ âm 128, chứng minh an toàn tuyệt đối.</a:t>
            </a:r>
          </a:p>
          <a:p>
            <a:pPr>
              <a:spcBef>
                <a:spcPts val="500"/>
              </a:spcBef>
              <a:defRPr b="1" sz="960">
                <a:solidFill>
                  <a:srgbClr val="2563EB"/>
                </a:solidFill>
              </a:defRPr>
            </a:pPr>
            <a:r>
              <a:t>• Điểm 5: Xác minh cục bộ O(log N) của Ralph Merkle (Mục 4 Trang 5 Tài liệu [27]):</a:t>
            </a:r>
          </a:p>
          <a:p>
            <a:pPr>
              <a:spcBef>
                <a:spcPts val="150"/>
              </a:spcBef>
              <a:defRPr sz="880">
                <a:solidFill>
                  <a:srgbClr val="0F172A"/>
                </a:solidFill>
              </a:defRPr>
            </a:pPr>
            <a:r>
              <a:t>- Lý thuyết bài báo: Bằng chứng Merkle cho phép xác minh độc lập 1 tệp với độ phức tạp O(log N) thay vì phải tải và kiểm tra toàn bộ O(N) tệp tin.</a:t>
            </a:r>
            <a:br/>
            <a:r>
              <a:t>- Dẫn chứng số liệu: Trên 1.000 tệp tin, chiều cao cây chỉ là 10 tầng băm. Kích thước bằng chứng chỉ 1.37 KB (1.369 Byte) so với toàn bộ danh mục 111.13 KB, tiết kiệm 98.8% băng thông mạng và thời gian xác minh chỉ mất 0.02 ms.</a:t>
            </a:r>
          </a:p>
          <a:p>
            <a:pPr>
              <a:spcBef>
                <a:spcPts val="500"/>
              </a:spcBef>
              <a:defRPr b="1" sz="960">
                <a:solidFill>
                  <a:srgbClr val="2563EB"/>
                </a:solidFill>
              </a:defRPr>
            </a:pPr>
            <a:r>
              <a:t>• Điểm 6: Lời kêu gọi kiểm nghiệm thực tế (Mục 7 Trang 14-15):</a:t>
            </a:r>
          </a:p>
          <a:p>
            <a:pPr>
              <a:spcBef>
                <a:spcPts val="150"/>
              </a:spcBef>
              <a:defRPr sz="880">
                <a:solidFill>
                  <a:srgbClr val="0F172A"/>
                </a:solidFill>
              </a:defRPr>
            </a:pPr>
            <a:r>
              <a:t>- Lý thuyết bài báo: Mật mã học đòi hỏi đánh giá trên dữ liệu thực tế biến thiên kích thước.</a:t>
            </a:r>
            <a:br/>
            <a:r>
              <a:t>- Dẫn chứng thực thi: Nhóm xây dựng 1.000 tệp tin thực tế, đo đạc độc lập 5 lần bằng hàm CPU thời gian thực perf_counter.</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Chuẩn RFC 6962 Phân Tách Miền Kháng Second-Preimage</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Vẽ sơ đồ cây Merkle thể hiện rõ ràng tiền tố phân tách miền chuẩn quốc tế RFC 6962:</a:t>
            </a:r>
          </a:p>
          <a:p>
            <a:pPr>
              <a:spcBef>
                <a:spcPts val="300"/>
              </a:spcBef>
              <a:defRPr sz="880">
                <a:solidFill>
                  <a:srgbClr val="0F172A"/>
                </a:solidFill>
              </a:defRPr>
            </a:pPr>
            <a:r>
              <a:t>• Nút lá (Leaf): H(0x00 || Dữ liệu) - màu vàng cam.</a:t>
            </a:r>
          </a:p>
          <a:p>
            <a:pPr>
              <a:spcBef>
                <a:spcPts val="300"/>
              </a:spcBef>
              <a:defRPr sz="880">
                <a:solidFill>
                  <a:srgbClr val="0F172A"/>
                </a:solidFill>
              </a:defRPr>
            </a:pPr>
            <a:r>
              <a:t>• Nút nhánh nội bộ (Internal Node): H(0x01 || Trái || Phải) - màu xanh dương.</a:t>
            </a:r>
          </a:p>
          <a:p>
            <a:pPr>
              <a:spcBef>
                <a:spcPts val="300"/>
              </a:spcBef>
              <a:defRPr sz="880">
                <a:solidFill>
                  <a:srgbClr val="0F172A"/>
                </a:solidFill>
              </a:defRPr>
            </a:pPr>
            <a:r>
              <a:t>• Minh họa trường hợp kẻ địch cố tình ghép nút lá giả làm nút nhánh bị triệt tiêu 100%.</a:t>
            </a:r>
          </a:p>
          <a:p>
            <a:pPr>
              <a:spcBef>
                <a:spcPts val="300"/>
              </a:spcBef>
              <a:defRPr sz="880">
                <a:solidFill>
                  <a:srgbClr val="0F172A"/>
                </a:solidFill>
              </a:defRPr>
            </a:pPr>
            <a:r>
              <a:t>• Công thức chứng minh: Giao của 2 tập tiền tố rỗng {0x00} ∩ {0x01} =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3: TRỤ CỘT III - THỰC NGHIỆM ĐỊNH LƯỢNG QUY MÔ LỚN (HƯỚNG 4)</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8. Thiết Lập Tập Dữ Liệu Thực Tế 1.000 Tệp Tin Phù Hợp Hoàn Toàn Với Bài Báo</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Đối Chiếu Khoa Học Của Tập Dữ Liệu 1.000 Tệp Tin</a:t>
            </a:r>
          </a:p>
          <a:p>
            <a:pPr>
              <a:spcBef>
                <a:spcPts val="500"/>
              </a:spcBef>
              <a:defRPr b="1" sz="980">
                <a:solidFill>
                  <a:srgbClr val="2563EB"/>
                </a:solidFill>
              </a:defRPr>
            </a:pPr>
            <a:r>
              <a:t>• 1. Đối chiếu Bài báo khoa học (Mục 5 Trang 10 Dòng 1-4 - Quan trọng nhất):</a:t>
            </a:r>
          </a:p>
          <a:p>
            <a:pPr>
              <a:spcBef>
                <a:spcPts val="150"/>
              </a:spcBef>
              <a:defRPr sz="900">
                <a:solidFill>
                  <a:srgbClr val="0F172A"/>
                </a:solidFill>
              </a:defRPr>
            </a:pPr>
            <a:r>
              <a:t>Harry Halpin nhấn mạnh: Trong thực tế thông điệp luôn có kích thước dài ngắn biến thiên và cấu trúc cây phân cấp nhiều tầng. Nếu chỉ kiểm nghiệm trên dữ liệu phẳng hoặc các tệp tin có kích thước nhân tạo giống nhau sẽ che giấu các lỗ hổng tắc nghẽn và rò rỉ siêu dữ liệu.</a:t>
            </a:r>
          </a:p>
          <a:p>
            <a:pPr>
              <a:spcBef>
                <a:spcPts val="500"/>
              </a:spcBef>
              <a:defRPr b="1" sz="980">
                <a:solidFill>
                  <a:srgbClr val="2563EB"/>
                </a:solidFill>
              </a:defRPr>
            </a:pPr>
            <a:r>
              <a:t>• 2. Đối chiếu Terminal Log và Giao diện Web Demo:</a:t>
            </a:r>
          </a:p>
          <a:p>
            <a:pPr>
              <a:spcBef>
                <a:spcPts val="150"/>
              </a:spcBef>
              <a:defRPr sz="900">
                <a:solidFill>
                  <a:srgbClr val="0F172A"/>
                </a:solidFill>
              </a:defRPr>
            </a:pPr>
            <a:r>
              <a:t>- Giao diện Web hiển thị chính xác: Tổng số tệp tin: 1.000 tệp.</a:t>
            </a:r>
            <a:br/>
            <a:r>
              <a:t>- Terminal nạp dữ liệu ghi nhận: 1.000 tệp tin, 23 thư mục phân cấp sâu 4 tầng, tổng dung lượng xấp xỉ 4.1 MB, phân bố phong phú trên 14 định dạng mở rộng (py, js, json, yaml, sql, log, csv, png, txt, docx...).</a:t>
            </a:r>
          </a:p>
          <a:p>
            <a:pPr>
              <a:spcBef>
                <a:spcPts val="500"/>
              </a:spcBef>
              <a:defRPr b="1" sz="980">
                <a:solidFill>
                  <a:srgbClr val="2563EB"/>
                </a:solidFill>
              </a:defRPr>
            </a:pPr>
            <a:r>
              <a:t>• 3. Giải thích ngắn gọn ý nghĩa khoa học:</a:t>
            </a:r>
          </a:p>
          <a:p>
            <a:pPr>
              <a:spcBef>
                <a:spcPts val="150"/>
              </a:spcBef>
              <a:defRPr sz="900">
                <a:solidFill>
                  <a:srgbClr val="0F172A"/>
                </a:solidFill>
              </a:defRPr>
            </a:pPr>
            <a:r>
              <a:t>Tập 1.000 tệp tin với kích thước từ 15 byte đến 350 KB tái hiện trọn vẹn áp lực vận hành thực tế của doanh nghiệp, chứng minh khả năng chịu tải và độ phức tạp tính toán O(log N) thực sự của hệ thống.</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Phân Cấp Cây Thư Mục Tập Dữ Liệu 1.000 Tệp Tin</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Vẽ cấu trúc cây thư mục realistic_dataset với 4 tầng phân cấp.</a:t>
            </a:r>
          </a:p>
          <a:p>
            <a:pPr>
              <a:spcBef>
                <a:spcPts val="300"/>
              </a:spcBef>
              <a:defRPr sz="880">
                <a:solidFill>
                  <a:srgbClr val="0F172A"/>
                </a:solidFill>
              </a:defRPr>
            </a:pPr>
            <a:r>
              <a:t>• Các nhánh thư mục chính: src (mã nguồn), config (cấu hình), docs, logs, database.</a:t>
            </a:r>
          </a:p>
          <a:p>
            <a:pPr>
              <a:spcBef>
                <a:spcPts val="300"/>
              </a:spcBef>
              <a:defRPr sz="880">
                <a:solidFill>
                  <a:srgbClr val="0F172A"/>
                </a:solidFill>
              </a:defRPr>
            </a:pPr>
            <a:r>
              <a:t>• Minh họa sự đa dạng của 14 định dạng: py, js, json, yaml, sql, log, csv, png...</a:t>
            </a:r>
          </a:p>
          <a:p>
            <a:pPr>
              <a:spcBef>
                <a:spcPts val="300"/>
              </a:spcBef>
              <a:defRPr sz="880">
                <a:solidFill>
                  <a:srgbClr val="0F172A"/>
                </a:solidFill>
              </a:defRPr>
            </a:pPr>
            <a:r>
              <a:t>• Kích thước tệp tin trải dài từ 15 Byte đến 350 KB, tái hiện đúng dữ liệu thực tế.</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4A: TRỤ CỘT I - KỸ THUẬT HỆ THỐNG &amp; POC (HƯỚNG 1)</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9. Hiện Thực Hóa 3 Mô Hình Kiểm Tra Toàn Vẹn Nền Tảng Đối Chứng</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Đặc Điểm Kỹ Thuật Và Kết Quả Đo Đạc 3 Mô Hình</a:t>
            </a:r>
          </a:p>
          <a:p>
            <a:pPr>
              <a:spcBef>
                <a:spcPts val="500"/>
              </a:spcBef>
              <a:defRPr b="1" sz="960">
                <a:solidFill>
                  <a:srgbClr val="2563EB"/>
                </a:solidFill>
              </a:defRPr>
            </a:pPr>
            <a:r>
              <a:t>• Mô hình 1: Danh sách phẳng băm SHA-256 (sha256_manifest.py):</a:t>
            </a:r>
          </a:p>
          <a:p>
            <a:pPr>
              <a:spcBef>
                <a:spcPts val="150"/>
              </a:spcBef>
              <a:defRPr sz="880">
                <a:solidFill>
                  <a:srgbClr val="0F172A"/>
                </a:solidFill>
              </a:defRPr>
            </a:pPr>
            <a:r>
              <a:t>- Nguyên lý: Băm tuần tự từng tệp tin và lưu chuỗi băm tổng hợp.</a:t>
            </a:r>
            <a:br/>
            <a:r>
              <a:t>- Bằng chứng thực nghiệm: Khởi tạo ~62.6 ms, dung lượng bảng 111.13 KB. Hạn chế: Muốn kiểm tra 1 tệp tin trong mô hình cơ bản, máy khách phải lưu toàn bộ manifest 111 KB (hoặc quét tệp tốn 0.17 ms).</a:t>
            </a:r>
          </a:p>
          <a:p>
            <a:pPr>
              <a:spcBef>
                <a:spcPts val="500"/>
              </a:spcBef>
              <a:defRPr b="1" sz="960">
                <a:solidFill>
                  <a:srgbClr val="2563EB"/>
                </a:solidFill>
              </a:defRPr>
            </a:pPr>
            <a:r>
              <a:t>• Mô hình 2: Danh sách băm có khóa bí mật HMAC (hmac_manifest.py):</a:t>
            </a:r>
          </a:p>
          <a:p>
            <a:pPr>
              <a:spcBef>
                <a:spcPts val="150"/>
              </a:spcBef>
              <a:defRPr sz="880">
                <a:solidFill>
                  <a:srgbClr val="0F172A"/>
                </a:solidFill>
              </a:defRPr>
            </a:pPr>
            <a:r>
              <a:t>- Nguyên lý: Sử dụng khóa bí mật đối xứng K để chống giả mạo danh mục.</a:t>
            </a:r>
            <a:br/>
            <a:r>
              <a:t>- Bằng chứng thực nghiệm: Khởi tạo ~60.6 ms, dung lượng 111.14 KB. Hạn chế: Buộc phải phân phối khóa bí mật K cho máy khách, chưa hỗ trợ chống chối bỏ bất đối xứng.</a:t>
            </a:r>
          </a:p>
          <a:p>
            <a:pPr>
              <a:spcBef>
                <a:spcPts val="500"/>
              </a:spcBef>
              <a:defRPr b="1" sz="960">
                <a:solidFill>
                  <a:srgbClr val="2563EB"/>
                </a:solidFill>
              </a:defRPr>
            </a:pPr>
            <a:r>
              <a:t>• Mô hình 3: Cây Merkle nhị phân truyền thống (standard_merkle_tree.py):</a:t>
            </a:r>
          </a:p>
          <a:p>
            <a:pPr>
              <a:spcBef>
                <a:spcPts val="150"/>
              </a:spcBef>
              <a:defRPr sz="880">
                <a:solidFill>
                  <a:srgbClr val="0F172A"/>
                </a:solidFill>
              </a:defRPr>
            </a:pPr>
            <a:r>
              <a:t>- Nguyên lý: Cây Merkle phẳng chuẩn theo phát minh Ralph Merkle năm 1978.</a:t>
            </a:r>
            <a:br/>
            <a:r>
              <a:t>- Bằng chứng thực nghiệm: Cho phép tạo bằng chứng xác thực từng tệp nặng chỉ 990 Byte, kiểm tra trong 0.02 ms, tiết kiệm hơn 99% băng thông.</a:t>
            </a:r>
          </a:p>
          <a:p>
            <a:pPr>
              <a:spcBef>
                <a:spcPts val="500"/>
              </a:spcBef>
              <a:defRPr b="1" sz="960">
                <a:solidFill>
                  <a:srgbClr val="2563EB"/>
                </a:solidFill>
              </a:defRPr>
            </a:pPr>
            <a:r>
              <a:t>• Đánh giá kết quả:</a:t>
            </a:r>
          </a:p>
          <a:p>
            <a:pPr>
              <a:spcBef>
                <a:spcPts val="150"/>
              </a:spcBef>
              <a:defRPr sz="880">
                <a:solidFill>
                  <a:srgbClr val="0F172A"/>
                </a:solidFill>
              </a:defRPr>
            </a:pPr>
            <a:r>
              <a:t>Cả 3 mô hình đều phát hiện chính xác 100% khi xảy ra tấn công trên 1.000 tệp tin.</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Ảnh Chụp Web Demo: Nạp 1.000 Tệp Tin Nguyên Bản</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Chèn ảnh chụp màn hình Web Demo ở trạng thái nạp dữ liệu thành công ban đầu.</a:t>
            </a:r>
          </a:p>
          <a:p>
            <a:pPr>
              <a:spcBef>
                <a:spcPts val="300"/>
              </a:spcBef>
              <a:defRPr sz="880">
                <a:solidFill>
                  <a:srgbClr val="0F172A"/>
                </a:solidFill>
              </a:defRPr>
            </a:pPr>
            <a:r>
              <a:t>• Hiển thị bảng trạng thái xanh lá: Đã nạp dữ liệu chuẩn 1.000 tệp tin.</a:t>
            </a:r>
          </a:p>
          <a:p>
            <a:pPr>
              <a:spcBef>
                <a:spcPts val="300"/>
              </a:spcBef>
              <a:defRPr sz="880">
                <a:solidFill>
                  <a:srgbClr val="0F172A"/>
                </a:solidFill>
              </a:defRPr>
            </a:pPr>
            <a:r>
              <a:t>• Hiển thị chuỗi băm đại diện 32 byte (Root Hash) và thời gian nạp dữ liệu.</a:t>
            </a:r>
          </a:p>
          <a:p>
            <a:pPr>
              <a:spcBef>
                <a:spcPts val="300"/>
              </a:spcBef>
              <a:defRPr sz="880">
                <a:solidFill>
                  <a:srgbClr val="0F172A"/>
                </a:solidFill>
              </a:defRPr>
            </a:pPr>
            <a:r>
              <a:t>• Khẳng định hệ thống đạt tỷ lệ nguyên vẹn 100% ban đầu trên cả 3 mô hình nền tảng.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4A: TRỤ CỘT I - KỸ THUẬT HỆ THỐNG &amp; POC (HƯỚNG 1)</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10. Sơ Đồ Kiến Trúc Đề Xuất HD-MerkleTree &amp; Cơ Chế Xóa Bộ Nhớ</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Giải Thích Chi Tiết 5 Tầng Kiến Trúc Hệ Thống (hd_merkle_tree.py)</a:t>
            </a:r>
          </a:p>
          <a:p>
            <a:pPr>
              <a:spcBef>
                <a:spcPts val="500"/>
              </a:spcBef>
              <a:defRPr b="1" sz="900">
                <a:solidFill>
                  <a:srgbClr val="2563EB"/>
                </a:solidFill>
              </a:defRPr>
            </a:pPr>
            <a:r>
              <a:t>• Tầng 1: Lưu trữ phân tầng Biba 1977:</a:t>
            </a:r>
          </a:p>
          <a:p>
            <a:pPr>
              <a:spcBef>
                <a:spcPts val="150"/>
              </a:spcBef>
              <a:defRPr sz="819">
                <a:solidFill>
                  <a:srgbClr val="0F172A"/>
                </a:solidFill>
              </a:defRPr>
            </a:pPr>
            <a:r>
              <a:t>Tổ chức 1.000 tệp tin trong 23 thư mục theo mô hình toàn vẹn Biba. Kháng tấn công ghi ngược từ tệp thường lên thư mục bảo mật.</a:t>
            </a:r>
          </a:p>
          <a:p>
            <a:pPr>
              <a:spcBef>
                <a:spcPts val="500"/>
              </a:spcBef>
              <a:defRPr b="1" sz="900">
                <a:solidFill>
                  <a:srgbClr val="2563EB"/>
                </a:solidFill>
              </a:defRPr>
            </a:pPr>
            <a:r>
              <a:t>• Tầng 2: Phân tách miền băm chuẩn RFC 6962:</a:t>
            </a:r>
          </a:p>
          <a:p>
            <a:pPr>
              <a:spcBef>
                <a:spcPts val="150"/>
              </a:spcBef>
              <a:defRPr sz="819">
                <a:solidFill>
                  <a:srgbClr val="0F172A"/>
                </a:solidFill>
              </a:defRPr>
            </a:pPr>
            <a:r>
              <a:t>Gắn tiền tố 0x00 cho lá và 0x01 cho nhánh. Hai tập tiền tố hoàn toàn rời nhau, triệt tiêu 100% va chạm tiền ảnh cấp hai.</a:t>
            </a:r>
          </a:p>
          <a:p>
            <a:pPr>
              <a:spcBef>
                <a:spcPts val="500"/>
              </a:spcBef>
              <a:defRPr b="1" sz="900">
                <a:solidFill>
                  <a:srgbClr val="2563EB"/>
                </a:solidFill>
              </a:defRPr>
            </a:pPr>
            <a:r>
              <a:t>• Tầng 3: Động cơ Cây Merkle phân cấp trong RAM &amp; Cập nhật Dirty-Path:</a:t>
            </a:r>
          </a:p>
          <a:p>
            <a:pPr>
              <a:spcBef>
                <a:spcPts val="150"/>
              </a:spcBef>
              <a:defRPr sz="819">
                <a:solidFill>
                  <a:srgbClr val="0F172A"/>
                </a:solidFill>
              </a:defRPr>
            </a:pPr>
            <a:r>
              <a:t>Băm song song (~89.9 ms / 1.000 tệp). Cập nhật cục bộ Dirty-Path: khi sửa 1 tệp chỉ tính lại h=4 nút tổ tiên trong ~0.14 ms; khi thêm/xóa đạt 0.10 - 0.16 ms (nhanh hơn 458 - 708 lần so với Standard Merkle ~71-73 ms Rebuild mảng 1D).</a:t>
            </a:r>
          </a:p>
          <a:p>
            <a:pPr>
              <a:spcBef>
                <a:spcPts val="500"/>
              </a:spcBef>
              <a:defRPr b="1" sz="900">
                <a:solidFill>
                  <a:srgbClr val="2563EB"/>
                </a:solidFill>
              </a:defRPr>
            </a:pPr>
            <a:r>
              <a:t>• Tầng 4: Bộ tạo bằng chứng xác thực tối ưu:</a:t>
            </a:r>
          </a:p>
          <a:p>
            <a:pPr>
              <a:spcBef>
                <a:spcPts val="150"/>
              </a:spcBef>
              <a:defRPr sz="819">
                <a:solidFill>
                  <a:srgbClr val="0F172A"/>
                </a:solidFill>
              </a:defRPr>
            </a:pPr>
            <a:r>
              <a:t>Tạo Inclusion Proof gọn nhẹ 1.37 KB (1.369 Byte, tiết kiệm 98.8% băng thông), và Bằng chứng Nhất quán RFC 6962 độc lập chứng minh kho dữ liệu là append-only.</a:t>
            </a:r>
          </a:p>
          <a:p>
            <a:pPr>
              <a:spcBef>
                <a:spcPts val="500"/>
              </a:spcBef>
              <a:defRPr b="1" sz="900">
                <a:solidFill>
                  <a:srgbClr val="2563EB"/>
                </a:solidFill>
              </a:defRPr>
            </a:pPr>
            <a:r>
              <a:t>• Tầng 5: Bảo vệ Kênh kề &amp; Cơ chế Xóa sạch Bộ nhớ (Memory Zeroization):</a:t>
            </a:r>
          </a:p>
          <a:p>
            <a:pPr>
              <a:spcBef>
                <a:spcPts val="150"/>
              </a:spcBef>
              <a:defRPr sz="819">
                <a:solidFill>
                  <a:srgbClr val="0F172A"/>
                </a:solidFill>
              </a:defRPr>
            </a:pPr>
            <a:r>
              <a:t>Hàm hmac.compare_digest triệt tiêu kênh kề đo thời gian O(1) theo Kocher 1996; hàm secure_erase() xóa đè RAM ngăn kẻ thù trích xuất bộ nhớ (Memory Dump Adversary).</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Draw.io Kiến Trúc 5 Tầng Của HD-MerkleTree</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Tầng 1 (Dưới cùng): Multi-Tier Storage (1.000 tệp tin, 23 thư mục, Biba 1977).</a:t>
            </a:r>
          </a:p>
          <a:p>
            <a:pPr>
              <a:spcBef>
                <a:spcPts val="300"/>
              </a:spcBef>
              <a:defRPr sz="880">
                <a:solidFill>
                  <a:srgbClr val="0F172A"/>
                </a:solidFill>
              </a:defRPr>
            </a:pPr>
            <a:r>
              <a:t>• Tầng 2: RFC 6962 Domain Separation (Leaf 0x00 vs Internal Node 0x01).</a:t>
            </a:r>
          </a:p>
          <a:p>
            <a:pPr>
              <a:spcBef>
                <a:spcPts val="300"/>
              </a:spcBef>
              <a:defRPr sz="880">
                <a:solidFill>
                  <a:srgbClr val="0F172A"/>
                </a:solidFill>
              </a:defRPr>
            </a:pPr>
            <a:r>
              <a:t>• Tầng 3 (Trung tâm): In-Memory Dynamic Merkle Engine (ThreadPool, Cache, Dirty-Path).</a:t>
            </a:r>
          </a:p>
          <a:p>
            <a:pPr>
              <a:spcBef>
                <a:spcPts val="300"/>
              </a:spcBef>
              <a:defRPr sz="880">
                <a:solidFill>
                  <a:srgbClr val="0F172A"/>
                </a:solidFill>
              </a:defRPr>
            </a:pPr>
            <a:r>
              <a:t>• Tầng 4: Proof Generator Engine (Inclusion Proof, Consistency Proof).</a:t>
            </a:r>
          </a:p>
          <a:p>
            <a:pPr>
              <a:spcBef>
                <a:spcPts val="300"/>
              </a:spcBef>
              <a:defRPr sz="880">
                <a:solidFill>
                  <a:srgbClr val="0F172A"/>
                </a:solidFill>
              </a:defRPr>
            </a:pPr>
            <a:r>
              <a:t>• Tầng 5 (Trên cùng): Client Verification &amp; Zeroization (hmac.compare_digest, secure_erase).</a:t>
            </a:r>
          </a:p>
          <a:p>
            <a:pPr>
              <a:spcBef>
                <a:spcPts val="300"/>
              </a:spcBef>
              <a:defRPr sz="880">
                <a:solidFill>
                  <a:srgbClr val="0F172A"/>
                </a:solidFill>
              </a:defRPr>
            </a:pPr>
            <a:r>
              <a:t>• Vẽ các mũi tên luồng dữ liệu kết nối tuần tự từ Tầng 1 đến Tầng 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4A: TRỤ CỘT I - KỸ THUẬT HỆ THỐNG &amp; POC (HƯỚNG 1)</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11. Bốn Dẫn Chứng Chứng Minh Kỹ Thuật Đột Phá Của Mô Hình HD-MerkleTree</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4 Dẫn Chứng Chứng Minh Cải Tiến Do Nhóm Tự Xây Dựng</a:t>
            </a:r>
          </a:p>
          <a:p>
            <a:pPr>
              <a:spcBef>
                <a:spcPts val="500"/>
              </a:spcBef>
              <a:defRPr b="1" sz="960">
                <a:solidFill>
                  <a:srgbClr val="2563EB"/>
                </a:solidFill>
              </a:defRPr>
            </a:pPr>
            <a:r>
              <a:t>• 1. Ánh xạ trực tiếp cấu trúc thư mục tự nhiên theo mô hình Biba 1977:</a:t>
            </a:r>
          </a:p>
          <a:p>
            <a:pPr>
              <a:spcBef>
                <a:spcPts val="150"/>
              </a:spcBef>
              <a:defRPr sz="880">
                <a:solidFill>
                  <a:srgbClr val="0F172A"/>
                </a:solidFill>
              </a:defRPr>
            </a:pPr>
            <a:r>
              <a:t>- Chứng minh: Cây Merkle phản chiếu chính xác từng thư mục cha, con. Nhờ đó, thuật toán định vị lỗi chỉ duyệt theo nhánh vi phạm trong O(k log N) thay vì duyệt toàn bộ O(N) 1.000 tệp tin, xác định tệp hỏng chỉ trong 0.228 ms.</a:t>
            </a:r>
          </a:p>
          <a:p>
            <a:pPr>
              <a:spcBef>
                <a:spcPts val="500"/>
              </a:spcBef>
              <a:defRPr b="1" sz="960">
                <a:solidFill>
                  <a:srgbClr val="2563EB"/>
                </a:solidFill>
              </a:defRPr>
            </a:pPr>
            <a:r>
              <a:t>• 2. Chuẩn phân tách miền RFC 6962 triệt tiêu va chạm:</a:t>
            </a:r>
          </a:p>
          <a:p>
            <a:pPr>
              <a:spcBef>
                <a:spcPts val="150"/>
              </a:spcBef>
              <a:defRPr sz="880">
                <a:solidFill>
                  <a:srgbClr val="0F172A"/>
                </a:solidFill>
              </a:defRPr>
            </a:pPr>
            <a:r>
              <a:t>- Chứng minh: Gắn tiền tố byte 0x00 cho lá và 0x01 cho nhánh. Không gian băm nút lá và nhánh hoàn toàn tách biệt, triệt tiêu 100% tấn công giả mạo tiền ảnh cấp 2 với xác suất va chạm dưới 2 mũ âm 128.</a:t>
            </a:r>
          </a:p>
          <a:p>
            <a:pPr>
              <a:spcBef>
                <a:spcPts val="500"/>
              </a:spcBef>
              <a:defRPr b="1" sz="960">
                <a:solidFill>
                  <a:srgbClr val="2563EB"/>
                </a:solidFill>
              </a:defRPr>
            </a:pPr>
            <a:r>
              <a:t>• 3. Lan truyền đường dẫn bẩn cục bộ siêu tốc khi cập nhật tệp:</a:t>
            </a:r>
          </a:p>
          <a:p>
            <a:pPr>
              <a:spcBef>
                <a:spcPts val="150"/>
              </a:spcBef>
              <a:defRPr sz="880">
                <a:solidFill>
                  <a:srgbClr val="0F172A"/>
                </a:solidFill>
              </a:defRPr>
            </a:pPr>
            <a:r>
              <a:t>- Chứng minh toán học: Khi sửa 1 tệp tin, chỉ cần băm lại đúng h = 4 nút tổ tiên từ lá lên đỉnh cây (~0.14 ms). Thời gian thực nghiệm khi thêm/xóa tệp đạt 0.10 - 0.16 ms so với 70.81 - 73.42 ms của Standard Merkle (nhanh hơn 458 - 708 lần do cấu trúc mảng 1D của Standard Merkle phải Rebuild O(N)).</a:t>
            </a:r>
          </a:p>
          <a:p>
            <a:pPr>
              <a:spcBef>
                <a:spcPts val="500"/>
              </a:spcBef>
              <a:defRPr b="1" sz="960">
                <a:solidFill>
                  <a:srgbClr val="2563EB"/>
                </a:solidFill>
              </a:defRPr>
            </a:pPr>
            <a:r>
              <a:t>• 4. Bằng chứng nhất quán RFC 6962 và Phòng chống kênh kề đo thời gian:</a:t>
            </a:r>
          </a:p>
          <a:p>
            <a:pPr>
              <a:spcBef>
                <a:spcPts val="150"/>
              </a:spcBef>
              <a:defRPr sz="880">
                <a:solidFill>
                  <a:srgbClr val="0F172A"/>
                </a:solidFill>
              </a:defRPr>
            </a:pPr>
            <a:r>
              <a:t>- Chứng minh: Bằng chứng tính nhất quán chỉ cần 10 nút (320 byte) chứng minh kho dữ liệu là append-only, chống chèn backdoor lịch sử. Sử dụng hàm hmac.compare_digest triệt tiêu hoàn toàn tấn công kênh kề theo Kocher 1996.</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Cơ Chế Lan Truyền Cập Nhật Dirty-Path Trong RAM</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Vẽ cây Merkle phân cấp có chiều cao h = 4 tầng (Root -&gt; Dir -&gt; Subdir -&gt; File Leaf).</a:t>
            </a:r>
          </a:p>
          <a:p>
            <a:pPr>
              <a:spcBef>
                <a:spcPts val="300"/>
              </a:spcBef>
              <a:defRPr sz="880">
                <a:solidFill>
                  <a:srgbClr val="0F172A"/>
                </a:solidFill>
              </a:defRPr>
            </a:pPr>
            <a:r>
              <a:t>• Khi 1 nút lá bị sửa đổi (đánh dấu đỏ), vẽ đường dẫn bẩn (Dirty-Path) đi lên đỉnh cây.</a:t>
            </a:r>
          </a:p>
          <a:p>
            <a:pPr>
              <a:spcBef>
                <a:spcPts val="300"/>
              </a:spcBef>
              <a:defRPr sz="880">
                <a:solidFill>
                  <a:srgbClr val="0F172A"/>
                </a:solidFill>
              </a:defRPr>
            </a:pPr>
            <a:r>
              <a:t>• Chỉ có 4 nút tổ tiên dọc theo đường dẫn là cần tính lại băm (tốn ~0.14 ms).</a:t>
            </a:r>
          </a:p>
          <a:p>
            <a:pPr>
              <a:spcBef>
                <a:spcPts val="300"/>
              </a:spcBef>
              <a:defRPr sz="880">
                <a:solidFill>
                  <a:srgbClr val="0F172A"/>
                </a:solidFill>
              </a:defRPr>
            </a:pPr>
            <a:r>
              <a:t>• 999 nút lá và nhánh còn lại được đánh dấu xanh biểu thị trạng thái giữ nguyên trong RAM.</a:t>
            </a:r>
          </a:p>
          <a:p>
            <a:pPr>
              <a:spcBef>
                <a:spcPts val="300"/>
              </a:spcBef>
              <a:defRPr sz="880">
                <a:solidFill>
                  <a:srgbClr val="0F172A"/>
                </a:solidFill>
              </a:defRPr>
            </a:pPr>
            <a:r>
              <a:t>• Minh chứng lý do tốc độ cập nhật thêm/xóa nhanh hơn 458 - 708 lần so với Rebuild toàn bộ mảng 1D.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4B: TRỤ CỘT III - THỰC NGHIỆM ĐỊNH LƯỢNG QUY MÔ LỚN (HƯỚNG 4)</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12. Bảng Đo Lường Số Liệu Thực Nghiệm Đối Đầu Trên 1.000 Tệp Tin</a:t>
            </a:r>
          </a:p>
        </p:txBody>
      </p:sp>
      <p:sp>
        <p:nvSpPr>
          <p:cNvPr id="6" name="Rounded Rectangle 5"/>
          <p:cNvSpPr/>
          <p:nvPr/>
        </p:nvSpPr>
        <p:spPr>
          <a:xfrm>
            <a:off x="731520" y="1234440"/>
            <a:ext cx="566928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68680" y="1417320"/>
          <a:ext cx="5394960" cy="2468880"/>
        </p:xfrm>
        <a:graphic>
          <a:graphicData uri="http://schemas.openxmlformats.org/drawingml/2006/table">
            <a:tbl>
              <a:tblPr firstRow="1" bandRow="1">
                <a:tableStyleId>{5C22544A-7EE6-4342-B048-85BDC9FD1C3A}</a:tableStyleId>
              </a:tblPr>
              <a:tblGrid>
                <a:gridCol w="1645920"/>
                <a:gridCol w="868680"/>
                <a:gridCol w="1005840"/>
                <a:gridCol w="868680"/>
                <a:gridCol w="1005840"/>
              </a:tblGrid>
              <a:tr h="493776">
                <a:tc>
                  <a:txBody>
                    <a:bodyPr/>
                    <a:lstStyle/>
                    <a:p>
                      <a:pPr algn="ctr">
                        <a:defRPr b="1" sz="950">
                          <a:solidFill>
                            <a:srgbClr val="FFFFFF"/>
                          </a:solidFill>
                        </a:defRPr>
                      </a:pPr>
                      <a:r>
                        <a:t>Cơ Chế Bảo Mật</a:t>
                      </a:r>
                    </a:p>
                  </a:txBody>
                  <a:tcPr>
                    <a:solidFill>
                      <a:srgbClr val="1E3A8A"/>
                    </a:solidFill>
                  </a:tcPr>
                </a:tc>
                <a:tc>
                  <a:txBody>
                    <a:bodyPr/>
                    <a:lstStyle/>
                    <a:p>
                      <a:pPr algn="ctr">
                        <a:defRPr b="1" sz="950">
                          <a:solidFill>
                            <a:srgbClr val="FFFFFF"/>
                          </a:solidFill>
                        </a:defRPr>
                      </a:pPr>
                      <a:r>
                        <a:t>Khởi Tạo</a:t>
                      </a:r>
                    </a:p>
                  </a:txBody>
                  <a:tcPr>
                    <a:solidFill>
                      <a:srgbClr val="1E3A8A"/>
                    </a:solidFill>
                  </a:tcPr>
                </a:tc>
                <a:tc>
                  <a:txBody>
                    <a:bodyPr/>
                    <a:lstStyle/>
                    <a:p>
                      <a:pPr algn="ctr">
                        <a:defRPr b="1" sz="950">
                          <a:solidFill>
                            <a:srgbClr val="FFFFFF"/>
                          </a:solidFill>
                        </a:defRPr>
                      </a:pPr>
                      <a:r>
                        <a:t>Xác Minh 1 Tệp</a:t>
                      </a:r>
                    </a:p>
                  </a:txBody>
                  <a:tcPr>
                    <a:solidFill>
                      <a:srgbClr val="1E3A8A"/>
                    </a:solidFill>
                  </a:tcPr>
                </a:tc>
                <a:tc>
                  <a:txBody>
                    <a:bodyPr/>
                    <a:lstStyle/>
                    <a:p>
                      <a:pPr algn="ctr">
                        <a:defRPr b="1" sz="950">
                          <a:solidFill>
                            <a:srgbClr val="FFFFFF"/>
                          </a:solidFill>
                        </a:defRPr>
                      </a:pPr>
                      <a:r>
                        <a:t>Dung Lượng Bảng</a:t>
                      </a:r>
                    </a:p>
                  </a:txBody>
                  <a:tcPr>
                    <a:solidFill>
                      <a:srgbClr val="1E3A8A"/>
                    </a:solidFill>
                  </a:tcPr>
                </a:tc>
                <a:tc>
                  <a:txBody>
                    <a:bodyPr/>
                    <a:lstStyle/>
                    <a:p>
                      <a:pPr algn="ctr">
                        <a:defRPr b="1" sz="950">
                          <a:solidFill>
                            <a:srgbClr val="FFFFFF"/>
                          </a:solidFill>
                        </a:defRPr>
                      </a:pPr>
                      <a:r>
                        <a:t>Bằng Chứng 1 Tệp</a:t>
                      </a:r>
                    </a:p>
                  </a:txBody>
                  <a:tcPr>
                    <a:solidFill>
                      <a:srgbClr val="1E3A8A"/>
                    </a:solidFill>
                  </a:tcPr>
                </a:tc>
              </a:tr>
              <a:tr h="493776">
                <a:tc>
                  <a:txBody>
                    <a:bodyPr/>
                    <a:lstStyle/>
                    <a:p>
                      <a:pPr>
                        <a:defRPr sz="900">
                          <a:solidFill>
                            <a:srgbClr val="0F172A"/>
                          </a:solidFill>
                        </a:defRPr>
                      </a:pPr>
                      <a:r>
                        <a:t>1. Danh sách SHA-256</a:t>
                      </a:r>
                    </a:p>
                  </a:txBody>
                  <a:tcPr>
                    <a:solidFill>
                      <a:srgbClr val="FFFFFF"/>
                    </a:solidFill>
                  </a:tcPr>
                </a:tc>
                <a:tc>
                  <a:txBody>
                    <a:bodyPr/>
                    <a:lstStyle/>
                    <a:p>
                      <a:pPr algn="ctr">
                        <a:defRPr sz="900">
                          <a:solidFill>
                            <a:srgbClr val="0F172A"/>
                          </a:solidFill>
                        </a:defRPr>
                      </a:pPr>
                      <a:r>
                        <a:t>62.58 ms</a:t>
                      </a:r>
                    </a:p>
                  </a:txBody>
                  <a:tcPr>
                    <a:solidFill>
                      <a:srgbClr val="FFFFFF"/>
                    </a:solidFill>
                  </a:tcPr>
                </a:tc>
                <a:tc>
                  <a:txBody>
                    <a:bodyPr/>
                    <a:lstStyle/>
                    <a:p>
                      <a:pPr algn="ctr">
                        <a:defRPr sz="900">
                          <a:solidFill>
                            <a:srgbClr val="0F172A"/>
                          </a:solidFill>
                        </a:defRPr>
                      </a:pPr>
                      <a:r>
                        <a:t>0.17 ms</a:t>
                      </a:r>
                    </a:p>
                  </a:txBody>
                  <a:tcPr>
                    <a:solidFill>
                      <a:srgbClr val="FFFFFF"/>
                    </a:solidFill>
                  </a:tcPr>
                </a:tc>
                <a:tc>
                  <a:txBody>
                    <a:bodyPr/>
                    <a:lstStyle/>
                    <a:p>
                      <a:pPr algn="ctr">
                        <a:defRPr sz="900">
                          <a:solidFill>
                            <a:srgbClr val="0F172A"/>
                          </a:solidFill>
                        </a:defRPr>
                      </a:pPr>
                      <a:r>
                        <a:t>111.13 KB</a:t>
                      </a:r>
                    </a:p>
                  </a:txBody>
                  <a:tcPr>
                    <a:solidFill>
                      <a:srgbClr val="FFFFFF"/>
                    </a:solidFill>
                  </a:tcPr>
                </a:tc>
                <a:tc>
                  <a:txBody>
                    <a:bodyPr/>
                    <a:lstStyle/>
                    <a:p>
                      <a:pPr algn="ctr">
                        <a:defRPr sz="900">
                          <a:solidFill>
                            <a:srgbClr val="0F172A"/>
                          </a:solidFill>
                        </a:defRPr>
                      </a:pPr>
                      <a:r>
                        <a:t>Tải cả bảng 111 KB</a:t>
                      </a:r>
                    </a:p>
                  </a:txBody>
                  <a:tcPr>
                    <a:solidFill>
                      <a:srgbClr val="FFFFFF"/>
                    </a:solidFill>
                  </a:tcPr>
                </a:tc>
              </a:tr>
              <a:tr h="493776">
                <a:tc>
                  <a:txBody>
                    <a:bodyPr/>
                    <a:lstStyle/>
                    <a:p>
                      <a:pPr>
                        <a:defRPr sz="900">
                          <a:solidFill>
                            <a:srgbClr val="0F172A"/>
                          </a:solidFill>
                        </a:defRPr>
                      </a:pPr>
                      <a:r>
                        <a:t>2. Băm có khóa HMAC</a:t>
                      </a:r>
                    </a:p>
                  </a:txBody>
                  <a:tcPr>
                    <a:solidFill>
                      <a:srgbClr val="F8FAFC"/>
                    </a:solidFill>
                  </a:tcPr>
                </a:tc>
                <a:tc>
                  <a:txBody>
                    <a:bodyPr/>
                    <a:lstStyle/>
                    <a:p>
                      <a:pPr algn="ctr">
                        <a:defRPr sz="900">
                          <a:solidFill>
                            <a:srgbClr val="0F172A"/>
                          </a:solidFill>
                        </a:defRPr>
                      </a:pPr>
                      <a:r>
                        <a:t>60.65 ms</a:t>
                      </a:r>
                    </a:p>
                  </a:txBody>
                  <a:tcPr>
                    <a:solidFill>
                      <a:srgbClr val="F8FAFC"/>
                    </a:solidFill>
                  </a:tcPr>
                </a:tc>
                <a:tc>
                  <a:txBody>
                    <a:bodyPr/>
                    <a:lstStyle/>
                    <a:p>
                      <a:pPr algn="ctr">
                        <a:defRPr sz="900">
                          <a:solidFill>
                            <a:srgbClr val="0F172A"/>
                          </a:solidFill>
                        </a:defRPr>
                      </a:pPr>
                      <a:r>
                        <a:t>0.07 ms</a:t>
                      </a:r>
                    </a:p>
                  </a:txBody>
                  <a:tcPr>
                    <a:solidFill>
                      <a:srgbClr val="F8FAFC"/>
                    </a:solidFill>
                  </a:tcPr>
                </a:tc>
                <a:tc>
                  <a:txBody>
                    <a:bodyPr/>
                    <a:lstStyle/>
                    <a:p>
                      <a:pPr algn="ctr">
                        <a:defRPr sz="900">
                          <a:solidFill>
                            <a:srgbClr val="0F172A"/>
                          </a:solidFill>
                        </a:defRPr>
                      </a:pPr>
                      <a:r>
                        <a:t>111.14 KB</a:t>
                      </a:r>
                    </a:p>
                  </a:txBody>
                  <a:tcPr>
                    <a:solidFill>
                      <a:srgbClr val="F8FAFC"/>
                    </a:solidFill>
                  </a:tcPr>
                </a:tc>
                <a:tc>
                  <a:txBody>
                    <a:bodyPr/>
                    <a:lstStyle/>
                    <a:p>
                      <a:pPr algn="ctr">
                        <a:defRPr sz="900">
                          <a:solidFill>
                            <a:srgbClr val="0F172A"/>
                          </a:solidFill>
                        </a:defRPr>
                      </a:pPr>
                      <a:r>
                        <a:t>Cần chia sẻ khóa K</a:t>
                      </a:r>
                    </a:p>
                  </a:txBody>
                  <a:tcPr>
                    <a:solidFill>
                      <a:srgbClr val="F8FAFC"/>
                    </a:solidFill>
                  </a:tcPr>
                </a:tc>
              </a:tr>
              <a:tr h="493776">
                <a:tc>
                  <a:txBody>
                    <a:bodyPr/>
                    <a:lstStyle/>
                    <a:p>
                      <a:pPr>
                        <a:defRPr sz="900">
                          <a:solidFill>
                            <a:srgbClr val="0F172A"/>
                          </a:solidFill>
                        </a:defRPr>
                      </a:pPr>
                      <a:r>
                        <a:t>3. Cây Merkle chuẩn</a:t>
                      </a:r>
                    </a:p>
                  </a:txBody>
                  <a:tcPr>
                    <a:solidFill>
                      <a:srgbClr val="FFFFFF"/>
                    </a:solidFill>
                  </a:tcPr>
                </a:tc>
                <a:tc>
                  <a:txBody>
                    <a:bodyPr/>
                    <a:lstStyle/>
                    <a:p>
                      <a:pPr algn="ctr">
                        <a:defRPr sz="900">
                          <a:solidFill>
                            <a:srgbClr val="0F172A"/>
                          </a:solidFill>
                        </a:defRPr>
                      </a:pPr>
                      <a:r>
                        <a:t>60.72 ms</a:t>
                      </a:r>
                    </a:p>
                  </a:txBody>
                  <a:tcPr>
                    <a:solidFill>
                      <a:srgbClr val="FFFFFF"/>
                    </a:solidFill>
                  </a:tcPr>
                </a:tc>
                <a:tc>
                  <a:txBody>
                    <a:bodyPr/>
                    <a:lstStyle/>
                    <a:p>
                      <a:pPr algn="ctr">
                        <a:defRPr sz="900">
                          <a:solidFill>
                            <a:srgbClr val="0F172A"/>
                          </a:solidFill>
                        </a:defRPr>
                      </a:pPr>
                      <a:r>
                        <a:t>0.02 ms</a:t>
                      </a:r>
                    </a:p>
                  </a:txBody>
                  <a:tcPr>
                    <a:solidFill>
                      <a:srgbClr val="FFFFFF"/>
                    </a:solidFill>
                  </a:tcPr>
                </a:tc>
                <a:tc>
                  <a:txBody>
                    <a:bodyPr/>
                    <a:lstStyle/>
                    <a:p>
                      <a:pPr algn="ctr">
                        <a:defRPr sz="900">
                          <a:solidFill>
                            <a:srgbClr val="0F172A"/>
                          </a:solidFill>
                        </a:defRPr>
                      </a:pPr>
                      <a:r>
                        <a:t>44.76 KB</a:t>
                      </a:r>
                    </a:p>
                  </a:txBody>
                  <a:tcPr>
                    <a:solidFill>
                      <a:srgbClr val="FFFFFF"/>
                    </a:solidFill>
                  </a:tcPr>
                </a:tc>
                <a:tc>
                  <a:txBody>
                    <a:bodyPr/>
                    <a:lstStyle/>
                    <a:p>
                      <a:pPr algn="ctr">
                        <a:defRPr sz="900">
                          <a:solidFill>
                            <a:srgbClr val="0F172A"/>
                          </a:solidFill>
                        </a:defRPr>
                      </a:pPr>
                      <a:r>
                        <a:t>990 Byte</a:t>
                      </a:r>
                    </a:p>
                  </a:txBody>
                  <a:tcPr>
                    <a:solidFill>
                      <a:srgbClr val="FFFFFF"/>
                    </a:solidFill>
                  </a:tcPr>
                </a:tc>
              </a:tr>
              <a:tr h="493776">
                <a:tc>
                  <a:txBody>
                    <a:bodyPr/>
                    <a:lstStyle/>
                    <a:p>
                      <a:pPr>
                        <a:defRPr sz="900" b="1">
                          <a:solidFill>
                            <a:srgbClr val="059669"/>
                          </a:solidFill>
                        </a:defRPr>
                      </a:pPr>
                      <a:r>
                        <a:t>4. Cây Merkle cải tiến</a:t>
                      </a:r>
                    </a:p>
                  </a:txBody>
                  <a:tcPr>
                    <a:solidFill>
                      <a:srgbClr val="ECFDF5"/>
                    </a:solidFill>
                  </a:tcPr>
                </a:tc>
                <a:tc>
                  <a:txBody>
                    <a:bodyPr/>
                    <a:lstStyle/>
                    <a:p>
                      <a:pPr algn="ctr">
                        <a:defRPr sz="900" b="1">
                          <a:solidFill>
                            <a:srgbClr val="059669"/>
                          </a:solidFill>
                        </a:defRPr>
                      </a:pPr>
                      <a:r>
                        <a:t>89.91 ms</a:t>
                      </a:r>
                    </a:p>
                  </a:txBody>
                  <a:tcPr>
                    <a:solidFill>
                      <a:srgbClr val="ECFDF5"/>
                    </a:solidFill>
                  </a:tcPr>
                </a:tc>
                <a:tc>
                  <a:txBody>
                    <a:bodyPr/>
                    <a:lstStyle/>
                    <a:p>
                      <a:pPr algn="ctr">
                        <a:defRPr sz="900" b="1">
                          <a:solidFill>
                            <a:srgbClr val="059669"/>
                          </a:solidFill>
                        </a:defRPr>
                      </a:pPr>
                      <a:r>
                        <a:t>0.02 ms</a:t>
                      </a:r>
                    </a:p>
                  </a:txBody>
                  <a:tcPr>
                    <a:solidFill>
                      <a:srgbClr val="ECFDF5"/>
                    </a:solidFill>
                  </a:tcPr>
                </a:tc>
                <a:tc>
                  <a:txBody>
                    <a:bodyPr/>
                    <a:lstStyle/>
                    <a:p>
                      <a:pPr algn="ctr">
                        <a:defRPr sz="900" b="1">
                          <a:solidFill>
                            <a:srgbClr val="059669"/>
                          </a:solidFill>
                        </a:defRPr>
                      </a:pPr>
                      <a:r>
                        <a:t>111.15 KB</a:t>
                      </a:r>
                    </a:p>
                  </a:txBody>
                  <a:tcPr>
                    <a:solidFill>
                      <a:srgbClr val="ECFDF5"/>
                    </a:solidFill>
                  </a:tcPr>
                </a:tc>
                <a:tc>
                  <a:txBody>
                    <a:bodyPr/>
                    <a:lstStyle/>
                    <a:p>
                      <a:pPr algn="ctr">
                        <a:defRPr sz="900" b="1">
                          <a:solidFill>
                            <a:srgbClr val="059669"/>
                          </a:solidFill>
                        </a:defRPr>
                      </a:pPr>
                      <a:r>
                        <a:t>1.369 Byte</a:t>
                      </a:r>
                    </a:p>
                  </a:txBody>
                  <a:tcPr>
                    <a:solidFill>
                      <a:srgbClr val="ECFDF5"/>
                    </a:solidFill>
                  </a:tcPr>
                </a:tc>
              </a:tr>
            </a:tbl>
          </a:graphicData>
        </a:graphic>
      </p:graphicFrame>
      <p:sp>
        <p:nvSpPr>
          <p:cNvPr id="8" name="TextBox 7"/>
          <p:cNvSpPr txBox="1"/>
          <p:nvPr/>
        </p:nvSpPr>
        <p:spPr>
          <a:xfrm>
            <a:off x="868680" y="4069080"/>
            <a:ext cx="5394960" cy="2331720"/>
          </a:xfrm>
          <a:prstGeom prst="rect">
            <a:avLst/>
          </a:prstGeom>
          <a:noFill/>
        </p:spPr>
        <p:txBody>
          <a:bodyPr wrap="square">
            <a:spAutoFit/>
          </a:bodyPr>
          <a:lstStyle/>
          <a:p>
            <a:pPr>
              <a:defRPr b="1" sz="1000">
                <a:solidFill>
                  <a:srgbClr val="1E3A8A"/>
                </a:solidFill>
              </a:defRPr>
            </a:pPr>
            <a:r>
              <a:t>Dẫn Chứng Chứng Minh 3 Chiều Giữa Bài Báo - Số Liệu - Ý Nghĩa:</a:t>
            </a:r>
          </a:p>
          <a:p>
            <a:pPr>
              <a:spcBef>
                <a:spcPts val="300"/>
              </a:spcBef>
              <a:defRPr b="1" sz="850">
                <a:solidFill>
                  <a:srgbClr val="2563EB"/>
                </a:solidFill>
              </a:defRPr>
            </a:pPr>
            <a:r>
              <a:t>• 1. Đối chiếu Bài báo khoa học (Mục 4, 5, 6, Tài liệu [27, 36, 109]):</a:t>
            </a:r>
          </a:p>
          <a:p>
            <a:pPr>
              <a:spcBef>
                <a:spcPts val="100"/>
              </a:spcBef>
              <a:defRPr sz="800">
                <a:solidFill>
                  <a:srgbClr val="0F172A"/>
                </a:solidFill>
              </a:defRPr>
            </a:pPr>
            <a:r>
              <a:t>Harry Halpin (2025) cung cấp khung lý thuyết về Kẻ tấn công hình thức, RFC 6962 và kiểm định PPT. Thực nghiệm định lượng trên 1.000 tệp tin là kết quả nghiên cứu độc lập của nhóm DT005.</a:t>
            </a:r>
          </a:p>
          <a:p>
            <a:pPr>
              <a:spcBef>
                <a:spcPts val="300"/>
              </a:spcBef>
              <a:defRPr b="1" sz="850">
                <a:solidFill>
                  <a:srgbClr val="2563EB"/>
                </a:solidFill>
              </a:defRPr>
            </a:pPr>
            <a:r>
              <a:t>• 2. Đối chiếu Số liệu Benchmark Thực nghiệm Độc lập (results/benchmark_results.json):</a:t>
            </a:r>
          </a:p>
          <a:p>
            <a:pPr>
              <a:spcBef>
                <a:spcPts val="100"/>
              </a:spcBef>
              <a:defRPr sz="800">
                <a:solidFill>
                  <a:srgbClr val="0F172A"/>
                </a:solidFill>
              </a:defRPr>
            </a:pPr>
            <a:r>
              <a:t>Xác minh 1 tệp = 0.02 ms (nhanh hơn ~8.5 lần so với Flat SHA-256 0.17 ms); Bằng chứng = 1.369 Byte (tiết kiệm 98.8% băng thông so với 111.13 KB manifest); Cập nhật động khi Thêm/Xóa = 0.10 - 0.16 ms (nhanh hơn 458 - 708 lần so với Standard Merkle ~71-73 ms Rebuild mảng 1D).</a:t>
            </a:r>
          </a:p>
          <a:p>
            <a:pPr>
              <a:spcBef>
                <a:spcPts val="300"/>
              </a:spcBef>
              <a:defRPr b="1" sz="850">
                <a:solidFill>
                  <a:srgbClr val="2563EB"/>
                </a:solidFill>
              </a:defRPr>
            </a:pPr>
            <a:r>
              <a:t>• 3. Giải thích ngắn gọn lý do vì sao tốt hơn (Có bằng chứng chứng minh):</a:t>
            </a:r>
          </a:p>
          <a:p>
            <a:pPr>
              <a:spcBef>
                <a:spcPts val="100"/>
              </a:spcBef>
              <a:defRPr sz="800">
                <a:solidFill>
                  <a:srgbClr val="0F172A"/>
                </a:solidFill>
              </a:defRPr>
            </a:pPr>
            <a:r>
              <a:t>Nhanh hơn khi Thêm/Xóa vì HD-Merkle chỉ cập nhật nhánh thư mục cục bộ O(log N) thay vì Rebuild toàn bộ O(N) của implementation Standard Merkle mảng 1D; Tiết kiệm 98.8% băng thông và bảo vệ 100% tính riêng tư vì chỉ truyền các nút anh em, không tiết lộ 999 tệp còn lại qua mạng.</a:t>
            </a:r>
          </a:p>
        </p:txBody>
      </p:sp>
      <p:sp>
        <p:nvSpPr>
          <p:cNvPr id="9" name="Rounded Rectangle 8"/>
          <p:cNvSpPr/>
          <p:nvPr/>
        </p:nvSpPr>
        <p:spPr>
          <a:xfrm>
            <a:off x="6675120" y="1234440"/>
            <a:ext cx="475488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1463040"/>
            <a:ext cx="429768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Biểu Đồ Cột Đối Sánh Hiệu Năng 4 Mô Hình</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Vẽ biểu đồ cột kép so sánh 4 cơ chế bảo mật trên 1.000 tệp tin:</a:t>
            </a:r>
          </a:p>
          <a:p>
            <a:pPr>
              <a:spcBef>
                <a:spcPts val="300"/>
              </a:spcBef>
              <a:defRPr sz="880">
                <a:solidFill>
                  <a:srgbClr val="0F172A"/>
                </a:solidFill>
              </a:defRPr>
            </a:pPr>
            <a:r>
              <a:t>• Cột 1: Thời gian xác minh 1 tệp tin (Flat SHA-256: 0.17 ms vs HD-MerkleTree: 0.02 ms).</a:t>
            </a:r>
          </a:p>
          <a:p>
            <a:pPr>
              <a:spcBef>
                <a:spcPts val="300"/>
              </a:spcBef>
              <a:defRPr sz="880">
                <a:solidFill>
                  <a:srgbClr val="0F172A"/>
                </a:solidFill>
              </a:defRPr>
            </a:pPr>
            <a:r>
              <a:t>• Cột 2: Dung lượng truyền tải qua mạng (Flat Manifest: 111.13 KB vs Merkle Proof: 1.37 KB).</a:t>
            </a:r>
          </a:p>
          <a:p>
            <a:pPr>
              <a:spcBef>
                <a:spcPts val="300"/>
              </a:spcBef>
              <a:defRPr sz="880">
                <a:solidFill>
                  <a:srgbClr val="0F172A"/>
                </a:solidFill>
              </a:defRPr>
            </a:pPr>
            <a:r>
              <a:t>• Cột 3: Chi phí cập nhật khi sửa 1 tệp (Flat: 3.09 ms vs HD-MerkleTree: 0.14 ms).</a:t>
            </a:r>
          </a:p>
          <a:p>
            <a:pPr>
              <a:spcBef>
                <a:spcPts val="300"/>
              </a:spcBef>
              <a:defRPr sz="880">
                <a:solidFill>
                  <a:srgbClr val="0F172A"/>
                </a:solidFill>
              </a:defRPr>
            </a:pPr>
            <a:r>
              <a:t>• Tô màu nổi bật cho cột HD-MerkleTree (màu xanh lá) thể hiện sự vượt trội rõ nét.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4C: TRỤ CỘT II - MÔ PHỎNG AN NINH HÌNH THỨC (HƯỚNG 2)</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13. Khung 7 Trò Chơi An Ninh Mật Mã Học (Games 1 – 4: Va Chạm, Mạng, Nút &amp; Tuyết Lở)</a:t>
            </a:r>
          </a:p>
        </p:txBody>
      </p:sp>
      <p:sp>
        <p:nvSpPr>
          <p:cNvPr id="6" name="Rounded Rectangle 5"/>
          <p:cNvSpPr/>
          <p:nvPr/>
        </p:nvSpPr>
        <p:spPr>
          <a:xfrm>
            <a:off x="731520" y="1234440"/>
            <a:ext cx="530352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846320" cy="4965192"/>
          </a:xfrm>
          <a:prstGeom prst="rect">
            <a:avLst/>
          </a:prstGeom>
          <a:noFill/>
        </p:spPr>
        <p:txBody>
          <a:bodyPr wrap="square">
            <a:spAutoFit/>
          </a:bodyPr>
          <a:lstStyle/>
          <a:p>
            <a:pPr>
              <a:defRPr b="1" sz="1250">
                <a:solidFill>
                  <a:srgbClr val="1E3A8A"/>
                </a:solidFill>
              </a:defRPr>
            </a:pPr>
            <a:r>
              <a:t>Bốn Mô Hình Kiểm Định Toán Học Đối Kháng (Games 1 – 4)</a:t>
            </a:r>
          </a:p>
          <a:p>
            <a:pPr>
              <a:spcBef>
                <a:spcPts val="500"/>
              </a:spcBef>
              <a:defRPr b="1" sz="820">
                <a:solidFill>
                  <a:srgbClr val="2563EB"/>
                </a:solidFill>
              </a:defRPr>
            </a:pPr>
            <a:r>
              <a:t>• Game 1: Chống tấn công tìm va chạm mã băm (PPT Adversary):</a:t>
            </a:r>
          </a:p>
          <a:p>
            <a:pPr>
              <a:spcBef>
                <a:spcPts val="150"/>
              </a:spcBef>
              <a:defRPr sz="740">
                <a:solidFill>
                  <a:srgbClr val="0F172A"/>
                </a:solidFill>
              </a:defRPr>
            </a:pPr>
            <a:r>
              <a:t>1. Ý nghĩa: Kẻ tấn công có năng lực tính toán ngẫu nhiên nhưng bị giới hạn về thời gian và tài nguyên (đa thức).</a:t>
            </a:r>
            <a:br/>
            <a:r>
              <a:t>2. Cách tấn công: Cố tìm 2 tệp khác nhau A != B sao cho SHA256(A) = SHA256(B) để đánh lừa hệ thống.</a:t>
            </a:r>
            <a:br/>
            <a:r>
              <a:t>3. Cách phòng thủ: SHA-256 (256-bit). Tìm va chạm ngẫu nhiên đòi hỏi ~2^128 phép băm theo Birthday bound.</a:t>
            </a:r>
            <a:br/>
            <a:r>
              <a:t>4. Kết quả: Thử nghiệm 50 lượt ngẫu nhiên: Kẻ thù thắng 0/50 (0.0%), lợi thế đối thủ Adv &lt;= 2^-128.</a:t>
            </a:r>
          </a:p>
          <a:p>
            <a:pPr>
              <a:spcBef>
                <a:spcPts val="500"/>
              </a:spcBef>
              <a:defRPr b="1" sz="820">
                <a:solidFill>
                  <a:srgbClr val="2563EB"/>
                </a:solidFill>
              </a:defRPr>
            </a:pPr>
            <a:r>
              <a:t>• Game 2: Chống kẻ tấn công đường truyền mạng (Dolev–Yao Adversary):</a:t>
            </a:r>
          </a:p>
          <a:p>
            <a:pPr>
              <a:spcBef>
                <a:spcPts val="150"/>
              </a:spcBef>
              <a:defRPr sz="740">
                <a:solidFill>
                  <a:srgbClr val="0F172A"/>
                </a:solidFill>
              </a:defRPr>
            </a:pPr>
            <a:r>
              <a:t>1. Ý nghĩa: Kẻ tấn công có quyền nghe lén, chặn, sửa đổi hoặc thay thế gói tin truyền giữa Server và Client.</a:t>
            </a:r>
            <a:br/>
            <a:r>
              <a:t>2. Cách tấn công: (1) Sửa nội dung tệp; (2) Thay đổi mã băm trong Proof; (3) Tráo đường dẫn tệp.</a:t>
            </a:r>
            <a:br/>
            <a:r>
              <a:t>3. Cách phòng thủ: Client lưu Root Hash tin cậy; tự băm tệp và lần ngược lên Root Hash theo chuỗi Proof.</a:t>
            </a:r>
            <a:br/>
            <a:r>
              <a:t>4. Kết quả: Phát hiện chính xác 100% mọi hành vi can thiệp làm sai lệch Root Hash.</a:t>
            </a:r>
          </a:p>
          <a:p>
            <a:pPr>
              <a:spcBef>
                <a:spcPts val="500"/>
              </a:spcBef>
              <a:defRPr b="1" sz="820">
                <a:solidFill>
                  <a:srgbClr val="2563EB"/>
                </a:solidFill>
              </a:defRPr>
            </a:pPr>
            <a:r>
              <a:t>• Game 3: Chống giả mạo nút lá và nút nhánh (Second-Preimage &amp; Domain Separation):</a:t>
            </a:r>
          </a:p>
          <a:p>
            <a:pPr>
              <a:spcBef>
                <a:spcPts val="150"/>
              </a:spcBef>
              <a:defRPr sz="740">
                <a:solidFill>
                  <a:srgbClr val="0F172A"/>
                </a:solidFill>
              </a:defRPr>
            </a:pPr>
            <a:r>
              <a:t>1. Ý nghĩa: Merkle Tree gồm nút lá (tệp dữ liệu) và nút nhánh (ghép băm); nếu không tách biệt sẽ bị đánh tráo.</a:t>
            </a:r>
            <a:br/>
            <a:r>
              <a:t>2. Cách tấn công: Tạo tệp chứa chuỗi ghép Left || Right nhằm lừa hệ thống coi tệp rác là một nút lá.</a:t>
            </a:r>
            <a:br/>
            <a:r>
              <a:t>3. Cách phòng thủ: Chuẩn RFC 6962: H_leaf = SHA256(0x00 || Data), H_branch = SHA256(0x01 || L || R).</a:t>
            </a:r>
            <a:br/>
            <a:r>
              <a:t>4. Kết quả: Hai miền tiền tố độc lập hoàn toàn, triệt tiêu 100% việc nhầm lẫn giữa lá và nhánh.</a:t>
            </a:r>
          </a:p>
          <a:p>
            <a:pPr>
              <a:spcBef>
                <a:spcPts val="500"/>
              </a:spcBef>
              <a:defRPr b="1" sz="820">
                <a:solidFill>
                  <a:srgbClr val="2563EB"/>
                </a:solidFill>
              </a:defRPr>
            </a:pPr>
            <a:r>
              <a:t>• Game 4: Kiểm tra hiệu ứng tuyết lở (Avalanche Effect):</a:t>
            </a:r>
          </a:p>
          <a:p>
            <a:pPr>
              <a:spcBef>
                <a:spcPts val="150"/>
              </a:spcBef>
              <a:defRPr sz="740">
                <a:solidFill>
                  <a:srgbClr val="0F172A"/>
                </a:solidFill>
              </a:defRPr>
            </a:pPr>
            <a:r>
              <a:t>1. Ý nghĩa: Thay đổi một phần rất nhỏ đầu vào thì mã băm đầu ra phải biến đổi ngẫu nhiên rất mạnh.</a:t>
            </a:r>
            <a:br/>
            <a:r>
              <a:t>2. Cách tấn công: Đảo 1 bit trong tệp rồi so sánh mã băm trước và sau để dò tìm quy luật tương quan.</a:t>
            </a:r>
            <a:br/>
            <a:r>
              <a:t>3. Cách phòng thủ: Đo khoảng cách Hamming; tỷ lệ bit thay đổi kỳ vọng xấp xỉ 50% (Shannon Diffusion).</a:t>
            </a:r>
            <a:br/>
            <a:r>
              <a:t>4. Kết quả: Thực nghiệm đo được 50.39% ≈ 50%, phù hợp hoàn hảo với đặc tính khuếch tán của SHA-256.</a:t>
            </a:r>
          </a:p>
        </p:txBody>
      </p:sp>
      <p:sp>
        <p:nvSpPr>
          <p:cNvPr id="8" name="Rounded Rectangle 7"/>
          <p:cNvSpPr/>
          <p:nvPr/>
        </p:nvSpPr>
        <p:spPr>
          <a:xfrm>
            <a:off x="6217920" y="1234440"/>
            <a:ext cx="521208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463040"/>
            <a:ext cx="475488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Mô Phỏng 4 Trò Chơi An Ninh Toán Học (Games 1 – 4)</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Khối 1 (PPT Adversary): Không gian băm 2^256, Birthday Bound 2^128 triệt tiêu va chạm.</a:t>
            </a:r>
          </a:p>
          <a:p>
            <a:pPr>
              <a:spcBef>
                <a:spcPts val="300"/>
              </a:spcBef>
              <a:defRPr sz="880">
                <a:solidFill>
                  <a:srgbClr val="0F172A"/>
                </a:solidFill>
              </a:defRPr>
            </a:pPr>
            <a:r>
              <a:t>• Khối 2 (Dolev-Yao Network): Luồng Server -&gt; Mạng (Bị can thiệp) -&gt; Client đối chiếu Root Hash tin cậy.</a:t>
            </a:r>
          </a:p>
          <a:p>
            <a:pPr>
              <a:spcBef>
                <a:spcPts val="300"/>
              </a:spcBef>
              <a:defRPr sz="880">
                <a:solidFill>
                  <a:srgbClr val="0F172A"/>
                </a:solidFill>
              </a:defRPr>
            </a:pPr>
            <a:r>
              <a:t>• Khối 3 (Domain Separation): Minh họa nút lá tiền tố 0x00 (màu cam) vs nút nhánh 0x01 (màu xanh).</a:t>
            </a:r>
          </a:p>
          <a:p>
            <a:pPr>
              <a:spcBef>
                <a:spcPts val="300"/>
              </a:spcBef>
              <a:defRPr sz="880">
                <a:solidFill>
                  <a:srgbClr val="0F172A"/>
                </a:solidFill>
              </a:defRPr>
            </a:pPr>
            <a:r>
              <a:t>• Khối 4 (Avalanche Effect): Đồ thị phân phối 1 bit đảo -&gt; 129/256 bit đầu ra biến đổi ngẫu nhiên (50.39%).</a:t>
            </a:r>
          </a:p>
          <a:p>
            <a:pPr>
              <a:spcBef>
                <a:spcPts val="300"/>
              </a:spcBef>
              <a:defRPr sz="880">
                <a:solidFill>
                  <a:srgbClr val="0F172A"/>
                </a:solidFill>
              </a:defRPr>
            </a:pPr>
            <a:r>
              <a:t>• Vẽ các mũi tên trạng thái kiểm định toán học chuyển tiếp tuần tự từ Game 1 đến Game 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4C: TRỤ CỘT II - MÔ PHỎNG AN NINH HÌNH THỨC (HƯỚNG 2)</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14. Khung 7 Trò Chơi An Ninh Mật Mã Học (Games 5 – 7 &amp; Bảng Tổng Kết)</a:t>
            </a:r>
          </a:p>
        </p:txBody>
      </p:sp>
      <p:sp>
        <p:nvSpPr>
          <p:cNvPr id="6" name="Rounded Rectangle 5"/>
          <p:cNvSpPr/>
          <p:nvPr/>
        </p:nvSpPr>
        <p:spPr>
          <a:xfrm>
            <a:off x="731520" y="1234440"/>
            <a:ext cx="502920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572000" cy="4965192"/>
          </a:xfrm>
          <a:prstGeom prst="rect">
            <a:avLst/>
          </a:prstGeom>
          <a:noFill/>
        </p:spPr>
        <p:txBody>
          <a:bodyPr wrap="square">
            <a:spAutoFit/>
          </a:bodyPr>
          <a:lstStyle/>
          <a:p>
            <a:pPr>
              <a:defRPr b="1" sz="1250">
                <a:solidFill>
                  <a:srgbClr val="1E3A8A"/>
                </a:solidFill>
              </a:defRPr>
            </a:pPr>
            <a:r>
              <a:t>Ba Mô Hình Kiểm Định Nâng Cao (Games 5 – 7)</a:t>
            </a:r>
          </a:p>
          <a:p>
            <a:pPr>
              <a:spcBef>
                <a:spcPts val="500"/>
              </a:spcBef>
              <a:defRPr b="1" sz="820">
                <a:solidFill>
                  <a:srgbClr val="2563EB"/>
                </a:solidFill>
              </a:defRPr>
            </a:pPr>
            <a:r>
              <a:t>• Game 5: Bảo vệ tính nhất quán lịch sử (Append-Only Consistency Proof):</a:t>
            </a:r>
          </a:p>
          <a:p>
            <a:pPr>
              <a:spcBef>
                <a:spcPts val="150"/>
              </a:spcBef>
              <a:defRPr sz="740">
                <a:solidFill>
                  <a:srgbClr val="0F172A"/>
                </a:solidFill>
              </a:defRPr>
            </a:pPr>
            <a:r>
              <a:t>1. Ý nghĩa: Kiểm tra dữ liệu cũ có được giữ nguyên khi hệ thống bổ sung dữ liệu mới hay không.</a:t>
            </a:r>
            <a:br/>
            <a:r>
              <a:t>2. Cách tấn công: Server sửa 1 tệp cũ trong 950 tệp, thêm 50 tệp mới thành 1.000 tệp rồi tuyên bố lịch sử nguyên vẹn.</a:t>
            </a:r>
            <a:br/>
            <a:r>
              <a:t>3. Cách phòng thủ: Consistency Proof RFC 6962 chứng minh cây cũ m=950 là tiền tố bất biến của cây mới n=1.000.</a:t>
            </a:r>
            <a:br/>
            <a:r>
              <a:t>4. Kết quả: Nếu dữ liệu cũ bị sửa, bằng chứng nhất quán bị từ chối ngay lập tức.</a:t>
            </a:r>
          </a:p>
          <a:p>
            <a:pPr>
              <a:spcBef>
                <a:spcPts val="500"/>
              </a:spcBef>
              <a:defRPr b="1" sz="820">
                <a:solidFill>
                  <a:srgbClr val="2563EB"/>
                </a:solidFill>
              </a:defRPr>
            </a:pPr>
            <a:r>
              <a:t>• Game 6: Chống trích xuất dữ liệu nhạy cảm từ RAM (Memory-Dump Adversary):</a:t>
            </a:r>
          </a:p>
          <a:p>
            <a:pPr>
              <a:spcBef>
                <a:spcPts val="150"/>
              </a:spcBef>
              <a:defRPr sz="740">
                <a:solidFill>
                  <a:srgbClr val="0F172A"/>
                </a:solidFill>
              </a:defRPr>
            </a:pPr>
            <a:r>
              <a:t>1. Ý nghĩa: Kẻ tấn công đọc trộm RAM sau khi chương trình chạy để tìm khóa bí mật hoặc dữ liệu nhạy cảm.</a:t>
            </a:r>
            <a:br/>
            <a:r>
              <a:t>2. Cách tấn công: Dump bộ nhớ tiến trình và tìm kiếm khóa còn vương lại trong bộ nhớ đệm.</a:t>
            </a:r>
            <a:br/>
            <a:r>
              <a:t>3. Cách phòng thủ: Memory Zeroization: lưu khóa trong bytearray, chủ động ghi đè bằng 0x00 qua secure_erase().</a:t>
            </a:r>
            <a:br/>
            <a:r>
              <a:t>4. Lưu ý Python: gc.collect() thu hồi biến nhưng trong runtime không bảo đảm xóa sạch tuyệt đối mọi bản sao.</a:t>
            </a:r>
          </a:p>
          <a:p>
            <a:pPr>
              <a:spcBef>
                <a:spcPts val="500"/>
              </a:spcBef>
              <a:defRPr b="1" sz="820">
                <a:solidFill>
                  <a:srgbClr val="2563EB"/>
                </a:solidFill>
              </a:defRPr>
            </a:pPr>
            <a:r>
              <a:t>• Game 7: Chống tấn công đo thời gian &amp; Giảm rò rỉ siêu dữ liệu:</a:t>
            </a:r>
          </a:p>
          <a:p>
            <a:pPr>
              <a:spcBef>
                <a:spcPts val="150"/>
              </a:spcBef>
              <a:defRPr sz="740">
                <a:solidFill>
                  <a:srgbClr val="0F172A"/>
                </a:solidFill>
              </a:defRPr>
            </a:pPr>
            <a:r>
              <a:t>Phần A (Timing Side-Channel): Không dùng toán tử == (dừng sớm theo ký tự sai). Sử dụng hmac.compare_digest() để thời gian so sánh chuỗi là hằng số O(1).</a:t>
            </a:r>
            <a:br/>
            <a:r>
              <a:t>Phần B (Metadata Leakage): Thay vì tải toàn bộ 111 KB manifest chứa tên 1.000 tệp, Merkle Proof chỉ gửi mã băm anh em cần thiết, bảo vệ tính riêng tư của 999 tệp còn lại.</a:t>
            </a:r>
          </a:p>
        </p:txBody>
      </p:sp>
      <p:sp>
        <p:nvSpPr>
          <p:cNvPr id="8" name="Rounded Rectangle 7"/>
          <p:cNvSpPr/>
          <p:nvPr/>
        </p:nvSpPr>
        <p:spPr>
          <a:xfrm>
            <a:off x="5943600" y="1234440"/>
            <a:ext cx="5486400" cy="3291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035040" y="1325880"/>
          <a:ext cx="5303520" cy="3108960"/>
        </p:xfrm>
        <a:graphic>
          <a:graphicData uri="http://schemas.openxmlformats.org/drawingml/2006/table">
            <a:tbl>
              <a:tblPr firstRow="1" bandRow="1">
                <a:tableStyleId>{5C22544A-7EE6-4342-B048-85BDC9FD1C3A}</a:tableStyleId>
              </a:tblPr>
              <a:tblGrid>
                <a:gridCol w="868680"/>
                <a:gridCol w="2331720"/>
                <a:gridCol w="2103120"/>
              </a:tblGrid>
              <a:tr h="388620">
                <a:tc>
                  <a:txBody>
                    <a:bodyPr/>
                    <a:lstStyle/>
                    <a:p>
                      <a:pPr algn="ctr">
                        <a:defRPr b="1" sz="919">
                          <a:solidFill>
                            <a:srgbClr val="FFFFFF"/>
                          </a:solidFill>
                        </a:defRPr>
                      </a:pPr>
                      <a:r>
                        <a:t>Game</a:t>
                      </a:r>
                    </a:p>
                  </a:txBody>
                  <a:tcPr>
                    <a:solidFill>
                      <a:srgbClr val="1E3A8A"/>
                    </a:solidFill>
                  </a:tcPr>
                </a:tc>
                <a:tc>
                  <a:txBody>
                    <a:bodyPr/>
                    <a:lstStyle/>
                    <a:p>
                      <a:pPr algn="ctr">
                        <a:defRPr b="1" sz="919">
                          <a:solidFill>
                            <a:srgbClr val="FFFFFF"/>
                          </a:solidFill>
                        </a:defRPr>
                      </a:pPr>
                      <a:r>
                        <a:t>Mục Tiêu Bảo Mật</a:t>
                      </a:r>
                    </a:p>
                  </a:txBody>
                  <a:tcPr>
                    <a:solidFill>
                      <a:srgbClr val="1E3A8A"/>
                    </a:solidFill>
                  </a:tcPr>
                </a:tc>
                <a:tc>
                  <a:txBody>
                    <a:bodyPr/>
                    <a:lstStyle/>
                    <a:p>
                      <a:pPr algn="ctr">
                        <a:defRPr b="1" sz="919">
                          <a:solidFill>
                            <a:srgbClr val="FFFFFF"/>
                          </a:solidFill>
                        </a:defRPr>
                      </a:pPr>
                      <a:r>
                        <a:t>Cơ Chế Chính Triển Khai</a:t>
                      </a:r>
                    </a:p>
                  </a:txBody>
                  <a:tcPr>
                    <a:solidFill>
                      <a:srgbClr val="1E3A8A"/>
                    </a:solidFill>
                  </a:tcPr>
                </a:tc>
              </a:tr>
              <a:tr h="388620">
                <a:tc>
                  <a:txBody>
                    <a:bodyPr/>
                    <a:lstStyle/>
                    <a:p>
                      <a:pPr algn="ctr">
                        <a:defRPr sz="819" b="1">
                          <a:solidFill>
                            <a:srgbClr val="2563EB"/>
                          </a:solidFill>
                        </a:defRPr>
                      </a:pPr>
                      <a:r>
                        <a:t>Game 1</a:t>
                      </a:r>
                    </a:p>
                  </a:txBody>
                  <a:tcPr>
                    <a:solidFill>
                      <a:srgbClr val="F8FAFC"/>
                    </a:solidFill>
                  </a:tcPr>
                </a:tc>
                <a:tc>
                  <a:txBody>
                    <a:bodyPr/>
                    <a:lstStyle/>
                    <a:p>
                      <a:pPr>
                        <a:defRPr sz="819">
                          <a:solidFill>
                            <a:srgbClr val="0F172A"/>
                          </a:solidFill>
                        </a:defRPr>
                      </a:pPr>
                      <a:r>
                        <a:t>Chống tìm hai dữ liệu cùng mã băm</a:t>
                      </a:r>
                    </a:p>
                  </a:txBody>
                  <a:tcPr>
                    <a:solidFill>
                      <a:srgbClr val="F8FAFC"/>
                    </a:solidFill>
                  </a:tcPr>
                </a:tc>
                <a:tc>
                  <a:txBody>
                    <a:bodyPr/>
                    <a:lstStyle/>
                    <a:p>
                      <a:pPr>
                        <a:defRPr sz="819">
                          <a:solidFill>
                            <a:srgbClr val="0F172A"/>
                          </a:solidFill>
                        </a:defRPr>
                      </a:pPr>
                      <a:r>
                        <a:t>SHA-256 (Adv &lt;= 2^-128)</a:t>
                      </a:r>
                    </a:p>
                  </a:txBody>
                  <a:tcPr>
                    <a:solidFill>
                      <a:srgbClr val="F8FAFC"/>
                    </a:solidFill>
                  </a:tcPr>
                </a:tc>
              </a:tr>
              <a:tr h="388620">
                <a:tc>
                  <a:txBody>
                    <a:bodyPr/>
                    <a:lstStyle/>
                    <a:p>
                      <a:pPr algn="ctr">
                        <a:defRPr sz="819" b="1">
                          <a:solidFill>
                            <a:srgbClr val="2563EB"/>
                          </a:solidFill>
                        </a:defRPr>
                      </a:pPr>
                      <a:r>
                        <a:t>Game 2</a:t>
                      </a:r>
                    </a:p>
                  </a:txBody>
                  <a:tcPr>
                    <a:solidFill>
                      <a:srgbClr val="FFFFFF"/>
                    </a:solidFill>
                  </a:tcPr>
                </a:tc>
                <a:tc>
                  <a:txBody>
                    <a:bodyPr/>
                    <a:lstStyle/>
                    <a:p>
                      <a:pPr>
                        <a:defRPr sz="819">
                          <a:solidFill>
                            <a:srgbClr val="0F172A"/>
                          </a:solidFill>
                        </a:defRPr>
                      </a:pPr>
                      <a:r>
                        <a:t>Phát hiện dữ liệu bị sửa khi truyền</a:t>
                      </a:r>
                    </a:p>
                  </a:txBody>
                  <a:tcPr>
                    <a:solidFill>
                      <a:srgbClr val="FFFFFF"/>
                    </a:solidFill>
                  </a:tcPr>
                </a:tc>
                <a:tc>
                  <a:txBody>
                    <a:bodyPr/>
                    <a:lstStyle/>
                    <a:p>
                      <a:pPr>
                        <a:defRPr sz="819">
                          <a:solidFill>
                            <a:srgbClr val="0F172A"/>
                          </a:solidFill>
                        </a:defRPr>
                      </a:pPr>
                      <a:r>
                        <a:t>Merkle Proof + Root Hash tin cậy</a:t>
                      </a:r>
                    </a:p>
                  </a:txBody>
                  <a:tcPr>
                    <a:solidFill>
                      <a:srgbClr val="FFFFFF"/>
                    </a:solidFill>
                  </a:tcPr>
                </a:tc>
              </a:tr>
              <a:tr h="388620">
                <a:tc>
                  <a:txBody>
                    <a:bodyPr/>
                    <a:lstStyle/>
                    <a:p>
                      <a:pPr algn="ctr">
                        <a:defRPr sz="819" b="1">
                          <a:solidFill>
                            <a:srgbClr val="2563EB"/>
                          </a:solidFill>
                        </a:defRPr>
                      </a:pPr>
                      <a:r>
                        <a:t>Game 3</a:t>
                      </a:r>
                    </a:p>
                  </a:txBody>
                  <a:tcPr>
                    <a:solidFill>
                      <a:srgbClr val="F8FAFC"/>
                    </a:solidFill>
                  </a:tcPr>
                </a:tc>
                <a:tc>
                  <a:txBody>
                    <a:bodyPr/>
                    <a:lstStyle/>
                    <a:p>
                      <a:pPr>
                        <a:defRPr sz="819">
                          <a:solidFill>
                            <a:srgbClr val="0F172A"/>
                          </a:solidFill>
                        </a:defRPr>
                      </a:pPr>
                      <a:r>
                        <a:t>Phân biệt nút lá và nút nhánh</a:t>
                      </a:r>
                    </a:p>
                  </a:txBody>
                  <a:tcPr>
                    <a:solidFill>
                      <a:srgbClr val="F8FAFC"/>
                    </a:solidFill>
                  </a:tcPr>
                </a:tc>
                <a:tc>
                  <a:txBody>
                    <a:bodyPr/>
                    <a:lstStyle/>
                    <a:p>
                      <a:pPr>
                        <a:defRPr sz="819">
                          <a:solidFill>
                            <a:srgbClr val="0F172A"/>
                          </a:solidFill>
                        </a:defRPr>
                      </a:pPr>
                      <a:r>
                        <a:t>Domain Separation (0x00 / 0x01)</a:t>
                      </a:r>
                    </a:p>
                  </a:txBody>
                  <a:tcPr>
                    <a:solidFill>
                      <a:srgbClr val="F8FAFC"/>
                    </a:solidFill>
                  </a:tcPr>
                </a:tc>
              </a:tr>
              <a:tr h="388620">
                <a:tc>
                  <a:txBody>
                    <a:bodyPr/>
                    <a:lstStyle/>
                    <a:p>
                      <a:pPr algn="ctr">
                        <a:defRPr sz="819" b="1">
                          <a:solidFill>
                            <a:srgbClr val="2563EB"/>
                          </a:solidFill>
                        </a:defRPr>
                      </a:pPr>
                      <a:r>
                        <a:t>Game 4</a:t>
                      </a:r>
                    </a:p>
                  </a:txBody>
                  <a:tcPr>
                    <a:solidFill>
                      <a:srgbClr val="FFFFFF"/>
                    </a:solidFill>
                  </a:tcPr>
                </a:tc>
                <a:tc>
                  <a:txBody>
                    <a:bodyPr/>
                    <a:lstStyle/>
                    <a:p>
                      <a:pPr>
                        <a:defRPr sz="819">
                          <a:solidFill>
                            <a:srgbClr val="0F172A"/>
                          </a:solidFill>
                        </a:defRPr>
                      </a:pPr>
                      <a:r>
                        <a:t>Kiểm tra mức độ thay đổi mã băm</a:t>
                      </a:r>
                    </a:p>
                  </a:txBody>
                  <a:tcPr>
                    <a:solidFill>
                      <a:srgbClr val="FFFFFF"/>
                    </a:solidFill>
                  </a:tcPr>
                </a:tc>
                <a:tc>
                  <a:txBody>
                    <a:bodyPr/>
                    <a:lstStyle/>
                    <a:p>
                      <a:pPr>
                        <a:defRPr sz="819">
                          <a:solidFill>
                            <a:srgbClr val="0F172A"/>
                          </a:solidFill>
                        </a:defRPr>
                      </a:pPr>
                      <a:r>
                        <a:t>Avalanche Effect (50.39% ≈ 50%)</a:t>
                      </a:r>
                    </a:p>
                  </a:txBody>
                  <a:tcPr>
                    <a:solidFill>
                      <a:srgbClr val="FFFFFF"/>
                    </a:solidFill>
                  </a:tcPr>
                </a:tc>
              </a:tr>
              <a:tr h="388620">
                <a:tc>
                  <a:txBody>
                    <a:bodyPr/>
                    <a:lstStyle/>
                    <a:p>
                      <a:pPr algn="ctr">
                        <a:defRPr sz="819" b="1">
                          <a:solidFill>
                            <a:srgbClr val="2563EB"/>
                          </a:solidFill>
                        </a:defRPr>
                      </a:pPr>
                      <a:r>
                        <a:t>Game 5</a:t>
                      </a:r>
                    </a:p>
                  </a:txBody>
                  <a:tcPr>
                    <a:solidFill>
                      <a:srgbClr val="F8FAFC"/>
                    </a:solidFill>
                  </a:tcPr>
                </a:tc>
                <a:tc>
                  <a:txBody>
                    <a:bodyPr/>
                    <a:lstStyle/>
                    <a:p>
                      <a:pPr>
                        <a:defRPr sz="819">
                          <a:solidFill>
                            <a:srgbClr val="0F172A"/>
                          </a:solidFill>
                        </a:defRPr>
                      </a:pPr>
                      <a:r>
                        <a:t>Kiểm tra nhất quán qua các lần cập nhật</a:t>
                      </a:r>
                    </a:p>
                  </a:txBody>
                  <a:tcPr>
                    <a:solidFill>
                      <a:srgbClr val="F8FAFC"/>
                    </a:solidFill>
                  </a:tcPr>
                </a:tc>
                <a:tc>
                  <a:txBody>
                    <a:bodyPr/>
                    <a:lstStyle/>
                    <a:p>
                      <a:pPr>
                        <a:defRPr sz="819">
                          <a:solidFill>
                            <a:srgbClr val="0F172A"/>
                          </a:solidFill>
                        </a:defRPr>
                      </a:pPr>
                      <a:r>
                        <a:t>Consistency Proof RFC 6962</a:t>
                      </a:r>
                    </a:p>
                  </a:txBody>
                  <a:tcPr>
                    <a:solidFill>
                      <a:srgbClr val="F8FAFC"/>
                    </a:solidFill>
                  </a:tcPr>
                </a:tc>
              </a:tr>
              <a:tr h="388620">
                <a:tc>
                  <a:txBody>
                    <a:bodyPr/>
                    <a:lstStyle/>
                    <a:p>
                      <a:pPr algn="ctr">
                        <a:defRPr sz="819" b="1">
                          <a:solidFill>
                            <a:srgbClr val="2563EB"/>
                          </a:solidFill>
                        </a:defRPr>
                      </a:pPr>
                      <a:r>
                        <a:t>Game 6</a:t>
                      </a:r>
                    </a:p>
                  </a:txBody>
                  <a:tcPr>
                    <a:solidFill>
                      <a:srgbClr val="FFFFFF"/>
                    </a:solidFill>
                  </a:tcPr>
                </a:tc>
                <a:tc>
                  <a:txBody>
                    <a:bodyPr/>
                    <a:lstStyle/>
                    <a:p>
                      <a:pPr>
                        <a:defRPr sz="819">
                          <a:solidFill>
                            <a:srgbClr val="0F172A"/>
                          </a:solidFill>
                        </a:defRPr>
                      </a:pPr>
                      <a:r>
                        <a:t>Hạn chế dữ liệu nhạy cảm trong RAM</a:t>
                      </a:r>
                    </a:p>
                  </a:txBody>
                  <a:tcPr>
                    <a:solidFill>
                      <a:srgbClr val="FFFFFF"/>
                    </a:solidFill>
                  </a:tcPr>
                </a:tc>
                <a:tc>
                  <a:txBody>
                    <a:bodyPr/>
                    <a:lstStyle/>
                    <a:p>
                      <a:pPr>
                        <a:defRPr sz="819">
                          <a:solidFill>
                            <a:srgbClr val="0F172A"/>
                          </a:solidFill>
                        </a:defRPr>
                      </a:pPr>
                      <a:r>
                        <a:t>Memory Zeroization (secure_erase)</a:t>
                      </a:r>
                    </a:p>
                  </a:txBody>
                  <a:tcPr>
                    <a:solidFill>
                      <a:srgbClr val="FFFFFF"/>
                    </a:solidFill>
                  </a:tcPr>
                </a:tc>
              </a:tr>
              <a:tr h="388620">
                <a:tc>
                  <a:txBody>
                    <a:bodyPr/>
                    <a:lstStyle/>
                    <a:p>
                      <a:pPr algn="ctr">
                        <a:defRPr sz="819" b="1">
                          <a:solidFill>
                            <a:srgbClr val="2563EB"/>
                          </a:solidFill>
                        </a:defRPr>
                      </a:pPr>
                      <a:r>
                        <a:t>Game 7</a:t>
                      </a:r>
                    </a:p>
                  </a:txBody>
                  <a:tcPr>
                    <a:solidFill>
                      <a:srgbClr val="F8FAFC"/>
                    </a:solidFill>
                  </a:tcPr>
                </a:tc>
                <a:tc>
                  <a:txBody>
                    <a:bodyPr/>
                    <a:lstStyle/>
                    <a:p>
                      <a:pPr>
                        <a:defRPr sz="819">
                          <a:solidFill>
                            <a:srgbClr val="0F172A"/>
                          </a:solidFill>
                        </a:defRPr>
                      </a:pPr>
                      <a:r>
                        <a:t>Giảm rò rỉ thời gian &amp; siêu dữ liệu</a:t>
                      </a:r>
                    </a:p>
                  </a:txBody>
                  <a:tcPr>
                    <a:solidFill>
                      <a:srgbClr val="F8FAFC"/>
                    </a:solidFill>
                  </a:tcPr>
                </a:tc>
                <a:tc>
                  <a:txBody>
                    <a:bodyPr/>
                    <a:lstStyle/>
                    <a:p>
                      <a:pPr>
                        <a:defRPr sz="819">
                          <a:solidFill>
                            <a:srgbClr val="0F172A"/>
                          </a:solidFill>
                        </a:defRPr>
                      </a:pPr>
                      <a:r>
                        <a:t>hmac.compare_digest() + Merkle Proof</a:t>
                      </a:r>
                    </a:p>
                  </a:txBody>
                  <a:tcPr>
                    <a:solidFill>
                      <a:srgbClr val="F8FAFC"/>
                    </a:solidFill>
                  </a:tcPr>
                </a:tc>
              </a:tr>
            </a:tbl>
          </a:graphicData>
        </a:graphic>
      </p:graphicFrame>
      <p:sp>
        <p:nvSpPr>
          <p:cNvPr id="10" name="Rounded Rectangle 9"/>
          <p:cNvSpPr/>
          <p:nvPr/>
        </p:nvSpPr>
        <p:spPr>
          <a:xfrm>
            <a:off x="5943600" y="4663440"/>
            <a:ext cx="5486400" cy="1828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4736592"/>
            <a:ext cx="5212080" cy="1691640"/>
          </a:xfrm>
          <a:prstGeom prst="rect">
            <a:avLst/>
          </a:prstGeom>
          <a:noFill/>
        </p:spPr>
        <p:txBody>
          <a:bodyPr wrap="square">
            <a:spAutoFit/>
          </a:bodyPr>
          <a:lstStyle/>
          <a:p>
            <a:pPr>
              <a:defRPr b="1" sz="950">
                <a:solidFill>
                  <a:srgbClr val="1E3A8A"/>
                </a:solidFill>
              </a:defRPr>
            </a:pPr>
            <a:r>
              <a:t>Lưu Ý Phương Pháp Luận Khi Báo Cáo:</a:t>
            </a:r>
          </a:p>
          <a:p>
            <a:pPr>
              <a:spcBef>
                <a:spcPts val="250"/>
              </a:spcBef>
              <a:defRPr sz="780">
                <a:solidFill>
                  <a:srgbClr val="0F172A"/>
                </a:solidFill>
              </a:defRPr>
            </a:pPr>
            <a:r>
              <a:t>• Mục đích: 7 mô hình được xây dựng để kiểm thử các khía cạnh bảo mật đối kháng khác nhau theo luận điểm của Harry Halpin (2025).</a:t>
            </a:r>
          </a:p>
          <a:p>
            <a:pPr>
              <a:spcBef>
                <a:spcPts val="250"/>
              </a:spcBef>
              <a:defRPr sz="780">
                <a:solidFill>
                  <a:srgbClr val="0F172A"/>
                </a:solidFill>
              </a:defRPr>
            </a:pPr>
            <a:r>
              <a:t>• Đối chiếu mã nguồn: Được triển khai và chạy độc lập qua tệp src/proposed_model/security_games.py, không gộp chung benchmark.</a:t>
            </a:r>
          </a:p>
          <a:p>
            <a:pPr>
              <a:spcBef>
                <a:spcPts val="250"/>
              </a:spcBef>
              <a:defRPr sz="780">
                <a:solidFill>
                  <a:srgbClr val="0F172A"/>
                </a:solidFill>
              </a:defRPr>
            </a:pPr>
            <a:r>
              <a:t>• Đánh giá khách quan: Phân biệt rõ giữa cơ chế lý thuyết toán học và kết quả đo đạc thực nghiệm cụ thể trên môi trường Python.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5: TRÌNH DIỄN THỰC TẾ VÀ TỔNG KẾT</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15. Kịch Bản Thao Tác Trình Diễn Trên Giao Diện Web Trực Quan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Các Bước Thao Tác Trình Diễn Trước Hội Đồng</a:t>
            </a:r>
          </a:p>
          <a:p>
            <a:pPr>
              <a:spcBef>
                <a:spcPts val="500"/>
              </a:spcBef>
              <a:defRPr b="1" sz="1030">
                <a:solidFill>
                  <a:srgbClr val="2563EB"/>
                </a:solidFill>
              </a:defRPr>
            </a:pPr>
            <a:r>
              <a:t>• Khởi động hệ thống nhanh chóng:</a:t>
            </a:r>
          </a:p>
          <a:p>
            <a:pPr>
              <a:spcBef>
                <a:spcPts val="150"/>
              </a:spcBef>
              <a:defRPr sz="950">
                <a:solidFill>
                  <a:srgbClr val="0F172A"/>
                </a:solidFill>
              </a:defRPr>
            </a:pPr>
            <a:r>
              <a:t>Chỉ cần nhấp đúp tệp run_demo_web.bat trên màn hình máy tính. Trình duyệt web sẽ tự động mở trang điều khiển tại địa chỉ nội bộ http://127.0.0.1:8080.</a:t>
            </a:r>
          </a:p>
          <a:p>
            <a:pPr>
              <a:spcBef>
                <a:spcPts val="500"/>
              </a:spcBef>
              <a:defRPr b="1" sz="1030">
                <a:solidFill>
                  <a:srgbClr val="2563EB"/>
                </a:solidFill>
              </a:defRPr>
            </a:pPr>
            <a:r>
              <a:t>• Bước 1: Nạp 1.000 tệp tin dữ liệu gốc ban đầu:</a:t>
            </a:r>
          </a:p>
          <a:p>
            <a:pPr>
              <a:spcBef>
                <a:spcPts val="150"/>
              </a:spcBef>
              <a:defRPr sz="950">
                <a:solidFill>
                  <a:srgbClr val="0F172A"/>
                </a:solidFill>
              </a:defRPr>
            </a:pPr>
            <a:r>
              <a:t>Nhấp nút Nạp dữ liệu để hệ thống quét toàn bộ 1.000 tệp tin nguyên bản từ thư mục realistic_dataset và tạo chuỗi băm gốc 32 byte.</a:t>
            </a:r>
          </a:p>
          <a:p>
            <a:pPr>
              <a:spcBef>
                <a:spcPts val="500"/>
              </a:spcBef>
              <a:defRPr b="1" sz="1030">
                <a:solidFill>
                  <a:srgbClr val="2563EB"/>
                </a:solidFill>
              </a:defRPr>
            </a:pPr>
            <a:r>
              <a:t>• Bước 2: Mô phỏng hành vi Kẻ tấn công mạng:</a:t>
            </a:r>
          </a:p>
          <a:p>
            <a:pPr>
              <a:spcBef>
                <a:spcPts val="150"/>
              </a:spcBef>
              <a:defRPr sz="950">
                <a:solidFill>
                  <a:srgbClr val="0F172A"/>
                </a:solidFill>
              </a:defRPr>
            </a:pPr>
            <a:r>
              <a:t>1. Nhấp Đảo 1 bit ngẫu nhiên để mô phỏng dữ liệu bị sửa đổi ngầm.</a:t>
            </a:r>
            <a:br/>
            <a:r>
              <a:t>2. Nhấp Chèn tệp lạ để mô phỏng tin tặc tải mã độc lên máy chủ.</a:t>
            </a:r>
            <a:br/>
            <a:r>
              <a:t>3. Nhấp Xóa lén tệp tin để mô phỏng hành vi xóa dữ liệu phá hoại.</a:t>
            </a:r>
          </a:p>
          <a:p>
            <a:pPr>
              <a:spcBef>
                <a:spcPts val="500"/>
              </a:spcBef>
              <a:defRPr b="1" sz="1030">
                <a:solidFill>
                  <a:srgbClr val="2563EB"/>
                </a:solidFill>
              </a:defRPr>
            </a:pPr>
            <a:r>
              <a:t>• Bước 3: Kiểm tra và định vị lỗi tức thì:</a:t>
            </a:r>
          </a:p>
          <a:p>
            <a:pPr>
              <a:spcBef>
                <a:spcPts val="150"/>
              </a:spcBef>
              <a:defRPr sz="950">
                <a:solidFill>
                  <a:srgbClr val="0F172A"/>
                </a:solidFill>
              </a:defRPr>
            </a:pPr>
            <a:r>
              <a:t>Nhấp Chạy kiểm tra toàn vẹn. Hệ thống lập tức chỉ đúng tên tệp bị can thiệp, hiển thị tỷ lệ nguyên vẹn và tốc độ xử lý hơn 4.000 tệp mỗi giây.</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Ảnh Chụp Giao Diện Phòng Thí Nghiệm Web Demo</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Chèn ảnh chụp màn hình phòng thí nghiệm Web Demo thực tế tại http://127.0.0.1:8080.</a:t>
            </a:r>
          </a:p>
          <a:p>
            <a:pPr>
              <a:spcBef>
                <a:spcPts val="300"/>
              </a:spcBef>
              <a:defRPr sz="880">
                <a:solidFill>
                  <a:srgbClr val="0F172A"/>
                </a:solidFill>
              </a:defRPr>
            </a:pPr>
            <a:r>
              <a:t>• Thể hiện 4 thẻ tab chuyển đổi mô hình (Flat SHA, HMAC, Merkle chuẩn, HD-Merkle).</a:t>
            </a:r>
          </a:p>
          <a:p>
            <a:pPr>
              <a:spcBef>
                <a:spcPts val="300"/>
              </a:spcBef>
              <a:defRPr sz="880">
                <a:solidFill>
                  <a:srgbClr val="0F172A"/>
                </a:solidFill>
              </a:defRPr>
            </a:pPr>
            <a:r>
              <a:t>• Thể hiện 3 nút mô phỏng tấn công màu cam (Đảo bit, Bơm tệp, Xóa tệp).</a:t>
            </a:r>
          </a:p>
          <a:p>
            <a:pPr>
              <a:spcBef>
                <a:spcPts val="300"/>
              </a:spcBef>
              <a:defRPr sz="880">
                <a:solidFill>
                  <a:srgbClr val="0F172A"/>
                </a:solidFill>
              </a:defRPr>
            </a:pPr>
            <a:r>
              <a:t>• Hiển thị bảng danh sách 1.000 tệp tin và thanh trạng thái tiến trình thời gian thực.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5: TRÌNH DIỄN THỰC TẾ VÀ TỔNG KẾT</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16. Bảng Điều Khiển Biểu Đồ Đo Đạc Trực Quan Hóa Động</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Trực Quan Hóa Biểu Đồ Khoa Học Hoạt Động Ngoại Tuyến</a:t>
            </a:r>
          </a:p>
          <a:p>
            <a:pPr>
              <a:spcBef>
                <a:spcPts val="500"/>
              </a:spcBef>
              <a:defRPr b="1" sz="1030">
                <a:solidFill>
                  <a:srgbClr val="2563EB"/>
                </a:solidFill>
              </a:defRPr>
            </a:pPr>
            <a:r>
              <a:t>• Hoạt động hoàn toàn ngoại tuyến:</a:t>
            </a:r>
          </a:p>
          <a:p>
            <a:pPr>
              <a:spcBef>
                <a:spcPts val="150"/>
              </a:spcBef>
              <a:defRPr sz="950">
                <a:solidFill>
                  <a:srgbClr val="0F172A"/>
                </a:solidFill>
              </a:defRPr>
            </a:pPr>
            <a:r>
              <a:t>Hệ thống tích hợp sẵn thư viện vẽ biểu đồ nội bộ, không cần kết nối mạng Internet vẫn hiển thị mượt mà và trực quan khi báo cáo trước hội đồng.</a:t>
            </a:r>
          </a:p>
          <a:p>
            <a:pPr>
              <a:spcBef>
                <a:spcPts val="500"/>
              </a:spcBef>
              <a:defRPr b="1" sz="1030">
                <a:solidFill>
                  <a:srgbClr val="2563EB"/>
                </a:solidFill>
              </a:defRPr>
            </a:pPr>
            <a:r>
              <a:t>• 4 Biểu đồ phân tích khoa học chuyên sâu:</a:t>
            </a:r>
          </a:p>
          <a:p>
            <a:pPr>
              <a:spcBef>
                <a:spcPts val="150"/>
              </a:spcBef>
              <a:defRPr sz="950">
                <a:solidFill>
                  <a:srgbClr val="0F172A"/>
                </a:solidFill>
              </a:defRPr>
            </a:pPr>
            <a:r>
              <a:t>1. Biểu đồ so sánh thời gian khởi tạo và xác minh của 4 mô hình trên 1.000 tệp tin.</a:t>
            </a:r>
            <a:br/>
            <a:r>
              <a:t>2. Biểu đồ chi phí cập nhật khi sửa 1 tệp tin phản hồi tức thì theo chiều cao cây.</a:t>
            </a:r>
            <a:br/>
            <a:r>
              <a:t>3. Biểu đồ dung lượng bảng băm và kích thước bằng chứng gửi qua mạng.</a:t>
            </a:r>
            <a:br/>
            <a:r>
              <a:t>4. Biểu đồ kiểm tra khả năng mở rộng quy mô từ 50 tệp lên 1.000 tệp tin.</a:t>
            </a:r>
          </a:p>
          <a:p>
            <a:pPr>
              <a:spcBef>
                <a:spcPts val="500"/>
              </a:spcBef>
              <a:defRPr b="1" sz="1030">
                <a:solidFill>
                  <a:srgbClr val="2563EB"/>
                </a:solidFill>
              </a:defRPr>
            </a:pPr>
            <a:r>
              <a:t>• Đo lường thời gian thực:</a:t>
            </a:r>
          </a:p>
          <a:p>
            <a:pPr>
              <a:spcBef>
                <a:spcPts val="150"/>
              </a:spcBef>
              <a:defRPr sz="950">
                <a:solidFill>
                  <a:srgbClr val="0F172A"/>
                </a:solidFill>
              </a:defRPr>
            </a:pPr>
            <a:r>
              <a:t>Khi nhấp Đo lường và cập nhật lại biểu đồ ngay, hệ thống sẽ chạy đo đạc trực tiếp trên máy và vẽ kết quả tức thì.</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Ảnh Chụp Bảng Điều Khiển Biểu Đồ Benchmark Động</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Chèn ảnh chụp màn hình Tab Benchmark Dashboard trên giao diện Web Demo.</a:t>
            </a:r>
          </a:p>
          <a:p>
            <a:pPr>
              <a:spcBef>
                <a:spcPts val="300"/>
              </a:spcBef>
              <a:defRPr sz="880">
                <a:solidFill>
                  <a:srgbClr val="0F172A"/>
                </a:solidFill>
              </a:defRPr>
            </a:pPr>
            <a:r>
              <a:t>• Thể hiện 4 biểu đồ Chart.js trực quan hóa kết quả đo đạc thực tế trên 1.000 tệp tin.</a:t>
            </a:r>
          </a:p>
          <a:p>
            <a:pPr>
              <a:spcBef>
                <a:spcPts val="300"/>
              </a:spcBef>
              <a:defRPr sz="880">
                <a:solidFill>
                  <a:srgbClr val="0F172A"/>
                </a:solidFill>
              </a:defRPr>
            </a:pPr>
            <a:r>
              <a:t>• Thể hiện 4 thẻ chỉ số KPI tốc độ xử lý và dung lượng bằng chứng ở đầu trang.</a:t>
            </a:r>
          </a:p>
          <a:p>
            <a:pPr>
              <a:spcBef>
                <a:spcPts val="300"/>
              </a:spcBef>
              <a:defRPr sz="880">
                <a:solidFill>
                  <a:srgbClr val="0F172A"/>
                </a:solidFill>
              </a:defRPr>
            </a:pPr>
            <a:r>
              <a:t>• Minh chứng khả năng đo lường và vẽ biểu đồ động thời gian thực hoàn toàn ngoại tuyến.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5: TRÌNH DIỄN THỰC TẾ VÀ TỔNG KẾT</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17. Tổng Kết Đóng Góp Khoa Học Và Giá Trị Thực Tiễn Của Đồ Án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Những Đóng Góp Nổi Bật Đạt Được Trong Đồ Án</a:t>
            </a:r>
          </a:p>
          <a:p>
            <a:pPr>
              <a:spcBef>
                <a:spcPts val="500"/>
              </a:spcBef>
              <a:defRPr b="1" sz="980">
                <a:solidFill>
                  <a:srgbClr val="2563EB"/>
                </a:solidFill>
              </a:defRPr>
            </a:pPr>
            <a:r>
              <a:t>• 1. Hoàn thành toàn diện việc nghiên cứu bài báo tiếng Anh gốc:</a:t>
            </a:r>
          </a:p>
          <a:p>
            <a:pPr>
              <a:spcBef>
                <a:spcPts val="150"/>
              </a:spcBef>
              <a:defRPr sz="900">
                <a:solidFill>
                  <a:srgbClr val="0F172A"/>
                </a:solidFill>
              </a:defRPr>
            </a:pPr>
            <a:r>
              <a:t>Dịch thuật học thuật toàn văn bài báo của Harry Halpin (2025), đối chiếu 100% các luận điểm về Kẻ thù mật mã, hiệu ứng tuyết lở SHA-256, nguyên lý Kerckhoffs và kiểm định PPT.</a:t>
            </a:r>
          </a:p>
          <a:p>
            <a:pPr>
              <a:spcBef>
                <a:spcPts val="500"/>
              </a:spcBef>
              <a:defRPr b="1" sz="980">
                <a:solidFill>
                  <a:srgbClr val="2563EB"/>
                </a:solidFill>
              </a:defRPr>
            </a:pPr>
            <a:r>
              <a:t>• 2. Triển khai 3 Trụ cột phương pháp luận độc lập chuẩn mực:</a:t>
            </a:r>
          </a:p>
          <a:p>
            <a:pPr>
              <a:spcBef>
                <a:spcPts val="150"/>
              </a:spcBef>
              <a:defRPr sz="900">
                <a:solidFill>
                  <a:srgbClr val="0F172A"/>
                </a:solidFill>
              </a:defRPr>
            </a:pPr>
            <a:r>
              <a:t>Tách bạch rõ ràng 3 hướng: Kỹ thuật hệ thống PoC (hd_merkle_tree.py), Mô phỏng 7 Game an toàn mật mã học (security_games.py) và Thực nghiệm quy mô lớn 1.000 tệp tin.</a:t>
            </a:r>
          </a:p>
          <a:p>
            <a:pPr>
              <a:spcBef>
                <a:spcPts val="500"/>
              </a:spcBef>
              <a:defRPr b="1" sz="980">
                <a:solidFill>
                  <a:srgbClr val="2563EB"/>
                </a:solidFill>
              </a:defRPr>
            </a:pPr>
            <a:r>
              <a:t>• 3. Đối chuẩn đầy đủ 3 mô hình nền tảng:</a:t>
            </a:r>
          </a:p>
          <a:p>
            <a:pPr>
              <a:spcBef>
                <a:spcPts val="150"/>
              </a:spcBef>
              <a:defRPr sz="900">
                <a:solidFill>
                  <a:srgbClr val="0F172A"/>
                </a:solidFill>
              </a:defRPr>
            </a:pPr>
            <a:r>
              <a:t>Hiện thực hóa và đo đạc đầy đủ các cơ chế danh sách SHA-256, HMAC và cây Merkle nhị phân truyền thống trên 1.000 tệp tin.</a:t>
            </a:r>
          </a:p>
          <a:p>
            <a:pPr>
              <a:spcBef>
                <a:spcPts val="500"/>
              </a:spcBef>
              <a:defRPr b="1" sz="980">
                <a:solidFill>
                  <a:srgbClr val="2563EB"/>
                </a:solidFill>
              </a:defRPr>
            </a:pPr>
            <a:r>
              <a:t>• 4. Phát triển thành công mô hình cải tiến có dẫn chứng chứng minh:</a:t>
            </a:r>
          </a:p>
          <a:p>
            <a:pPr>
              <a:spcBef>
                <a:spcPts val="150"/>
              </a:spcBef>
              <a:defRPr sz="900">
                <a:solidFill>
                  <a:srgbClr val="0F172A"/>
                </a:solidFill>
              </a:defRPr>
            </a:pPr>
            <a:r>
              <a:t>Đề xuất mô hình HD-MerkleTree kết hợp chuẩn tiền tố RFC 6962, xác minh nhanh hơn ~8.5 lần, thêm/xóa nhanh hơn 458 - 708 lần so với Rebuild mảng 1D, tiết kiệm hơn 98.8% băng thông và có bằng chứng nhất quán độc lập.</a:t>
            </a:r>
          </a:p>
          <a:p>
            <a:pPr>
              <a:spcBef>
                <a:spcPts val="500"/>
              </a:spcBef>
              <a:defRPr b="1" sz="980">
                <a:solidFill>
                  <a:srgbClr val="2563EB"/>
                </a:solidFill>
              </a:defRPr>
            </a:pPr>
            <a:r>
              <a:t>• 5. Đóng gói sản phẩm hoàn chỉnh:</a:t>
            </a:r>
          </a:p>
          <a:p>
            <a:pPr>
              <a:spcBef>
                <a:spcPts val="150"/>
              </a:spcBef>
              <a:defRPr sz="900">
                <a:solidFill>
                  <a:srgbClr val="0F172A"/>
                </a:solidFill>
              </a:defRPr>
            </a:pPr>
            <a:r>
              <a:t>Bộ slide báo cáo chặt chẽ cùng ứng dụng web demo trực quan sẵn sàng trình diễn trước hội đồng.</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Chu Trình Khép Kín Từ Bài Báo Đến Đồ Án</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Vẽ sơ đồ quy trình nghiên cứu khoa học khép kín:</a:t>
            </a:r>
          </a:p>
          <a:p>
            <a:pPr>
              <a:spcBef>
                <a:spcPts val="300"/>
              </a:spcBef>
              <a:defRPr sz="880">
                <a:solidFill>
                  <a:srgbClr val="0F172A"/>
                </a:solidFill>
              </a:defRPr>
            </a:pPr>
            <a:r>
              <a:t>• Giai đoạn 1: Dịch thuật và phân tích lý thuyết 100% bài báo Harry Halpin (2025).</a:t>
            </a:r>
          </a:p>
          <a:p>
            <a:pPr>
              <a:spcBef>
                <a:spcPts val="300"/>
              </a:spcBef>
              <a:defRPr sz="880">
                <a:solidFill>
                  <a:srgbClr val="0F172A"/>
                </a:solidFill>
              </a:defRPr>
            </a:pPr>
            <a:r>
              <a:t>• Giai đoạn 2: Triển khai 3 Trụ cột độc lập (PoC, 7 Security Games, Benchmark).</a:t>
            </a:r>
          </a:p>
          <a:p>
            <a:pPr>
              <a:spcBef>
                <a:spcPts val="300"/>
              </a:spcBef>
              <a:defRPr sz="880">
                <a:solidFill>
                  <a:srgbClr val="0F172A"/>
                </a:solidFill>
              </a:defRPr>
            </a:pPr>
            <a:r>
              <a:t>• Giai đoạn 3: Đối chuẩn 3 mô hình nền tảng và kiểm nghiệm trên 1.000 tệp tin.</a:t>
            </a:r>
          </a:p>
          <a:p>
            <a:pPr>
              <a:spcBef>
                <a:spcPts val="300"/>
              </a:spcBef>
              <a:defRPr sz="880">
                <a:solidFill>
                  <a:srgbClr val="0F172A"/>
                </a:solidFill>
              </a:defRPr>
            </a:pPr>
            <a:r>
              <a:t>• Giai đoạn 4: Đề xuất HD-MerkleTree với 4 cải tiến đột phá đạt hiệu năng vượt trội.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