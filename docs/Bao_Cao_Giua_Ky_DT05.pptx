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004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93C5FD"/>
                </a:solidFill>
              </a:defRPr>
            </a:pPr>
            <a:r>
              <a:t>BÁO CÁO GIỮA KỲ HỌC PHẦN AN TOÀN VÀ BẢO MẬT HỆ THỐNG THÔNG TIN — ĐỀ TÀI DT005</a:t>
            </a:r>
          </a:p>
          <a:p>
            <a:pPr>
              <a:spcBef>
                <a:spcPts val="600"/>
              </a:spcBef>
              <a:defRPr b="1" sz="2100">
                <a:solidFill>
                  <a:srgbClr val="FFFFFF"/>
                </a:solidFill>
              </a:defRPr>
            </a:pPr>
            <a:r>
              <a:t>NGHIÊN CỨU &amp; PHÁT TRIỂN HỆ THỐNG KIỂM TRA TOÀN VẸN TỆP</a:t>
            </a:r>
            <a:br/>
            <a:r>
              <a:t>DỰA TRÊN CÂY MERKLE PHÂN CẤP ĐỘNG (HD-MERKLETREE)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31720"/>
            <a:ext cx="10362895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9784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E3A8A"/>
                </a:solidFill>
              </a:defRPr>
            </a:pPr>
            <a:r>
              <a:t>Cơ sở lý thuyết nền tảng: Bám sát bài báo khoa học quốc tế của TS. Harry Halpin (2025):</a:t>
            </a:r>
          </a:p>
          <a:p>
            <a:pPr>
              <a:spcBef>
                <a:spcPts val="300"/>
              </a:spcBef>
              <a:defRPr i="1" sz="1050">
                <a:solidFill>
                  <a:srgbClr val="2563EB"/>
                </a:solidFill>
              </a:defRPr>
            </a:pPr>
            <a:r>
              <a:t>"The Adversary: The Philosophy of Cryptography" — Xuất bản trên Oxford Journal of Cybersecurity, Vol 11, Issue 1 (2025).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657600"/>
            <a:ext cx="32918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886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1. Hiện Thực Hóa Nền Tảng</a:t>
            </a:r>
          </a:p>
          <a:p>
            <a:pPr>
              <a:defRPr b="1" sz="969">
                <a:solidFill>
                  <a:srgbClr val="2563EB"/>
                </a:solidFill>
              </a:defRPr>
            </a:pPr>
            <a:r>
              <a:t>Nghiên cứu bài báo Oxford 2025: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Dịch và hiện thực hóa đầy đủ 7 mô hình toán học mật mã học của TS. Harry Halpin.</a:t>
            </a:r>
          </a:p>
          <a:p>
            <a:pPr>
              <a:spcBef>
                <a:spcPts val="400"/>
              </a:spcBef>
              <a:defRPr b="1" sz="969">
                <a:solidFill>
                  <a:srgbClr val="2563EB"/>
                </a:solidFill>
              </a:defRPr>
            </a:pPr>
            <a:r>
              <a:t>Tái lập 3 mô hình cơ sở: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Xây dựng hoàn chỉnh Flat SHA-256 Manifest, HMAC-SHA256 (có khóa bí mật K), và Standard Merkle Tree.</a:t>
            </a:r>
          </a:p>
          <a:p>
            <a:pPr>
              <a:spcBef>
                <a:spcPts val="400"/>
              </a:spcBef>
              <a:defRPr b="1" sz="969">
                <a:solidFill>
                  <a:srgbClr val="2563EB"/>
                </a:solidFill>
              </a:defRPr>
            </a:pPr>
            <a:r>
              <a:t>Kiểm định nghiêm ngặt: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100% vượt qua bộ 17 bài Unit Test tự động (test_file_integrity.py).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3657600"/>
            <a:ext cx="32918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3886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2. Đề Xuất Cải Tiến (HD-Merkle)</a:t>
            </a:r>
          </a:p>
          <a:p>
            <a:pPr>
              <a:defRPr b="1" sz="969">
                <a:solidFill>
                  <a:srgbClr val="2563EB"/>
                </a:solidFill>
              </a:defRPr>
            </a:pPr>
            <a:r>
              <a:t>Thiết kế cấu trúc phân cấp động: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Ánh xạ trực tiếp cây logic với cây thư mục thực tế (Hierarchical Dynamic Tree).</a:t>
            </a:r>
          </a:p>
          <a:p>
            <a:pPr>
              <a:spcBef>
                <a:spcPts val="400"/>
              </a:spcBef>
              <a:defRPr b="1" sz="969">
                <a:solidFill>
                  <a:srgbClr val="2563EB"/>
                </a:solidFill>
              </a:defRPr>
            </a:pPr>
            <a:r>
              <a:t>Thuật toán cập nhật Dirty Path: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Cập nhật tăng dần trong thời gian O(log N), triệt tiêu nhu cầu băm lại toàn bộ cây.</a:t>
            </a:r>
          </a:p>
          <a:p>
            <a:pPr>
              <a:spcBef>
                <a:spcPts val="400"/>
              </a:spcBef>
              <a:defRPr b="1" sz="969">
                <a:solidFill>
                  <a:srgbClr val="2563EB"/>
                </a:solidFill>
              </a:defRPr>
            </a:pPr>
            <a:r>
              <a:t>Phân tách tiền tố RFC 6962: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Kháng va chạm tiền ảnh cấp hai (Second-Preimage) tuyệt đối bằng tiền tố 0x00 và 0x01.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3657600"/>
            <a:ext cx="32918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2168" y="3886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3. Thực Nghiệm &amp; Đóng Góp</a:t>
            </a:r>
          </a:p>
          <a:p>
            <a:pPr>
              <a:defRPr b="1" sz="969">
                <a:solidFill>
                  <a:srgbClr val="2563EB"/>
                </a:solidFill>
              </a:defRPr>
            </a:pPr>
            <a:r>
              <a:t>Thực nghiệm trên 2 Dataset Kaggle: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Khảo sát và benchmark thực tế trên bộ 1,115 tệp (29 MB) và bộ quy mô lớn 5,600 tệp (175 MB).</a:t>
            </a:r>
          </a:p>
          <a:p>
            <a:pPr>
              <a:spcBef>
                <a:spcPts val="400"/>
              </a:spcBef>
              <a:defRPr b="1" sz="969">
                <a:solidFill>
                  <a:srgbClr val="2563EB"/>
                </a:solidFill>
              </a:defRPr>
            </a:pPr>
            <a:r>
              <a:t>Bằng chứng nhóm (Batch Proof):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Gộp nút chung giúp tiết kiệm ~86% dung lượng mạng so với Standard Merkle.</a:t>
            </a:r>
          </a:p>
          <a:p>
            <a:pPr>
              <a:spcBef>
                <a:spcPts val="400"/>
              </a:spcBef>
              <a:defRPr b="1" sz="969">
                <a:solidFill>
                  <a:srgbClr val="2563EB"/>
                </a:solidFill>
              </a:defRPr>
            </a:pPr>
            <a:r>
              <a:t>Sẵn sàng ứng dụng thực tiễn:</a:t>
            </a:r>
          </a:p>
          <a:p>
            <a:pPr>
              <a:spcBef>
                <a:spcPts val="150"/>
              </a:spcBef>
              <a:defRPr sz="919">
                <a:solidFill>
                  <a:srgbClr val="0F172A"/>
                </a:solidFill>
              </a:defRPr>
            </a:pPr>
            <a:r>
              <a:t>Bảo vệ hệ thống file phân tán, máy chủ lưu trữ đám mây và hệ thống kiểm toán an ninh.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BỐI CẢNH &amp; TẬP DỮ LIỆU THỰC NGHIỆM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Hạn Chế Của Các Phương Pháp Cũ &amp; Khảo Sát 2 Tập Dữ Liệu Kaggle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3 Hạn Chế Cốt Lõi Của Các Phương Pháp Truyền Thống</a:t>
            </a:r>
          </a:p>
          <a:p>
            <a:pPr>
              <a:defRPr b="1" sz="950">
                <a:solidFill>
                  <a:srgbClr val="2563EB"/>
                </a:solidFill>
              </a:defRPr>
            </a:pPr>
            <a:r>
              <a:t>1. Flat SHA-256 Manifest (Danh sách băm phẳng):</a:t>
            </a:r>
          </a:p>
          <a:p>
            <a:pPr>
              <a:spcBef>
                <a:spcPts val="150"/>
              </a:spcBef>
              <a:defRPr sz="900">
                <a:solidFill>
                  <a:srgbClr val="0F172A"/>
                </a:solidFill>
              </a:defRPr>
            </a:pPr>
            <a:r>
              <a:t>• Chi phí cập nhật O(N): Khi sửa 1 file, bắt buộc phải đọc và băm lại toàn bộ thư mục.</a:t>
            </a:r>
            <a:br/>
            <a:r>
              <a:t>• Rò rỉ siêu dữ liệu: Để xác thực qua mạng, bắt buộc tải toàn bộ danh mục 111 KB làm lộ 100% đường dẫn tệp.</a:t>
            </a:r>
          </a:p>
          <a:p>
            <a:pPr>
              <a:spcBef>
                <a:spcPts val="400"/>
              </a:spcBef>
              <a:defRPr b="1" sz="950">
                <a:solidFill>
                  <a:srgbClr val="2563EB"/>
                </a:solidFill>
              </a:defRPr>
            </a:pPr>
            <a:r>
              <a:t>2. HMAC-SHA256 Manifest (Băm có khóa bí mật):</a:t>
            </a:r>
          </a:p>
          <a:p>
            <a:pPr>
              <a:spcBef>
                <a:spcPts val="150"/>
              </a:spcBef>
              <a:defRPr sz="900">
                <a:solidFill>
                  <a:srgbClr val="0F172A"/>
                </a:solidFill>
              </a:defRPr>
            </a:pPr>
            <a:r>
              <a:t>• Rủi ro phân phối khóa đối xứng K: Phía xác thực bắt buộc phải nắm khóa K. Nếu lộ khóa K, kẻ tấn công dễ dàng làm giả toàn bộ danh mục.</a:t>
            </a:r>
            <a:br/>
            <a:r>
              <a:t>• Không có bằng chứng kiểm định độc lập cho từng tệp riêng lẻ.</a:t>
            </a:r>
          </a:p>
          <a:p>
            <a:pPr>
              <a:spcBef>
                <a:spcPts val="400"/>
              </a:spcBef>
              <a:defRPr b="1" sz="950">
                <a:solidFill>
                  <a:srgbClr val="2563EB"/>
                </a:solidFill>
              </a:defRPr>
            </a:pPr>
            <a:r>
              <a:t>3. Standard Binary Merkle Tree (Cây Merkle phẳng chuẩn):</a:t>
            </a:r>
          </a:p>
          <a:p>
            <a:pPr>
              <a:spcBef>
                <a:spcPts val="150"/>
              </a:spcBef>
              <a:defRPr sz="900">
                <a:solidFill>
                  <a:srgbClr val="0F172A"/>
                </a:solidFill>
              </a:defRPr>
            </a:pPr>
            <a:r>
              <a:t>• Không tối ưu cấu trúc thư mục: Dựng mảng phẳng 1 chiều, mất O(N) tái cấu trúc khi sửa đổi file.</a:t>
            </a:r>
            <a:br/>
            <a:r>
              <a:t>• Lỗ hổng Second-Preimage: Ghép chuỗi thô H(left || right) dễ bị giả mạo 2 nút lá thành nút nhánh.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E3A8A"/>
                </a:solidFill>
              </a:defRPr>
            </a:pPr>
            <a:r>
              <a:t>Khảo Sát 2 Tập Dữ Liệu Kaggle Thực Tế Được Sử Dụng</a:t>
            </a:r>
          </a:p>
          <a:p>
            <a:pPr>
              <a:defRPr b="1" sz="1000">
                <a:solidFill>
                  <a:srgbClr val="2563EB"/>
                </a:solidFill>
              </a:defRPr>
            </a:pPr>
            <a:r>
              <a:t>1. Tập Dữ Liệu 1: kaggle_dataset (Tập kiểm thử tiêu chuẩn)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880">
                <a:solidFill>
                  <a:srgbClr val="0F172A"/>
                </a:solidFill>
              </a:defRPr>
            </a:pPr>
            <a:r>
              <a:t>• Quy mô: 1,115 tệp tin — Dung lượng: 29.26 MB.</a:t>
            </a:r>
            <a:br/>
            <a:r>
              <a:t>• Đa dạng 7 định dạng thực tế: PDF hóa đơn doanh nghiệp (400), TXT báo cáo (400), DOCX chính sách &amp; luật (117), PNG ảnh quét (150), JSON cấu hình (25), CSV kiểm toán (11), PY scripts (12).</a:t>
            </a:r>
            <a:br/>
            <a:r>
              <a:t>• Mục đích: Kiểm thử độ chính xác chức năng, kiểm định phát hiện vi phạm và đo lường đối chuẩn ban đầu.</a:t>
            </a:r>
          </a:p>
          <a:p>
            <a:pPr>
              <a:defRPr b="1" sz="1000">
                <a:solidFill>
                  <a:srgbClr val="059669"/>
                </a:solidFill>
              </a:defRPr>
            </a:pPr>
            <a:r>
              <a:t>2. Tập Dữ Liệu 2: kaggle_dataset_large (Quy mô lớn tại Downloads)</a:t>
            </a:r>
          </a:p>
          <a:p>
            <a:pPr>
              <a:spcBef>
                <a:spcPts val="200"/>
              </a:spcBef>
              <a:defRPr sz="880">
                <a:solidFill>
                  <a:srgbClr val="0F172A"/>
                </a:solidFill>
              </a:defRPr>
            </a:pPr>
            <a:r>
              <a:t>• Quy mô: 5,600 tệp tin — Dung lượng: 175.12 MB (Gấp 6 lần dung lượng, 5 lần số tệp).</a:t>
            </a:r>
            <a:br/>
            <a:r>
              <a:t>• 6 danh mục lớn: Giao dịch tài chính (800 CSV), Hợp đồng pháp lý (1,200 PDF), Log máy chủ (1,200 LOG), Cấu hình hệ thống (600 JSON), Hồ sơ y tế (1,200 TXT), Telemetry cảm biến IoT (600 DAT).</a:t>
            </a:r>
            <a:br/>
            <a:r>
              <a:t>• Mục đích: Kiểm thử tải nặng, quan sát tiến trình log terminal streaming và chứng minh ưu thế vượt trội của thuật toán O(log 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THIẾT KẾ MÔ HÌNH MỚI (THANG ĐIỂM 9 - 10)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Kiến Trúc Cây Merkle Phân Cấp Động &amp; Phân Tách Tiền Tố RFC 6962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[ VỊ TRÍ CHÈN SƠ ĐỒ / BẢN VẼ DRAW.IO ]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Sơ đồ Kiến trúc Cây Phân Cấp HD-MerkleTree</a:t>
            </a:r>
          </a:p>
          <a:p>
            <a:pPr>
              <a:defRPr b="1" sz="950">
                <a:solidFill>
                  <a:srgbClr val="64748B"/>
                </a:solidFill>
              </a:defRPr>
            </a:pPr>
            <a:r>
              <a:t>Gợi ý các thành phần cần vẽ trên Draw.io: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Tầng 1 (Root Hash): Mã băm gốc toàn cục (32 Bytes).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Tầng 2 (Directory Nodes): Các nút thư mục trung gian phân nhánh theo cây đĩa cứng thực tế.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Tầng 3 (File Leaves): Các nút lá băm nội dung từng tệp (0x00 || file_path || data).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Đường dẫn bẩn (Dirty Path): Mũi tên đỏ lan truyền ngược từ lá bị sửa lên Root Hash.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Bằng chứng Compact Proof: Chuỗi các node sibling cần thiết để đối soát O(log 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3 Đóng Góp Kỹ Thuật Đột Phá Của Đề Tài</a:t>
            </a:r>
          </a:p>
          <a:p>
            <a:pPr>
              <a:defRPr b="1" sz="950">
                <a:solidFill>
                  <a:srgbClr val="2563EB"/>
                </a:solidFill>
              </a:defRPr>
            </a:pPr>
            <a:r>
              <a:t>1. Phân tách miền tiền tố RFC 6962 (Domain Separation):</a:t>
            </a:r>
          </a:p>
          <a:p>
            <a:pPr>
              <a:spcBef>
                <a:spcPts val="150"/>
              </a:spcBef>
              <a:defRPr sz="900">
                <a:solidFill>
                  <a:srgbClr val="0F172A"/>
                </a:solidFill>
              </a:defRPr>
            </a:pPr>
            <a:r>
              <a:t>• Nút lá (Leaf Hash): H_leaf = SHA-256(0x00 || file_path || data_hash)</a:t>
            </a:r>
            <a:br/>
            <a:r>
              <a:t>• Nút nhánh (Internal Node): H_node = SHA-256(0x01 || left_hash || right_hash)</a:t>
            </a:r>
            <a:br/>
            <a:r>
              <a:t>➔ Vì 0x00 != 0x01, không gian băm hoàn toàn độc lập, triệt tiêu 100% va chạm Second-Preimage.</a:t>
            </a:r>
          </a:p>
          <a:p>
            <a:pPr>
              <a:spcBef>
                <a:spcPts val="400"/>
              </a:spcBef>
              <a:defRPr b="1" sz="950">
                <a:solidFill>
                  <a:srgbClr val="2563EB"/>
                </a:solidFill>
              </a:defRPr>
            </a:pPr>
            <a:r>
              <a:t>2. Cấu trúc cây phản ánh phân cấp thư mục thực tế:</a:t>
            </a:r>
          </a:p>
          <a:p>
            <a:pPr>
              <a:spcBef>
                <a:spcPts val="150"/>
              </a:spcBef>
              <a:defRPr sz="900">
                <a:solidFill>
                  <a:srgbClr val="0F172A"/>
                </a:solidFill>
              </a:defRPr>
            </a:pPr>
            <a:r>
              <a:t>• Không băm phẳng danh mục mà ánh xạ cây thư mục vật lý thành cây lồng nhau.</a:t>
            </a:r>
            <a:br/>
            <a:r>
              <a:t>• Xử lý đa luồng (Multi-core ThreadPool) băm song song hàng nghìn file cực nhanh.</a:t>
            </a:r>
          </a:p>
          <a:p>
            <a:pPr>
              <a:spcBef>
                <a:spcPts val="400"/>
              </a:spcBef>
              <a:defRPr b="1" sz="950">
                <a:solidFill>
                  <a:srgbClr val="2563EB"/>
                </a:solidFill>
              </a:defRPr>
            </a:pPr>
            <a:r>
              <a:t>3. Bằng chứng thu gọn Compact Proof &amp; Batch Multi-Proof:</a:t>
            </a:r>
          </a:p>
          <a:p>
            <a:pPr>
              <a:spcBef>
                <a:spcPts val="150"/>
              </a:spcBef>
              <a:defRPr sz="900">
                <a:solidFill>
                  <a:srgbClr val="0F172A"/>
                </a:solidFill>
              </a:defRPr>
            </a:pPr>
            <a:r>
              <a:t>• Proof 1 file chỉ tốn ~1.4 KB thay vì gửi cả danh mục 111 KB.</a:t>
            </a:r>
            <a:br/>
            <a:r>
              <a:t>• Batch Multi-Proof: Khi kiểm định đồng thời nhóm k tệp, hệ thống gộp các nút cha chung, giúp tiết kiệm hơn 86% dung lượng truyền tải qua mạng.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PHÂN TÍCH HIỆU NĂNG THUẬT TOÁN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Bảng Đối Sánh Độ Phức Tạp Big-O Lý Thuyết &amp; Cơ Chế Dirty Path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621792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5852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1E3A8A"/>
                </a:solidFill>
              </a:defRPr>
            </a:pPr>
            <a:r>
              <a:t>BẢNG ĐỐI SÁNH ĐỘ PHỨC TẠP THUẬT TOÁN BIG-O LÝ THUYẾT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783080"/>
          <a:ext cx="58521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1005840"/>
                <a:gridCol w="109728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Chỉ Số Đánh Giá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Flat SHA-256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HMAC-SHA256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Standard Merkle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HD-Merkle (Đề Xuất)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Khởi tạo (Build)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O(N/P) - Đa luồng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Xác minh 1 tệp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Băm lại hết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Băm lại hết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Cập nhật khi sửa 1 tệp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Băm lại hết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Băm lại hết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Tái dựng mảng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O(log N) - Dirty Path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Kích thước Proof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Toàn bộ file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O(N) - Cần khóa 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O(log 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O(k log(N/k)) - Batch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Kháng Second-Preimage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Kém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Phụ thuộc khóa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Dễ bị tấn công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Tuyệt đối - RFC 6962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212080"/>
            <a:ext cx="5852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50">
                <a:solidFill>
                  <a:srgbClr val="059669"/>
                </a:solidFill>
              </a:defRPr>
            </a:pPr>
            <a:r>
              <a:t>KẾT LUẬN HIỆU NĂNG LÝ THUYẾT: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Khi có 1 tệp bị sửa đổi nội dung, HD-MerkleTree chỉ mất chi phí O(log N) nhờ cơ chế cập nhật cục bộ Dirty Path, trong khi Standard Merkle Tree và Flat SHA-256 buộc phải tính toán lại toàn bộ O(N) tệp.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280160"/>
            <a:ext cx="4297680" cy="51206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508760"/>
            <a:ext cx="3840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2563EB"/>
                </a:solidFill>
              </a:defRPr>
            </a:pPr>
            <a:r>
              <a:t>[ VỊ TRÍ CHÈN SƠ ĐỒ / BẢN VẼ DRAW.IO ]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1E3A8A"/>
                </a:solidFill>
              </a:defRPr>
            </a:pPr>
            <a:r>
              <a:t>Sơ đồ Cơ chế Cập nhật Tăng dần (Dirty Path)</a:t>
            </a:r>
          </a:p>
          <a:p>
            <a:pPr>
              <a:defRPr b="1" sz="950">
                <a:solidFill>
                  <a:srgbClr val="64748B"/>
                </a:solidFill>
              </a:defRPr>
            </a:pPr>
            <a:r>
              <a:t>Gợi ý các thành phần cần vẽ trên Draw.io: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Điểm kích hoạt: Tệp tin file_k bị sửa đổi 1 byte nội dung.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Đánh dấu bẩn: Hàm mark_dirty() gắn cờ cho node lá tương ứng.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Đường dẫn bẩn O(log N): Chỉ lan truyền ngược lên các node cha (Parent -&gt; Directory -&gt; Root).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Các nhánh còn lại: Giữ nguyên hash cũ trong bộ nhớ đệm (In-memory Cache Hit).</a:t>
            </a:r>
          </a:p>
          <a:p>
            <a:pPr>
              <a:spcBef>
                <a:spcPts val="350"/>
              </a:spcBef>
              <a:defRPr sz="880">
                <a:solidFill>
                  <a:srgbClr val="0F172A"/>
                </a:solidFill>
              </a:defRPr>
            </a:pPr>
            <a:r>
              <a:t>• Hiệu quả: Thời gian cập nhật đạt 0.13 - 0.22 ms thay vì băm lại toàn bộ đĩa.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CƠ SỞ TOÁN HỌC MẬT MÃ HỌC (OXFORD 2025)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Kiểm Định Hình Thức Theo Bài Báo TS. Harry Halpin (Mô Hình 1 - 4)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1E3A8A"/>
                </a:solidFill>
              </a:defRPr>
            </a:pPr>
            <a:r>
              <a:t>1. Thách Đấu Kẻ Thù Siêu Máy Tính PPT (Goldwasser-Micali 1984)</a:t>
            </a:r>
          </a:p>
          <a:p>
            <a:pPr>
              <a:defRPr b="1" sz="900">
                <a:solidFill>
                  <a:srgbClr val="2563EB"/>
                </a:solidFill>
              </a:defRPr>
            </a:pPr>
            <a:r>
              <a:t>Định nghĩa trò chơi toán học: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Challenger khởi tạo Root Hash H_0. Kẻ tấn công A có năng lực tính toán đa thức PPT cố tình tìm trạng thái M' != M sao cho Verify(M', H_0) = 1.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Giới hạn an toàn lý thuyết: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Advantage(A) = |Pr[A thắng] - 0| &lt;= negl(lambda) = 2^(-128) ≈ 2.9 x 10^(-39).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Kết quả thực nghiệm: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Chặn đứng 50/50 lượt tấn công thử nghiệm (bit_flip, tail_append, hash_ext). Advantage = 0.0.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1E3A8A"/>
                </a:solidFill>
              </a:defRPr>
            </a:pPr>
            <a:r>
              <a:t>2. Kẻ Tấn Công Mạng Chiếm Quyền Kiểm Soát (Dolev-Yao 1983)</a:t>
            </a:r>
          </a:p>
          <a:p>
            <a:pPr>
              <a:defRPr b="1" sz="900">
                <a:solidFill>
                  <a:srgbClr val="2563EB"/>
                </a:solidFill>
              </a:defRPr>
            </a:pPr>
            <a:r>
              <a:t>Năng lực kẻ thù mạng Dolev-Yao: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Hacker kiểm soát 100% đường truyền (nghe lén, đánh tráo gói tin, sửa đổi và gửi lại proof cũ).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3 Kịch bản tấn công thực nghiệm: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• Cross-proof Swap: Lấy Proof file A gán cho file B ➔ Bị từ chối 100%.</a:t>
            </a:r>
            <a:br/>
            <a:r>
              <a:t>• In-transit Tampering: Sửa 1 byte proof trên mạng ➔ Bị từ chối 100%.</a:t>
            </a:r>
            <a:br/>
            <a:r>
              <a:t>• Replay Proof: Gửi lại proof của phiên bản cũ ➔ Bị từ chối 100%.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Kết quả: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Tỷ lệ ngăn chặn đạt 100.0% (3/3 kịch bản tấn công mạng).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1E3A8A"/>
                </a:solidFill>
              </a:defRPr>
            </a:pPr>
            <a:r>
              <a:t>3. Kháng Second-Preimage Bằng RFC 6962 Domain Separation</a:t>
            </a:r>
          </a:p>
          <a:p>
            <a:pPr>
              <a:defRPr b="1" sz="900">
                <a:solidFill>
                  <a:srgbClr val="2563EB"/>
                </a:solidFill>
              </a:defRPr>
            </a:pPr>
            <a:r>
              <a:t>Lỗ hổng của Merkle thường: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Ghép nối chuỗi thô H(left || right) dễ bị giả mạo khi kẻ tấn công lấy 2 nút lá tạo thành một nút nhánh trung gian.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Chứng minh toán học RFC 6962: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H_leaf = SHA256(0x00 || path || data) != H_internal = SHA256(0x01 || left || right).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Kết luận: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Vì 0x00 != 0x01, không gian băm của nút lá và nút nhánh hoàn toàn tách biệt, triệt tiêu 100% va chạm Second-Preimage cấu trúc.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8620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148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1E3A8A"/>
                </a:solidFill>
              </a:defRPr>
            </a:pPr>
            <a:r>
              <a:t>4. Bằng Chứng Nhất Quán Chỉ-Thêm (RFC 6962 Consistency Proof)</a:t>
            </a:r>
          </a:p>
          <a:p>
            <a:pPr>
              <a:defRPr b="1" sz="900">
                <a:solidFill>
                  <a:srgbClr val="2563EB"/>
                </a:solidFill>
              </a:defRPr>
            </a:pPr>
            <a:r>
              <a:t>Chuẩn Certificate Transparency: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Hệ thống chứng minh rằng cây kích thước M (quá khứ) là tiền tố chính xác của cây kích thước N (hiện tại).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Kháng tấn công backdoor: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Ngăn chặn kẻ thù cấp nhà nước chèn cửa sau hoặc âm thầm sửa đổi dữ liệu lịch sử.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Kích thước bằng chứng tối ưu: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Độ phức tạp chỉ O(log N) = 11 nodes (~352 Bytes cho 5,600 tệp). Không cần tải lại toàn bộ cây.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CƠ SỞ TOÁN HỌC MẬT MÃ HỌC (OXFORD 2025)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Kiểm Định Hình Thức Theo Bài Báo TS. Harry Halpin (Mô Hình 5 - 7)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1E3A8A"/>
                </a:solidFill>
              </a:defRPr>
            </a:pPr>
            <a:r>
              <a:t>5. Random Oracle Model (ROM) &amp; Hiệu Ứng Tuyết Lở (SAC)</a:t>
            </a:r>
          </a:p>
          <a:p>
            <a:pPr>
              <a:defRPr b="1" sz="900">
                <a:solidFill>
                  <a:srgbClr val="2563EB"/>
                </a:solidFill>
              </a:defRPr>
            </a:pPr>
            <a:r>
              <a:t>Tiêu chuẩn Strict Avalanche Criterion (SAC):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Khi lật đúng 1 bit đầu vào, từng bit ở chuỗi băm đầu ra 256-bit phải thay đổi độc lập với xác suất p = 50% (Phân phối Bernoulli).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Số liệu thực nghiệm SHA-256: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Đảo 133 / 256 bit (~51.95%, sát mục tiêu lý tưởng 50%). Shannon Entropy đạt 7.98 / 8.00 bits/byte.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Đối sánh sự thất bại của CRC32: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Mã CRC32 tuyến tính bị bẻ gãy hoàn toàn do tính chất đa thức modulo.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1E3A8A"/>
                </a:solidFill>
              </a:defRPr>
            </a:pPr>
            <a:r>
              <a:t>6. Mô Hình Toàn Vẹn Phân Cấp Biba (Nguyên Lý No Write-Up)</a:t>
            </a:r>
          </a:p>
          <a:p>
            <a:pPr>
              <a:defRPr b="1" sz="900">
                <a:solidFill>
                  <a:srgbClr val="2563EB"/>
                </a:solidFill>
              </a:defRPr>
            </a:pPr>
            <a:r>
              <a:t>Tiên đề toàn vẹn Biba (Biba 1977):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"No Write-Up": Đối tượng ở tầng toàn vẹn thấp (Unclassified) không thể can thiệp làm thay đổi trạng thái tầng cao (Top Secret) mà không bị phát hiện.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Lan truyền cảnh báo tức thời: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Can thiệp ở tệp lá lập tức làm thay đổi Root Hash sau 0.13 ms qua Dirty Path.</a:t>
            </a:r>
          </a:p>
          <a:p>
            <a:pPr>
              <a:spcBef>
                <a:spcPts val="400"/>
              </a:spcBef>
              <a:defRPr b="1" sz="900">
                <a:solidFill>
                  <a:srgbClr val="2563EB"/>
                </a:solidFill>
              </a:defRPr>
            </a:pPr>
            <a:r>
              <a:t>Tự động xóa vết bộ nhớ đệm:</a:t>
            </a:r>
          </a:p>
          <a:p>
            <a:pPr>
              <a:spcBef>
                <a:spcPts val="150"/>
              </a:spcBef>
              <a:defRPr sz="850">
                <a:solidFill>
                  <a:srgbClr val="0F172A"/>
                </a:solidFill>
              </a:defRPr>
            </a:pPr>
            <a:r>
              <a:t>Kích hoạt hàm secure_erase() xóa sạch cache bộ nhớ của nút bị tấn công.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10728655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102714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7. Kiểm Toán Bảo Vệ Siêu Dữ Liệu (Snowden 2013) &amp; Kháng Kênh Kề Đo Thời Gian (Kocher 1996)</a:t>
            </a:r>
          </a:p>
          <a:p>
            <a:pPr>
              <a:defRPr b="1" sz="930">
                <a:solidFill>
                  <a:srgbClr val="2563EB"/>
                </a:solidFill>
              </a:defRPr>
            </a:pPr>
            <a:r>
              <a:t>Kiểm toán rò rỉ siêu dữ liệu kênh truyền (Metadata Privacy):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• Flat SHA-256 &amp; HMAC: Buộc phải truyền tải toàn bộ danh mục qua mạng (111 KB), rò rỉ 100% đường dẫn và cấu trúc thư mục nội bộ.</a:t>
            </a:r>
            <a:br/>
            <a:r>
              <a:t>• HD-MerkleTree: Chỉ truyền duy nhất bằng chứng Compact Proof của tệp được hỏi (~1.4 KB), bảo vệ tuyệt đối thông tin các tệp còn lại (0 Byte rò rỉ).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Kháng tấn công đo thời gian phản hồi (Timing Side-Channel Resistance):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• Nguy cơ: Hacker đo độ trễ mạng để suy đoán ký tự mã băm nếu so sánh chuỗi bằng toán tử '==' thông thường.</a:t>
            </a:r>
            <a:br/>
            <a:r>
              <a:t>• Giải pháp HD-Merkle: Áp dụng so sánh chuỗi thời gian hằng số O(1) qua hàm hmac.compare_digest() theo khuyến nghị của Kocher (1996), triệt tiêu hoàn toàn dấu vết đo thời gian.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TRÌNH DIỄN HỆ THỐNG THỰC TẾ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LIVE DEMONSTRATION — TRÌNH DIỄN TRỰC TIẾP TRÊN TRÌNH DUYỆT &amp; 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280160"/>
            <a:ext cx="94484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463040"/>
            <a:ext cx="8899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CHUYỂN GIAO DIỆN SANG TRÌNH DUYỆT WEB &amp; TERMINAL MÁY TÍNH</a:t>
            </a:r>
          </a:p>
          <a:p>
            <a:pPr algn="ctr">
              <a:spcBef>
                <a:spcPts val="400"/>
              </a:spcBef>
              <a:defRPr b="1" sz="1800">
                <a:solidFill>
                  <a:srgbClr val="1E3A8A"/>
                </a:solidFill>
              </a:defRPr>
            </a:pPr>
            <a:r>
              <a:t>TRÌNH DIỄN TƯƠNG TÁC THỰC NGHIỆM TRÊN 5,600 TỆP TIN KAGGLE</a:t>
            </a:r>
          </a:p>
          <a:p>
            <a:pPr algn="ctr">
              <a:spcBef>
                <a:spcPts val="800"/>
              </a:spcBef>
              <a:defRPr b="1" sz="1000">
                <a:solidFill>
                  <a:srgbClr val="1E3A8A"/>
                </a:solidFill>
              </a:defRPr>
            </a:pPr>
            <a:r>
              <a:t>➔ Người trình bày tiến hành thu nhỏ Slide và thao tác trực tiếp trên giao diện Web http://localhost:8080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514600"/>
            <a:ext cx="4251960" cy="14630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606040"/>
            <a:ext cx="3977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E3A8A"/>
                </a:solidFill>
              </a:defRPr>
            </a:pPr>
            <a:r>
              <a:t>Bước 1: Chọn Thư Mục Giám Sát Lớn</a:t>
            </a:r>
          </a:p>
          <a:p>
            <a:pPr>
              <a:spcBef>
                <a:spcPts val="300"/>
              </a:spcBef>
              <a:defRPr sz="919">
                <a:solidFill>
                  <a:srgbClr val="0F172A"/>
                </a:solidFill>
              </a:defRPr>
            </a:pPr>
            <a:r>
              <a:t>Gắn kết thư mục kaggle_dataset_large (5,600 tệp - 175 MB) trên đĩa cứng qua hộp thoại Explorer.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514600"/>
            <a:ext cx="4251960" cy="14630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606040"/>
            <a:ext cx="3977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Bước 2: Nạp Baseline &amp; Quan Sát Log Terminal</a:t>
            </a:r>
          </a:p>
          <a:p>
            <a:pPr>
              <a:spcBef>
                <a:spcPts val="300"/>
              </a:spcBef>
              <a:defRPr sz="919">
                <a:solidFill>
                  <a:srgbClr val="0F172A"/>
                </a:solidFill>
              </a:defRPr>
            </a:pPr>
            <a:r>
              <a:t>Nhấn '1. Nạp dữ liệu' ➔ Quan sát tốc độ nạp nghìn tệp/s và nhật ký stream log trực tiếp trên terminal.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40" y="4160520"/>
            <a:ext cx="4251960" cy="14630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251960"/>
            <a:ext cx="3977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DC2626"/>
                </a:solidFill>
              </a:defRPr>
            </a:pPr>
            <a:r>
              <a:t>Bước 3: Mô Phỏng Tấn Công &amp; Đối Soát Đĩa</a:t>
            </a:r>
          </a:p>
          <a:p>
            <a:pPr>
              <a:spcBef>
                <a:spcPts val="300"/>
              </a:spcBef>
              <a:defRPr sz="919">
                <a:solidFill>
                  <a:srgbClr val="0F172A"/>
                </a:solidFill>
              </a:defRPr>
            </a:pPr>
            <a:r>
              <a:t>Can thiệp sửa 1 byte tệp thực tế trên đĩa ➔ Nhấn '2. Kiểm tra' ➔ Hệ thống phát hiện ngay và định vị tệp vi phạm.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60520"/>
            <a:ext cx="4251960" cy="146304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251960"/>
            <a:ext cx="3977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E22CE"/>
                </a:solidFill>
              </a:defRPr>
            </a:pPr>
            <a:r>
              <a:t>Bước 4: So Sánh 4 Mô Hình &amp; 7 Bài Test Toán Học</a:t>
            </a:r>
          </a:p>
          <a:p>
            <a:pPr>
              <a:spcBef>
                <a:spcPts val="300"/>
              </a:spcBef>
              <a:defRPr sz="919">
                <a:solidFill>
                  <a:srgbClr val="0F172A"/>
                </a:solidFill>
              </a:defRPr>
            </a:pPr>
            <a:r>
              <a:t>Chạy đối đầu 4 mô hình (xem bảng số liệu) &amp; Thực thi kiểm định 7 mô hình toán học (xem Radar Chart 100%).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93C5FD"/>
                </a:solidFill>
              </a:defRPr>
            </a:pPr>
            <a:r>
              <a:t>TỔNG KẾT &amp; ĐÓNG GÓP ĐỀ TÀI</a:t>
            </a:r>
          </a:p>
          <a:p>
            <a:pPr>
              <a:spcBef>
                <a:spcPts val="200"/>
              </a:spcBef>
              <a:defRPr b="1" sz="1700">
                <a:solidFill>
                  <a:srgbClr val="FFFFFF"/>
                </a:solidFill>
              </a:defRPr>
            </a:pPr>
            <a:r>
              <a:t>Kết Luận, Đóng Góp Học Thuật &amp; Lời Cảm 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3832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1. Đóng Góp Lý Thuyết</a:t>
            </a:r>
          </a:p>
          <a:p>
            <a:pPr>
              <a:defRPr b="1" sz="930">
                <a:solidFill>
                  <a:srgbClr val="2563EB"/>
                </a:solidFill>
              </a:defRPr>
            </a:pPr>
            <a:r>
              <a:t>Nghiên cứu hình thức chuẩn mực: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Hệ thống hóa toàn diện cơ sở lý luận an toàn thông tin theo bài báo TS. Harry Halpin (Oxford 2025).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Mô hình hóa an toàn: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Hiện thực hóa 7 mô hình hình thức: PPT Adversary, Dolev-Yao, RFC 6962, ROM/SAC, Biba và Metadata Privacy.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Kháng va chạm toán học: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Chứng minh phân tách miền tiền tố 0x00 != 0x01 triệt tiêu 100% va chạm Second-Preimage.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280160"/>
            <a:ext cx="33832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5087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2. Đóng Góp Kỹ Thuật</a:t>
            </a:r>
          </a:p>
          <a:p>
            <a:pPr>
              <a:defRPr b="1" sz="930">
                <a:solidFill>
                  <a:srgbClr val="2563EB"/>
                </a:solidFill>
              </a:defRPr>
            </a:pPr>
            <a:r>
              <a:t>Thiết kế mô hình HD-MerkleTree: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Tối ưu hóa kiến trúc cây phân cấp tương thích hoàn toàn cấu trúc thư mục thực tế.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Cập nhật tăng dần Dirty Path: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Giảm độ phức tạp cập nhật từ O(N) xuống O(log N), thời gian cập nhật 0.13 ms.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Cơ chế nén Batch Multi-Proof: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Tiết kiệm hơn 86% băng thông truyền tải mạng khi xác thực nhóm tệp.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Độ tin cậy tuyệt đối: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Vượt qua 17/17 bài Unit Test tự động (test_file_integrity.py).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1280160"/>
            <a:ext cx="33832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15087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3. Khả Năng Ứng Dụng</a:t>
            </a:r>
          </a:p>
          <a:p>
            <a:pPr>
              <a:defRPr b="1" sz="930">
                <a:solidFill>
                  <a:srgbClr val="2563EB"/>
                </a:solidFill>
              </a:defRPr>
            </a:pPr>
            <a:r>
              <a:t>Giám sát tệp thời gian thực: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Áp dụng cho máy chủ web, cơ sở dữ liệu và hệ điều hành chống mã độc ransomware.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Bảo mật điện toán đám mây: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Kiểm tra tính toàn vẹn dữ liệu lưu trữ từ xa mà không làm lộ nội dung tệp.</a:t>
            </a:r>
          </a:p>
          <a:p>
            <a:pPr>
              <a:spcBef>
                <a:spcPts val="400"/>
              </a:spcBef>
              <a:defRPr b="1" sz="930">
                <a:solidFill>
                  <a:srgbClr val="2563EB"/>
                </a:solidFill>
              </a:defRPr>
            </a:pPr>
            <a:r>
              <a:t>Hướng nghiên cứu tiếp theo:</a:t>
            </a:r>
          </a:p>
          <a:p>
            <a:pPr>
              <a:spcBef>
                <a:spcPts val="150"/>
              </a:spcBef>
              <a:defRPr sz="880">
                <a:solidFill>
                  <a:srgbClr val="0F172A"/>
                </a:solidFill>
              </a:defRPr>
            </a:pPr>
            <a:r>
              <a:t>Tích hợp công nghệ Zero-Knowledge Proof (zk-SNARKs) và blockchain lưu trữ Root Hash bất biến.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440680"/>
            <a:ext cx="10728655" cy="86868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XIN TRÂN TRỌNG CẢM ƠN QUÝ THẦY CÔ VÀ HỘI ĐỒNG ĐÃ LẮNG NGHE!</a:t>
            </a:r>
          </a:p>
          <a:p>
            <a:pPr algn="ctr">
              <a:spcBef>
                <a:spcPts val="200"/>
              </a:spcBef>
              <a:defRPr sz="1000">
                <a:solidFill>
                  <a:srgbClr val="BFDBFE"/>
                </a:solidFill>
              </a:defRPr>
            </a:pPr>
            <a:r>
              <a:t>Em rất mong nhận được những góp ý quý báu từ Quý Thầy Cô để hoàn thiện đề tài tốt hơn.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