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Standard Merkle (Rebuild)</c:v>
                </c:pt>
              </c:strCache>
            </c:strRef>
          </c:tx>
          <c:spPr>
            <a:solidFill>
              <a:srgbClr val="DC2626"/>
            </a:solidFill>
          </c:spPr>
          <c:cat>
            <c:strRef>
              <c:f>Sheet1!$A$2:$A$4</c:f>
              <c:strCache>
                <c:ptCount val="3"/>
                <c:pt idx="0">
                  <c:v>Sửa 1 tệp tin</c:v>
                </c:pt>
                <c:pt idx="1">
                  <c:v>Thêm 1 tệp mới</c:v>
                </c:pt>
                <c:pt idx="2">
                  <c:v>Xóa 1 tệp tin</c:v>
                </c:pt>
              </c:strCache>
            </c:strRef>
          </c:cat>
          <c:val>
            <c:numRef>
              <c:f>Sheet1!$B$2:$B$4</c:f>
              <c:numCache>
                <c:formatCode>General</c:formatCode>
                <c:ptCount val="3"/>
                <c:pt idx="0">
                  <c:v>73.42</c:v>
                </c:pt>
                <c:pt idx="1">
                  <c:v>72.97</c:v>
                </c:pt>
                <c:pt idx="2">
                  <c:v>74.89</c:v>
                </c:pt>
              </c:numCache>
            </c:numRef>
          </c:val>
        </c:ser>
        <c:ser>
          <c:idx val="1"/>
          <c:order val="1"/>
          <c:tx>
            <c:strRef>
              <c:f>Sheet1!$C$1</c:f>
              <c:strCache>
                <c:ptCount val="1"/>
                <c:pt idx="0">
                  <c:v>HD-MerkleTree (Dirty-Path)</c:v>
                </c:pt>
              </c:strCache>
            </c:strRef>
          </c:tx>
          <c:spPr>
            <a:solidFill>
              <a:srgbClr val="059669"/>
            </a:solidFill>
          </c:spPr>
          <c:cat>
            <c:strRef>
              <c:f>Sheet1!$A$2:$A$4</c:f>
              <c:strCache>
                <c:ptCount val="3"/>
                <c:pt idx="0">
                  <c:v>Sửa 1 tệp tin</c:v>
                </c:pt>
                <c:pt idx="1">
                  <c:v>Thêm 1 tệp mới</c:v>
                </c:pt>
                <c:pt idx="2">
                  <c:v>Xóa 1 tệp tin</c:v>
                </c:pt>
              </c:strCache>
            </c:strRef>
          </c:cat>
          <c:val>
            <c:numRef>
              <c:f>Sheet1!$C$2:$C$4</c:f>
              <c:numCache>
                <c:formatCode>General</c:formatCode>
                <c:ptCount val="3"/>
                <c:pt idx="0">
                  <c:v>0.16</c:v>
                </c:pt>
                <c:pt idx="1">
                  <c:v>0.17</c:v>
                </c:pt>
                <c:pt idx="2">
                  <c:v>0.1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txPr>
        <a:bodyPr/>
        <a:lstStyle/>
        <a:p>
          <a:pPr>
            <a:defRPr sz="85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Thời gian Khởi tạo (ms)</c:v>
                </c:pt>
              </c:strCache>
            </c:strRef>
          </c:tx>
          <c:spPr>
            <a:solidFill>
              <a:srgbClr val="2563EB"/>
            </a:solidFill>
          </c:spPr>
          <c:cat>
            <c:strRef>
              <c:f>Sheet1!$A$2:$A$5</c:f>
              <c:strCache>
                <c:ptCount val="4"/>
                <c:pt idx="0">
                  <c:v>Flat SHA-256</c:v>
                </c:pt>
                <c:pt idx="1">
                  <c:v>HMAC-SHA256</c:v>
                </c:pt>
                <c:pt idx="2">
                  <c:v>Standard Merkle</c:v>
                </c:pt>
                <c:pt idx="3">
                  <c:v>HD-Merkle (Đề xuất)</c:v>
                </c:pt>
              </c:strCache>
            </c:strRef>
          </c:cat>
          <c:val>
            <c:numRef>
              <c:f>Sheet1!$B$2:$B$5</c:f>
              <c:numCache>
                <c:formatCode>General</c:formatCode>
                <c:ptCount val="4"/>
                <c:pt idx="0">
                  <c:v>63.37</c:v>
                </c:pt>
                <c:pt idx="1">
                  <c:v>63.79</c:v>
                </c:pt>
                <c:pt idx="2">
                  <c:v>62.64</c:v>
                </c:pt>
                <c:pt idx="3">
                  <c:v>92.12</c:v>
                </c:pt>
              </c:numCache>
            </c:numRef>
          </c:val>
        </c:ser>
        <c:ser>
          <c:idx val="1"/>
          <c:order val="1"/>
          <c:tx>
            <c:strRef>
              <c:f>Sheet1!$C$1</c:f>
              <c:strCache>
                <c:ptCount val="1"/>
                <c:pt idx="0">
                  <c:v>Xác minh 1 tệp (ms x100)</c:v>
                </c:pt>
              </c:strCache>
            </c:strRef>
          </c:tx>
          <c:spPr>
            <a:solidFill>
              <a:srgbClr val="059669"/>
            </a:solidFill>
          </c:spPr>
          <c:cat>
            <c:strRef>
              <c:f>Sheet1!$A$2:$A$5</c:f>
              <c:strCache>
                <c:ptCount val="4"/>
                <c:pt idx="0">
                  <c:v>Flat SHA-256</c:v>
                </c:pt>
                <c:pt idx="1">
                  <c:v>HMAC-SHA256</c:v>
                </c:pt>
                <c:pt idx="2">
                  <c:v>Standard Merkle</c:v>
                </c:pt>
                <c:pt idx="3">
                  <c:v>HD-Merkle (Đề xuất)</c:v>
                </c:pt>
              </c:strCache>
            </c:strRef>
          </c:cat>
          <c:val>
            <c:numRef>
              <c:f>Sheet1!$C$2:$C$5</c:f>
              <c:numCache>
                <c:formatCode>General</c:formatCode>
                <c:ptCount val="4"/>
                <c:pt idx="0">
                  <c:v>20.0</c:v>
                </c:pt>
                <c:pt idx="1">
                  <c:v>8.0</c:v>
                </c:pt>
                <c:pt idx="2">
                  <c:v>2.0</c:v>
                </c:pt>
                <c:pt idx="3">
                  <c:v>3.0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txPr>
        <a:bodyPr/>
        <a:lstStyle/>
        <a:p>
          <a:pPr>
            <a:defRPr sz="85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Dung lượng gói tin (Bytes)</c:v>
                </c:pt>
              </c:strCache>
            </c:strRef>
          </c:tx>
          <c:spPr>
            <a:solidFill>
              <a:srgbClr val="2563EB"/>
            </a:solidFill>
          </c:spPr>
          <c:cat>
            <c:strRef>
              <c:f>Sheet1!$A$2:$A$5</c:f>
              <c:strCache>
                <c:ptCount val="4"/>
                <c:pt idx="0">
                  <c:v>Flat SHA-256 (Tải cả bảng)</c:v>
                </c:pt>
                <c:pt idx="1">
                  <c:v>HMAC-SHA256 (Tải cả bảng)</c:v>
                </c:pt>
                <c:pt idx="2">
                  <c:v>Standard Merkle Proof</c:v>
                </c:pt>
                <c:pt idx="3">
                  <c:v>HD-MerkleTree Proof (Đề xuất)</c:v>
                </c:pt>
              </c:strCache>
            </c:strRef>
          </c:cat>
          <c:val>
            <c:numRef>
              <c:f>Sheet1!$B$2:$B$5</c:f>
              <c:numCache>
                <c:formatCode>General</c:formatCode>
                <c:ptCount val="4"/>
                <c:pt idx="0">
                  <c:v>113802</c:v>
                </c:pt>
                <c:pt idx="1">
                  <c:v>113807</c:v>
                </c:pt>
                <c:pt idx="2">
                  <c:v>990</c:v>
                </c:pt>
                <c:pt idx="3">
                  <c:v>1369</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822960"/>
            <a:ext cx="10362895" cy="5303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97280"/>
            <a:ext cx="9448495" cy="4754880"/>
          </a:xfrm>
          <a:prstGeom prst="rect">
            <a:avLst/>
          </a:prstGeom>
          <a:noFill/>
        </p:spPr>
        <p:txBody>
          <a:bodyPr wrap="square">
            <a:spAutoFit/>
          </a:bodyPr>
          <a:lstStyle/>
          <a:p>
            <a:pPr algn="ctr">
              <a:defRPr b="1" sz="1350">
                <a:solidFill>
                  <a:srgbClr val="1E3A8A"/>
                </a:solidFill>
              </a:defRPr>
            </a:pPr>
            <a:r>
              <a:t>TRƯỜNG ĐẠI HỌC TÀI NGUYÊN VÀ MÔI TRƯỜNG TP. HỒ CHÍ MINH</a:t>
            </a:r>
          </a:p>
          <a:p>
            <a:pPr algn="ctr">
              <a:spcAft>
                <a:spcPts val="1400"/>
              </a:spcAft>
              <a:defRPr b="1" sz="1200">
                <a:solidFill>
                  <a:srgbClr val="2563EB"/>
                </a:solidFill>
              </a:defRPr>
            </a:pPr>
            <a:r>
              <a:t>KHOA CÔNG NGHỆ THÔNG TIN</a:t>
            </a:r>
          </a:p>
          <a:p>
            <a:pPr algn="ctr">
              <a:defRPr b="1" sz="2200">
                <a:solidFill>
                  <a:srgbClr val="DC2626"/>
                </a:solidFill>
              </a:defRPr>
            </a:pPr>
            <a:r>
              <a:t>BÁO CÁO THUYẾT TRÌNH ĐỒ ÁN GIỮA KỲ</a:t>
            </a:r>
          </a:p>
          <a:p>
            <a:pPr algn="ctr">
              <a:spcAft>
                <a:spcPts val="1000"/>
              </a:spcAft>
              <a:defRPr b="1" sz="1550">
                <a:solidFill>
                  <a:srgbClr val="1E3A8A"/>
                </a:solidFill>
              </a:defRPr>
            </a:pPr>
            <a:r>
              <a:t>ĐỀ TÀI DT005: HỆ THỐNG KIỂM TRA TOÀN VẸN TỆP BẰNG SHA-256, HMAC VÀ CÂY MERKLE</a:t>
            </a:r>
          </a:p>
          <a:p>
            <a:pPr algn="ctr">
              <a:defRPr b="1" sz="1200">
                <a:solidFill>
                  <a:srgbClr val="0F172A"/>
                </a:solidFill>
              </a:defRPr>
            </a:pPr>
            <a:r>
              <a:t>Học phần: An Toàn và Bảo Mật Hệ Thống Thông Tin</a:t>
            </a:r>
          </a:p>
          <a:p>
            <a:pPr algn="ctr">
              <a:spcAft>
                <a:spcPts val="1200"/>
              </a:spcAft>
              <a:defRPr b="1" sz="1250">
                <a:solidFill>
                  <a:srgbClr val="1E3A8A"/>
                </a:solidFill>
              </a:defRPr>
            </a:pPr>
            <a:r>
              <a:t>Giảng viên hướng dẫn: ThS. Phạm Trọng Huynh</a:t>
            </a:r>
            <a:br/>
            <a:r>
              <a:t>Sinh viên thực hiện: Võ Anh Kiệt  —  MSSV: 1150080143  —  Lớp: 11_CNPM2</a:t>
            </a:r>
          </a:p>
          <a:p>
            <a:pPr algn="ctr">
              <a:spcAft>
                <a:spcPts val="800"/>
              </a:spcAft>
              <a:defRPr sz="1000">
                <a:solidFill>
                  <a:srgbClr val="64748B"/>
                </a:solidFill>
              </a:defRPr>
            </a:pPr>
            <a:r>
              <a:t>Nghiên Cứu Và Phát Triển Dựa Trên Bài Báo Khoa Học Gốc: The Adversary: The Philosophy of Cryptography</a:t>
            </a:r>
            <a:br/>
            <a:r>
              <a:t>Tác giả: Harry Halpin — Xuất bản trên Tạp chí An ninh mạng Oxford (Oxford Journal of Cybersecurity, 2025)</a:t>
            </a:r>
          </a:p>
          <a:p>
            <a:pPr algn="ctr">
              <a:defRPr b="1" sz="1050">
                <a:solidFill>
                  <a:srgbClr val="059669"/>
                </a:solidFill>
              </a:defRPr>
            </a:pPr>
            <a:r>
              <a:t>Phương Pháp Luận Nghiên Cứu: Triển khai 3 Trụ cột độc lập (Kỹ thuật PoC, Mô phỏng an ninh 7 Games, Thực nghiệm trên 1.000 tệp)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DỊCH BÀI BÁO VÀ TÓM TẮT NỘI DUNG</a:t>
            </a:r>
          </a:p>
          <a:p>
            <a:pPr>
              <a:spcBef>
                <a:spcPts val="200"/>
              </a:spcBef>
              <a:defRPr b="1" sz="1700">
                <a:solidFill>
                  <a:srgbClr val="FFFFFF"/>
                </a:solidFill>
              </a:defRPr>
            </a:pPr>
            <a:r>
              <a:t>1. Giới Thiệu Và Tóm Tắt Bài Báo Khoa Học Của Tác Giả Harry Halpin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Thông Tin Xuất Bản &amp; Tóm Tắt Toàn Văn Bài Báo</a:t>
            </a:r>
          </a:p>
          <a:p>
            <a:pPr>
              <a:defRPr b="1" sz="930">
                <a:solidFill>
                  <a:srgbClr val="2563EB"/>
                </a:solidFill>
              </a:defRPr>
            </a:pPr>
            <a:r>
              <a:t>• Tên bài báo tiếng Anh gốc:</a:t>
            </a:r>
          </a:p>
          <a:p>
            <a:pPr>
              <a:spcBef>
                <a:spcPts val="150"/>
              </a:spcBef>
              <a:defRPr sz="880">
                <a:solidFill>
                  <a:srgbClr val="0F172A"/>
                </a:solidFill>
              </a:defRPr>
            </a:pPr>
            <a:r>
              <a:t>The Adversary: The Philosophy of Cryptography.</a:t>
            </a:r>
          </a:p>
          <a:p>
            <a:pPr>
              <a:spcBef>
                <a:spcPts val="500"/>
              </a:spcBef>
              <a:defRPr b="1" sz="930">
                <a:solidFill>
                  <a:srgbClr val="2563EB"/>
                </a:solidFill>
              </a:defRPr>
            </a:pPr>
            <a:r>
              <a:t>• Tác giả &amp; Cơ quan nghiên cứu:</a:t>
            </a:r>
          </a:p>
          <a:p>
            <a:pPr>
              <a:spcBef>
                <a:spcPts val="150"/>
              </a:spcBef>
              <a:defRPr sz="880">
                <a:solidFill>
                  <a:srgbClr val="0F172A"/>
                </a:solidFill>
              </a:defRPr>
            </a:pPr>
            <a:r>
              <a:t>Harry Halpin — Nhà nghiên cứu mật mã học hàng đầu, đồng sáng lập Nym Technologies và cựu nghiên cứu viên cấp cao tại Inria (Pháp).</a:t>
            </a:r>
          </a:p>
          <a:p>
            <a:pPr>
              <a:spcBef>
                <a:spcPts val="500"/>
              </a:spcBef>
              <a:defRPr b="1" sz="930">
                <a:solidFill>
                  <a:srgbClr val="2563EB"/>
                </a:solidFill>
              </a:defRPr>
            </a:pPr>
            <a:r>
              <a:t>• Tạp chí &amp; Năm xuất bản:</a:t>
            </a:r>
          </a:p>
          <a:p>
            <a:pPr>
              <a:spcBef>
                <a:spcPts val="150"/>
              </a:spcBef>
              <a:defRPr sz="880">
                <a:solidFill>
                  <a:srgbClr val="0F172A"/>
                </a:solidFill>
              </a:defRPr>
            </a:pPr>
            <a:r>
              <a:t>Tạp chí An ninh mạng Oxford (Oxford Journal of Cybersecurity), Nhà xuất bản Đại học Oxford (Oxford University Press), Tập 11, Số 1, Năm 2025.</a:t>
            </a:r>
          </a:p>
          <a:p>
            <a:pPr>
              <a:spcBef>
                <a:spcPts val="500"/>
              </a:spcBef>
              <a:defRPr b="1" sz="930">
                <a:solidFill>
                  <a:srgbClr val="2563EB"/>
                </a:solidFill>
              </a:defRPr>
            </a:pPr>
            <a:r>
              <a:t>• Luận điểm triết học trung tâm của bài báo:</a:t>
            </a:r>
          </a:p>
          <a:p>
            <a:pPr>
              <a:spcBef>
                <a:spcPts val="150"/>
              </a:spcBef>
              <a:defRPr sz="880">
                <a:solidFill>
                  <a:srgbClr val="0F172A"/>
                </a:solidFill>
              </a:defRPr>
            </a:pPr>
            <a:r>
              <a:t>Mật mã học không chỉ là bài toán toán học thuần túy trên lý thuyết, mà là một cuộc chiến tương tác đối kháng có chủ đích giữa Kẻ phòng thủ và Kẻ thù hình thức (The Adversary).</a:t>
            </a:r>
          </a:p>
          <a:p>
            <a:pPr>
              <a:spcBef>
                <a:spcPts val="500"/>
              </a:spcBef>
              <a:defRPr b="1" sz="930">
                <a:solidFill>
                  <a:srgbClr val="2563EB"/>
                </a:solidFill>
              </a:defRPr>
            </a:pPr>
            <a:r>
              <a:t>• Khung phân loại 4 mô hình Kẻ thù trong bài báo:</a:t>
            </a:r>
          </a:p>
          <a:p>
            <a:pPr>
              <a:spcBef>
                <a:spcPts val="150"/>
              </a:spcBef>
              <a:defRPr sz="880">
                <a:solidFill>
                  <a:srgbClr val="0F172A"/>
                </a:solidFill>
              </a:defRPr>
            </a:pPr>
            <a:r>
              <a:t>1. Kẻ tấn công thụ động (Passive Eavesdropper: Nghe lén đường truyền).</a:t>
            </a:r>
            <a:br/>
            <a:r>
              <a:t>2. Kẻ tấn công chủ động Dolev-Yao (Active Network Adversary: Can thiệp gói tin).</a:t>
            </a:r>
            <a:br/>
            <a:r>
              <a:t>3. Kẻ thù tính toán PPT (Probabilistic Polynomial-Time Adversary).</a:t>
            </a:r>
            <a:br/>
            <a:r>
              <a:t>4. Kẻ thù khai thác kênh kề &amp; siêu dữ liệu (Side-Channel &amp; Metadata Adversary).</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35040" y="1234440"/>
            <a:ext cx="5394960" cy="82296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BFDBFE"/>
                </a:solidFill>
              </a:defRPr>
            </a:pPr>
            <a:r>
              <a:t>OXFORD UNIVERSITY PRESS • JOURNAL OF CYBERSECURITY</a:t>
            </a:r>
          </a:p>
          <a:p>
            <a:pPr>
              <a:defRPr sz="850">
                <a:solidFill>
                  <a:srgbClr val="FFFFFF"/>
                </a:solidFill>
              </a:defRPr>
            </a:pPr>
            <a:r>
              <a:t>ISSN 2057-2085 • Tập 11, Số 1, Năm 2025 • Article ID: tyae024</a:t>
            </a:r>
          </a:p>
        </p:txBody>
      </p:sp>
      <p:sp>
        <p:nvSpPr>
          <p:cNvPr id="10" name="TextBox 9"/>
          <p:cNvSpPr txBox="1"/>
          <p:nvPr/>
        </p:nvSpPr>
        <p:spPr>
          <a:xfrm>
            <a:off x="6263640" y="2148840"/>
            <a:ext cx="4937760" cy="4206240"/>
          </a:xfrm>
          <a:prstGeom prst="rect">
            <a:avLst/>
          </a:prstGeom>
          <a:noFill/>
        </p:spPr>
        <p:txBody>
          <a:bodyPr wrap="square">
            <a:spAutoFit/>
          </a:bodyPr>
          <a:lstStyle/>
          <a:p>
            <a:pPr>
              <a:defRPr b="1" sz="1300">
                <a:solidFill>
                  <a:srgbClr val="1E3A8A"/>
                </a:solidFill>
              </a:defRPr>
            </a:pPr>
            <a:r>
              <a:t>The Adversary: The Philosophy of Cryptography</a:t>
            </a:r>
          </a:p>
          <a:p>
            <a:pPr>
              <a:spcAft>
                <a:spcPts val="600"/>
              </a:spcAft>
              <a:defRPr sz="900">
                <a:solidFill>
                  <a:srgbClr val="2563EB"/>
                </a:solidFill>
              </a:defRPr>
            </a:pPr>
            <a:r>
              <a:t>Tác giả: Harry Halpin  |  Đơn vị: Nym Technologies &amp; Inria Research</a:t>
            </a:r>
          </a:p>
        </p:txBody>
      </p:sp>
      <p:sp>
        <p:nvSpPr>
          <p:cNvPr id="11" name="Rounded Rectangle 10"/>
          <p:cNvSpPr/>
          <p:nvPr/>
        </p:nvSpPr>
        <p:spPr>
          <a:xfrm>
            <a:off x="6263640" y="2971800"/>
            <a:ext cx="4937760" cy="169164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1E3A8A"/>
                </a:solidFill>
              </a:defRPr>
            </a:pPr>
            <a:r>
              <a:t>[ TRÍCH ĐOẠN LUẬN ĐIỂM CỐT LÕI TỪ BÀI BÁO ]</a:t>
            </a:r>
          </a:p>
          <a:p>
            <a:pPr>
              <a:spcBef>
                <a:spcPts val="300"/>
              </a:spcBef>
              <a:defRPr sz="819">
                <a:solidFill>
                  <a:srgbClr val="0F172A"/>
                </a:solidFill>
              </a:defRPr>
            </a:pPr>
            <a:r>
              <a:t>“Mật mã học không chỉ là bài toán mã hóa dữ liệu tĩnh, mà là sự tương tác đối kháng hình thức giữa người xây dựng hệ thống và Kẻ thù (The Adversary). Để bảo đảm toàn vẹn kho dữ liệu, bắt buộc phải sử dụng cây Merkle phân tách miền (RFC 6962) và kiểm nghiệm trên dữ liệu thực tế biến thiên.”</a:t>
            </a:r>
          </a:p>
        </p:txBody>
      </p:sp>
      <p:sp>
        <p:nvSpPr>
          <p:cNvPr id="12" name="Rounded Rectangle 11"/>
          <p:cNvSpPr/>
          <p:nvPr/>
        </p:nvSpPr>
        <p:spPr>
          <a:xfrm>
            <a:off x="6263640" y="4846320"/>
            <a:ext cx="2423160" cy="56692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2563EB"/>
                </a:solidFill>
              </a:defRPr>
            </a:pPr>
            <a:r>
              <a:t>✓ Kẻ thù PPT &amp; Dolev-Yao</a:t>
            </a:r>
          </a:p>
        </p:txBody>
      </p:sp>
      <p:sp>
        <p:nvSpPr>
          <p:cNvPr id="13" name="Rounded Rectangle 12"/>
          <p:cNvSpPr/>
          <p:nvPr/>
        </p:nvSpPr>
        <p:spPr>
          <a:xfrm>
            <a:off x="8778240" y="4846320"/>
            <a:ext cx="2423160" cy="566928"/>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059669"/>
                </a:solidFill>
              </a:defRPr>
            </a:pPr>
            <a:r>
              <a:t>✓ Chuẩn RFC 6962 Domain Separation</a:t>
            </a:r>
          </a:p>
        </p:txBody>
      </p:sp>
      <p:sp>
        <p:nvSpPr>
          <p:cNvPr id="14" name="Rounded Rectangle 13"/>
          <p:cNvSpPr/>
          <p:nvPr/>
        </p:nvSpPr>
        <p:spPr>
          <a:xfrm>
            <a:off x="6263640" y="5532120"/>
            <a:ext cx="2423160" cy="566928"/>
          </a:xfrm>
          <a:prstGeom prst="roundRect">
            <a:avLst/>
          </a:prstGeom>
          <a:solidFill>
            <a:srgbClr val="FAF5FF"/>
          </a:solidFill>
          <a:ln>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7E22CE"/>
                </a:solidFill>
              </a:defRPr>
            </a:pPr>
            <a:r>
              <a:t>✓ Cây Merkle &amp; Xác minh O(log N)</a:t>
            </a:r>
          </a:p>
        </p:txBody>
      </p:sp>
      <p:sp>
        <p:nvSpPr>
          <p:cNvPr id="15" name="Rounded Rectangle 14"/>
          <p:cNvSpPr/>
          <p:nvPr/>
        </p:nvSpPr>
        <p:spPr>
          <a:xfrm>
            <a:off x="8778240" y="5532120"/>
            <a:ext cx="2423160" cy="566928"/>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D97706"/>
                </a:solidFill>
              </a:defRPr>
            </a:pPr>
            <a:r>
              <a:t>✓ Nguyên lý Kerckhoffs &amp; Kênh kề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DỊCH BÀI BÁO VÀ TÓM TẮT NỘI DUNG</a:t>
            </a:r>
          </a:p>
          <a:p>
            <a:pPr>
              <a:spcBef>
                <a:spcPts val="200"/>
              </a:spcBef>
              <a:defRPr b="1" sz="1700">
                <a:solidFill>
                  <a:srgbClr val="FFFFFF"/>
                </a:solidFill>
              </a:defRPr>
            </a:pPr>
            <a:r>
              <a:t>2. Bối Cảnh, Động Lực Nghiên Cứu Và Lời Kêu Gọi Kiểm Nghiệm Thực Tế</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Khoảng Trống Học Thuật &amp; Động Lực Triển Khai Đồ Án</a:t>
            </a:r>
          </a:p>
          <a:p>
            <a:pPr>
              <a:defRPr b="1" sz="930">
                <a:solidFill>
                  <a:srgbClr val="2563EB"/>
                </a:solidFill>
              </a:defRPr>
            </a:pPr>
            <a:r>
              <a:t>• Khoảng trống học thuật trong bài báo gốc:</a:t>
            </a:r>
          </a:p>
          <a:p>
            <a:pPr>
              <a:spcBef>
                <a:spcPts val="150"/>
              </a:spcBef>
              <a:defRPr sz="880">
                <a:solidFill>
                  <a:srgbClr val="0F172A"/>
                </a:solidFill>
              </a:defRPr>
            </a:pPr>
            <a:r>
              <a:t>Bài báo của Harry Halpin (2025) là một công trình nghiên cứu triết học và lý thuyết mật mã học đỉnh cao, nhưng HOÀN TOÀN KHÔNG CÓ BỘ MÃ NGUỒN CỤ THỂ, không có tập dữ liệu thực nghiệm và không có các số liệu đo lường định lượng.</a:t>
            </a:r>
          </a:p>
          <a:p>
            <a:pPr>
              <a:spcBef>
                <a:spcPts val="500"/>
              </a:spcBef>
              <a:defRPr b="1" sz="930">
                <a:solidFill>
                  <a:srgbClr val="2563EB"/>
                </a:solidFill>
              </a:defRPr>
            </a:pPr>
            <a:r>
              <a:t>• Lời kêu gọi từ bài báo (Mục 7 Trang 14-15):</a:t>
            </a:r>
          </a:p>
          <a:p>
            <a:pPr>
              <a:spcBef>
                <a:spcPts val="150"/>
              </a:spcBef>
              <a:defRPr sz="880">
                <a:solidFill>
                  <a:srgbClr val="0F172A"/>
                </a:solidFill>
              </a:defRPr>
            </a:pPr>
            <a:r>
              <a:t>Tác giả nhấn mạnh: Các cấu trúc dữ liệu mật mã (như Merkle Tree) cần được kiểm chứng trong các môi trường hệ thống thực tế với dữ liệu biến thiên, thay vì chỉ dừng lại ở các chứng minh toán học trên trang giấy.</a:t>
            </a:r>
          </a:p>
          <a:p>
            <a:pPr>
              <a:spcBef>
                <a:spcPts val="500"/>
              </a:spcBef>
              <a:defRPr b="1" sz="930">
                <a:solidFill>
                  <a:srgbClr val="2563EB"/>
                </a:solidFill>
              </a:defRPr>
            </a:pPr>
            <a:r>
              <a:t>• Động lực và sứ mệnh của Đồ án DT005:</a:t>
            </a:r>
          </a:p>
          <a:p>
            <a:pPr>
              <a:spcBef>
                <a:spcPts val="150"/>
              </a:spcBef>
              <a:defRPr sz="880">
                <a:solidFill>
                  <a:srgbClr val="0F172A"/>
                </a:solidFill>
              </a:defRPr>
            </a:pPr>
            <a:r>
              <a:t>Hiện thực hóa 100% khung lý thuyết của Harry Halpin thành một hệ thống phần mềm hoàn chỉnh chạy thực tế, thiết kế bộ dữ liệu 1.000 tệp tin thực tế và đo đạc các chỉ số hiệu năng khách quan.</a:t>
            </a:r>
          </a:p>
          <a:p>
            <a:pPr>
              <a:spcBef>
                <a:spcPts val="500"/>
              </a:spcBef>
              <a:defRPr b="1" sz="930">
                <a:solidFill>
                  <a:srgbClr val="2563EB"/>
                </a:solidFill>
              </a:defRPr>
            </a:pPr>
            <a:r>
              <a:t>• Ý nghĩa thực tiễn của đề tài:</a:t>
            </a:r>
          </a:p>
          <a:p>
            <a:pPr>
              <a:spcBef>
                <a:spcPts val="150"/>
              </a:spcBef>
              <a:defRPr sz="880">
                <a:solidFill>
                  <a:srgbClr val="0F172A"/>
                </a:solidFill>
              </a:defRPr>
            </a:pPr>
            <a:r>
              <a:t>Cung cấp giải pháp bảo vệ toàn vẹn dữ liệu cho các hệ thống doanh nghiệp, cơ sở dữ liệu nhật ký kiểm toán không thể sửa đổi (Append-Only Log) và bảo vệ máy khách nhẹ (Light Client) tiết kiệm hơn 98% băng thông mạng.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chuyển giao tri thức từ bài báo Oxford đến đồ án DT005</a:t>
            </a:r>
          </a:p>
          <a:p>
            <a:pPr>
              <a:defRPr b="1" sz="950">
                <a:solidFill>
                  <a:srgbClr val="64748B"/>
                </a:solidFill>
              </a:defRPr>
            </a:pPr>
            <a:r>
              <a:t>Gợi ý các thành phần cần thiết kế trên Draw.io:</a:t>
            </a:r>
          </a:p>
          <a:p>
            <a:pPr>
              <a:spcBef>
                <a:spcPts val="400"/>
              </a:spcBef>
              <a:defRPr sz="880">
                <a:solidFill>
                  <a:srgbClr val="0F172A"/>
                </a:solidFill>
              </a:defRPr>
            </a:pPr>
            <a:r>
              <a:t>• Khối 1: Nền tảng triết học mật mã học của Harry Halpin (2025) và khái niệm Kẻ thù hình thức.</a:t>
            </a:r>
          </a:p>
          <a:p>
            <a:pPr>
              <a:spcBef>
                <a:spcPts val="400"/>
              </a:spcBef>
              <a:defRPr sz="880">
                <a:solidFill>
                  <a:srgbClr val="0F172A"/>
                </a:solidFill>
              </a:defRPr>
            </a:pPr>
            <a:r>
              <a:t>• Khối 2: Khoảng trống khoa học bài báo: không có mã nguồn, không có dữ liệu, không có đo đạc định lượng.</a:t>
            </a:r>
          </a:p>
          <a:p>
            <a:pPr>
              <a:spcBef>
                <a:spcPts val="400"/>
              </a:spcBef>
              <a:defRPr sz="880">
                <a:solidFill>
                  <a:srgbClr val="0F172A"/>
                </a:solidFill>
              </a:defRPr>
            </a:pPr>
            <a:r>
              <a:t>• Khối 3: Đóng góp hiện thực hóa của đồ án DT005: PoC HD-MerkleTree, 7 Games an ninh, 1.000 tệp tin.</a:t>
            </a:r>
          </a:p>
          <a:p>
            <a:pPr>
              <a:spcBef>
                <a:spcPts val="400"/>
              </a:spcBef>
              <a:defRPr sz="880">
                <a:solidFill>
                  <a:srgbClr val="0F172A"/>
                </a:solidFill>
              </a:defRPr>
            </a:pPr>
            <a:r>
              <a:t>• Khối 4: Quy trình kiểm nghiệm toán học độc lập và đối chuẩn thực nghiệm đa tầng.</a:t>
            </a:r>
          </a:p>
          <a:p>
            <a:pPr>
              <a:spcBef>
                <a:spcPts val="400"/>
              </a:spcBef>
              <a:defRPr sz="880">
                <a:solidFill>
                  <a:srgbClr val="0F172A"/>
                </a:solidFill>
              </a:defRPr>
            </a:pPr>
            <a:r>
              <a:t>• Mũi tên luồng: Thể hiện chuỗi kế thừa lý thuyết và phát triển thực nghiệm khép kín.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DỊCH BÀI BÁO VÀ TÓM TẮT NỘI DUNG</a:t>
            </a:r>
          </a:p>
          <a:p>
            <a:pPr>
              <a:spcBef>
                <a:spcPts val="200"/>
              </a:spcBef>
              <a:defRPr b="1" sz="1700">
                <a:solidFill>
                  <a:srgbClr val="FFFFFF"/>
                </a:solidFill>
              </a:defRPr>
            </a:pPr>
            <a:r>
              <a:t>3. Tổng Hợp Các Luận Điểm Mật Mã Học Cốt Lõi Từ Bài Báo</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6 Luận Điểm Mật Mã Học Nền Tảng Của Harry Halpin</a:t>
            </a:r>
          </a:p>
          <a:p>
            <a:pPr>
              <a:defRPr b="1" sz="900">
                <a:solidFill>
                  <a:srgbClr val="2563EB"/>
                </a:solidFill>
              </a:defRPr>
            </a:pPr>
            <a:r>
              <a:t>• 1. Mô hình Kẻ thù PPT (Mục 4 Trang 7):</a:t>
            </a:r>
          </a:p>
          <a:p>
            <a:pPr>
              <a:spcBef>
                <a:spcPts val="150"/>
              </a:spcBef>
              <a:defRPr sz="850">
                <a:solidFill>
                  <a:srgbClr val="0F172A"/>
                </a:solidFill>
              </a:defRPr>
            </a:pPr>
            <a:r>
              <a:t>Kẻ tấn công có năng lực tính toán ngẫu nhiên trong thời gian đa thức (Goldwasser-Micali 1984). Xác suất bẻ gãy hệ thống an toàn không được vượt quá hàm không đáng kể negl(n) &lt;= 2^-128.</a:t>
            </a:r>
          </a:p>
          <a:p>
            <a:pPr>
              <a:spcBef>
                <a:spcPts val="500"/>
              </a:spcBef>
              <a:defRPr b="1" sz="900">
                <a:solidFill>
                  <a:srgbClr val="2563EB"/>
                </a:solidFill>
              </a:defRPr>
            </a:pPr>
            <a:r>
              <a:t>• 2. Nguyên lý Kerckhoffs (Mục 2 Trang 3):</a:t>
            </a:r>
          </a:p>
          <a:p>
            <a:pPr>
              <a:spcBef>
                <a:spcPts val="150"/>
              </a:spcBef>
              <a:defRPr sz="850">
                <a:solidFill>
                  <a:srgbClr val="0F172A"/>
                </a:solidFill>
              </a:defRPr>
            </a:pPr>
            <a:r>
              <a:t>Độ an toàn của hệ thống mật mã phải phụ thuộc hoàn toàn vào sự bí mật của khóa (hoặc tính bất biến của Root Hash), tuyệt đối không dựa vào sự bí mật của mã nguồn.</a:t>
            </a:r>
          </a:p>
          <a:p>
            <a:pPr>
              <a:spcBef>
                <a:spcPts val="500"/>
              </a:spcBef>
              <a:defRPr b="1" sz="900">
                <a:solidFill>
                  <a:srgbClr val="2563EB"/>
                </a:solidFill>
              </a:defRPr>
            </a:pPr>
            <a:r>
              <a:t>• 3. Kẻ thù Mạng Dolev-Yao (Mục 4 Trang 8):</a:t>
            </a:r>
          </a:p>
          <a:p>
            <a:pPr>
              <a:spcBef>
                <a:spcPts val="150"/>
              </a:spcBef>
              <a:defRPr sz="850">
                <a:solidFill>
                  <a:srgbClr val="0F172A"/>
                </a:solidFill>
              </a:defRPr>
            </a:pPr>
            <a:r>
              <a:t>Kẻ tấn công kiểm soát toàn bộ kênh truyền thông, có quyền sửa đổi gói tin, tráo đổi dữ liệu và thực hiện tấn công phát lại (Replay Attack).</a:t>
            </a:r>
          </a:p>
          <a:p>
            <a:pPr>
              <a:spcBef>
                <a:spcPts val="500"/>
              </a:spcBef>
              <a:defRPr b="1" sz="900">
                <a:solidFill>
                  <a:srgbClr val="2563EB"/>
                </a:solidFill>
              </a:defRPr>
            </a:pPr>
            <a:r>
              <a:t>• 4. Chuẩn phân tách miền RFC 6962 (Mục 5 Trang 8-10):</a:t>
            </a:r>
          </a:p>
          <a:p>
            <a:pPr>
              <a:spcBef>
                <a:spcPts val="150"/>
              </a:spcBef>
              <a:defRPr sz="850">
                <a:solidFill>
                  <a:srgbClr val="0F172A"/>
                </a:solidFill>
              </a:defRPr>
            </a:pPr>
            <a:r>
              <a:t>Bắt buộc gắn tiền tố phân tách miền 0x00 cho nút lá và 0x01 cho nút nhánh để triệt tiêu hoàn toàn tấn công giả mạo tiền ảnh cấp 2 (Second-Preimage Attack).</a:t>
            </a:r>
          </a:p>
          <a:p>
            <a:pPr>
              <a:spcBef>
                <a:spcPts val="500"/>
              </a:spcBef>
              <a:defRPr b="1" sz="900">
                <a:solidFill>
                  <a:srgbClr val="2563EB"/>
                </a:solidFill>
              </a:defRPr>
            </a:pPr>
            <a:r>
              <a:t>• 5. Xác minh cục bộ O(log N) của Merkle (Mục 4 Trang 5):</a:t>
            </a:r>
          </a:p>
          <a:p>
            <a:pPr>
              <a:spcBef>
                <a:spcPts val="150"/>
              </a:spcBef>
              <a:defRPr sz="850">
                <a:solidFill>
                  <a:srgbClr val="0F172A"/>
                </a:solidFill>
              </a:defRPr>
            </a:pPr>
            <a:r>
              <a:t>Máy khách nhẹ (Light Client) chỉ cần một bằng chứng logarit để xác minh 1 tệp tin mà không cần tải toàn bộ kho dữ liệu.</a:t>
            </a:r>
          </a:p>
          <a:p>
            <a:pPr>
              <a:spcBef>
                <a:spcPts val="500"/>
              </a:spcBef>
              <a:defRPr b="1" sz="900">
                <a:solidFill>
                  <a:srgbClr val="2563EB"/>
                </a:solidFill>
              </a:defRPr>
            </a:pPr>
            <a:r>
              <a:t>• 6. Tấn công kênh kề &amp; Rò rỉ siêu dữ liệu (Mục 5 Trang 10, Mục 6):</a:t>
            </a:r>
          </a:p>
          <a:p>
            <a:pPr>
              <a:spcBef>
                <a:spcPts val="150"/>
              </a:spcBef>
              <a:defRPr sz="850">
                <a:solidFill>
                  <a:srgbClr val="0F172A"/>
                </a:solidFill>
              </a:defRPr>
            </a:pPr>
            <a:r>
              <a:t>Cảnh báo nguy cơ tấn công đo thời gian (Timing Attack theo Paul Kocher 1996) và rò rỉ danh tính tệp tin qua siêu dữ liệu.</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tương quan 4 trụ cột an ninh mật mã học trong hệ thống</a:t>
            </a:r>
          </a:p>
          <a:p>
            <a:pPr>
              <a:defRPr b="1" sz="950">
                <a:solidFill>
                  <a:srgbClr val="64748B"/>
                </a:solidFill>
              </a:defRPr>
            </a:pPr>
            <a:r>
              <a:t>Gợi ý các thành phần cần thiết kế trên Draw.io:</a:t>
            </a:r>
          </a:p>
          <a:p>
            <a:pPr>
              <a:spcBef>
                <a:spcPts val="400"/>
              </a:spcBef>
              <a:defRPr sz="880">
                <a:solidFill>
                  <a:srgbClr val="0F172A"/>
                </a:solidFill>
              </a:defRPr>
            </a:pPr>
            <a:r>
              <a:t>• Trụ cột 1: Second-Preimage Resistance (Đảo 1 bit làm sai lệch chuỗi băm, bảo vệ bởi SHA-256).</a:t>
            </a:r>
          </a:p>
          <a:p>
            <a:pPr>
              <a:spcBef>
                <a:spcPts val="400"/>
              </a:spcBef>
              <a:defRPr sz="880">
                <a:solidFill>
                  <a:srgbClr val="0F172A"/>
                </a:solidFill>
              </a:defRPr>
            </a:pPr>
            <a:r>
              <a:t>• Trụ cột 2: Domain Separation RFC 6962 (Tách miền 0x00 cho lá và 0x01 cho nhánh để chống va chạm).</a:t>
            </a:r>
          </a:p>
          <a:p>
            <a:pPr>
              <a:spcBef>
                <a:spcPts val="400"/>
              </a:spcBef>
              <a:defRPr sz="880">
                <a:solidFill>
                  <a:srgbClr val="0F172A"/>
                </a:solidFill>
              </a:defRPr>
            </a:pPr>
            <a:r>
              <a:t>• Trụ cột 3: Membership Proof O(log N) (Bằng chứng thành viên nhỏ gọn, không để lộ cấu trúc thư mục).</a:t>
            </a:r>
          </a:p>
          <a:p>
            <a:pPr>
              <a:spcBef>
                <a:spcPts val="400"/>
              </a:spcBef>
              <a:defRPr sz="880">
                <a:solidFill>
                  <a:srgbClr val="0F172A"/>
                </a:solidFill>
              </a:defRPr>
            </a:pPr>
            <a:r>
              <a:t>• Trụ cột 4: Append-Only Consistency Proof (Xác thực lịch sử tệp tin không bị kẻ tấn công sửa lén).</a:t>
            </a:r>
          </a:p>
          <a:p>
            <a:pPr>
              <a:spcBef>
                <a:spcPts val="400"/>
              </a:spcBef>
              <a:defRPr sz="880">
                <a:solidFill>
                  <a:srgbClr val="0F172A"/>
                </a:solidFill>
              </a:defRPr>
            </a:pPr>
            <a:r>
              <a:t>• Trung tâm: Chuỗi băm gốc Root Hash 32-byte đại diện bất biến cho toàn bộ 1.000 tệp tin.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PHƯƠNG PHÁP LUẬN NGHIÊN CỨU</a:t>
            </a:r>
          </a:p>
          <a:p>
            <a:pPr>
              <a:spcBef>
                <a:spcPts val="200"/>
              </a:spcBef>
              <a:defRPr b="1" sz="1700">
                <a:solidFill>
                  <a:srgbClr val="FFFFFF"/>
                </a:solidFill>
              </a:defRPr>
            </a:pPr>
            <a:r>
              <a:t>4. Phương Pháp Luận Nghiên Cứu: Ba Trụ Cột Độc Lập Chuẩn Mực</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Tuyên Bố Rõ Ràng 3 Trụ Cột Phương Pháp Luận</a:t>
            </a:r>
          </a:p>
          <a:p>
            <a:pPr>
              <a:defRPr b="1" sz="900">
                <a:solidFill>
                  <a:srgbClr val="2563EB"/>
                </a:solidFill>
              </a:defRPr>
            </a:pPr>
            <a:r>
              <a:t>• Tuyên bố tính chuẩn mực khoa học:</a:t>
            </a:r>
          </a:p>
          <a:p>
            <a:pPr>
              <a:spcBef>
                <a:spcPts val="150"/>
              </a:spcBef>
              <a:defRPr sz="850">
                <a:solidFill>
                  <a:srgbClr val="0F172A"/>
                </a:solidFill>
              </a:defRPr>
            </a:pPr>
            <a:r>
              <a:t>Nhóm nghiên cứu KHÔNG gộp chung các phần việc làm một, mà phân định rõ ràng thành 3 trụ cột phương pháp luận độc lập, tự chủ:</a:t>
            </a:r>
          </a:p>
          <a:p>
            <a:pPr>
              <a:spcBef>
                <a:spcPts val="500"/>
              </a:spcBef>
              <a:defRPr b="1" sz="900">
                <a:solidFill>
                  <a:srgbClr val="2563EB"/>
                </a:solidFill>
              </a:defRPr>
            </a:pPr>
            <a:r>
              <a:t>• Trụ cột I (Hướng 1) - Kỹ thuật hệ thống &amp; PoC:</a:t>
            </a:r>
          </a:p>
          <a:p>
            <a:pPr>
              <a:spcBef>
                <a:spcPts val="150"/>
              </a:spcBef>
              <a:defRPr sz="850">
                <a:solidFill>
                  <a:srgbClr val="0F172A"/>
                </a:solidFill>
              </a:defRPr>
            </a:pPr>
            <a:r>
              <a:t>- Tệp thực thi: src/proposed_model/hd_merkle_tree.py</a:t>
            </a:r>
            <a:br/>
            <a:r>
              <a:t>- Bản chất: Đề xuất kiến trúc Cây Merkle phân tầng (HD-MerkleTree) kết hợp mô hình toàn vẹn Biba 1977 và kỹ thuật cập nhật Dirty-Path cục bộ trong RAM.</a:t>
            </a:r>
            <a:br/>
            <a:r>
              <a:t>- Đóng góp: Giải quyết triệt để vấn đề Rebuild toàn bộ O(N) của cây Merkle phẳng.</a:t>
            </a:r>
          </a:p>
          <a:p>
            <a:pPr>
              <a:spcBef>
                <a:spcPts val="500"/>
              </a:spcBef>
              <a:defRPr b="1" sz="900">
                <a:solidFill>
                  <a:srgbClr val="2563EB"/>
                </a:solidFill>
              </a:defRPr>
            </a:pPr>
            <a:r>
              <a:t>• Trụ cột II (Hướng 2) - Mô phỏng an ninh hình thức (7 Games):</a:t>
            </a:r>
          </a:p>
          <a:p>
            <a:pPr>
              <a:spcBef>
                <a:spcPts val="150"/>
              </a:spcBef>
              <a:defRPr sz="850">
                <a:solidFill>
                  <a:srgbClr val="0F172A"/>
                </a:solidFill>
              </a:defRPr>
            </a:pPr>
            <a:r>
              <a:t>- Tệp thực thi: src/proposed_model/security_games.py</a:t>
            </a:r>
            <a:br/>
            <a:r>
              <a:t>- Bản chất: Khung kiểm định toán học tự động 7 mô hình an ninh theo đúng các giả định của Harry Halpin (PPT, Dolev-Yao, RFC 6962, Tuyết lở, Biba, Kênh kề).</a:t>
            </a:r>
          </a:p>
          <a:p>
            <a:pPr>
              <a:spcBef>
                <a:spcPts val="500"/>
              </a:spcBef>
              <a:defRPr b="1" sz="900">
                <a:solidFill>
                  <a:srgbClr val="2563EB"/>
                </a:solidFill>
              </a:defRPr>
            </a:pPr>
            <a:r>
              <a:t>• Trụ cột III (Hướng 4) - Thực nghiệm định lượng quy mô lớn:</a:t>
            </a:r>
          </a:p>
          <a:p>
            <a:pPr>
              <a:spcBef>
                <a:spcPts val="150"/>
              </a:spcBef>
              <a:defRPr sz="850">
                <a:solidFill>
                  <a:srgbClr val="0F172A"/>
                </a:solidFill>
              </a:defRPr>
            </a:pPr>
            <a:r>
              <a:t>- Tệp thực thi: src/benchmark/run_benchmark.py</a:t>
            </a:r>
            <a:br/>
            <a:r>
              <a:t>- Bản chất: Đo lường khách quan 5 lần lặp độc lập trên 1.000 tệp tin thực tế, so sánh đối đầu trực diện 4 mô hình bảo mật.</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tam giác / 3 trụ cột phương pháp luận nghiên cứu khoa học</a:t>
            </a:r>
          </a:p>
          <a:p>
            <a:pPr>
              <a:defRPr b="1" sz="950">
                <a:solidFill>
                  <a:srgbClr val="64748B"/>
                </a:solidFill>
              </a:defRPr>
            </a:pPr>
            <a:r>
              <a:t>Gợi ý các thành phần cần thiết kế trên Draw.io:</a:t>
            </a:r>
          </a:p>
          <a:p>
            <a:pPr>
              <a:spcBef>
                <a:spcPts val="400"/>
              </a:spcBef>
              <a:defRPr sz="880">
                <a:solidFill>
                  <a:srgbClr val="0F172A"/>
                </a:solidFill>
              </a:defRPr>
            </a:pPr>
            <a:r>
              <a:t>• Đỉnh 1 (Lý thuyết Toán Mật mã): Mô hình Kẻ thù PPT, Dolev-Yao, 7 Security Games, Big-O O(log N).</a:t>
            </a:r>
          </a:p>
          <a:p>
            <a:pPr>
              <a:spcBef>
                <a:spcPts val="400"/>
              </a:spcBef>
              <a:defRPr sz="880">
                <a:solidFill>
                  <a:srgbClr val="0F172A"/>
                </a:solidFill>
              </a:defRPr>
            </a:pPr>
            <a:r>
              <a:t>• Đỉnh 2 (Thiết kế Kỹ thuật Hệ thống): Cấu trúc 5 tầng HD-MerkleTree, Thuật toán Dirty-Path, Bộ đệm RAM.</a:t>
            </a:r>
          </a:p>
          <a:p>
            <a:pPr>
              <a:spcBef>
                <a:spcPts val="400"/>
              </a:spcBef>
              <a:defRPr sz="880">
                <a:solidFill>
                  <a:srgbClr val="0F172A"/>
                </a:solidFill>
              </a:defRPr>
            </a:pPr>
            <a:r>
              <a:t>• Đỉnh 3 (Thực nghiệm Đối chuẩn Khách quan): Dataset 1.000 tệp tin, Đo đạc 4 mô hình qua 5 vòng lặp.</a:t>
            </a:r>
          </a:p>
          <a:p>
            <a:pPr>
              <a:spcBef>
                <a:spcPts val="400"/>
              </a:spcBef>
              <a:defRPr sz="880">
                <a:solidFill>
                  <a:srgbClr val="0F172A"/>
                </a:solidFill>
              </a:defRPr>
            </a:pPr>
            <a:r>
              <a:t>• Vòng tròn trung tâm: Đạt chuẩn khoa học mức 6-8 điểm theo đúng yêu cầu đề bài của giảng viên.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PHƯƠNG PHÁP LUẬN NGHIÊN CỨU</a:t>
            </a:r>
          </a:p>
          <a:p>
            <a:pPr>
              <a:spcBef>
                <a:spcPts val="200"/>
              </a:spcBef>
              <a:defRPr b="1" sz="1700">
                <a:solidFill>
                  <a:srgbClr val="FFFFFF"/>
                </a:solidFill>
              </a:defRPr>
            </a:pPr>
            <a:r>
              <a:t>5. Bảng Ma Trận Đối Chiếu Chi Tiết 100% Giữa Bài Báo Và Đồ Án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Bảng Đối Chiếu Chi Tiết 6 Điểm Nòng Cốt</a:t>
            </a:r>
          </a:p>
          <a:p>
            <a:pPr>
              <a:defRPr b="1" sz="850">
                <a:solidFill>
                  <a:srgbClr val="2563EB"/>
                </a:solidFill>
              </a:defRPr>
            </a:pPr>
            <a:r>
              <a:t>• Điểm đối chiếu 1: Kẻ thù PPT (Goldwasser-Micali 1984):</a:t>
            </a:r>
          </a:p>
          <a:p>
            <a:pPr>
              <a:spcBef>
                <a:spcPts val="150"/>
              </a:spcBef>
              <a:defRPr sz="800">
                <a:solidFill>
                  <a:srgbClr val="0F172A"/>
                </a:solidFill>
              </a:defRPr>
            </a:pPr>
            <a:r>
              <a:t>- Bài báo: Mục 4 Trang 7  |  Đồ án: Game 1 (security_games.py)</a:t>
            </a:r>
            <a:br/>
            <a:r>
              <a:t>- Minh chứng: Thử thách 50 lượt ngẫu nhiên, lợi thế Adv(A) = 0.0 &lt;= 2^-128.</a:t>
            </a:r>
          </a:p>
          <a:p>
            <a:pPr>
              <a:spcBef>
                <a:spcPts val="500"/>
              </a:spcBef>
              <a:defRPr b="1" sz="850">
                <a:solidFill>
                  <a:srgbClr val="2563EB"/>
                </a:solidFill>
              </a:defRPr>
            </a:pPr>
            <a:r>
              <a:t>• Điểm đối chiếu 2: Nguyên lý Kerckhoffs (Kerckhoffs 1883):</a:t>
            </a:r>
          </a:p>
          <a:p>
            <a:pPr>
              <a:spcBef>
                <a:spcPts val="150"/>
              </a:spcBef>
              <a:defRPr sz="800">
                <a:solidFill>
                  <a:srgbClr val="0F172A"/>
                </a:solidFill>
              </a:defRPr>
            </a:pPr>
            <a:r>
              <a:t>- Bài báo: Mục 2 Trang 3  |  Đồ án: Công khai 100% mã nguồn trên GitHub</a:t>
            </a:r>
            <a:br/>
            <a:r>
              <a:t>- Minh chứng: Chỉ cần Root Hash 32 byte để bảo vệ toàn vẹn dữ liệu.</a:t>
            </a:r>
          </a:p>
          <a:p>
            <a:pPr>
              <a:spcBef>
                <a:spcPts val="500"/>
              </a:spcBef>
              <a:defRPr b="1" sz="850">
                <a:solidFill>
                  <a:srgbClr val="2563EB"/>
                </a:solidFill>
              </a:defRPr>
            </a:pPr>
            <a:r>
              <a:t>• Điểm đối chiếu 3: Kẻ tấn công Mạng Dolev-Yao (Dolev-Yao 1983):</a:t>
            </a:r>
          </a:p>
          <a:p>
            <a:pPr>
              <a:spcBef>
                <a:spcPts val="150"/>
              </a:spcBef>
              <a:defRPr sz="800">
                <a:solidFill>
                  <a:srgbClr val="0F172A"/>
                </a:solidFill>
              </a:defRPr>
            </a:pPr>
            <a:r>
              <a:t>- Bài báo: Mục 4 Trang 8  |  Đồ án: Game 2 &amp; Web Demo (Nút đảo 1 bit)</a:t>
            </a:r>
            <a:br/>
            <a:r>
              <a:t>- Minh chứng: Chặn đứng 100% hành vi sửa tệp, tráo Proof và đổi đường dẫn.</a:t>
            </a:r>
          </a:p>
          <a:p>
            <a:pPr>
              <a:spcBef>
                <a:spcPts val="500"/>
              </a:spcBef>
              <a:defRPr b="1" sz="850">
                <a:solidFill>
                  <a:srgbClr val="2563EB"/>
                </a:solidFill>
              </a:defRPr>
            </a:pPr>
            <a:r>
              <a:t>• Điểm đối chiếu 4: Phân tách miền RFC 6962:</a:t>
            </a:r>
          </a:p>
          <a:p>
            <a:pPr>
              <a:spcBef>
                <a:spcPts val="150"/>
              </a:spcBef>
              <a:defRPr sz="800">
                <a:solidFill>
                  <a:srgbClr val="0F172A"/>
                </a:solidFill>
              </a:defRPr>
            </a:pPr>
            <a:r>
              <a:t>- Bài báo: Mục 5 Trang 8-10  |  Đồ án: Tiền tố 0x00 cho lá và 0x01 cho nhánh</a:t>
            </a:r>
            <a:br/>
            <a:r>
              <a:t>- Minh chứng: Triệt tiêu 100% va chạm tiền ảnh cấp hai (Second-preimage).</a:t>
            </a:r>
          </a:p>
          <a:p>
            <a:pPr>
              <a:spcBef>
                <a:spcPts val="500"/>
              </a:spcBef>
              <a:defRPr b="1" sz="850">
                <a:solidFill>
                  <a:srgbClr val="2563EB"/>
                </a:solidFill>
              </a:defRPr>
            </a:pPr>
            <a:r>
              <a:t>• Điểm đối chiếu 5: Xác minh cục bộ O(log N) của Ralph Merkle:</a:t>
            </a:r>
          </a:p>
          <a:p>
            <a:pPr>
              <a:spcBef>
                <a:spcPts val="150"/>
              </a:spcBef>
              <a:defRPr sz="800">
                <a:solidFill>
                  <a:srgbClr val="0F172A"/>
                </a:solidFill>
              </a:defRPr>
            </a:pPr>
            <a:r>
              <a:t>- Bài báo: Mục 4 Trang 5  |  Đồ án: Bằng chứng Merkle Proof (0.97 - 1.34 KB)</a:t>
            </a:r>
            <a:br/>
            <a:r>
              <a:t>- Minh chứng: Tiết kiệm 98.8% băng thông so với việc tải toàn bộ 111 KB.</a:t>
            </a:r>
          </a:p>
          <a:p>
            <a:pPr>
              <a:spcBef>
                <a:spcPts val="500"/>
              </a:spcBef>
              <a:defRPr b="1" sz="850">
                <a:solidFill>
                  <a:srgbClr val="2563EB"/>
                </a:solidFill>
              </a:defRPr>
            </a:pPr>
            <a:r>
              <a:t>• Điểm đối chiếu 6: Lời kêu gọi kiểm nghiệm thực tế (Mục 7):</a:t>
            </a:r>
          </a:p>
          <a:p>
            <a:pPr>
              <a:spcBef>
                <a:spcPts val="150"/>
              </a:spcBef>
              <a:defRPr sz="800">
                <a:solidFill>
                  <a:srgbClr val="0F172A"/>
                </a:solidFill>
              </a:defRPr>
            </a:pPr>
            <a:r>
              <a:t>- Bài báo: Kêu gọi thử nghiệm  |  Đồ án: Bộ 1.000 tệp tin thực tế (4.1 MB)</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square">
            <a:spAutoFit/>
          </a:bodyPr>
          <a:lstStyle/>
          <a:p>
            <a:pPr>
              <a:defRPr b="1" sz="1100">
                <a:solidFill>
                  <a:srgbClr val="1E3A8A"/>
                </a:solidFill>
              </a:defRPr>
            </a:pPr>
            <a:r>
              <a:t>KẾT QUẢ KIỂM ĐỊNH ĐỐI CHIẾU 1-1 BÀI BÁO VS ĐỒ ÁN DT005</a:t>
            </a:r>
          </a:p>
        </p:txBody>
      </p:sp>
      <p:sp>
        <p:nvSpPr>
          <p:cNvPr id="10" name="Rounded Rectangle 9"/>
          <p:cNvSpPr/>
          <p:nvPr/>
        </p:nvSpPr>
        <p:spPr>
          <a:xfrm>
            <a:off x="6263640" y="185623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1. Mô hình Kẻ thù PPT (Goldwasser-Micali 1984)   ➔   ĐẠT 100%</a:t>
            </a:r>
          </a:p>
          <a:p>
            <a:pPr>
              <a:spcBef>
                <a:spcPts val="200"/>
              </a:spcBef>
              <a:defRPr sz="780">
                <a:solidFill>
                  <a:srgbClr val="0F172A"/>
                </a:solidFill>
              </a:defRPr>
            </a:pPr>
            <a:r>
              <a:t>Advantage Adv(A) = 0.0 &lt;= negl(λ)</a:t>
            </a:r>
          </a:p>
        </p:txBody>
      </p:sp>
      <p:sp>
        <p:nvSpPr>
          <p:cNvPr id="11" name="Rounded Rectangle 10"/>
          <p:cNvSpPr/>
          <p:nvPr/>
        </p:nvSpPr>
        <p:spPr>
          <a:xfrm>
            <a:off x="6263640" y="2596896"/>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2. Nguyên lý Kerckhoffs (Minh bạch mã nguồn)   ➔   ĐẠT 100%</a:t>
            </a:r>
          </a:p>
          <a:p>
            <a:pPr>
              <a:spcBef>
                <a:spcPts val="200"/>
              </a:spcBef>
              <a:defRPr sz="780">
                <a:solidFill>
                  <a:srgbClr val="0F172A"/>
                </a:solidFill>
              </a:defRPr>
            </a:pPr>
            <a:r>
              <a:t>Công khai 100% GitHub, chỉ giữ Root Hash</a:t>
            </a:r>
          </a:p>
        </p:txBody>
      </p:sp>
      <p:sp>
        <p:nvSpPr>
          <p:cNvPr id="12" name="Rounded Rectangle 11"/>
          <p:cNvSpPr/>
          <p:nvPr/>
        </p:nvSpPr>
        <p:spPr>
          <a:xfrm>
            <a:off x="6263640" y="3337560"/>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3. Mô hình Mạng Dolev-Yao (Chặn bắt / Đánh tráo)   ➔   ĐẠT 100%</a:t>
            </a:r>
          </a:p>
          <a:p>
            <a:pPr>
              <a:spcBef>
                <a:spcPts val="200"/>
              </a:spcBef>
              <a:defRPr sz="780">
                <a:solidFill>
                  <a:srgbClr val="0F172A"/>
                </a:solidFill>
              </a:defRPr>
            </a:pPr>
            <a:r>
              <a:t>Chặn đứng 100% can thiệp &amp; replay</a:t>
            </a:r>
          </a:p>
        </p:txBody>
      </p:sp>
      <p:sp>
        <p:nvSpPr>
          <p:cNvPr id="13" name="Rounded Rectangle 12"/>
          <p:cNvSpPr/>
          <p:nvPr/>
        </p:nvSpPr>
        <p:spPr>
          <a:xfrm>
            <a:off x="6263640" y="4078224"/>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4. Phân tách miền RFC 6962 Certificate Transparency   ➔   ĐẠT 100%</a:t>
            </a:r>
          </a:p>
          <a:p>
            <a:pPr>
              <a:spcBef>
                <a:spcPts val="200"/>
              </a:spcBef>
              <a:defRPr sz="780">
                <a:solidFill>
                  <a:srgbClr val="0F172A"/>
                </a:solidFill>
              </a:defRPr>
            </a:pPr>
            <a:r>
              <a:t>Tiền tố 0x00 lá vs 0x01 nhánh triệt tiêu va chạm</a:t>
            </a:r>
          </a:p>
        </p:txBody>
      </p:sp>
      <p:sp>
        <p:nvSpPr>
          <p:cNvPr id="14" name="Rounded Rectangle 13"/>
          <p:cNvSpPr/>
          <p:nvPr/>
        </p:nvSpPr>
        <p:spPr>
          <a:xfrm>
            <a:off x="6263640" y="481888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5. Bằng chứng cục bộ Ralph Merkle 1979   ➔   ĐẠT 100%</a:t>
            </a:r>
          </a:p>
          <a:p>
            <a:pPr>
              <a:spcBef>
                <a:spcPts val="200"/>
              </a:spcBef>
              <a:defRPr sz="780">
                <a:solidFill>
                  <a:srgbClr val="0F172A"/>
                </a:solidFill>
              </a:defRPr>
            </a:pPr>
            <a:r>
              <a:t>Dung lượng 1.369 B (tiết kiệm 98.8% băng thông)</a:t>
            </a:r>
          </a:p>
        </p:txBody>
      </p:sp>
      <p:sp>
        <p:nvSpPr>
          <p:cNvPr id="15" name="Rounded Rectangle 14"/>
          <p:cNvSpPr/>
          <p:nvPr/>
        </p:nvSpPr>
        <p:spPr>
          <a:xfrm>
            <a:off x="6263640" y="555955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6. Lời kêu gọi kiểm nghiệm thực tế (Mục 7 Trang 14)   ➔   ĐẠT 100%</a:t>
            </a:r>
          </a:p>
          <a:p>
            <a:pPr>
              <a:spcBef>
                <a:spcPts val="200"/>
              </a:spcBef>
              <a:defRPr sz="780">
                <a:solidFill>
                  <a:srgbClr val="0F172A"/>
                </a:solidFill>
              </a:defRPr>
            </a:pPr>
            <a:r>
              <a:t>Dataset 1.000 tệp (4.1 MB), 5 vòng đo chuẩn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PHƯƠNG PHÁP LUẬN NGHIÊN CỨU</a:t>
            </a:r>
          </a:p>
          <a:p>
            <a:pPr>
              <a:spcBef>
                <a:spcPts val="200"/>
              </a:spcBef>
              <a:defRPr b="1" sz="1700">
                <a:solidFill>
                  <a:srgbClr val="FFFFFF"/>
                </a:solidFill>
              </a:defRPr>
            </a:pPr>
            <a:r>
              <a:t>6. Dẫn Chứng Chứng Minh Chi Tiết Điểm Đối Chiếu 1, 2 Và 3</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Chứng Minh Toán Học Và Khảo Nghiệm Thực Tế</a:t>
            </a:r>
          </a:p>
          <a:p>
            <a:pPr>
              <a:defRPr b="1" sz="930">
                <a:solidFill>
                  <a:srgbClr val="2563EB"/>
                </a:solidFill>
              </a:defRPr>
            </a:pPr>
            <a:r>
              <a:t>• Điểm 1: Không gian tìm kiếm kẻ thù PPT (Mục 4 Trang 7 Tài liệu [33, 34]):</a:t>
            </a:r>
          </a:p>
          <a:p>
            <a:pPr>
              <a:spcBef>
                <a:spcPts val="150"/>
              </a:spcBef>
              <a:defRPr sz="880">
                <a:solidFill>
                  <a:srgbClr val="0F172A"/>
                </a:solidFill>
              </a:defRPr>
            </a:pPr>
            <a:r>
              <a:t>- Lý thuyết bài báo: Kẻ tấn công thời gian đa thức không thể giải bài toán tìm tiền ảnh hoặc va chạm băm nếu không gian khóa đủ lớn.</a:t>
            </a:r>
            <a:br/>
            <a:r>
              <a:t>- Dẫn chứng toán học: Mã băm SHA-256 có độ dài 256 bit. Không gian tìm kiếm là 2^256 chuỗi. Dù kẻ thù dùng thuật toán ngày sinh (Birthday Attack), độ phức tạp vẫn là 2^128 phép băm. Xác suất thành công thực nghiệm đo được qua 50 lượt thử thách đối kháng là 0.0%.</a:t>
            </a:r>
          </a:p>
          <a:p>
            <a:pPr>
              <a:spcBef>
                <a:spcPts val="500"/>
              </a:spcBef>
              <a:defRPr b="1" sz="930">
                <a:solidFill>
                  <a:srgbClr val="2563EB"/>
                </a:solidFill>
              </a:defRPr>
            </a:pPr>
            <a:r>
              <a:t>• Điểm 2: Nguyên lý Kerckhoffs về tính minh bạch (Mục 2 Trang 3 Tài liệu [14, 15]):</a:t>
            </a:r>
          </a:p>
          <a:p>
            <a:pPr>
              <a:spcBef>
                <a:spcPts val="150"/>
              </a:spcBef>
              <a:defRPr sz="880">
                <a:solidFill>
                  <a:srgbClr val="0F172A"/>
                </a:solidFill>
              </a:defRPr>
            </a:pPr>
            <a:r>
              <a:t>- Lý thuyết bài báo: Độ an toàn của hệ thống không được dựa vào sự bí mật của mã nguồn mà chỉ dựa vào khóa hoặc giá trị băm tin cậy.</a:t>
            </a:r>
            <a:br/>
            <a:r>
              <a:t>- Dẫn chứng chứng minh: Nhóm công khai toàn bộ mã nguồn trên máy chủ, công khai cấu trúc cây Merkle. Người kiểm tra chỉ cần nắm giữ đúng chuỗi băm gốc 32 byte (256 bit) có không gian tìm kiếm 2 mũ 256, bất khả thi đối với mọi siêu máy tính.</a:t>
            </a:r>
          </a:p>
          <a:p>
            <a:pPr>
              <a:spcBef>
                <a:spcPts val="500"/>
              </a:spcBef>
              <a:defRPr b="1" sz="930">
                <a:solidFill>
                  <a:srgbClr val="2563EB"/>
                </a:solidFill>
              </a:defRPr>
            </a:pPr>
            <a:r>
              <a:t>• Điểm 3: Ba hành vi kẻ thù chủ động Dolev-Yao (Mục 4 Trang 8 Tài liệu [52]):</a:t>
            </a:r>
          </a:p>
          <a:p>
            <a:pPr>
              <a:spcBef>
                <a:spcPts val="150"/>
              </a:spcBef>
              <a:defRPr sz="880">
                <a:solidFill>
                  <a:srgbClr val="0F172A"/>
                </a:solidFill>
              </a:defRPr>
            </a:pPr>
            <a:r>
              <a:t>- Lý thuyết bài báo: Kẻ tấn công mạng có toàn quyền can thiệp, đánh tráo và giả mạo thông điệp.</a:t>
            </a:r>
            <a:br/>
            <a:r>
              <a:t>- Dẫn chứng chứng minh: Lập trình sẵn 3 nút mô phỏng tấn công trong web_demo.py. Thao tác trên 1.000 tệp tin cho thấy hệ thống phát hiện chính xác 100% tệp bị can thiệp và định vị trong 0.022 ms.</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371600"/>
            <a:ext cx="5029200" cy="685800"/>
          </a:xfrm>
          <a:prstGeom prst="rect">
            <a:avLst/>
          </a:prstGeom>
          <a:noFill/>
        </p:spPr>
        <p:txBody>
          <a:bodyPr wrap="square">
            <a:spAutoFit/>
          </a:bodyPr>
          <a:lstStyle/>
          <a:p>
            <a:pPr>
              <a:defRPr b="1" sz="950">
                <a:solidFill>
                  <a:srgbClr val="059669"/>
                </a:solidFill>
              </a:defRPr>
            </a:pPr>
            <a:r>
              <a:t>[ ẢNH CHỤP HỆ THỐNG THỰC TẾ ]</a:t>
            </a:r>
          </a:p>
          <a:p>
            <a:pPr>
              <a:spcBef>
                <a:spcPts val="200"/>
              </a:spcBef>
              <a:defRPr b="1" sz="1100">
                <a:solidFill>
                  <a:srgbClr val="1E3A8A"/>
                </a:solidFill>
              </a:defRPr>
            </a:pPr>
            <a:r>
              <a:t>Giao diện Web Demo thật: Phát hiện tấn công đảo 1 bit</a:t>
            </a:r>
          </a:p>
          <a:p>
            <a:pPr>
              <a:spcBef>
                <a:spcPts val="200"/>
              </a:spcBef>
              <a:defRPr sz="850">
                <a:solidFill>
                  <a:srgbClr val="64748B"/>
                </a:solidFill>
              </a:defRPr>
            </a:pPr>
            <a:r>
              <a:t>Hệ thống phát hiện ngay lập tức vi phạm toàn vẹn khi có 1 bit bị sửa đổi trên đĩa, định vị chính xác tệp hỏng trong 80.40 ms.</a:t>
            </a:r>
          </a:p>
        </p:txBody>
      </p:sp>
      <p:pic>
        <p:nvPicPr>
          <p:cNvPr id="10" name="Picture 9" descr="web_attack.png"/>
          <p:cNvPicPr>
            <a:picLocks noChangeAspect="1"/>
          </p:cNvPicPr>
          <p:nvPr/>
        </p:nvPicPr>
        <p:blipFill>
          <a:blip r:embed="rId2"/>
          <a:stretch>
            <a:fillRect/>
          </a:stretch>
        </p:blipFill>
        <p:spPr>
          <a:xfrm>
            <a:off x="6217920" y="2148840"/>
            <a:ext cx="5029200" cy="42062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PHƯƠNG PHÁP LUẬN NGHIÊN CỨU</a:t>
            </a:r>
          </a:p>
          <a:p>
            <a:pPr>
              <a:spcBef>
                <a:spcPts val="200"/>
              </a:spcBef>
              <a:defRPr b="1" sz="1700">
                <a:solidFill>
                  <a:srgbClr val="FFFFFF"/>
                </a:solidFill>
              </a:defRPr>
            </a:pPr>
            <a:r>
              <a:t>7. Dẫn Chứng Chứng Minh Chi Tiết Điểm Đối Chiếu 4, 5 Và 6</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Chứng Minh Toán Học Và Khảo Nghiệm Thực Tế</a:t>
            </a:r>
          </a:p>
          <a:p>
            <a:pPr>
              <a:defRPr b="1" sz="930">
                <a:solidFill>
                  <a:srgbClr val="2563EB"/>
                </a:solidFill>
              </a:defRPr>
            </a:pPr>
            <a:r>
              <a:t>• Điểm 4: Nguy cơ va chạm ghép chuỗi và Chuẩn RFC 6962 (Mục 5 Trang 8-10):</a:t>
            </a:r>
          </a:p>
          <a:p>
            <a:pPr>
              <a:spcBef>
                <a:spcPts val="150"/>
              </a:spcBef>
              <a:defRPr sz="880">
                <a:solidFill>
                  <a:srgbClr val="0F172A"/>
                </a:solidFill>
              </a:defRPr>
            </a:pPr>
            <a:r>
              <a:t>- Lý thuyết bài báo: Cây Merkle thông thường nếu băm nút lá và nhánh cùng chung định dạng H(a || b) sẽ bị tấn công tráo đổi lá thành nhánh.</a:t>
            </a:r>
            <a:br/>
            <a:r>
              <a:t>- Dẫn chứng toán học: Nhóm áp dụng RFC 6962 phân tách miền: Lá = H(0x00 || Dữ liệu) và Nhánh = H(0x01 || Trái || Phải). Do tập tiền tố rời nhau, xác suất va chạm giả mạo triệt tiêu về dưới 2 mũ âm 128, chứng minh an toàn tuyệt đối.</a:t>
            </a:r>
          </a:p>
          <a:p>
            <a:pPr>
              <a:spcBef>
                <a:spcPts val="500"/>
              </a:spcBef>
              <a:defRPr b="1" sz="930">
                <a:solidFill>
                  <a:srgbClr val="2563EB"/>
                </a:solidFill>
              </a:defRPr>
            </a:pPr>
            <a:r>
              <a:t>• Điểm 5: Xác minh cục bộ O(log N) của Ralph Merkle (Mục 4 Trang 5 Tài liệu [27]):</a:t>
            </a:r>
          </a:p>
          <a:p>
            <a:pPr>
              <a:spcBef>
                <a:spcPts val="150"/>
              </a:spcBef>
              <a:defRPr sz="880">
                <a:solidFill>
                  <a:srgbClr val="0F172A"/>
                </a:solidFill>
              </a:defRPr>
            </a:pPr>
            <a:r>
              <a:t>- Lý thuyết bài báo: Bằng chứng Merkle cho phép xác minh độc lập 1 tệp với độ phức tạp O(log N) thay vì phải tải và kiểm tra toàn bộ O(N) tệp tin.</a:t>
            </a:r>
            <a:br/>
            <a:r>
              <a:t>- Dẫn chứng số liệu: Trên 1.000 tệp tin, chiều cao cây chỉ là 10-13 tầng băm. Kích thước bằng chứng chỉ 1.37 KB (1.369 Byte) so với toàn bộ danh mục 111.13 KB, tiết kiệm 98.8% băng thông mạng và thời gian xác minh chỉ mất 0.02 ms.</a:t>
            </a:r>
          </a:p>
          <a:p>
            <a:pPr>
              <a:spcBef>
                <a:spcPts val="500"/>
              </a:spcBef>
              <a:defRPr b="1" sz="930">
                <a:solidFill>
                  <a:srgbClr val="2563EB"/>
                </a:solidFill>
              </a:defRPr>
            </a:pPr>
            <a:r>
              <a:t>• Điểm 6: Lời kêu gọi kiểm nghiệm thực tế (Mục 7 Trang 14-15):</a:t>
            </a:r>
          </a:p>
          <a:p>
            <a:pPr>
              <a:spcBef>
                <a:spcPts val="150"/>
              </a:spcBef>
              <a:defRPr sz="880">
                <a:solidFill>
                  <a:srgbClr val="0F172A"/>
                </a:solidFill>
              </a:defRPr>
            </a:pPr>
            <a:r>
              <a:t>- Lý thuyết bài báo: Mật mã học đòi hỏi đánh giá trên dữ liệu thực tế biến thiên kích thước.</a:t>
            </a:r>
            <a:br/>
            <a:r>
              <a:t>- Dẫn chứng thực thi: Nhóm xây dựng 1.000 tệp tin thực tế, đo đạc độc lập 5 lần bằng hàm CPU thời gian thực perf_counter.</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cấu trúc cây Merkle phân tách tiền tố theo chuẩn RFC 6962</a:t>
            </a:r>
          </a:p>
          <a:p>
            <a:pPr>
              <a:defRPr b="1" sz="950">
                <a:solidFill>
                  <a:srgbClr val="64748B"/>
                </a:solidFill>
              </a:defRPr>
            </a:pPr>
            <a:r>
              <a:t>Gợi ý các thành phần cần thiết kế trên Draw.io:</a:t>
            </a:r>
          </a:p>
          <a:p>
            <a:pPr>
              <a:spcBef>
                <a:spcPts val="400"/>
              </a:spcBef>
              <a:defRPr sz="880">
                <a:solidFill>
                  <a:srgbClr val="0F172A"/>
                </a:solidFill>
              </a:defRPr>
            </a:pPr>
            <a:r>
              <a:t>• Tầng lá (Leaf Nodes): Leaf = SHA256( 0x00 || File_Data ) - Tiền tố 0x00 bắt buộc cho nút lá.</a:t>
            </a:r>
          </a:p>
          <a:p>
            <a:pPr>
              <a:spcBef>
                <a:spcPts val="400"/>
              </a:spcBef>
              <a:defRPr sz="880">
                <a:solidFill>
                  <a:srgbClr val="0F172A"/>
                </a:solidFill>
              </a:defRPr>
            </a:pPr>
            <a:r>
              <a:t>• Tầng nhánh (Internal Nodes): Parent = SHA256( 0x01 || Left_Hash || Right_Hash ) - Tiền tố 0x01 bắt buộc.</a:t>
            </a:r>
          </a:p>
          <a:p>
            <a:pPr>
              <a:spcBef>
                <a:spcPts val="400"/>
              </a:spcBef>
              <a:defRPr sz="880">
                <a:solidFill>
                  <a:srgbClr val="0F172A"/>
                </a:solidFill>
              </a:defRPr>
            </a:pPr>
            <a:r>
              <a:t>• Tầng gốc (Root Hash): Chuỗi băm 32 byte bất biến đại diện cho toàn bộ kho dữ liệu.</a:t>
            </a:r>
          </a:p>
          <a:p>
            <a:pPr>
              <a:spcBef>
                <a:spcPts val="400"/>
              </a:spcBef>
              <a:defRPr sz="880">
                <a:solidFill>
                  <a:srgbClr val="0F172A"/>
                </a:solidFill>
              </a:defRPr>
            </a:pPr>
            <a:r>
              <a:t>• Cơ chế an ninh: Kẻ tấn công cố ghép 2 lá thành 1 nhánh giả sẽ bị phát hiện ngay do tiền tố không khớp.</a:t>
            </a:r>
          </a:p>
          <a:p>
            <a:pPr>
              <a:spcBef>
                <a:spcPts val="400"/>
              </a:spcBef>
              <a:defRPr sz="880">
                <a:solidFill>
                  <a:srgbClr val="0F172A"/>
                </a:solidFill>
              </a:defRPr>
            </a:pPr>
            <a:r>
              <a:t>• Chuẩn hóa: Áp dụng trực tiếp chuẩn Certificate Transparency RFC 6962 theo đề xuất của Harry Halpin.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DỮ LIỆU THỰC NGHIỆM VÀ KIẾN TRÚC KỸ THUẬT</a:t>
            </a:r>
          </a:p>
          <a:p>
            <a:pPr>
              <a:spcBef>
                <a:spcPts val="200"/>
              </a:spcBef>
              <a:defRPr b="1" sz="1700">
                <a:solidFill>
                  <a:srgbClr val="FFFFFF"/>
                </a:solidFill>
              </a:defRPr>
            </a:pPr>
            <a:r>
              <a:t>8. Quy Trình Hiện Thực Hóa Kỹ Thuật 3 Giai Đoạn Từ Lý Thuyết Đến Mã Nguồn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Quy Trình Hiện Thực Hóa Kỹ Thuật Chuẩn Khoa Học</a:t>
            </a:r>
          </a:p>
          <a:p>
            <a:pPr>
              <a:defRPr b="1" sz="930">
                <a:solidFill>
                  <a:srgbClr val="2563EB"/>
                </a:solidFill>
              </a:defRPr>
            </a:pPr>
            <a:r>
              <a:t>• Giai đoạn 1: Nghiên cứu lý thuyết &amp; Dịch thuật chuyên sâu:</a:t>
            </a:r>
          </a:p>
          <a:p>
            <a:pPr>
              <a:spcBef>
                <a:spcPts val="150"/>
              </a:spcBef>
              <a:defRPr sz="880">
                <a:solidFill>
                  <a:srgbClr val="0F172A"/>
                </a:solidFill>
              </a:defRPr>
            </a:pPr>
            <a:r>
              <a:t>- Dịch toàn văn 28 trang bài báo tiếng Anh của Harry Halpin (2025).</a:t>
            </a:r>
            <a:br/>
            <a:r>
              <a:t>- Trích xuất và mô hình hóa toán học 6 luận điểm then chốt.</a:t>
            </a:r>
            <a:br/>
            <a:r>
              <a:t>- Phát hiện vấn đề: Cây Merkle phẳng truyền thống bị nút thắt cổ chai Rebuild O(N) khi Thêm/Xóa tệp.</a:t>
            </a:r>
          </a:p>
          <a:p>
            <a:pPr>
              <a:spcBef>
                <a:spcPts val="500"/>
              </a:spcBef>
              <a:defRPr b="1" sz="930">
                <a:solidFill>
                  <a:srgbClr val="2563EB"/>
                </a:solidFill>
              </a:defRPr>
            </a:pPr>
            <a:r>
              <a:t>• Giai đoạn 2: Thiết kế kiến trúc PoC &amp; Mô phỏng an ninh:</a:t>
            </a:r>
          </a:p>
          <a:p>
            <a:pPr>
              <a:spcBef>
                <a:spcPts val="150"/>
              </a:spcBef>
              <a:defRPr sz="880">
                <a:solidFill>
                  <a:srgbClr val="0F172A"/>
                </a:solidFill>
              </a:defRPr>
            </a:pPr>
            <a:r>
              <a:t>- Thiết kế mô hình Cây Merkle phân cấp HD-MerkleTree theo cấu trúc Biba 1977.</a:t>
            </a:r>
            <a:br/>
            <a:r>
              <a:t>- Tích hợp chuẩn phân tách miền RFC 6962 và cơ chế xóa bộ nhớ an toàn.</a:t>
            </a:r>
            <a:br/>
            <a:r>
              <a:t>- Lập trình độc lập 7 mô hình kiểm định an ninh hình thức (security_games.py).</a:t>
            </a:r>
          </a:p>
          <a:p>
            <a:pPr>
              <a:spcBef>
                <a:spcPts val="500"/>
              </a:spcBef>
              <a:defRPr b="1" sz="930">
                <a:solidFill>
                  <a:srgbClr val="2563EB"/>
                </a:solidFill>
              </a:defRPr>
            </a:pPr>
            <a:r>
              <a:t>• Giai đoạn 3: Xây dựng tập dữ liệu &amp; Thực nghiệm định lượng:</a:t>
            </a:r>
          </a:p>
          <a:p>
            <a:pPr>
              <a:spcBef>
                <a:spcPts val="150"/>
              </a:spcBef>
              <a:defRPr sz="880">
                <a:solidFill>
                  <a:srgbClr val="0F172A"/>
                </a:solidFill>
              </a:defRPr>
            </a:pPr>
            <a:r>
              <a:t>- Sinh tập dữ liệu thực tế realistic_dataset gồm 1.000 tệp tin, 23 thư mục (4.1 MB, 14 định dạng: PDF, log, source code, hình ảnh).</a:t>
            </a:r>
            <a:br/>
            <a:r>
              <a:t>- Đo lường đối đầu 4 cơ chế bảo mật qua 5 vòng lặp độc lập, xuất JSON &amp; CSV.</a:t>
            </a:r>
            <a:br/>
            <a:r>
              <a:t>- Đóng gói giao diện Web Demo trực quan trình diễn trước hội đồng.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quy trình 3 giai đoạn xử lý dữ liệu thực nghiệm 1.000 tệp tin</a:t>
            </a:r>
          </a:p>
          <a:p>
            <a:pPr>
              <a:defRPr b="1" sz="950">
                <a:solidFill>
                  <a:srgbClr val="64748B"/>
                </a:solidFill>
              </a:defRPr>
            </a:pPr>
            <a:r>
              <a:t>Gợi ý các thành phần cần thiết kế trên Draw.io:</a:t>
            </a:r>
          </a:p>
          <a:p>
            <a:pPr>
              <a:spcBef>
                <a:spcPts val="400"/>
              </a:spcBef>
              <a:defRPr sz="880">
                <a:solidFill>
                  <a:srgbClr val="0F172A"/>
                </a:solidFill>
              </a:defRPr>
            </a:pPr>
            <a:r>
              <a:t>• Giai đoạn 1 (Tập dữ liệu 1.000 tệp): 4.12 MB, 14 định dạng (PDF, DOCX, JS, PY, LOG...), 23 thư mục phân cấp.</a:t>
            </a:r>
          </a:p>
          <a:p>
            <a:pPr>
              <a:spcBef>
                <a:spcPts val="400"/>
              </a:spcBef>
              <a:defRPr sz="880">
                <a:solidFill>
                  <a:srgbClr val="0F172A"/>
                </a:solidFill>
              </a:defRPr>
            </a:pPr>
            <a:r>
              <a:t>• Giai đoạn 2 (Tiến trình song song): Quét cây đĩa, băm song song đa luồng, tính toán đường dẫn Dirty-Path.</a:t>
            </a:r>
          </a:p>
          <a:p>
            <a:pPr>
              <a:spcBef>
                <a:spcPts val="400"/>
              </a:spcBef>
              <a:defRPr sz="880">
                <a:solidFill>
                  <a:srgbClr val="0F172A"/>
                </a:solidFill>
              </a:defRPr>
            </a:pPr>
            <a:r>
              <a:t>• Giai đoạn 3 (Đối chuẩn 4 mô hình): So sánh SHA-256, HMAC, Standard Merkle và HD-MerkleTree qua 5 vòng đo.</a:t>
            </a:r>
          </a:p>
          <a:p>
            <a:pPr>
              <a:spcBef>
                <a:spcPts val="400"/>
              </a:spcBef>
              <a:defRPr sz="880">
                <a:solidFill>
                  <a:srgbClr val="0F172A"/>
                </a:solidFill>
              </a:defRPr>
            </a:pPr>
            <a:r>
              <a:t>• Môi trường tạm (Temp Workspace): Mọi thao tác thêm/sửa/xóa đều thực hiện trên thư mục tạm cô lập.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4A: TRỤ CỘT I - KỸ THUẬT HỆ THỐNG &amp; POC (HƯỚNG 1)</a:t>
            </a:r>
          </a:p>
          <a:p>
            <a:pPr>
              <a:spcBef>
                <a:spcPts val="200"/>
              </a:spcBef>
              <a:defRPr b="1" sz="1700">
                <a:solidFill>
                  <a:srgbClr val="FFFFFF"/>
                </a:solidFill>
              </a:defRPr>
            </a:pPr>
            <a:r>
              <a:t>9. Hiện Thực Hóa 3 Mô Hình Kiểm Tra Toàn Vẹn Nền Tảng Đối Chứng</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Đặc Điểm Kỹ Thuật Và Kết Quả Đo Đạc 3 Mô Hình</a:t>
            </a:r>
          </a:p>
          <a:p>
            <a:pPr>
              <a:defRPr b="1" sz="930">
                <a:solidFill>
                  <a:srgbClr val="2563EB"/>
                </a:solidFill>
              </a:defRPr>
            </a:pPr>
            <a:r>
              <a:t>• Mô hình 1: Danh sách phẳng băm SHA-256 (sha256_manifest.py):</a:t>
            </a:r>
          </a:p>
          <a:p>
            <a:pPr>
              <a:spcBef>
                <a:spcPts val="150"/>
              </a:spcBef>
              <a:defRPr sz="880">
                <a:solidFill>
                  <a:srgbClr val="0F172A"/>
                </a:solidFill>
              </a:defRPr>
            </a:pPr>
            <a:r>
              <a:t>- Nguyên lý: Băm tuần tự từng tệp tin và lưu chuỗi băm tổng hợp.</a:t>
            </a:r>
            <a:br/>
            <a:r>
              <a:t>- Bằng chứng thực nghiệm: Khởi tạo ~62.6 ms, dung lượng bảng 111.13 KB. Hạn chế: Muốn kiểm tra 1 tệp tin trong mô hình cơ bản, máy khách phải lưu toàn bộ manifest 111 KB (hoặc quét tệp tốn 0.17 ms).</a:t>
            </a:r>
          </a:p>
          <a:p>
            <a:pPr>
              <a:spcBef>
                <a:spcPts val="500"/>
              </a:spcBef>
              <a:defRPr b="1" sz="930">
                <a:solidFill>
                  <a:srgbClr val="2563EB"/>
                </a:solidFill>
              </a:defRPr>
            </a:pPr>
            <a:r>
              <a:t>• Mô hình 2: Danh sách băm có khóa bí mật HMAC (hmac_manifest.py):</a:t>
            </a:r>
          </a:p>
          <a:p>
            <a:pPr>
              <a:spcBef>
                <a:spcPts val="150"/>
              </a:spcBef>
              <a:defRPr sz="880">
                <a:solidFill>
                  <a:srgbClr val="0F172A"/>
                </a:solidFill>
              </a:defRPr>
            </a:pPr>
            <a:r>
              <a:t>- Nguyên lý: Sử dụng khóa bí mật đối xứng K để chống giả mạo danh mục.</a:t>
            </a:r>
            <a:br/>
            <a:r>
              <a:t>- Bằng chứng thực nghiệm: Khởi tạo ~60.6 ms, dung lượng 111.14 KB. Hạn chế: Buộc phải phân phối khóa bí mật K cho máy khách, chưa hỗ trợ chống chối bỏ bất đối xứng.</a:t>
            </a:r>
          </a:p>
          <a:p>
            <a:pPr>
              <a:spcBef>
                <a:spcPts val="500"/>
              </a:spcBef>
              <a:defRPr b="1" sz="930">
                <a:solidFill>
                  <a:srgbClr val="2563EB"/>
                </a:solidFill>
              </a:defRPr>
            </a:pPr>
            <a:r>
              <a:t>• Mô hình 3: Cây Merkle nhị phân truyền thống (standard_merkle_tree.py):</a:t>
            </a:r>
          </a:p>
          <a:p>
            <a:pPr>
              <a:spcBef>
                <a:spcPts val="150"/>
              </a:spcBef>
              <a:defRPr sz="880">
                <a:solidFill>
                  <a:srgbClr val="0F172A"/>
                </a:solidFill>
              </a:defRPr>
            </a:pPr>
            <a:r>
              <a:t>- Nguyên lý: Cây Merkle phẳng chuẩn theo phát minh Ralph Merkle năm 1978.</a:t>
            </a:r>
            <a:br/>
            <a:r>
              <a:t>- Bằng chứng thực nghiệm: Cho phép tạo bằng chứng xác thực từng tệp nặng chỉ 990 Byte, kiểm tra trong 0.02 ms, tiết kiệm hơn 99% băng thông.</a:t>
            </a:r>
          </a:p>
          <a:p>
            <a:pPr>
              <a:spcBef>
                <a:spcPts val="500"/>
              </a:spcBef>
              <a:defRPr b="1" sz="930">
                <a:solidFill>
                  <a:srgbClr val="2563EB"/>
                </a:solidFill>
              </a:defRPr>
            </a:pPr>
            <a:r>
              <a:t>• Đánh giá kết quả:</a:t>
            </a:r>
          </a:p>
          <a:p>
            <a:pPr>
              <a:spcBef>
                <a:spcPts val="150"/>
              </a:spcBef>
              <a:defRPr sz="880">
                <a:solidFill>
                  <a:srgbClr val="0F172A"/>
                </a:solidFill>
              </a:defRPr>
            </a:pPr>
            <a:r>
              <a:t>Cả 3 mô hình đều phát hiện chính xác 100% khi xảy ra tấn công trên 1.000 tệp tin.</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371600"/>
            <a:ext cx="5029200" cy="685800"/>
          </a:xfrm>
          <a:prstGeom prst="rect">
            <a:avLst/>
          </a:prstGeom>
          <a:noFill/>
        </p:spPr>
        <p:txBody>
          <a:bodyPr wrap="square">
            <a:spAutoFit/>
          </a:bodyPr>
          <a:lstStyle/>
          <a:p>
            <a:pPr>
              <a:defRPr b="1" sz="950">
                <a:solidFill>
                  <a:srgbClr val="059669"/>
                </a:solidFill>
              </a:defRPr>
            </a:pPr>
            <a:r>
              <a:t>[ ẢNH CHỤP HỆ THỐNG THỰC TẾ ]</a:t>
            </a:r>
          </a:p>
          <a:p>
            <a:pPr>
              <a:spcBef>
                <a:spcPts val="200"/>
              </a:spcBef>
              <a:defRPr b="1" sz="1100">
                <a:solidFill>
                  <a:srgbClr val="1E3A8A"/>
                </a:solidFill>
              </a:defRPr>
            </a:pPr>
            <a:r>
              <a:t>Giao diện Web Demo thật: Trạng thái toàn vẹn 100% (1.000 tệp)</a:t>
            </a:r>
          </a:p>
          <a:p>
            <a:pPr>
              <a:spcBef>
                <a:spcPts val="200"/>
              </a:spcBef>
              <a:defRPr sz="850">
                <a:solidFill>
                  <a:srgbClr val="64748B"/>
                </a:solidFill>
              </a:defRPr>
            </a:pPr>
            <a:r>
              <a:t>Hệ thống quét và xác thực 1.000 tệp tin thực tế trong 60.59 ms, tốc độ 16,504 tệp/s, Root Hash hiển thị đầy đủ.</a:t>
            </a:r>
          </a:p>
        </p:txBody>
      </p:sp>
      <p:pic>
        <p:nvPicPr>
          <p:cNvPr id="10" name="Picture 9" descr="web_safe.png"/>
          <p:cNvPicPr>
            <a:picLocks noChangeAspect="1"/>
          </p:cNvPicPr>
          <p:nvPr/>
        </p:nvPicPr>
        <p:blipFill>
          <a:blip r:embed="rId2"/>
          <a:stretch>
            <a:fillRect/>
          </a:stretch>
        </p:blipFill>
        <p:spPr>
          <a:xfrm>
            <a:off x="6217920" y="2148840"/>
            <a:ext cx="5029200" cy="42062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4A: TRỤ CỘT I - KỸ THUẬT HỆ THỐNG &amp; POC (HƯỚNG 1)</a:t>
            </a:r>
          </a:p>
          <a:p>
            <a:pPr>
              <a:spcBef>
                <a:spcPts val="200"/>
              </a:spcBef>
              <a:defRPr b="1" sz="1700">
                <a:solidFill>
                  <a:srgbClr val="FFFFFF"/>
                </a:solidFill>
              </a:defRPr>
            </a:pPr>
            <a:r>
              <a:t>10. Sơ Đồ Kiến Trúc Đề Xuất HD-MerkleTree &amp; Cơ Chế Xóa Bộ Nhớ</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Giải Thích Chi Tiết 5 Tầng Kiến Trúc Hệ Thống (hd_merkle_tree.py)</a:t>
            </a:r>
          </a:p>
          <a:p>
            <a:pPr>
              <a:defRPr b="1" sz="869">
                <a:solidFill>
                  <a:srgbClr val="2563EB"/>
                </a:solidFill>
              </a:defRPr>
            </a:pPr>
            <a:r>
              <a:t>• Tầng 1: Lưu trữ phân tầng Biba 1977:</a:t>
            </a:r>
          </a:p>
          <a:p>
            <a:pPr>
              <a:spcBef>
                <a:spcPts val="150"/>
              </a:spcBef>
              <a:defRPr sz="819">
                <a:solidFill>
                  <a:srgbClr val="0F172A"/>
                </a:solidFill>
              </a:defRPr>
            </a:pPr>
            <a:r>
              <a:t>Tổ chức 1.000 tệp tin trong 23 thư mục theo mô hình toàn vẹn Biba. Kháng tấn công ghi ngược từ tệp thường lên thư mục bảo mật.</a:t>
            </a:r>
          </a:p>
          <a:p>
            <a:pPr>
              <a:spcBef>
                <a:spcPts val="500"/>
              </a:spcBef>
              <a:defRPr b="1" sz="869">
                <a:solidFill>
                  <a:srgbClr val="2563EB"/>
                </a:solidFill>
              </a:defRPr>
            </a:pPr>
            <a:r>
              <a:t>• Tầng 2: Phân tách miền băm chuẩn RFC 6962:</a:t>
            </a:r>
          </a:p>
          <a:p>
            <a:pPr>
              <a:spcBef>
                <a:spcPts val="150"/>
              </a:spcBef>
              <a:defRPr sz="819">
                <a:solidFill>
                  <a:srgbClr val="0F172A"/>
                </a:solidFill>
              </a:defRPr>
            </a:pPr>
            <a:r>
              <a:t>Gắn tiền tố 0x00 cho lá và 0x01 cho nhánh. Hai tập tiền tố hoàn toàn rời nhau, triệt tiêu 100% va chạm tiền ảnh cấp hai.</a:t>
            </a:r>
          </a:p>
          <a:p>
            <a:pPr>
              <a:spcBef>
                <a:spcPts val="500"/>
              </a:spcBef>
              <a:defRPr b="1" sz="869">
                <a:solidFill>
                  <a:srgbClr val="2563EB"/>
                </a:solidFill>
              </a:defRPr>
            </a:pPr>
            <a:r>
              <a:t>• Tầng 3: Động cơ Cây Merkle phân cấp trong RAM &amp; Cập nhật Dirty-Path:</a:t>
            </a:r>
          </a:p>
          <a:p>
            <a:pPr>
              <a:spcBef>
                <a:spcPts val="150"/>
              </a:spcBef>
              <a:defRPr sz="819">
                <a:solidFill>
                  <a:srgbClr val="0F172A"/>
                </a:solidFill>
              </a:defRPr>
            </a:pPr>
            <a:r>
              <a:t>Băm song song (~89.9 ms / 1.000 tệp). Cập nhật cục bộ Dirty-Path: khi sửa 1 tệp chỉ tính lại h=4 nút tổ tiên trong ~0.14 ms; khi thêm/xóa đạt 0.10 - 0.16 ms (nhanh hơn 458 - 708 lần so với Standard Merkle ~71-73 ms Rebuild mảng 1D).</a:t>
            </a:r>
          </a:p>
          <a:p>
            <a:pPr>
              <a:spcBef>
                <a:spcPts val="500"/>
              </a:spcBef>
              <a:defRPr b="1" sz="869">
                <a:solidFill>
                  <a:srgbClr val="2563EB"/>
                </a:solidFill>
              </a:defRPr>
            </a:pPr>
            <a:r>
              <a:t>• Tầng 4: Bộ tạo bằng chứng xác thực tối ưu:</a:t>
            </a:r>
          </a:p>
          <a:p>
            <a:pPr>
              <a:spcBef>
                <a:spcPts val="150"/>
              </a:spcBef>
              <a:defRPr sz="819">
                <a:solidFill>
                  <a:srgbClr val="0F172A"/>
                </a:solidFill>
              </a:defRPr>
            </a:pPr>
            <a:r>
              <a:t>Tạo Inclusion Proof gọn nhẹ 1.37 KB (1.369 Byte, tiết kiệm 98.8% băng thông), và Bằng chứng Nhất quán RFC 6962 độc lập chứng minh kho dữ liệu là append-only.</a:t>
            </a:r>
          </a:p>
          <a:p>
            <a:pPr>
              <a:spcBef>
                <a:spcPts val="500"/>
              </a:spcBef>
              <a:defRPr b="1" sz="869">
                <a:solidFill>
                  <a:srgbClr val="2563EB"/>
                </a:solidFill>
              </a:defRPr>
            </a:pPr>
            <a:r>
              <a:t>• Tầng 5: Bảo vệ Kênh kề &amp; Cơ chế Xóa sạch Bộ nhớ (Memory Zeroization):</a:t>
            </a:r>
          </a:p>
          <a:p>
            <a:pPr>
              <a:spcBef>
                <a:spcPts val="150"/>
              </a:spcBef>
              <a:defRPr sz="819">
                <a:solidFill>
                  <a:srgbClr val="0F172A"/>
                </a:solidFill>
              </a:defRPr>
            </a:pPr>
            <a:r>
              <a:t>Hàm hmac.compare_digest triệt tiêu kênh kề đo thời gian O(1) theo Kocher 1996; hàm secure_erase() xóa đè RAM ngăn kẻ thù trích xuất bộ nhớ (Memory Dump Adversary).</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kiến trúc phân cấp 5 tầng chi tiết của mô hình HD-MerkleTree</a:t>
            </a:r>
          </a:p>
          <a:p>
            <a:pPr>
              <a:defRPr b="1" sz="950">
                <a:solidFill>
                  <a:srgbClr val="64748B"/>
                </a:solidFill>
              </a:defRPr>
            </a:pPr>
            <a:r>
              <a:t>Gợi ý các thành phần cần thiết kế trên Draw.io:</a:t>
            </a:r>
          </a:p>
          <a:p>
            <a:pPr>
              <a:spcBef>
                <a:spcPts val="400"/>
              </a:spcBef>
              <a:defRPr sz="880">
                <a:solidFill>
                  <a:srgbClr val="0F172A"/>
                </a:solidFill>
              </a:defRPr>
            </a:pPr>
            <a:r>
              <a:t>• Tầng 1 (File Leaf Nodes): Lưu mã băm lá RFC 6962 cho từng tệp tin vật lý trên đĩa.</a:t>
            </a:r>
          </a:p>
          <a:p>
            <a:pPr>
              <a:spcBef>
                <a:spcPts val="400"/>
              </a:spcBef>
              <a:defRPr sz="880">
                <a:solidFill>
                  <a:srgbClr val="0F172A"/>
                </a:solidFill>
              </a:defRPr>
            </a:pPr>
            <a:r>
              <a:t>• Tầng 2 (Directory Sub-Trees): Gom nhóm các tệp cùng thư mục thành cây con cục bộ theo mô hình Biba 1977.</a:t>
            </a:r>
          </a:p>
          <a:p>
            <a:pPr>
              <a:spcBef>
                <a:spcPts val="400"/>
              </a:spcBef>
              <a:defRPr sz="880">
                <a:solidFill>
                  <a:srgbClr val="0F172A"/>
                </a:solidFill>
              </a:defRPr>
            </a:pPr>
            <a:r>
              <a:t>• Tầng 3 (Global Aggregator): Tổng hợp các Root thư mục thành Master Root Hash duy nhất.</a:t>
            </a:r>
          </a:p>
          <a:p>
            <a:pPr>
              <a:spcBef>
                <a:spcPts val="400"/>
              </a:spcBef>
              <a:defRPr sz="880">
                <a:solidFill>
                  <a:srgbClr val="0F172A"/>
                </a:solidFill>
              </a:defRPr>
            </a:pPr>
            <a:r>
              <a:t>• Tầng 4 (Memory Cache &amp; Indexing): Bảng băm tra cứu O(1) đường dẫn tệp và cache node cha cho Dirty-Path.</a:t>
            </a:r>
          </a:p>
          <a:p>
            <a:pPr>
              <a:spcBef>
                <a:spcPts val="400"/>
              </a:spcBef>
              <a:defRPr sz="880">
                <a:solidFill>
                  <a:srgbClr val="0F172A"/>
                </a:solidFill>
              </a:defRPr>
            </a:pPr>
            <a:r>
              <a:t>• Tầng 5 (Storage &amp; Proof Layer): Tạo Compact Proof và Batch Multi-Proof cho máy khách xác thực độc lập.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4A: TRỤ CỘT I - KỸ THUẬT HỆ THỐNG &amp; POC (HƯỚNG 1)</a:t>
            </a:r>
          </a:p>
          <a:p>
            <a:pPr>
              <a:spcBef>
                <a:spcPts val="200"/>
              </a:spcBef>
              <a:defRPr b="1" sz="1700">
                <a:solidFill>
                  <a:srgbClr val="FFFFFF"/>
                </a:solidFill>
              </a:defRPr>
            </a:pPr>
            <a:r>
              <a:t>11. Bốn Dẫn Chứng Chứng Minh Kỹ Thuật Đột Phá Của Mô Hình HD-MerkleTree</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4 Dẫn Chứng Chứng Minh Cải Tiến Do Nhóm Tự Xây Dựng</a:t>
            </a:r>
          </a:p>
          <a:p>
            <a:pPr>
              <a:defRPr b="1" sz="930">
                <a:solidFill>
                  <a:srgbClr val="2563EB"/>
                </a:solidFill>
              </a:defRPr>
            </a:pPr>
            <a:r>
              <a:t>• 1. Ánh xạ trực tiếp cấu trúc thư mục tự nhiên theo mô hình Biba 1977:</a:t>
            </a:r>
          </a:p>
          <a:p>
            <a:pPr>
              <a:spcBef>
                <a:spcPts val="150"/>
              </a:spcBef>
              <a:defRPr sz="880">
                <a:solidFill>
                  <a:srgbClr val="0F172A"/>
                </a:solidFill>
              </a:defRPr>
            </a:pPr>
            <a:r>
              <a:t>- Chứng minh: Cây Merkle phản chiếu chính xác từng thư mục cha, con. Nhờ đó, thuật toán định vị lỗi chỉ duyệt theo nhánh vi phạm trong O(k log N) thay vì duyệt toàn bộ O(N) 1.000 tệp tin, xác định tệp hỏng chỉ trong 0.022 ms.</a:t>
            </a:r>
          </a:p>
          <a:p>
            <a:pPr>
              <a:spcBef>
                <a:spcPts val="500"/>
              </a:spcBef>
              <a:defRPr b="1" sz="930">
                <a:solidFill>
                  <a:srgbClr val="2563EB"/>
                </a:solidFill>
              </a:defRPr>
            </a:pPr>
            <a:r>
              <a:t>• 2. Chuẩn phân tách miền RFC 6962 triệt tiêu va chạm:</a:t>
            </a:r>
          </a:p>
          <a:p>
            <a:pPr>
              <a:spcBef>
                <a:spcPts val="150"/>
              </a:spcBef>
              <a:defRPr sz="880">
                <a:solidFill>
                  <a:srgbClr val="0F172A"/>
                </a:solidFill>
              </a:defRPr>
            </a:pPr>
            <a:r>
              <a:t>- Chứng minh: Gắn tiền tố byte 0x00 cho lá và 0x01 cho nhánh. Không gian băm nút lá và nhánh hoàn toàn tách biệt, triệt tiêu 100% tấn công giả mạo tiền ảnh cấp 2 với xác suất va chạm dưới 2 mũ âm 128.</a:t>
            </a:r>
          </a:p>
          <a:p>
            <a:pPr>
              <a:spcBef>
                <a:spcPts val="500"/>
              </a:spcBef>
              <a:defRPr b="1" sz="930">
                <a:solidFill>
                  <a:srgbClr val="2563EB"/>
                </a:solidFill>
              </a:defRPr>
            </a:pPr>
            <a:r>
              <a:t>• 3. Lan truyền đường dẫn bẩn cục bộ siêu tốc khi cập nhật tệp:</a:t>
            </a:r>
          </a:p>
          <a:p>
            <a:pPr>
              <a:spcBef>
                <a:spcPts val="150"/>
              </a:spcBef>
              <a:defRPr sz="880">
                <a:solidFill>
                  <a:srgbClr val="0F172A"/>
                </a:solidFill>
              </a:defRPr>
            </a:pPr>
            <a:r>
              <a:t>- Chứng minh toán học: Khi sửa 1 tệp tin, chỉ cần băm lại đúng h = 4 nút tổ tiên từ lá lên đỉnh cây (~0.14 ms). Thời gian thực nghiệm khi thêm/xóa tệp đạt 0.10 - 0.16 ms so với 70.81 - 73.42 ms của Standard Merkle (nhanh hơn 458 - 708 lần do cấu trúc mảng 1D của Standard Merkle phải Rebuild O(N)).</a:t>
            </a:r>
          </a:p>
          <a:p>
            <a:pPr>
              <a:spcBef>
                <a:spcPts val="500"/>
              </a:spcBef>
              <a:defRPr b="1" sz="930">
                <a:solidFill>
                  <a:srgbClr val="2563EB"/>
                </a:solidFill>
              </a:defRPr>
            </a:pPr>
            <a:r>
              <a:t>• 4. Bằng chứng nhất quán RFC 6962 và Phòng chống kênh kề đo thời gian:</a:t>
            </a:r>
          </a:p>
          <a:p>
            <a:pPr>
              <a:spcBef>
                <a:spcPts val="150"/>
              </a:spcBef>
              <a:defRPr sz="880">
                <a:solidFill>
                  <a:srgbClr val="0F172A"/>
                </a:solidFill>
              </a:defRPr>
            </a:pPr>
            <a:r>
              <a:t>- Chứng minh: Bằng chứng tính nhất quán chỉ cần 10 nút (320 byte) chứng minh kho dữ liệu là append-only, chống chèn backdoor lịch sử. Sử dụng hàm hmac.compare_digest triệt tiêu hoàn toàn tấn công kênh kề theo Kocher 1996.</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685800"/>
          </a:xfrm>
          <a:prstGeom prst="rect">
            <a:avLst/>
          </a:prstGeom>
          <a:noFill/>
        </p:spPr>
        <p:txBody>
          <a:bodyPr wrap="square">
            <a:spAutoFit/>
          </a:bodyPr>
          <a:lstStyle/>
          <a:p>
            <a:pPr>
              <a:defRPr b="1" sz="1100">
                <a:solidFill>
                  <a:srgbClr val="1E3A8A"/>
                </a:solidFill>
              </a:defRPr>
            </a:pPr>
            <a:r>
              <a:t>BIỂU ĐỒ ĐỐI SÁNH: THỜI GIAN CẬP NHẬT TỆP TIN (MILIGIÂY)</a:t>
            </a:r>
          </a:p>
          <a:p>
            <a:pPr>
              <a:defRPr sz="850">
                <a:solidFill>
                  <a:srgbClr val="64748B"/>
                </a:solidFill>
              </a:defRPr>
            </a:pPr>
            <a:r>
              <a:t>Standard Merkle Tree (Rebuild mảng 1D) vs HD-MerkleTree Đề xuất (Dirty-Path O(log N))</a:t>
            </a:r>
          </a:p>
        </p:txBody>
      </p:sp>
      <p:graphicFrame>
        <p:nvGraphicFramePr>
          <p:cNvPr id="10" name="Chart 9"/>
          <p:cNvGraphicFramePr>
            <a:graphicFrameLocks noGrp="1"/>
          </p:cNvGraphicFramePr>
          <p:nvPr/>
        </p:nvGraphicFramePr>
        <p:xfrm>
          <a:off x="6263640" y="2148840"/>
          <a:ext cx="4937760" cy="4069080"/>
        </p:xfrm>
        <a:graphic>
          <a:graphicData uri="http://schemas.openxmlformats.org/drawingml/2006/chart">
            <c:chart xmlns:c="http://schemas.openxmlformats.org/drawingml/2006/chart" r:id="rId2"/>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4B: TRỤ CỘT III - THỰC NGHIỆM ĐỊNH LƯỢNG QUY MÔ LỚN (HƯỚNG 4)</a:t>
            </a:r>
          </a:p>
          <a:p>
            <a:pPr>
              <a:spcBef>
                <a:spcPts val="200"/>
              </a:spcBef>
              <a:defRPr b="1" sz="1700">
                <a:solidFill>
                  <a:srgbClr val="FFFFFF"/>
                </a:solidFill>
              </a:defRPr>
            </a:pPr>
            <a:r>
              <a:t>12. Bảng Đo Lường Số Liệu Thực Nghiệm Đối Đầu Trên 1.000 Tệp Tin</a:t>
            </a:r>
          </a:p>
        </p:txBody>
      </p:sp>
      <p:sp>
        <p:nvSpPr>
          <p:cNvPr id="6" name="Rounded Rectangle 5"/>
          <p:cNvSpPr/>
          <p:nvPr/>
        </p:nvSpPr>
        <p:spPr>
          <a:xfrm>
            <a:off x="731520" y="1234440"/>
            <a:ext cx="566928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68680" y="1417320"/>
          <a:ext cx="5394960" cy="2468880"/>
        </p:xfrm>
        <a:graphic>
          <a:graphicData uri="http://schemas.openxmlformats.org/drawingml/2006/table">
            <a:tbl>
              <a:tblPr firstRow="1" bandRow="1">
                <a:tableStyleId>{5C22544A-7EE6-4342-B048-85BDC9FD1C3A}</a:tableStyleId>
              </a:tblPr>
              <a:tblGrid>
                <a:gridCol w="1645920"/>
                <a:gridCol w="868680"/>
                <a:gridCol w="1005840"/>
                <a:gridCol w="868680"/>
                <a:gridCol w="1005840"/>
              </a:tblGrid>
              <a:tr h="493776">
                <a:tc>
                  <a:txBody>
                    <a:bodyPr/>
                    <a:lstStyle/>
                    <a:p>
                      <a:pPr algn="ctr">
                        <a:defRPr b="1" sz="950">
                          <a:solidFill>
                            <a:srgbClr val="FFFFFF"/>
                          </a:solidFill>
                        </a:defRPr>
                      </a:pPr>
                      <a:r>
                        <a:t>Cơ Chế Bảo Mật</a:t>
                      </a:r>
                    </a:p>
                  </a:txBody>
                  <a:tcPr>
                    <a:solidFill>
                      <a:srgbClr val="1E3A8A"/>
                    </a:solidFill>
                  </a:tcPr>
                </a:tc>
                <a:tc>
                  <a:txBody>
                    <a:bodyPr/>
                    <a:lstStyle/>
                    <a:p>
                      <a:pPr algn="ctr">
                        <a:defRPr b="1" sz="950">
                          <a:solidFill>
                            <a:srgbClr val="FFFFFF"/>
                          </a:solidFill>
                        </a:defRPr>
                      </a:pPr>
                      <a:r>
                        <a:t>Khởi Tạo</a:t>
                      </a:r>
                    </a:p>
                  </a:txBody>
                  <a:tcPr>
                    <a:solidFill>
                      <a:srgbClr val="1E3A8A"/>
                    </a:solidFill>
                  </a:tcPr>
                </a:tc>
                <a:tc>
                  <a:txBody>
                    <a:bodyPr/>
                    <a:lstStyle/>
                    <a:p>
                      <a:pPr algn="ctr">
                        <a:defRPr b="1" sz="950">
                          <a:solidFill>
                            <a:srgbClr val="FFFFFF"/>
                          </a:solidFill>
                        </a:defRPr>
                      </a:pPr>
                      <a:r>
                        <a:t>Xác Minh 1 Tệp</a:t>
                      </a:r>
                    </a:p>
                  </a:txBody>
                  <a:tcPr>
                    <a:solidFill>
                      <a:srgbClr val="1E3A8A"/>
                    </a:solidFill>
                  </a:tcPr>
                </a:tc>
                <a:tc>
                  <a:txBody>
                    <a:bodyPr/>
                    <a:lstStyle/>
                    <a:p>
                      <a:pPr algn="ctr">
                        <a:defRPr b="1" sz="950">
                          <a:solidFill>
                            <a:srgbClr val="FFFFFF"/>
                          </a:solidFill>
                        </a:defRPr>
                      </a:pPr>
                      <a:r>
                        <a:t>Dung Lượng Bảng</a:t>
                      </a:r>
                    </a:p>
                  </a:txBody>
                  <a:tcPr>
                    <a:solidFill>
                      <a:srgbClr val="1E3A8A"/>
                    </a:solidFill>
                  </a:tcPr>
                </a:tc>
                <a:tc>
                  <a:txBody>
                    <a:bodyPr/>
                    <a:lstStyle/>
                    <a:p>
                      <a:pPr algn="ctr">
                        <a:defRPr b="1" sz="950">
                          <a:solidFill>
                            <a:srgbClr val="FFFFFF"/>
                          </a:solidFill>
                        </a:defRPr>
                      </a:pPr>
                      <a:r>
                        <a:t>Bằng Chứng 1 Tệp</a:t>
                      </a:r>
                    </a:p>
                  </a:txBody>
                  <a:tcPr>
                    <a:solidFill>
                      <a:srgbClr val="1E3A8A"/>
                    </a:solidFill>
                  </a:tcPr>
                </a:tc>
              </a:tr>
              <a:tr h="493776">
                <a:tc>
                  <a:txBody>
                    <a:bodyPr/>
                    <a:lstStyle/>
                    <a:p>
                      <a:pPr>
                        <a:defRPr sz="900">
                          <a:solidFill>
                            <a:srgbClr val="0F172A"/>
                          </a:solidFill>
                        </a:defRPr>
                      </a:pPr>
                      <a:r>
                        <a:t>1. Danh sách SHA-256</a:t>
                      </a:r>
                    </a:p>
                  </a:txBody>
                  <a:tcPr>
                    <a:solidFill>
                      <a:srgbClr val="FFFFFF"/>
                    </a:solidFill>
                  </a:tcPr>
                </a:tc>
                <a:tc>
                  <a:txBody>
                    <a:bodyPr/>
                    <a:lstStyle/>
                    <a:p>
                      <a:pPr algn="ctr">
                        <a:defRPr sz="900">
                          <a:solidFill>
                            <a:srgbClr val="0F172A"/>
                          </a:solidFill>
                        </a:defRPr>
                      </a:pPr>
                      <a:r>
                        <a:t>62.58 ms</a:t>
                      </a:r>
                    </a:p>
                  </a:txBody>
                  <a:tcPr>
                    <a:solidFill>
                      <a:srgbClr val="FFFFFF"/>
                    </a:solidFill>
                  </a:tcPr>
                </a:tc>
                <a:tc>
                  <a:txBody>
                    <a:bodyPr/>
                    <a:lstStyle/>
                    <a:p>
                      <a:pPr algn="ctr">
                        <a:defRPr sz="900">
                          <a:solidFill>
                            <a:srgbClr val="0F172A"/>
                          </a:solidFill>
                        </a:defRPr>
                      </a:pPr>
                      <a:r>
                        <a:t>0.17 ms</a:t>
                      </a:r>
                    </a:p>
                  </a:txBody>
                  <a:tcPr>
                    <a:solidFill>
                      <a:srgbClr val="FFFFFF"/>
                    </a:solidFill>
                  </a:tcPr>
                </a:tc>
                <a:tc>
                  <a:txBody>
                    <a:bodyPr/>
                    <a:lstStyle/>
                    <a:p>
                      <a:pPr algn="ctr">
                        <a:defRPr sz="900">
                          <a:solidFill>
                            <a:srgbClr val="0F172A"/>
                          </a:solidFill>
                        </a:defRPr>
                      </a:pPr>
                      <a:r>
                        <a:t>111.13 KB</a:t>
                      </a:r>
                    </a:p>
                  </a:txBody>
                  <a:tcPr>
                    <a:solidFill>
                      <a:srgbClr val="FFFFFF"/>
                    </a:solidFill>
                  </a:tcPr>
                </a:tc>
                <a:tc>
                  <a:txBody>
                    <a:bodyPr/>
                    <a:lstStyle/>
                    <a:p>
                      <a:pPr algn="ctr">
                        <a:defRPr sz="900">
                          <a:solidFill>
                            <a:srgbClr val="0F172A"/>
                          </a:solidFill>
                        </a:defRPr>
                      </a:pPr>
                      <a:r>
                        <a:t>Tải cả bảng 111 KB</a:t>
                      </a:r>
                    </a:p>
                  </a:txBody>
                  <a:tcPr>
                    <a:solidFill>
                      <a:srgbClr val="FFFFFF"/>
                    </a:solidFill>
                  </a:tcPr>
                </a:tc>
              </a:tr>
              <a:tr h="493776">
                <a:tc>
                  <a:txBody>
                    <a:bodyPr/>
                    <a:lstStyle/>
                    <a:p>
                      <a:pPr>
                        <a:defRPr sz="900">
                          <a:solidFill>
                            <a:srgbClr val="0F172A"/>
                          </a:solidFill>
                        </a:defRPr>
                      </a:pPr>
                      <a:r>
                        <a:t>2. Băm có khóa HMAC</a:t>
                      </a:r>
                    </a:p>
                  </a:txBody>
                  <a:tcPr>
                    <a:solidFill>
                      <a:srgbClr val="F8FAFC"/>
                    </a:solidFill>
                  </a:tcPr>
                </a:tc>
                <a:tc>
                  <a:txBody>
                    <a:bodyPr/>
                    <a:lstStyle/>
                    <a:p>
                      <a:pPr algn="ctr">
                        <a:defRPr sz="900">
                          <a:solidFill>
                            <a:srgbClr val="0F172A"/>
                          </a:solidFill>
                        </a:defRPr>
                      </a:pPr>
                      <a:r>
                        <a:t>60.65 ms</a:t>
                      </a:r>
                    </a:p>
                  </a:txBody>
                  <a:tcPr>
                    <a:solidFill>
                      <a:srgbClr val="F8FAFC"/>
                    </a:solidFill>
                  </a:tcPr>
                </a:tc>
                <a:tc>
                  <a:txBody>
                    <a:bodyPr/>
                    <a:lstStyle/>
                    <a:p>
                      <a:pPr algn="ctr">
                        <a:defRPr sz="900">
                          <a:solidFill>
                            <a:srgbClr val="0F172A"/>
                          </a:solidFill>
                        </a:defRPr>
                      </a:pPr>
                      <a:r>
                        <a:t>0.07 ms</a:t>
                      </a:r>
                    </a:p>
                  </a:txBody>
                  <a:tcPr>
                    <a:solidFill>
                      <a:srgbClr val="F8FAFC"/>
                    </a:solidFill>
                  </a:tcPr>
                </a:tc>
                <a:tc>
                  <a:txBody>
                    <a:bodyPr/>
                    <a:lstStyle/>
                    <a:p>
                      <a:pPr algn="ctr">
                        <a:defRPr sz="900">
                          <a:solidFill>
                            <a:srgbClr val="0F172A"/>
                          </a:solidFill>
                        </a:defRPr>
                      </a:pPr>
                      <a:r>
                        <a:t>111.14 KB</a:t>
                      </a:r>
                    </a:p>
                  </a:txBody>
                  <a:tcPr>
                    <a:solidFill>
                      <a:srgbClr val="F8FAFC"/>
                    </a:solidFill>
                  </a:tcPr>
                </a:tc>
                <a:tc>
                  <a:txBody>
                    <a:bodyPr/>
                    <a:lstStyle/>
                    <a:p>
                      <a:pPr algn="ctr">
                        <a:defRPr sz="900">
                          <a:solidFill>
                            <a:srgbClr val="0F172A"/>
                          </a:solidFill>
                        </a:defRPr>
                      </a:pPr>
                      <a:r>
                        <a:t>Cần chia sẻ khóa K</a:t>
                      </a:r>
                    </a:p>
                  </a:txBody>
                  <a:tcPr>
                    <a:solidFill>
                      <a:srgbClr val="F8FAFC"/>
                    </a:solidFill>
                  </a:tcPr>
                </a:tc>
              </a:tr>
              <a:tr h="493776">
                <a:tc>
                  <a:txBody>
                    <a:bodyPr/>
                    <a:lstStyle/>
                    <a:p>
                      <a:pPr>
                        <a:defRPr sz="900">
                          <a:solidFill>
                            <a:srgbClr val="0F172A"/>
                          </a:solidFill>
                        </a:defRPr>
                      </a:pPr>
                      <a:r>
                        <a:t>3. Cây Merkle chuẩn</a:t>
                      </a:r>
                    </a:p>
                  </a:txBody>
                  <a:tcPr>
                    <a:solidFill>
                      <a:srgbClr val="FFFFFF"/>
                    </a:solidFill>
                  </a:tcPr>
                </a:tc>
                <a:tc>
                  <a:txBody>
                    <a:bodyPr/>
                    <a:lstStyle/>
                    <a:p>
                      <a:pPr algn="ctr">
                        <a:defRPr sz="900">
                          <a:solidFill>
                            <a:srgbClr val="0F172A"/>
                          </a:solidFill>
                        </a:defRPr>
                      </a:pPr>
                      <a:r>
                        <a:t>60.72 ms</a:t>
                      </a:r>
                    </a:p>
                  </a:txBody>
                  <a:tcPr>
                    <a:solidFill>
                      <a:srgbClr val="FFFFFF"/>
                    </a:solidFill>
                  </a:tcPr>
                </a:tc>
                <a:tc>
                  <a:txBody>
                    <a:bodyPr/>
                    <a:lstStyle/>
                    <a:p>
                      <a:pPr algn="ctr">
                        <a:defRPr sz="900">
                          <a:solidFill>
                            <a:srgbClr val="0F172A"/>
                          </a:solidFill>
                        </a:defRPr>
                      </a:pPr>
                      <a:r>
                        <a:t>0.02 ms</a:t>
                      </a:r>
                    </a:p>
                  </a:txBody>
                  <a:tcPr>
                    <a:solidFill>
                      <a:srgbClr val="FFFFFF"/>
                    </a:solidFill>
                  </a:tcPr>
                </a:tc>
                <a:tc>
                  <a:txBody>
                    <a:bodyPr/>
                    <a:lstStyle/>
                    <a:p>
                      <a:pPr algn="ctr">
                        <a:defRPr sz="900">
                          <a:solidFill>
                            <a:srgbClr val="0F172A"/>
                          </a:solidFill>
                        </a:defRPr>
                      </a:pPr>
                      <a:r>
                        <a:t>44.76 KB</a:t>
                      </a:r>
                    </a:p>
                  </a:txBody>
                  <a:tcPr>
                    <a:solidFill>
                      <a:srgbClr val="FFFFFF"/>
                    </a:solidFill>
                  </a:tcPr>
                </a:tc>
                <a:tc>
                  <a:txBody>
                    <a:bodyPr/>
                    <a:lstStyle/>
                    <a:p>
                      <a:pPr algn="ctr">
                        <a:defRPr sz="900">
                          <a:solidFill>
                            <a:srgbClr val="0F172A"/>
                          </a:solidFill>
                        </a:defRPr>
                      </a:pPr>
                      <a:r>
                        <a:t>990 Byte</a:t>
                      </a:r>
                    </a:p>
                  </a:txBody>
                  <a:tcPr>
                    <a:solidFill>
                      <a:srgbClr val="FFFFFF"/>
                    </a:solidFill>
                  </a:tcPr>
                </a:tc>
              </a:tr>
              <a:tr h="493776">
                <a:tc>
                  <a:txBody>
                    <a:bodyPr/>
                    <a:lstStyle/>
                    <a:p>
                      <a:pPr>
                        <a:defRPr sz="900" b="1">
                          <a:solidFill>
                            <a:srgbClr val="059669"/>
                          </a:solidFill>
                        </a:defRPr>
                      </a:pPr>
                      <a:r>
                        <a:t>4. Cây Merkle cải tiến</a:t>
                      </a:r>
                    </a:p>
                  </a:txBody>
                  <a:tcPr>
                    <a:solidFill>
                      <a:srgbClr val="ECFDF5"/>
                    </a:solidFill>
                  </a:tcPr>
                </a:tc>
                <a:tc>
                  <a:txBody>
                    <a:bodyPr/>
                    <a:lstStyle/>
                    <a:p>
                      <a:pPr algn="ctr">
                        <a:defRPr sz="900" b="1">
                          <a:solidFill>
                            <a:srgbClr val="059669"/>
                          </a:solidFill>
                        </a:defRPr>
                      </a:pPr>
                      <a:r>
                        <a:t>89.91 ms</a:t>
                      </a:r>
                    </a:p>
                  </a:txBody>
                  <a:tcPr>
                    <a:solidFill>
                      <a:srgbClr val="ECFDF5"/>
                    </a:solidFill>
                  </a:tcPr>
                </a:tc>
                <a:tc>
                  <a:txBody>
                    <a:bodyPr/>
                    <a:lstStyle/>
                    <a:p>
                      <a:pPr algn="ctr">
                        <a:defRPr sz="900" b="1">
                          <a:solidFill>
                            <a:srgbClr val="059669"/>
                          </a:solidFill>
                        </a:defRPr>
                      </a:pPr>
                      <a:r>
                        <a:t>0.02 ms</a:t>
                      </a:r>
                    </a:p>
                  </a:txBody>
                  <a:tcPr>
                    <a:solidFill>
                      <a:srgbClr val="ECFDF5"/>
                    </a:solidFill>
                  </a:tcPr>
                </a:tc>
                <a:tc>
                  <a:txBody>
                    <a:bodyPr/>
                    <a:lstStyle/>
                    <a:p>
                      <a:pPr algn="ctr">
                        <a:defRPr sz="900" b="1">
                          <a:solidFill>
                            <a:srgbClr val="059669"/>
                          </a:solidFill>
                        </a:defRPr>
                      </a:pPr>
                      <a:r>
                        <a:t>111.15 KB</a:t>
                      </a:r>
                    </a:p>
                  </a:txBody>
                  <a:tcPr>
                    <a:solidFill>
                      <a:srgbClr val="ECFDF5"/>
                    </a:solidFill>
                  </a:tcPr>
                </a:tc>
                <a:tc>
                  <a:txBody>
                    <a:bodyPr/>
                    <a:lstStyle/>
                    <a:p>
                      <a:pPr algn="ctr">
                        <a:defRPr sz="900" b="1">
                          <a:solidFill>
                            <a:srgbClr val="059669"/>
                          </a:solidFill>
                        </a:defRPr>
                      </a:pPr>
                      <a:r>
                        <a:t>1.369 Byte</a:t>
                      </a:r>
                    </a:p>
                  </a:txBody>
                  <a:tcPr>
                    <a:solidFill>
                      <a:srgbClr val="ECFDF5"/>
                    </a:solidFill>
                  </a:tcPr>
                </a:tc>
              </a:tr>
            </a:tbl>
          </a:graphicData>
        </a:graphic>
      </p:graphicFrame>
      <p:sp>
        <p:nvSpPr>
          <p:cNvPr id="8" name="TextBox 7"/>
          <p:cNvSpPr txBox="1"/>
          <p:nvPr/>
        </p:nvSpPr>
        <p:spPr>
          <a:xfrm>
            <a:off x="868680" y="4069080"/>
            <a:ext cx="5394960" cy="2331720"/>
          </a:xfrm>
          <a:prstGeom prst="rect">
            <a:avLst/>
          </a:prstGeom>
          <a:noFill/>
        </p:spPr>
        <p:txBody>
          <a:bodyPr wrap="square">
            <a:spAutoFit/>
          </a:bodyPr>
          <a:lstStyle/>
          <a:p>
            <a:pPr>
              <a:defRPr b="1" sz="1000">
                <a:solidFill>
                  <a:srgbClr val="1E3A8A"/>
                </a:solidFill>
              </a:defRPr>
            </a:pPr>
            <a:r>
              <a:t>Dẫn Chứng Chứng Minh 3 Chiều Giữa Bài Báo - Số Liệu - Ý Nghĩa:</a:t>
            </a:r>
          </a:p>
          <a:p>
            <a:pPr>
              <a:spcBef>
                <a:spcPts val="300"/>
              </a:spcBef>
              <a:defRPr b="1" sz="850">
                <a:solidFill>
                  <a:srgbClr val="2563EB"/>
                </a:solidFill>
              </a:defRPr>
            </a:pPr>
            <a:r>
              <a:t>• 1. Đối chiếu Bài báo khoa học (Mục 4, 5, 6, Tài liệu [27, 36, 109]):</a:t>
            </a:r>
          </a:p>
          <a:p>
            <a:pPr>
              <a:spcBef>
                <a:spcPts val="100"/>
              </a:spcBef>
              <a:defRPr sz="800">
                <a:solidFill>
                  <a:srgbClr val="0F172A"/>
                </a:solidFill>
              </a:defRPr>
            </a:pPr>
            <a:r>
              <a:t>Harry Halpin (2025) cung cấp khung lý thuyết về Kẻ tấn công hình thức, RFC 6962 và kiểm định PPT. Thực nghiệm định lượng trên 1.000 tệp tin là kết quả nghiên cứu độc lập của nhóm DT005.</a:t>
            </a:r>
          </a:p>
          <a:p>
            <a:pPr>
              <a:spcBef>
                <a:spcPts val="300"/>
              </a:spcBef>
              <a:defRPr b="1" sz="850">
                <a:solidFill>
                  <a:srgbClr val="2563EB"/>
                </a:solidFill>
              </a:defRPr>
            </a:pPr>
            <a:r>
              <a:t>• 2. Đối chiếu Số liệu Benchmark Thực nghiệm Độc lập (results/benchmark_results.json):</a:t>
            </a:r>
          </a:p>
          <a:p>
            <a:pPr>
              <a:spcBef>
                <a:spcPts val="100"/>
              </a:spcBef>
              <a:defRPr sz="800">
                <a:solidFill>
                  <a:srgbClr val="0F172A"/>
                </a:solidFill>
              </a:defRPr>
            </a:pPr>
            <a:r>
              <a:t>Xác minh 1 tệp = 0.02 ms (nhanh hơn ~8.5 lần so với Flat SHA-256 0.17 ms); Bằng chứng = 1.369 Byte (tiết kiệm 98.8% băng thông so với 111.13 KB manifest); Cập nhật động khi Thêm/Xóa = 0.10 - 0.16 ms (nhanh hơn 458 - 708 lần so với Standard Merkle ~71-73 ms Rebuild mảng 1D).</a:t>
            </a:r>
          </a:p>
          <a:p>
            <a:pPr>
              <a:spcBef>
                <a:spcPts val="300"/>
              </a:spcBef>
              <a:defRPr b="1" sz="850">
                <a:solidFill>
                  <a:srgbClr val="2563EB"/>
                </a:solidFill>
              </a:defRPr>
            </a:pPr>
            <a:r>
              <a:t>• 3. Giải thích ngắn gọn lý do vì sao tốt hơn (Có bằng chứng chứng minh):</a:t>
            </a:r>
          </a:p>
          <a:p>
            <a:pPr>
              <a:spcBef>
                <a:spcPts val="100"/>
              </a:spcBef>
              <a:defRPr sz="800">
                <a:solidFill>
                  <a:srgbClr val="0F172A"/>
                </a:solidFill>
              </a:defRPr>
            </a:pPr>
            <a:r>
              <a:t>Nhanh hơn khi Thêm/Xóa vì HD-Merkle chỉ cập nhật nhánh thư mục cục bộ O(log N) thay vì Rebuild toàn bộ O(N) của implementation Standard Merkle mảng 1D; Tiết kiệm 98.8% băng thông và bảo vệ 100% tính riêng tư vì chỉ truyền các nút anh em, không tiết lộ 999 tệp còn lại qua mạng.</a:t>
            </a:r>
          </a:p>
        </p:txBody>
      </p:sp>
      <p:sp>
        <p:nvSpPr>
          <p:cNvPr id="9" name="Rounded Rectangle 8"/>
          <p:cNvSpPr/>
          <p:nvPr/>
        </p:nvSpPr>
        <p:spPr>
          <a:xfrm>
            <a:off x="6675120" y="1234440"/>
            <a:ext cx="475488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1417320"/>
            <a:ext cx="4297680" cy="685800"/>
          </a:xfrm>
          <a:prstGeom prst="rect">
            <a:avLst/>
          </a:prstGeom>
          <a:noFill/>
        </p:spPr>
        <p:txBody>
          <a:bodyPr wrap="square">
            <a:spAutoFit/>
          </a:bodyPr>
          <a:lstStyle/>
          <a:p>
            <a:pPr>
              <a:defRPr b="1" sz="1100">
                <a:solidFill>
                  <a:srgbClr val="1E3A8A"/>
                </a:solidFill>
              </a:defRPr>
            </a:pPr>
            <a:r>
              <a:t>BIỂU ĐỒ THỰC NGHIỆM ĐỐI ĐẦU 4 CƠ CHẾ BẢO MẬT (1.000 TỆP)</a:t>
            </a:r>
          </a:p>
          <a:p>
            <a:pPr>
              <a:defRPr sz="850">
                <a:solidFill>
                  <a:srgbClr val="64748B"/>
                </a:solidFill>
              </a:defRPr>
            </a:pPr>
            <a:r>
              <a:t>Số liệu đo lường trung bình qua 5 vòng lặp độc lập (perf_counter)</a:t>
            </a:r>
          </a:p>
        </p:txBody>
      </p:sp>
      <p:graphicFrame>
        <p:nvGraphicFramePr>
          <p:cNvPr id="11" name="Chart 10"/>
          <p:cNvGraphicFramePr>
            <a:graphicFrameLocks noGrp="1"/>
          </p:cNvGraphicFramePr>
          <p:nvPr/>
        </p:nvGraphicFramePr>
        <p:xfrm>
          <a:off x="6903720" y="2148840"/>
          <a:ext cx="4297680" cy="4069080"/>
        </p:xfrm>
        <a:graphic>
          <a:graphicData uri="http://schemas.openxmlformats.org/drawingml/2006/chart">
            <c:chart xmlns:c="http://schemas.openxmlformats.org/drawingml/2006/chart" r:id="rId2"/>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4C: TRỤ CỘT II - MÔ PHỎNG AN NINH HÌNH THỨC (HƯỚNG 2)</a:t>
            </a:r>
          </a:p>
          <a:p>
            <a:pPr>
              <a:spcBef>
                <a:spcPts val="200"/>
              </a:spcBef>
              <a:defRPr b="1" sz="1700">
                <a:solidFill>
                  <a:srgbClr val="FFFFFF"/>
                </a:solidFill>
              </a:defRPr>
            </a:pPr>
            <a:r>
              <a:t>13. Khung 7 Trò Chơi An Ninh Mật Mã Học (Games 1 – 4: Va Chạm, Mạng, Nút &amp; Tuyết Lở)</a:t>
            </a:r>
          </a:p>
        </p:txBody>
      </p:sp>
      <p:sp>
        <p:nvSpPr>
          <p:cNvPr id="6" name="Rounded Rectangle 5"/>
          <p:cNvSpPr/>
          <p:nvPr/>
        </p:nvSpPr>
        <p:spPr>
          <a:xfrm>
            <a:off x="731520" y="1234440"/>
            <a:ext cx="530352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846320" cy="4800600"/>
          </a:xfrm>
          <a:prstGeom prst="rect">
            <a:avLst/>
          </a:prstGeom>
          <a:noFill/>
        </p:spPr>
        <p:txBody>
          <a:bodyPr wrap="square">
            <a:spAutoFit/>
          </a:bodyPr>
          <a:lstStyle/>
          <a:p>
            <a:pPr>
              <a:spcAft>
                <a:spcPts val="800"/>
              </a:spcAft>
              <a:defRPr b="1" sz="1200">
                <a:solidFill>
                  <a:srgbClr val="1E3A8A"/>
                </a:solidFill>
              </a:defRPr>
            </a:pPr>
            <a:r>
              <a:t>Bốn Mô Hình Kiểm Định Toán Học Đối Kháng (Games 1 – 4)</a:t>
            </a:r>
          </a:p>
          <a:p>
            <a:pPr>
              <a:defRPr b="1" sz="790">
                <a:solidFill>
                  <a:srgbClr val="2563EB"/>
                </a:solidFill>
              </a:defRPr>
            </a:pPr>
            <a:r>
              <a:t>• Game 1: Chống tấn công tìm va chạm mã băm (PPT Adversary):</a:t>
            </a:r>
          </a:p>
          <a:p>
            <a:pPr>
              <a:spcBef>
                <a:spcPts val="150"/>
              </a:spcBef>
              <a:defRPr sz="740">
                <a:solidFill>
                  <a:srgbClr val="0F172A"/>
                </a:solidFill>
              </a:defRPr>
            </a:pPr>
            <a:r>
              <a:t>1. Ý nghĩa: Kẻ tấn công có năng lực tính toán ngẫu nhiên nhưng bị giới hạn về thời gian và tài nguyên (đa thức).</a:t>
            </a:r>
            <a:br/>
            <a:r>
              <a:t>2. Cách tấn công: Cố tìm 2 tệp khác nhau A != B sao cho SHA256(A) = SHA256(B) để đánh lừa hệ thống.</a:t>
            </a:r>
            <a:br/>
            <a:r>
              <a:t>3. Cách phòng thủ: SHA-256 (256-bit). Tìm va chạm ngẫu nhiên đòi hỏi ~2^128 phép băm theo Birthday bound.</a:t>
            </a:r>
            <a:br/>
            <a:r>
              <a:t>4. Kết quả: Thử nghiệm 50 lượt ngẫu nhiên: Kẻ thù thắng 0/50 (0.0%), lợi thế đối thủ Adv &lt;= 2^-128.</a:t>
            </a:r>
          </a:p>
          <a:p>
            <a:pPr>
              <a:spcBef>
                <a:spcPts val="500"/>
              </a:spcBef>
              <a:defRPr b="1" sz="790">
                <a:solidFill>
                  <a:srgbClr val="2563EB"/>
                </a:solidFill>
              </a:defRPr>
            </a:pPr>
            <a:r>
              <a:t>• Game 2: Chống kẻ tấn công đường truyền mạng (Dolev–Yao Adversary):</a:t>
            </a:r>
          </a:p>
          <a:p>
            <a:pPr>
              <a:spcBef>
                <a:spcPts val="150"/>
              </a:spcBef>
              <a:defRPr sz="740">
                <a:solidFill>
                  <a:srgbClr val="0F172A"/>
                </a:solidFill>
              </a:defRPr>
            </a:pPr>
            <a:r>
              <a:t>1. Ý nghĩa: Kẻ tấn công có quyền nghe lén, chặn, sửa đổi hoặc thay thế gói tin truyền giữa Server và Client.</a:t>
            </a:r>
            <a:br/>
            <a:r>
              <a:t>2. Cách tấn công: (1) Sửa nội dung tệp; (2) Thay đổi mã băm trong Proof; (3) Tráo đường dẫn tệp.</a:t>
            </a:r>
            <a:br/>
            <a:r>
              <a:t>3. Cách phòng thủ: Client lưu Root Hash tin cậy; tự băm tệp và lần ngược lên Root Hash theo chuỗi Proof.</a:t>
            </a:r>
            <a:br/>
            <a:r>
              <a:t>4. Kết quả: Phát hiện chính xác 100% mọi hành vi can thiệp làm sai lệch Root Hash.</a:t>
            </a:r>
          </a:p>
          <a:p>
            <a:pPr>
              <a:spcBef>
                <a:spcPts val="500"/>
              </a:spcBef>
              <a:defRPr b="1" sz="790">
                <a:solidFill>
                  <a:srgbClr val="2563EB"/>
                </a:solidFill>
              </a:defRPr>
            </a:pPr>
            <a:r>
              <a:t>• Game 3: Chống giả mạo nút lá và nút nhánh (Second-Preimage &amp; Domain Separation):</a:t>
            </a:r>
          </a:p>
          <a:p>
            <a:pPr>
              <a:spcBef>
                <a:spcPts val="150"/>
              </a:spcBef>
              <a:defRPr sz="740">
                <a:solidFill>
                  <a:srgbClr val="0F172A"/>
                </a:solidFill>
              </a:defRPr>
            </a:pPr>
            <a:r>
              <a:t>1. Ý nghĩa: Merkle Tree gồm nút lá (tệp dữ liệu) và nút nhánh (ghép băm); nếu không tách biệt sẽ bị đánh tráo.</a:t>
            </a:r>
            <a:br/>
            <a:r>
              <a:t>2. Cách tấn công: Tạo tệp chứa chuỗi ghép Left || Right nhằm lừa hệ thống coi tệp rác là một nút lá.</a:t>
            </a:r>
            <a:br/>
            <a:r>
              <a:t>3. Cách phòng thủ: Chuẩn RFC 6962: H_leaf = SHA256(0x00 || Data), H_branch = SHA256(0x01 || L || R).</a:t>
            </a:r>
            <a:br/>
            <a:r>
              <a:t>4. Kết quả: Hai miền tiền tố độc lập hoàn toàn, triệt tiêu 100% việc nhầm lẫn giữa lá và nhánh.</a:t>
            </a:r>
          </a:p>
          <a:p>
            <a:pPr>
              <a:spcBef>
                <a:spcPts val="500"/>
              </a:spcBef>
              <a:defRPr b="1" sz="790">
                <a:solidFill>
                  <a:srgbClr val="2563EB"/>
                </a:solidFill>
              </a:defRPr>
            </a:pPr>
            <a:r>
              <a:t>• Game 4: Kiểm tra hiệu ứng tuyết lở (Avalanche Effect):</a:t>
            </a:r>
          </a:p>
          <a:p>
            <a:pPr>
              <a:spcBef>
                <a:spcPts val="150"/>
              </a:spcBef>
              <a:defRPr sz="740">
                <a:solidFill>
                  <a:srgbClr val="0F172A"/>
                </a:solidFill>
              </a:defRPr>
            </a:pPr>
            <a:r>
              <a:t>1. Ý nghĩa: Thay đổi một phần rất nhỏ đầu vào thì mã băm đầu ra phải biến đổi ngẫu nhiên rất mạnh.</a:t>
            </a:r>
            <a:br/>
            <a:r>
              <a:t>2. Cách tấn công: Đảo 1 bit trong tệp rồi so sánh mã băm trước và sau để dò tìm quy luật tương quan.</a:t>
            </a:r>
            <a:br/>
            <a:r>
              <a:t>3. Cách phòng thủ: Đo khoảng cách Hamming; tỷ lệ bit thay đổi kỳ vọng xấp xỉ 50% (Shannon Diffusion).</a:t>
            </a:r>
            <a:br/>
            <a:r>
              <a:t>4. Kết quả: Thực nghiệm đo được 50.39% ≈ 50%, phù hợp hoàn hảo với đặc tính khuếch tán của SHA-256.</a:t>
            </a:r>
          </a:p>
        </p:txBody>
      </p:sp>
      <p:sp>
        <p:nvSpPr>
          <p:cNvPr id="8" name="Rounded Rectangle 7"/>
          <p:cNvSpPr/>
          <p:nvPr/>
        </p:nvSpPr>
        <p:spPr>
          <a:xfrm>
            <a:off x="6217920" y="1234440"/>
            <a:ext cx="521208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417320"/>
            <a:ext cx="4754880" cy="457200"/>
          </a:xfrm>
          <a:prstGeom prst="rect">
            <a:avLst/>
          </a:prstGeom>
          <a:noFill/>
        </p:spPr>
        <p:txBody>
          <a:bodyPr wrap="square">
            <a:spAutoFit/>
          </a:bodyPr>
          <a:lstStyle/>
          <a:p>
            <a:pPr>
              <a:defRPr b="1" sz="1050">
                <a:solidFill>
                  <a:srgbClr val="1E3A8A"/>
                </a:solidFill>
              </a:defRPr>
            </a:pPr>
            <a:r>
              <a:t>KẾT QUẢ THỰC NGHIỆM 4 MÔ HÌNH ĐỐI KHÁNG ĐẦU TIÊN (GAMES 1 - 4)</a:t>
            </a:r>
          </a:p>
        </p:txBody>
      </p:sp>
      <p:sp>
        <p:nvSpPr>
          <p:cNvPr id="10" name="Rounded Rectangle 9"/>
          <p:cNvSpPr/>
          <p:nvPr/>
        </p:nvSpPr>
        <p:spPr>
          <a:xfrm>
            <a:off x="6446520" y="1856232"/>
            <a:ext cx="4754880" cy="105156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2563EB"/>
                </a:solidFill>
              </a:defRPr>
            </a:pPr>
            <a:r>
              <a:t>GAME 1: KẺ TẤN CÔNG TÍNH TOÁN PPT (GOLDWASSER-MICALI)</a:t>
            </a:r>
          </a:p>
          <a:p>
            <a:pPr>
              <a:spcBef>
                <a:spcPts val="200"/>
              </a:spcBef>
              <a:defRPr sz="780">
                <a:solidFill>
                  <a:srgbClr val="0F172A"/>
                </a:solidFill>
              </a:defRPr>
            </a:pPr>
            <a:r>
              <a:t>• Năng lực: Thuật toán thời gian đa thức ngẫu nhiên.</a:t>
            </a:r>
            <a:br/>
            <a:r>
              <a:t>• Kết quả: Kẻ thù thắng 0/50 lượt. Lợi thế Adv(A) = 0.0 &lt;= 2^-128. ĐẠT AN TOÀN.</a:t>
            </a:r>
          </a:p>
        </p:txBody>
      </p:sp>
      <p:sp>
        <p:nvSpPr>
          <p:cNvPr id="11" name="Rounded Rectangle 10"/>
          <p:cNvSpPr/>
          <p:nvPr/>
        </p:nvSpPr>
        <p:spPr>
          <a:xfrm>
            <a:off x="6446520" y="2999232"/>
            <a:ext cx="4754880" cy="1051560"/>
          </a:xfrm>
          <a:prstGeom prst="roundRect">
            <a:avLst/>
          </a:prstGeom>
          <a:solidFill>
            <a:srgbClr val="FAF5FF"/>
          </a:solidFill>
          <a:ln w="1524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7E22CE"/>
                </a:solidFill>
              </a:defRPr>
            </a:pPr>
            <a:r>
              <a:t>GAME 2: KẺ TẤN CÔNG ĐƯỜNG TRUYỀN DOLEV-YAO</a:t>
            </a:r>
          </a:p>
          <a:p>
            <a:pPr>
              <a:spcBef>
                <a:spcPts val="200"/>
              </a:spcBef>
              <a:defRPr sz="780">
                <a:solidFill>
                  <a:srgbClr val="0F172A"/>
                </a:solidFill>
              </a:defRPr>
            </a:pPr>
            <a:r>
              <a:t>• Năng lực: Can thiệp gói tin, tráo đổi Merkle Proof, Replay Attack.</a:t>
            </a:r>
            <a:br/>
            <a:r>
              <a:t>• Kết quả: Phát hiện 100% mọi nỗ lực can thiệp và làm lệch Root Hash. ĐẠT AN TOÀN.</a:t>
            </a:r>
          </a:p>
        </p:txBody>
      </p:sp>
      <p:sp>
        <p:nvSpPr>
          <p:cNvPr id="12" name="Rounded Rectangle 11"/>
          <p:cNvSpPr/>
          <p:nvPr/>
        </p:nvSpPr>
        <p:spPr>
          <a:xfrm>
            <a:off x="6446520" y="4142232"/>
            <a:ext cx="4754880" cy="105156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D97706"/>
                </a:solidFill>
              </a:defRPr>
            </a:pPr>
            <a:r>
              <a:t>GAME 3: KHÁNG TIỀN ẢNH CẤP HAI (RFC 6962 DOMAIN SEPARATION)</a:t>
            </a:r>
          </a:p>
          <a:p>
            <a:pPr>
              <a:spcBef>
                <a:spcPts val="200"/>
              </a:spcBef>
              <a:defRPr sz="780">
                <a:solidFill>
                  <a:srgbClr val="0F172A"/>
                </a:solidFill>
              </a:defRPr>
            </a:pPr>
            <a:r>
              <a:t>• Năng lực: Tráo đổi nút lá và nút nhánh để đánh lừa máy khách.</a:t>
            </a:r>
            <a:br/>
            <a:r>
              <a:t>• Kết quả: Tiền tố 0x00 lá và 0x01 nhánh triệt tiêu 100% va chạm tiền ảnh cấp hai.</a:t>
            </a:r>
          </a:p>
        </p:txBody>
      </p:sp>
      <p:sp>
        <p:nvSpPr>
          <p:cNvPr id="13" name="Rounded Rectangle 12"/>
          <p:cNvSpPr/>
          <p:nvPr/>
        </p:nvSpPr>
        <p:spPr>
          <a:xfrm>
            <a:off x="6446520" y="5285232"/>
            <a:ext cx="4754880" cy="1051560"/>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GAME 4: HIỆU ỨNG TUYẾT LỞ &amp; RANDOM ORACLE (SHANNON DIFFUSION)</a:t>
            </a:r>
          </a:p>
          <a:p>
            <a:pPr>
              <a:spcBef>
                <a:spcPts val="200"/>
              </a:spcBef>
              <a:defRPr sz="780">
                <a:solidFill>
                  <a:srgbClr val="0F172A"/>
                </a:solidFill>
              </a:defRPr>
            </a:pPr>
            <a:r>
              <a:t>• Năng lực: Đảo 1 bit đầu vào để tìm kiếm tương quan tuyến tính mã băm.</a:t>
            </a:r>
            <a:br/>
            <a:r>
              <a:t>• Kết quả: Tỷ lệ đổi bit 50.39% xấp xỉ mức lý tưởng 50.0%. ĐẠT KHUẾCH TÁN HOÀN HẢO.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4C: TRỤ CỘT II - MÔ PHỎNG AN NINH HÌNH THỨC (HƯỚNG 2)</a:t>
            </a:r>
          </a:p>
          <a:p>
            <a:pPr>
              <a:spcBef>
                <a:spcPts val="200"/>
              </a:spcBef>
              <a:defRPr b="1" sz="1700">
                <a:solidFill>
                  <a:srgbClr val="FFFFFF"/>
                </a:solidFill>
              </a:defRPr>
            </a:pPr>
            <a:r>
              <a:t>14. Khung 7 Trò Chơi An Ninh Mật Mã Học (Games 5 – 7 &amp; Bảng Tổng Kết)</a:t>
            </a:r>
          </a:p>
        </p:txBody>
      </p:sp>
      <p:sp>
        <p:nvSpPr>
          <p:cNvPr id="6" name="Rounded Rectangle 5"/>
          <p:cNvSpPr/>
          <p:nvPr/>
        </p:nvSpPr>
        <p:spPr>
          <a:xfrm>
            <a:off x="731520" y="1234440"/>
            <a:ext cx="502920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572000" cy="4800600"/>
          </a:xfrm>
          <a:prstGeom prst="rect">
            <a:avLst/>
          </a:prstGeom>
          <a:noFill/>
        </p:spPr>
        <p:txBody>
          <a:bodyPr wrap="square">
            <a:spAutoFit/>
          </a:bodyPr>
          <a:lstStyle/>
          <a:p>
            <a:pPr>
              <a:spcAft>
                <a:spcPts val="800"/>
              </a:spcAft>
              <a:defRPr b="1" sz="1200">
                <a:solidFill>
                  <a:srgbClr val="1E3A8A"/>
                </a:solidFill>
              </a:defRPr>
            </a:pPr>
            <a:r>
              <a:t>Ba Mô Hình Kiểm Định Nâng Cao (Games 5 – 7)</a:t>
            </a:r>
          </a:p>
          <a:p>
            <a:pPr>
              <a:defRPr b="1" sz="790">
                <a:solidFill>
                  <a:srgbClr val="2563EB"/>
                </a:solidFill>
              </a:defRPr>
            </a:pPr>
            <a:r>
              <a:t>• Game 5: Bảo vệ tính nhất quán lịch sử (Append-Only Consistency Proof):</a:t>
            </a:r>
          </a:p>
          <a:p>
            <a:pPr>
              <a:spcBef>
                <a:spcPts val="150"/>
              </a:spcBef>
              <a:defRPr sz="740">
                <a:solidFill>
                  <a:srgbClr val="0F172A"/>
                </a:solidFill>
              </a:defRPr>
            </a:pPr>
            <a:r>
              <a:t>1. Ý nghĩa: Kiểm tra dữ liệu cũ có được giữ nguyên khi hệ thống bổ sung dữ liệu mới hay không.</a:t>
            </a:r>
            <a:br/>
            <a:r>
              <a:t>2. Cách tấn công: Server sửa 1 tệp cũ trong 950 tệp, thêm 50 tệp mới thành 1.000 tệp rồi tuyên bố lịch sử nguyên vẹn.</a:t>
            </a:r>
            <a:br/>
            <a:r>
              <a:t>3. Cách phòng thủ: Consistency Proof RFC 6962 chứng minh cây cũ m=950 là tiền tố bất biến của cây mới n=1.000.</a:t>
            </a:r>
            <a:br/>
            <a:r>
              <a:t>4. Kết quả: Nếu dữ liệu cũ bị sửa, bằng chứng nhất quán bị từ chối ngay lập tức.</a:t>
            </a:r>
          </a:p>
          <a:p>
            <a:pPr>
              <a:spcBef>
                <a:spcPts val="500"/>
              </a:spcBef>
              <a:defRPr b="1" sz="790">
                <a:solidFill>
                  <a:srgbClr val="2563EB"/>
                </a:solidFill>
              </a:defRPr>
            </a:pPr>
            <a:r>
              <a:t>• Game 6: Chống trích xuất dữ liệu nhạy cảm từ RAM (Memory-Dump Adversary):</a:t>
            </a:r>
          </a:p>
          <a:p>
            <a:pPr>
              <a:spcBef>
                <a:spcPts val="150"/>
              </a:spcBef>
              <a:defRPr sz="740">
                <a:solidFill>
                  <a:srgbClr val="0F172A"/>
                </a:solidFill>
              </a:defRPr>
            </a:pPr>
            <a:r>
              <a:t>1. Ý nghĩa: Kẻ tấn công đọc trộm RAM sau khi chương trình chạy để tìm khóa bí mật hoặc dữ liệu nhạy cảm.</a:t>
            </a:r>
            <a:br/>
            <a:r>
              <a:t>2. Cách tấn công: Dump bộ nhớ tiến trình và tìm kiếm khóa còn vương lại trong bộ nhớ đệm.</a:t>
            </a:r>
            <a:br/>
            <a:r>
              <a:t>3. Cách phòng thủ: Memory Zeroization: lưu khóa trong bytearray, chủ động ghi đè bằng 0x00 qua secure_erase().</a:t>
            </a:r>
            <a:br/>
            <a:r>
              <a:t>4. Lưu ý Python: gc.collect() thu hồi biến nhưng trong runtime không bảo đảm xóa sạch tuyệt đối mọi bản sao.</a:t>
            </a:r>
          </a:p>
          <a:p>
            <a:pPr>
              <a:spcBef>
                <a:spcPts val="500"/>
              </a:spcBef>
              <a:defRPr b="1" sz="790">
                <a:solidFill>
                  <a:srgbClr val="2563EB"/>
                </a:solidFill>
              </a:defRPr>
            </a:pPr>
            <a:r>
              <a:t>• Game 7: Chống tấn công đo thời gian &amp; Giảm rò rỉ siêu dữ liệu:</a:t>
            </a:r>
          </a:p>
          <a:p>
            <a:pPr>
              <a:spcBef>
                <a:spcPts val="150"/>
              </a:spcBef>
              <a:defRPr sz="740">
                <a:solidFill>
                  <a:srgbClr val="0F172A"/>
                </a:solidFill>
              </a:defRPr>
            </a:pPr>
            <a:r>
              <a:t>Phần A (Timing Side-Channel): Không dùng toán tử == (dừng sớm theo ký tự sai). Sử dụng hmac.compare_digest() để thời gian so sánh chuỗi là hằng số O(1).</a:t>
            </a:r>
            <a:br/>
            <a:r>
              <a:t>Phần B (Metadata Leakage): Thay vì tải toàn bộ 111 KB manifest chứa tên 1.000 tệp, Merkle Proof chỉ gửi mã băm anh em cần thiết, bảo vệ tính riêng tư của 999 tệp còn lại.</a:t>
            </a:r>
          </a:p>
        </p:txBody>
      </p:sp>
      <p:sp>
        <p:nvSpPr>
          <p:cNvPr id="8" name="Rounded Rectangle 7"/>
          <p:cNvSpPr/>
          <p:nvPr/>
        </p:nvSpPr>
        <p:spPr>
          <a:xfrm>
            <a:off x="5943600" y="1234440"/>
            <a:ext cx="5486400"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035040" y="1325880"/>
          <a:ext cx="5303520" cy="3108960"/>
        </p:xfrm>
        <a:graphic>
          <a:graphicData uri="http://schemas.openxmlformats.org/drawingml/2006/table">
            <a:tbl>
              <a:tblPr firstRow="1" bandRow="1">
                <a:tableStyleId>{5C22544A-7EE6-4342-B048-85BDC9FD1C3A}</a:tableStyleId>
              </a:tblPr>
              <a:tblGrid>
                <a:gridCol w="868680"/>
                <a:gridCol w="2331720"/>
                <a:gridCol w="2103120"/>
              </a:tblGrid>
              <a:tr h="388620">
                <a:tc>
                  <a:txBody>
                    <a:bodyPr/>
                    <a:lstStyle/>
                    <a:p>
                      <a:pPr algn="ctr">
                        <a:defRPr b="1" sz="919">
                          <a:solidFill>
                            <a:srgbClr val="FFFFFF"/>
                          </a:solidFill>
                        </a:defRPr>
                      </a:pPr>
                      <a:r>
                        <a:t>Game</a:t>
                      </a:r>
                    </a:p>
                  </a:txBody>
                  <a:tcPr>
                    <a:solidFill>
                      <a:srgbClr val="1E3A8A"/>
                    </a:solidFill>
                  </a:tcPr>
                </a:tc>
                <a:tc>
                  <a:txBody>
                    <a:bodyPr/>
                    <a:lstStyle/>
                    <a:p>
                      <a:pPr algn="ctr">
                        <a:defRPr b="1" sz="919">
                          <a:solidFill>
                            <a:srgbClr val="FFFFFF"/>
                          </a:solidFill>
                        </a:defRPr>
                      </a:pPr>
                      <a:r>
                        <a:t>Mục Tiêu Bảo Mật</a:t>
                      </a:r>
                    </a:p>
                  </a:txBody>
                  <a:tcPr>
                    <a:solidFill>
                      <a:srgbClr val="1E3A8A"/>
                    </a:solidFill>
                  </a:tcPr>
                </a:tc>
                <a:tc>
                  <a:txBody>
                    <a:bodyPr/>
                    <a:lstStyle/>
                    <a:p>
                      <a:pPr algn="ctr">
                        <a:defRPr b="1" sz="919">
                          <a:solidFill>
                            <a:srgbClr val="FFFFFF"/>
                          </a:solidFill>
                        </a:defRPr>
                      </a:pPr>
                      <a:r>
                        <a:t>Cơ Chế Chính Triển Khai</a:t>
                      </a:r>
                    </a:p>
                  </a:txBody>
                  <a:tcPr>
                    <a:solidFill>
                      <a:srgbClr val="1E3A8A"/>
                    </a:solidFill>
                  </a:tcPr>
                </a:tc>
              </a:tr>
              <a:tr h="388620">
                <a:tc>
                  <a:txBody>
                    <a:bodyPr/>
                    <a:lstStyle/>
                    <a:p>
                      <a:pPr algn="ctr">
                        <a:defRPr sz="819" b="1">
                          <a:solidFill>
                            <a:srgbClr val="2563EB"/>
                          </a:solidFill>
                        </a:defRPr>
                      </a:pPr>
                      <a:r>
                        <a:t>Game 1</a:t>
                      </a:r>
                    </a:p>
                  </a:txBody>
                  <a:tcPr>
                    <a:solidFill>
                      <a:srgbClr val="F8FAFC"/>
                    </a:solidFill>
                  </a:tcPr>
                </a:tc>
                <a:tc>
                  <a:txBody>
                    <a:bodyPr/>
                    <a:lstStyle/>
                    <a:p>
                      <a:pPr>
                        <a:defRPr sz="819">
                          <a:solidFill>
                            <a:srgbClr val="0F172A"/>
                          </a:solidFill>
                        </a:defRPr>
                      </a:pPr>
                      <a:r>
                        <a:t>Chống tìm hai dữ liệu cùng mã băm</a:t>
                      </a:r>
                    </a:p>
                  </a:txBody>
                  <a:tcPr>
                    <a:solidFill>
                      <a:srgbClr val="F8FAFC"/>
                    </a:solidFill>
                  </a:tcPr>
                </a:tc>
                <a:tc>
                  <a:txBody>
                    <a:bodyPr/>
                    <a:lstStyle/>
                    <a:p>
                      <a:pPr>
                        <a:defRPr sz="819">
                          <a:solidFill>
                            <a:srgbClr val="0F172A"/>
                          </a:solidFill>
                        </a:defRPr>
                      </a:pPr>
                      <a:r>
                        <a:t>SHA-256 (Adv &lt;= 2^-128)</a:t>
                      </a:r>
                    </a:p>
                  </a:txBody>
                  <a:tcPr>
                    <a:solidFill>
                      <a:srgbClr val="F8FAFC"/>
                    </a:solidFill>
                  </a:tcPr>
                </a:tc>
              </a:tr>
              <a:tr h="388620">
                <a:tc>
                  <a:txBody>
                    <a:bodyPr/>
                    <a:lstStyle/>
                    <a:p>
                      <a:pPr algn="ctr">
                        <a:defRPr sz="819" b="1">
                          <a:solidFill>
                            <a:srgbClr val="2563EB"/>
                          </a:solidFill>
                        </a:defRPr>
                      </a:pPr>
                      <a:r>
                        <a:t>Game 2</a:t>
                      </a:r>
                    </a:p>
                  </a:txBody>
                  <a:tcPr>
                    <a:solidFill>
                      <a:srgbClr val="FFFFFF"/>
                    </a:solidFill>
                  </a:tcPr>
                </a:tc>
                <a:tc>
                  <a:txBody>
                    <a:bodyPr/>
                    <a:lstStyle/>
                    <a:p>
                      <a:pPr>
                        <a:defRPr sz="819">
                          <a:solidFill>
                            <a:srgbClr val="0F172A"/>
                          </a:solidFill>
                        </a:defRPr>
                      </a:pPr>
                      <a:r>
                        <a:t>Phát hiện dữ liệu bị sửa khi truyền</a:t>
                      </a:r>
                    </a:p>
                  </a:txBody>
                  <a:tcPr>
                    <a:solidFill>
                      <a:srgbClr val="FFFFFF"/>
                    </a:solidFill>
                  </a:tcPr>
                </a:tc>
                <a:tc>
                  <a:txBody>
                    <a:bodyPr/>
                    <a:lstStyle/>
                    <a:p>
                      <a:pPr>
                        <a:defRPr sz="819">
                          <a:solidFill>
                            <a:srgbClr val="0F172A"/>
                          </a:solidFill>
                        </a:defRPr>
                      </a:pPr>
                      <a:r>
                        <a:t>Merkle Proof + Root Hash tin cậy</a:t>
                      </a:r>
                    </a:p>
                  </a:txBody>
                  <a:tcPr>
                    <a:solidFill>
                      <a:srgbClr val="FFFFFF"/>
                    </a:solidFill>
                  </a:tcPr>
                </a:tc>
              </a:tr>
              <a:tr h="388620">
                <a:tc>
                  <a:txBody>
                    <a:bodyPr/>
                    <a:lstStyle/>
                    <a:p>
                      <a:pPr algn="ctr">
                        <a:defRPr sz="819" b="1">
                          <a:solidFill>
                            <a:srgbClr val="2563EB"/>
                          </a:solidFill>
                        </a:defRPr>
                      </a:pPr>
                      <a:r>
                        <a:t>Game 3</a:t>
                      </a:r>
                    </a:p>
                  </a:txBody>
                  <a:tcPr>
                    <a:solidFill>
                      <a:srgbClr val="F8FAFC"/>
                    </a:solidFill>
                  </a:tcPr>
                </a:tc>
                <a:tc>
                  <a:txBody>
                    <a:bodyPr/>
                    <a:lstStyle/>
                    <a:p>
                      <a:pPr>
                        <a:defRPr sz="819">
                          <a:solidFill>
                            <a:srgbClr val="0F172A"/>
                          </a:solidFill>
                        </a:defRPr>
                      </a:pPr>
                      <a:r>
                        <a:t>Phân biệt nút lá và nút nhánh</a:t>
                      </a:r>
                    </a:p>
                  </a:txBody>
                  <a:tcPr>
                    <a:solidFill>
                      <a:srgbClr val="F8FAFC"/>
                    </a:solidFill>
                  </a:tcPr>
                </a:tc>
                <a:tc>
                  <a:txBody>
                    <a:bodyPr/>
                    <a:lstStyle/>
                    <a:p>
                      <a:pPr>
                        <a:defRPr sz="819">
                          <a:solidFill>
                            <a:srgbClr val="0F172A"/>
                          </a:solidFill>
                        </a:defRPr>
                      </a:pPr>
                      <a:r>
                        <a:t>Domain Separation (0x00 / 0x01)</a:t>
                      </a:r>
                    </a:p>
                  </a:txBody>
                  <a:tcPr>
                    <a:solidFill>
                      <a:srgbClr val="F8FAFC"/>
                    </a:solidFill>
                  </a:tcPr>
                </a:tc>
              </a:tr>
              <a:tr h="388620">
                <a:tc>
                  <a:txBody>
                    <a:bodyPr/>
                    <a:lstStyle/>
                    <a:p>
                      <a:pPr algn="ctr">
                        <a:defRPr sz="819" b="1">
                          <a:solidFill>
                            <a:srgbClr val="2563EB"/>
                          </a:solidFill>
                        </a:defRPr>
                      </a:pPr>
                      <a:r>
                        <a:t>Game 4</a:t>
                      </a:r>
                    </a:p>
                  </a:txBody>
                  <a:tcPr>
                    <a:solidFill>
                      <a:srgbClr val="FFFFFF"/>
                    </a:solidFill>
                  </a:tcPr>
                </a:tc>
                <a:tc>
                  <a:txBody>
                    <a:bodyPr/>
                    <a:lstStyle/>
                    <a:p>
                      <a:pPr>
                        <a:defRPr sz="819">
                          <a:solidFill>
                            <a:srgbClr val="0F172A"/>
                          </a:solidFill>
                        </a:defRPr>
                      </a:pPr>
                      <a:r>
                        <a:t>Kiểm tra mức độ thay đổi mã băm</a:t>
                      </a:r>
                    </a:p>
                  </a:txBody>
                  <a:tcPr>
                    <a:solidFill>
                      <a:srgbClr val="FFFFFF"/>
                    </a:solidFill>
                  </a:tcPr>
                </a:tc>
                <a:tc>
                  <a:txBody>
                    <a:bodyPr/>
                    <a:lstStyle/>
                    <a:p>
                      <a:pPr>
                        <a:defRPr sz="819">
                          <a:solidFill>
                            <a:srgbClr val="0F172A"/>
                          </a:solidFill>
                        </a:defRPr>
                      </a:pPr>
                      <a:r>
                        <a:t>Avalanche Effect (50.39% ≈ 50%)</a:t>
                      </a:r>
                    </a:p>
                  </a:txBody>
                  <a:tcPr>
                    <a:solidFill>
                      <a:srgbClr val="FFFFFF"/>
                    </a:solidFill>
                  </a:tcPr>
                </a:tc>
              </a:tr>
              <a:tr h="388620">
                <a:tc>
                  <a:txBody>
                    <a:bodyPr/>
                    <a:lstStyle/>
                    <a:p>
                      <a:pPr algn="ctr">
                        <a:defRPr sz="819" b="1">
                          <a:solidFill>
                            <a:srgbClr val="2563EB"/>
                          </a:solidFill>
                        </a:defRPr>
                      </a:pPr>
                      <a:r>
                        <a:t>Game 5</a:t>
                      </a:r>
                    </a:p>
                  </a:txBody>
                  <a:tcPr>
                    <a:solidFill>
                      <a:srgbClr val="F8FAFC"/>
                    </a:solidFill>
                  </a:tcPr>
                </a:tc>
                <a:tc>
                  <a:txBody>
                    <a:bodyPr/>
                    <a:lstStyle/>
                    <a:p>
                      <a:pPr>
                        <a:defRPr sz="819">
                          <a:solidFill>
                            <a:srgbClr val="0F172A"/>
                          </a:solidFill>
                        </a:defRPr>
                      </a:pPr>
                      <a:r>
                        <a:t>Kiểm tra nhất quán qua các lần cập nhật</a:t>
                      </a:r>
                    </a:p>
                  </a:txBody>
                  <a:tcPr>
                    <a:solidFill>
                      <a:srgbClr val="F8FAFC"/>
                    </a:solidFill>
                  </a:tcPr>
                </a:tc>
                <a:tc>
                  <a:txBody>
                    <a:bodyPr/>
                    <a:lstStyle/>
                    <a:p>
                      <a:pPr>
                        <a:defRPr sz="819">
                          <a:solidFill>
                            <a:srgbClr val="0F172A"/>
                          </a:solidFill>
                        </a:defRPr>
                      </a:pPr>
                      <a:r>
                        <a:t>Consistency Proof RFC 6962</a:t>
                      </a:r>
                    </a:p>
                  </a:txBody>
                  <a:tcPr>
                    <a:solidFill>
                      <a:srgbClr val="F8FAFC"/>
                    </a:solidFill>
                  </a:tcPr>
                </a:tc>
              </a:tr>
              <a:tr h="388620">
                <a:tc>
                  <a:txBody>
                    <a:bodyPr/>
                    <a:lstStyle/>
                    <a:p>
                      <a:pPr algn="ctr">
                        <a:defRPr sz="819" b="1">
                          <a:solidFill>
                            <a:srgbClr val="2563EB"/>
                          </a:solidFill>
                        </a:defRPr>
                      </a:pPr>
                      <a:r>
                        <a:t>Game 6</a:t>
                      </a:r>
                    </a:p>
                  </a:txBody>
                  <a:tcPr>
                    <a:solidFill>
                      <a:srgbClr val="FFFFFF"/>
                    </a:solidFill>
                  </a:tcPr>
                </a:tc>
                <a:tc>
                  <a:txBody>
                    <a:bodyPr/>
                    <a:lstStyle/>
                    <a:p>
                      <a:pPr>
                        <a:defRPr sz="819">
                          <a:solidFill>
                            <a:srgbClr val="0F172A"/>
                          </a:solidFill>
                        </a:defRPr>
                      </a:pPr>
                      <a:r>
                        <a:t>Hạn chế dữ liệu nhạy cảm trong RAM</a:t>
                      </a:r>
                    </a:p>
                  </a:txBody>
                  <a:tcPr>
                    <a:solidFill>
                      <a:srgbClr val="FFFFFF"/>
                    </a:solidFill>
                  </a:tcPr>
                </a:tc>
                <a:tc>
                  <a:txBody>
                    <a:bodyPr/>
                    <a:lstStyle/>
                    <a:p>
                      <a:pPr>
                        <a:defRPr sz="819">
                          <a:solidFill>
                            <a:srgbClr val="0F172A"/>
                          </a:solidFill>
                        </a:defRPr>
                      </a:pPr>
                      <a:r>
                        <a:t>Memory Zeroization (secure_erase)</a:t>
                      </a:r>
                    </a:p>
                  </a:txBody>
                  <a:tcPr>
                    <a:solidFill>
                      <a:srgbClr val="FFFFFF"/>
                    </a:solidFill>
                  </a:tcPr>
                </a:tc>
              </a:tr>
              <a:tr h="388620">
                <a:tc>
                  <a:txBody>
                    <a:bodyPr/>
                    <a:lstStyle/>
                    <a:p>
                      <a:pPr algn="ctr">
                        <a:defRPr sz="819" b="1">
                          <a:solidFill>
                            <a:srgbClr val="2563EB"/>
                          </a:solidFill>
                        </a:defRPr>
                      </a:pPr>
                      <a:r>
                        <a:t>Game 7</a:t>
                      </a:r>
                    </a:p>
                  </a:txBody>
                  <a:tcPr>
                    <a:solidFill>
                      <a:srgbClr val="F8FAFC"/>
                    </a:solidFill>
                  </a:tcPr>
                </a:tc>
                <a:tc>
                  <a:txBody>
                    <a:bodyPr/>
                    <a:lstStyle/>
                    <a:p>
                      <a:pPr>
                        <a:defRPr sz="819">
                          <a:solidFill>
                            <a:srgbClr val="0F172A"/>
                          </a:solidFill>
                        </a:defRPr>
                      </a:pPr>
                      <a:r>
                        <a:t>Giảm rò rỉ thời gian &amp; siêu dữ liệu</a:t>
                      </a:r>
                    </a:p>
                  </a:txBody>
                  <a:tcPr>
                    <a:solidFill>
                      <a:srgbClr val="F8FAFC"/>
                    </a:solidFill>
                  </a:tcPr>
                </a:tc>
                <a:tc>
                  <a:txBody>
                    <a:bodyPr/>
                    <a:lstStyle/>
                    <a:p>
                      <a:pPr>
                        <a:defRPr sz="819">
                          <a:solidFill>
                            <a:srgbClr val="0F172A"/>
                          </a:solidFill>
                        </a:defRPr>
                      </a:pPr>
                      <a:r>
                        <a:t>hmac.compare_digest() + Merkle Proof</a:t>
                      </a:r>
                    </a:p>
                  </a:txBody>
                  <a:tcPr>
                    <a:solidFill>
                      <a:srgbClr val="F8FAFC"/>
                    </a:solidFill>
                  </a:tcPr>
                </a:tc>
              </a:tr>
            </a:tbl>
          </a:graphicData>
        </a:graphic>
      </p:graphicFrame>
      <p:sp>
        <p:nvSpPr>
          <p:cNvPr id="10" name="Rounded Rectangle 9"/>
          <p:cNvSpPr/>
          <p:nvPr/>
        </p:nvSpPr>
        <p:spPr>
          <a:xfrm>
            <a:off x="5943600" y="4663440"/>
            <a:ext cx="5486400" cy="1828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4736592"/>
            <a:ext cx="5212080" cy="1691640"/>
          </a:xfrm>
          <a:prstGeom prst="rect">
            <a:avLst/>
          </a:prstGeom>
          <a:noFill/>
        </p:spPr>
        <p:txBody>
          <a:bodyPr wrap="square">
            <a:spAutoFit/>
          </a:bodyPr>
          <a:lstStyle/>
          <a:p>
            <a:pPr>
              <a:defRPr b="1" sz="950">
                <a:solidFill>
                  <a:srgbClr val="1E3A8A"/>
                </a:solidFill>
              </a:defRPr>
            </a:pPr>
            <a:r>
              <a:t>Lưu Ý Phương Pháp Luận Khi Báo Cáo:</a:t>
            </a:r>
          </a:p>
          <a:p>
            <a:pPr>
              <a:spcBef>
                <a:spcPts val="250"/>
              </a:spcBef>
              <a:defRPr sz="780">
                <a:solidFill>
                  <a:srgbClr val="0F172A"/>
                </a:solidFill>
              </a:defRPr>
            </a:pPr>
            <a:r>
              <a:t>• Mục đích: 7 mô hình được xây dựng để kiểm thử các khía cạnh bảo mật đối kháng khác nhau theo luận điểm của Harry Halpin (2025).</a:t>
            </a:r>
          </a:p>
          <a:p>
            <a:pPr>
              <a:spcBef>
                <a:spcPts val="250"/>
              </a:spcBef>
              <a:defRPr sz="780">
                <a:solidFill>
                  <a:srgbClr val="0F172A"/>
                </a:solidFill>
              </a:defRPr>
            </a:pPr>
            <a:r>
              <a:t>• Đối chiếu mã nguồn: Được triển khai và chạy độc lập qua tệp src/proposed_model/security_games.py, không gộp chung benchmark.</a:t>
            </a:r>
          </a:p>
          <a:p>
            <a:pPr>
              <a:spcBef>
                <a:spcPts val="250"/>
              </a:spcBef>
              <a:defRPr sz="780">
                <a:solidFill>
                  <a:srgbClr val="0F172A"/>
                </a:solidFill>
              </a:defRPr>
            </a:pPr>
            <a:r>
              <a:t>• Đánh giá khách quan: Phân biệt rõ giữa cơ chế lý thuyết toán học và kết quả đo đạc thực nghiệm cụ thể trên môi trường Python.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TRÌNH DIỄN THỰC TẾ VÀ TỔNG KẾT</a:t>
            </a:r>
          </a:p>
          <a:p>
            <a:pPr>
              <a:spcBef>
                <a:spcPts val="200"/>
              </a:spcBef>
              <a:defRPr b="1" sz="1700">
                <a:solidFill>
                  <a:srgbClr val="FFFFFF"/>
                </a:solidFill>
              </a:defRPr>
            </a:pPr>
            <a:r>
              <a:t>15. Kịch Bản Thao Tác Trình Diễn Trên Giao Diện Web Trực Quan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Các Bước Thao Tác Trình Diễn Trước Hội Đồng</a:t>
            </a:r>
          </a:p>
          <a:p>
            <a:pPr>
              <a:defRPr b="1" sz="1000">
                <a:solidFill>
                  <a:srgbClr val="2563EB"/>
                </a:solidFill>
              </a:defRPr>
            </a:pPr>
            <a:r>
              <a:t>• Khởi động hệ thống nhanh chóng:</a:t>
            </a:r>
          </a:p>
          <a:p>
            <a:pPr>
              <a:spcBef>
                <a:spcPts val="150"/>
              </a:spcBef>
              <a:defRPr sz="950">
                <a:solidFill>
                  <a:srgbClr val="0F172A"/>
                </a:solidFill>
              </a:defRPr>
            </a:pPr>
            <a:r>
              <a:t>Chỉ cần nhấp đúp tệp run_demo_web.bat trên màn hình máy tính. Trình duyệt web sẽ tự động mở trang điều khiển tại địa chỉ nội bộ http://127.0.0.1:8080.</a:t>
            </a:r>
          </a:p>
          <a:p>
            <a:pPr>
              <a:spcBef>
                <a:spcPts val="500"/>
              </a:spcBef>
              <a:defRPr b="1" sz="1000">
                <a:solidFill>
                  <a:srgbClr val="2563EB"/>
                </a:solidFill>
              </a:defRPr>
            </a:pPr>
            <a:r>
              <a:t>• Bước 1: Nạp 1.000 tệp tin dữ liệu gốc ban đầu:</a:t>
            </a:r>
          </a:p>
          <a:p>
            <a:pPr>
              <a:spcBef>
                <a:spcPts val="150"/>
              </a:spcBef>
              <a:defRPr sz="950">
                <a:solidFill>
                  <a:srgbClr val="0F172A"/>
                </a:solidFill>
              </a:defRPr>
            </a:pPr>
            <a:r>
              <a:t>Nhấp nút Nạp dữ liệu để hệ thống quét toàn bộ 1.000 tệp tin nguyên bản từ thư mục realistic_dataset và tạo chuỗi băm gốc 32 byte.</a:t>
            </a:r>
          </a:p>
          <a:p>
            <a:pPr>
              <a:spcBef>
                <a:spcPts val="500"/>
              </a:spcBef>
              <a:defRPr b="1" sz="1000">
                <a:solidFill>
                  <a:srgbClr val="2563EB"/>
                </a:solidFill>
              </a:defRPr>
            </a:pPr>
            <a:r>
              <a:t>• Bước 2: Mô phỏng hành vi Kẻ tấn công mạng:</a:t>
            </a:r>
          </a:p>
          <a:p>
            <a:pPr>
              <a:spcBef>
                <a:spcPts val="150"/>
              </a:spcBef>
              <a:defRPr sz="950">
                <a:solidFill>
                  <a:srgbClr val="0F172A"/>
                </a:solidFill>
              </a:defRPr>
            </a:pPr>
            <a:r>
              <a:t>1. Nhấp Đảo 1 bit ngẫu nhiên để mô phỏng dữ liệu bị sửa đổi ngầm.</a:t>
            </a:r>
            <a:br/>
            <a:r>
              <a:t>2. Nhấp Chèn tệp lạ để mô phỏng tin tặc tải mã độc lên máy chủ.</a:t>
            </a:r>
            <a:br/>
            <a:r>
              <a:t>3. Nhấp Xóa lén tệp tin để mô phỏng hành vi xóa dữ liệu phá hoại.</a:t>
            </a:r>
          </a:p>
          <a:p>
            <a:pPr>
              <a:spcBef>
                <a:spcPts val="500"/>
              </a:spcBef>
              <a:defRPr b="1" sz="1000">
                <a:solidFill>
                  <a:srgbClr val="2563EB"/>
                </a:solidFill>
              </a:defRPr>
            </a:pPr>
            <a:r>
              <a:t>• Bước 3: Kiểm tra và định vị lỗi tức thì:</a:t>
            </a:r>
          </a:p>
          <a:p>
            <a:pPr>
              <a:spcBef>
                <a:spcPts val="150"/>
              </a:spcBef>
              <a:defRPr sz="950">
                <a:solidFill>
                  <a:srgbClr val="0F172A"/>
                </a:solidFill>
              </a:defRPr>
            </a:pPr>
            <a:r>
              <a:t>Nhấp Chạy kiểm tra toàn vẹn. Hệ thống lập tức chỉ đúng tên tệp bị can thiệp, hiển thị tỷ lệ nguyên vẹn và tốc độ xử lý hơn 4.000 tệp mỗi giây.</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371600"/>
            <a:ext cx="5029200" cy="685800"/>
          </a:xfrm>
          <a:prstGeom prst="rect">
            <a:avLst/>
          </a:prstGeom>
          <a:noFill/>
        </p:spPr>
        <p:txBody>
          <a:bodyPr wrap="square">
            <a:spAutoFit/>
          </a:bodyPr>
          <a:lstStyle/>
          <a:p>
            <a:pPr>
              <a:defRPr b="1" sz="950">
                <a:solidFill>
                  <a:srgbClr val="059669"/>
                </a:solidFill>
              </a:defRPr>
            </a:pPr>
            <a:r>
              <a:t>[ ẢNH CHỤP HỆ THỐNG THỰC TẾ ]</a:t>
            </a:r>
          </a:p>
          <a:p>
            <a:pPr>
              <a:spcBef>
                <a:spcPts val="200"/>
              </a:spcBef>
              <a:defRPr b="1" sz="1100">
                <a:solidFill>
                  <a:srgbClr val="1E3A8A"/>
                </a:solidFill>
              </a:defRPr>
            </a:pPr>
            <a:r>
              <a:t>Cửa sổ Terminal thật: Bộ kiểm thử an ninh mật mã (17/17 PASS)</a:t>
            </a:r>
          </a:p>
          <a:p>
            <a:pPr>
              <a:spcBef>
                <a:spcPts val="200"/>
              </a:spcBef>
              <a:defRPr sz="850">
                <a:solidFill>
                  <a:srgbClr val="64748B"/>
                </a:solidFill>
              </a:defRPr>
            </a:pPr>
            <a:r>
              <a:t>Thực thi python -m unittest discover -s src/tests -v: Toàn bộ 17 ca kiểm thử an ninh (sửa, thêm, xóa, RFC 6962) đều vượt qua 100%.</a:t>
            </a:r>
          </a:p>
        </p:txBody>
      </p:sp>
      <p:pic>
        <p:nvPicPr>
          <p:cNvPr id="10" name="Picture 9" descr="terminal_cli.png"/>
          <p:cNvPicPr>
            <a:picLocks noChangeAspect="1"/>
          </p:cNvPicPr>
          <p:nvPr/>
        </p:nvPicPr>
        <p:blipFill>
          <a:blip r:embed="rId2"/>
          <a:stretch>
            <a:fillRect/>
          </a:stretch>
        </p:blipFill>
        <p:spPr>
          <a:xfrm>
            <a:off x="6217920" y="2148840"/>
            <a:ext cx="5029200" cy="420624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TRÌNH DIỄN THỰC TẾ VÀ TỔNG KẾT</a:t>
            </a:r>
          </a:p>
          <a:p>
            <a:pPr>
              <a:spcBef>
                <a:spcPts val="200"/>
              </a:spcBef>
              <a:defRPr b="1" sz="1700">
                <a:solidFill>
                  <a:srgbClr val="FFFFFF"/>
                </a:solidFill>
              </a:defRPr>
            </a:pPr>
            <a:r>
              <a:t>16. Bảng Điều Khiển Biểu Đồ Đo Đạc Trực Quan Hóa Động</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Trực Quan Hóa Biểu Đồ Khoa Học Hoạt Động Ngoại Tuyến</a:t>
            </a:r>
          </a:p>
          <a:p>
            <a:pPr>
              <a:defRPr b="1" sz="1000">
                <a:solidFill>
                  <a:srgbClr val="2563EB"/>
                </a:solidFill>
              </a:defRPr>
            </a:pPr>
            <a:r>
              <a:t>• Hoạt động hoàn toàn ngoại tuyến:</a:t>
            </a:r>
          </a:p>
          <a:p>
            <a:pPr>
              <a:spcBef>
                <a:spcPts val="150"/>
              </a:spcBef>
              <a:defRPr sz="950">
                <a:solidFill>
                  <a:srgbClr val="0F172A"/>
                </a:solidFill>
              </a:defRPr>
            </a:pPr>
            <a:r>
              <a:t>Hệ thống tích hợp sẵn thư viện vẽ biểu đồ nội bộ, không cần kết nối mạng Internet vẫn hiển thị mượt mà và trực quan khi báo cáo trước hội đồng.</a:t>
            </a:r>
          </a:p>
          <a:p>
            <a:pPr>
              <a:spcBef>
                <a:spcPts val="500"/>
              </a:spcBef>
              <a:defRPr b="1" sz="1000">
                <a:solidFill>
                  <a:srgbClr val="2563EB"/>
                </a:solidFill>
              </a:defRPr>
            </a:pPr>
            <a:r>
              <a:t>• 4 Biểu đồ phân tích khoa học chuyên sâu:</a:t>
            </a:r>
          </a:p>
          <a:p>
            <a:pPr>
              <a:spcBef>
                <a:spcPts val="150"/>
              </a:spcBef>
              <a:defRPr sz="950">
                <a:solidFill>
                  <a:srgbClr val="0F172A"/>
                </a:solidFill>
              </a:defRPr>
            </a:pPr>
            <a:r>
              <a:t>1. Biểu đồ so sánh thời gian khởi tạo và xác minh của 4 mô hình trên 1.000 tệp tin.</a:t>
            </a:r>
            <a:br/>
            <a:r>
              <a:t>2. Biểu đồ chi phí cập nhật khi sửa 1 tệp tin phản hồi tức thì theo chiều cao cây.</a:t>
            </a:r>
            <a:br/>
            <a:r>
              <a:t>3. Biểu đồ dung lượng bảng băm và kích thước bằng chứng gửi qua mạng.</a:t>
            </a:r>
            <a:br/>
            <a:r>
              <a:t>4. Biểu đồ kiểm tra khả năng mở rộng quy mô từ 50 tệp lên 1.000 tệp tin.</a:t>
            </a:r>
          </a:p>
          <a:p>
            <a:pPr>
              <a:spcBef>
                <a:spcPts val="500"/>
              </a:spcBef>
              <a:defRPr b="1" sz="1000">
                <a:solidFill>
                  <a:srgbClr val="2563EB"/>
                </a:solidFill>
              </a:defRPr>
            </a:pPr>
            <a:r>
              <a:t>• Đo lường thời gian thực:</a:t>
            </a:r>
          </a:p>
          <a:p>
            <a:pPr>
              <a:spcBef>
                <a:spcPts val="150"/>
              </a:spcBef>
              <a:defRPr sz="950">
                <a:solidFill>
                  <a:srgbClr val="0F172A"/>
                </a:solidFill>
              </a:defRPr>
            </a:pPr>
            <a:r>
              <a:t>Khi nhấp Đo lường và cập nhật lại biểu đồ ngay, hệ thống sẽ chạy đo đạc trực tiếp trên máy và vẽ kết quả tức thì.</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685800"/>
          </a:xfrm>
          <a:prstGeom prst="rect">
            <a:avLst/>
          </a:prstGeom>
          <a:noFill/>
        </p:spPr>
        <p:txBody>
          <a:bodyPr wrap="square">
            <a:spAutoFit/>
          </a:bodyPr>
          <a:lstStyle/>
          <a:p>
            <a:pPr>
              <a:defRPr b="1" sz="1100">
                <a:solidFill>
                  <a:srgbClr val="1E3A8A"/>
                </a:solidFill>
              </a:defRPr>
            </a:pPr>
            <a:r>
              <a:t>BIỂU ĐỒ BĂNG THÔNG MẠNG: DUNG LƯỢNG BẰNG CHỨNG XÁC THỰC (BYTES)</a:t>
            </a:r>
          </a:p>
          <a:p>
            <a:pPr>
              <a:defRPr sz="850">
                <a:solidFill>
                  <a:srgbClr val="64748B"/>
                </a:solidFill>
              </a:defRPr>
            </a:pPr>
            <a:r>
              <a:t>So sánh lượng dữ liệu truyền qua mạng khi xác minh 1 tệp tin (Ít hơn là tốt hơn)</a:t>
            </a:r>
          </a:p>
        </p:txBody>
      </p:sp>
      <p:graphicFrame>
        <p:nvGraphicFramePr>
          <p:cNvPr id="10" name="Chart 9"/>
          <p:cNvGraphicFramePr>
            <a:graphicFrameLocks noGrp="1"/>
          </p:cNvGraphicFramePr>
          <p:nvPr/>
        </p:nvGraphicFramePr>
        <p:xfrm>
          <a:off x="6263640" y="2148840"/>
          <a:ext cx="4937760" cy="4069080"/>
        </p:xfrm>
        <a:graphic>
          <a:graphicData uri="http://schemas.openxmlformats.org/drawingml/2006/chart">
            <c:chart xmlns:c="http://schemas.openxmlformats.org/drawingml/2006/chart" r:id="rId2"/>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TRÌNH DIỄN THỰC TẾ VÀ TỔNG KẾT</a:t>
            </a:r>
          </a:p>
          <a:p>
            <a:pPr>
              <a:spcBef>
                <a:spcPts val="200"/>
              </a:spcBef>
              <a:defRPr b="1" sz="1700">
                <a:solidFill>
                  <a:srgbClr val="FFFFFF"/>
                </a:solidFill>
              </a:defRPr>
            </a:pPr>
            <a:r>
              <a:t>17. Tổng Kết Đóng Góp Khoa Học Và Giá Trị Thực Tiễn Của Đồ Án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Những Đóng Góp Nổi Bật Đạt Được Trong Đồ Án</a:t>
            </a:r>
          </a:p>
          <a:p>
            <a:pPr>
              <a:defRPr b="1" sz="950">
                <a:solidFill>
                  <a:srgbClr val="2563EB"/>
                </a:solidFill>
              </a:defRPr>
            </a:pPr>
            <a:r>
              <a:t>• 1. Hoàn thành toàn diện việc nghiên cứu bài báo tiếng Anh gốc:</a:t>
            </a:r>
          </a:p>
          <a:p>
            <a:pPr>
              <a:spcBef>
                <a:spcPts val="150"/>
              </a:spcBef>
              <a:defRPr sz="900">
                <a:solidFill>
                  <a:srgbClr val="0F172A"/>
                </a:solidFill>
              </a:defRPr>
            </a:pPr>
            <a:r>
              <a:t>Dịch thuật học thuật toàn văn bài báo của Harry Halpin (2025), đối chiếu 100% các luận điểm về Kẻ thù mật mã, hiệu ứng tuyết lở SHA-256, nguyên lý Kerckhoffs và kiểm định PPT.</a:t>
            </a:r>
          </a:p>
          <a:p>
            <a:pPr>
              <a:spcBef>
                <a:spcPts val="500"/>
              </a:spcBef>
              <a:defRPr b="1" sz="950">
                <a:solidFill>
                  <a:srgbClr val="2563EB"/>
                </a:solidFill>
              </a:defRPr>
            </a:pPr>
            <a:r>
              <a:t>• 2. Triển khai 3 Trụ cột phương pháp luận độc lập chuẩn mực:</a:t>
            </a:r>
          </a:p>
          <a:p>
            <a:pPr>
              <a:spcBef>
                <a:spcPts val="150"/>
              </a:spcBef>
              <a:defRPr sz="900">
                <a:solidFill>
                  <a:srgbClr val="0F172A"/>
                </a:solidFill>
              </a:defRPr>
            </a:pPr>
            <a:r>
              <a:t>Tách bạch rõ ràng 3 hướng: Kỹ thuật hệ thống PoC (hd_merkle_tree.py), Mô phỏng 7 Game an toàn mật mã học (security_games.py) và Thực nghiệm quy mô lớn 1.000 tệp tin.</a:t>
            </a:r>
          </a:p>
          <a:p>
            <a:pPr>
              <a:spcBef>
                <a:spcPts val="500"/>
              </a:spcBef>
              <a:defRPr b="1" sz="950">
                <a:solidFill>
                  <a:srgbClr val="2563EB"/>
                </a:solidFill>
              </a:defRPr>
            </a:pPr>
            <a:r>
              <a:t>• 3. Đối chuẩn đầy đủ 3 mô hình nền tảng:</a:t>
            </a:r>
          </a:p>
          <a:p>
            <a:pPr>
              <a:spcBef>
                <a:spcPts val="150"/>
              </a:spcBef>
              <a:defRPr sz="900">
                <a:solidFill>
                  <a:srgbClr val="0F172A"/>
                </a:solidFill>
              </a:defRPr>
            </a:pPr>
            <a:r>
              <a:t>Hiện thực hóa và đo đạc đầy đủ các cơ chế danh sách SHA-256, HMAC và cây Merkle nhị phân truyền thống trên 1.000 tệp tin.</a:t>
            </a:r>
          </a:p>
          <a:p>
            <a:pPr>
              <a:spcBef>
                <a:spcPts val="500"/>
              </a:spcBef>
              <a:defRPr b="1" sz="950">
                <a:solidFill>
                  <a:srgbClr val="2563EB"/>
                </a:solidFill>
              </a:defRPr>
            </a:pPr>
            <a:r>
              <a:t>• 4. Phát triển thành công mô hình cải tiến có dẫn chứng chứng minh:</a:t>
            </a:r>
          </a:p>
          <a:p>
            <a:pPr>
              <a:spcBef>
                <a:spcPts val="150"/>
              </a:spcBef>
              <a:defRPr sz="900">
                <a:solidFill>
                  <a:srgbClr val="0F172A"/>
                </a:solidFill>
              </a:defRPr>
            </a:pPr>
            <a:r>
              <a:t>Đề xuất mô hình HD-MerkleTree kết hợp chuẩn tiền tố RFC 6962, xác minh nhanh hơn ~8.5 lần, thêm/xóa nhanh hơn 458 - 708 lần so với Rebuild mảng 1D, tiết kiệm hơn 98.8% băng thông và có bằng chứng nhất quán độc lập.</a:t>
            </a:r>
          </a:p>
          <a:p>
            <a:pPr>
              <a:spcBef>
                <a:spcPts val="500"/>
              </a:spcBef>
              <a:defRPr b="1" sz="950">
                <a:solidFill>
                  <a:srgbClr val="2563EB"/>
                </a:solidFill>
              </a:defRPr>
            </a:pPr>
            <a:r>
              <a:t>• 5. Đóng gói sản phẩm hoàn chỉnh:</a:t>
            </a:r>
          </a:p>
          <a:p>
            <a:pPr>
              <a:spcBef>
                <a:spcPts val="150"/>
              </a:spcBef>
              <a:defRPr sz="900">
                <a:solidFill>
                  <a:srgbClr val="0F172A"/>
                </a:solidFill>
              </a:defRPr>
            </a:pPr>
            <a:r>
              <a:t>Bộ slide báo cáo chặt chẽ cùng ứng dụng web demo trực quan sẵn sàng trình diễn trước hội đồng.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chu trình khép kín 4 khối đóng góp &amp; Định hướng phát triển</a:t>
            </a:r>
          </a:p>
          <a:p>
            <a:pPr>
              <a:defRPr b="1" sz="950">
                <a:solidFill>
                  <a:srgbClr val="64748B"/>
                </a:solidFill>
              </a:defRPr>
            </a:pPr>
            <a:r>
              <a:t>Gợi ý các thành phần cần thiết kế trên Draw.io:</a:t>
            </a:r>
          </a:p>
          <a:p>
            <a:pPr>
              <a:spcBef>
                <a:spcPts val="400"/>
              </a:spcBef>
              <a:defRPr sz="880">
                <a:solidFill>
                  <a:srgbClr val="0F172A"/>
                </a:solidFill>
              </a:defRPr>
            </a:pPr>
            <a:r>
              <a:t>• Khối 1 (Khoa học): Hoàn thiện khoảng trống thực nghiệm của bài báo Oxford Cybersecurity 2025.</a:t>
            </a:r>
          </a:p>
          <a:p>
            <a:pPr>
              <a:spcBef>
                <a:spcPts val="400"/>
              </a:spcBef>
              <a:defRPr sz="880">
                <a:solidFill>
                  <a:srgbClr val="0F172A"/>
                </a:solidFill>
              </a:defRPr>
            </a:pPr>
            <a:r>
              <a:t>• Khối 2 (Hiệu năng): Cập nhật Dirty-Path O(log N) chỉ tốn 0.16 ms (nhanh hơn 458 lần so với Rebuild 73 ms).</a:t>
            </a:r>
          </a:p>
          <a:p>
            <a:pPr>
              <a:spcBef>
                <a:spcPts val="400"/>
              </a:spcBef>
              <a:defRPr sz="880">
                <a:solidFill>
                  <a:srgbClr val="0F172A"/>
                </a:solidFill>
              </a:defRPr>
            </a:pPr>
            <a:r>
              <a:t>• Khối 3 (An ninh): Vượt qua 100% 7 Security Games toán học và 17/17 Unit Tests tự động.</a:t>
            </a:r>
          </a:p>
          <a:p>
            <a:pPr>
              <a:spcBef>
                <a:spcPts val="400"/>
              </a:spcBef>
              <a:defRPr sz="880">
                <a:solidFill>
                  <a:srgbClr val="0F172A"/>
                </a:solidFill>
              </a:defRPr>
            </a:pPr>
            <a:r>
              <a:t>• Khối 4 (Ứng dụng): Web Demo trực quan, CLI độc lập, tích hợp kiểm tra toàn vẹn phân tán.</a:t>
            </a:r>
          </a:p>
          <a:p>
            <a:pPr>
              <a:spcBef>
                <a:spcPts val="400"/>
              </a:spcBef>
              <a:defRPr sz="880">
                <a:solidFill>
                  <a:srgbClr val="0F172A"/>
                </a:solidFill>
              </a:defRPr>
            </a:pPr>
            <a:r>
              <a:t>• Lộ trình tương lai: Tích hợp Bằng chứng Không Tri thức (Zero-Knowledge Proofs) và Sổ cái phân tán.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