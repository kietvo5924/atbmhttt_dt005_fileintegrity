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Standard Merkle (ms)</c:v>
                </c:pt>
              </c:strCache>
            </c:strRef>
          </c:tx>
          <c:cat>
            <c:strRef>
              <c:f>Sheet1!$A$2:$A$4</c:f>
              <c:strCache>
                <c:ptCount val="3"/>
                <c:pt idx="0">
                  <c:v>Sửa tệp (Modify)</c:v>
                </c:pt>
                <c:pt idx="1">
                  <c:v>Thêm tệp (Add)</c:v>
                </c:pt>
                <c:pt idx="2">
                  <c:v>Xóa tệp (Delete)</c:v>
                </c:pt>
              </c:strCache>
            </c:strRef>
          </c:cat>
          <c:val>
            <c:numRef>
              <c:f>Sheet1!$B$2:$B$4</c:f>
              <c:numCache>
                <c:formatCode>General</c:formatCode>
                <c:ptCount val="3"/>
                <c:pt idx="0">
                  <c:v>0.14</c:v>
                </c:pt>
                <c:pt idx="1">
                  <c:v>73.42</c:v>
                </c:pt>
                <c:pt idx="2">
                  <c:v>70.81</c:v>
                </c:pt>
              </c:numCache>
            </c:numRef>
          </c:val>
        </c:ser>
        <c:ser>
          <c:idx val="1"/>
          <c:order val="1"/>
          <c:tx>
            <c:strRef>
              <c:f>Sheet1!$C$1</c:f>
              <c:strCache>
                <c:ptCount val="1"/>
                <c:pt idx="0">
                  <c:v>HD-MerkleTree (ms)</c:v>
                </c:pt>
              </c:strCache>
            </c:strRef>
          </c:tx>
          <c:cat>
            <c:strRef>
              <c:f>Sheet1!$A$2:$A$4</c:f>
              <c:strCache>
                <c:ptCount val="3"/>
                <c:pt idx="0">
                  <c:v>Sửa tệp (Modify)</c:v>
                </c:pt>
                <c:pt idx="1">
                  <c:v>Thêm tệp (Add)</c:v>
                </c:pt>
                <c:pt idx="2">
                  <c:v>Xóa tệp (Delete)</c:v>
                </c:pt>
              </c:strCache>
            </c:strRef>
          </c:cat>
          <c:val>
            <c:numRef>
              <c:f>Sheet1!$C$2:$C$4</c:f>
              <c:numCache>
                <c:formatCode>General</c:formatCode>
                <c:ptCount val="3"/>
                <c:pt idx="0">
                  <c:v>0.14</c:v>
                </c:pt>
                <c:pt idx="1">
                  <c:v>0.16</c:v>
                </c:pt>
                <c:pt idx="2">
                  <c:v>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Khởi tạo Build (ms)</c:v>
                </c:pt>
              </c:strCache>
            </c:strRef>
          </c:tx>
          <c:cat>
            <c:strRef>
              <c:f>Sheet1!$A$2:$A$5</c:f>
              <c:strCache>
                <c:ptCount val="4"/>
                <c:pt idx="0">
                  <c:v>Flat SHA</c:v>
                </c:pt>
                <c:pt idx="1">
                  <c:v>HMAC</c:v>
                </c:pt>
                <c:pt idx="2">
                  <c:v>Std Merkle</c:v>
                </c:pt>
                <c:pt idx="3">
                  <c:v>HD-Merkle</c:v>
                </c:pt>
              </c:strCache>
            </c:strRef>
          </c:cat>
          <c:val>
            <c:numRef>
              <c:f>Sheet1!$B$2:$B$5</c:f>
              <c:numCache>
                <c:formatCode>General</c:formatCode>
                <c:ptCount val="4"/>
                <c:pt idx="0">
                  <c:v>62.58</c:v>
                </c:pt>
                <c:pt idx="1">
                  <c:v>60.65</c:v>
                </c:pt>
                <c:pt idx="2">
                  <c:v>60.72</c:v>
                </c:pt>
                <c:pt idx="3">
                  <c:v>89.91</c:v>
                </c:pt>
              </c:numCache>
            </c:numRef>
          </c:val>
        </c:ser>
        <c:ser>
          <c:idx val="1"/>
          <c:order val="1"/>
          <c:tx>
            <c:strRef>
              <c:f>Sheet1!$C$1</c:f>
              <c:strCache>
                <c:ptCount val="1"/>
                <c:pt idx="0">
                  <c:v>Xác minh 1 tệp (ms)</c:v>
                </c:pt>
              </c:strCache>
            </c:strRef>
          </c:tx>
          <c:cat>
            <c:strRef>
              <c:f>Sheet1!$A$2:$A$5</c:f>
              <c:strCache>
                <c:ptCount val="4"/>
                <c:pt idx="0">
                  <c:v>Flat SHA</c:v>
                </c:pt>
                <c:pt idx="1">
                  <c:v>HMAC</c:v>
                </c:pt>
                <c:pt idx="2">
                  <c:v>Std Merkle</c:v>
                </c:pt>
                <c:pt idx="3">
                  <c:v>HD-Merkle</c:v>
                </c:pt>
              </c:strCache>
            </c:strRef>
          </c:cat>
          <c:val>
            <c:numRef>
              <c:f>Sheet1!$C$2:$C$5</c:f>
              <c:numCache>
                <c:formatCode>General</c:formatCode>
                <c:ptCount val="4"/>
                <c:pt idx="0">
                  <c:v>0.17</c:v>
                </c:pt>
                <c:pt idx="1">
                  <c:v>0.07</c:v>
                </c:pt>
                <c:pt idx="2">
                  <c:v>0.02</c:v>
                </c:pt>
                <c:pt idx="3">
                  <c:v>0.02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Kích thước Proof (Bytes)</c:v>
                </c:pt>
              </c:strCache>
            </c:strRef>
          </c:tx>
          <c:cat>
            <c:strRef>
              <c:f>Sheet1!$A$2:$A$5</c:f>
              <c:strCache>
                <c:ptCount val="4"/>
                <c:pt idx="0">
                  <c:v>Flat SHA</c:v>
                </c:pt>
                <c:pt idx="1">
                  <c:v>HMAC</c:v>
                </c:pt>
                <c:pt idx="2">
                  <c:v>Std Merkle</c:v>
                </c:pt>
                <c:pt idx="3">
                  <c:v>HD-Merkle</c:v>
                </c:pt>
              </c:strCache>
            </c:strRef>
          </c:cat>
          <c:val>
            <c:numRef>
              <c:f>Sheet1!$B$2:$B$5</c:f>
              <c:numCache>
                <c:formatCode>General</c:formatCode>
                <c:ptCount val="4"/>
                <c:pt idx="0">
                  <c:v>113802</c:v>
                </c:pt>
                <c:pt idx="1">
                  <c:v>113807</c:v>
                </c:pt>
                <c:pt idx="2">
                  <c:v>990</c:v>
                </c:pt>
                <c:pt idx="3">
                  <c:v>1369</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822960"/>
            <a:ext cx="10362895" cy="53035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b="1" sz="1350">
                <a:solidFill>
                  <a:srgbClr val="1E3A8A"/>
                </a:solidFill>
              </a:defRPr>
            </a:pPr>
            <a:r>
              <a:t>TRƯỜNG ĐẠI HỌC TÀI NGUYÊN VÀ MÔI TRƯỜNG TP. HỒ CHÍ MINH</a:t>
            </a:r>
          </a:p>
          <a:p>
            <a:pPr algn="ctr">
              <a:spcAft>
                <a:spcPts val="1400"/>
              </a:spcAft>
              <a:defRPr b="1" sz="1200">
                <a:solidFill>
                  <a:srgbClr val="2563EB"/>
                </a:solidFill>
              </a:defRPr>
            </a:pPr>
            <a:r>
              <a:t>KHOA CÔNG NGHỆ THÔNG TIN</a:t>
            </a:r>
          </a:p>
          <a:p>
            <a:pPr algn="ctr">
              <a:defRPr b="1" sz="2200">
                <a:solidFill>
                  <a:srgbClr val="DC2626"/>
                </a:solidFill>
              </a:defRPr>
            </a:pPr>
            <a:r>
              <a:t>BÁO CÁO THUYẾT TRÌNH ĐỒ ÁN GIỮA KỲ</a:t>
            </a:r>
          </a:p>
          <a:p>
            <a:pPr algn="ctr">
              <a:spcAft>
                <a:spcPts val="1000"/>
              </a:spcAft>
              <a:defRPr b="1" sz="1550">
                <a:solidFill>
                  <a:srgbClr val="1E3A8A"/>
                </a:solidFill>
              </a:defRPr>
            </a:pPr>
            <a:r>
              <a:t>ĐỀ TÀI DT005: HỆ THỐNG KIỂM TRA TOÀN VẸN TỆP BẰNG SHA-256, HMAC VÀ CÂY MERKLE</a:t>
            </a:r>
          </a:p>
          <a:p>
            <a:pPr algn="ctr">
              <a:defRPr b="1" sz="1200">
                <a:solidFill>
                  <a:srgbClr val="0F172A"/>
                </a:solidFill>
              </a:defRPr>
            </a:pPr>
            <a:r>
              <a:t>Học phần: An Toàn và Bảo Mật Hệ Thống Thông Tin</a:t>
            </a:r>
          </a:p>
          <a:p>
            <a:pPr algn="ctr">
              <a:spcAft>
                <a:spcPts val="1200"/>
              </a:spcAft>
              <a:defRPr b="1" sz="1250">
                <a:solidFill>
                  <a:srgbClr val="1E3A8A"/>
                </a:solidFill>
              </a:defRPr>
            </a:pPr>
            <a:r>
              <a:t>Giảng viên hướng dẫn: ThS. Phạm Trọng Huynh</a:t>
            </a:r>
            <a:br/>
            <a:r>
              <a:t>Sinh viên thực hiện: Võ Anh Kiệt  —  MSSV: 1150080143  —  Lớp: 11_CNPM2</a:t>
            </a:r>
          </a:p>
          <a:p>
            <a:pPr algn="ctr">
              <a:spcAft>
                <a:spcPts val="800"/>
              </a:spcAft>
              <a:defRPr sz="1000">
                <a:solidFill>
                  <a:srgbClr val="64748B"/>
                </a:solidFill>
              </a:defRPr>
            </a:pPr>
            <a:r>
              <a:t>Nghiên Cứu Và Phát Triển Dựa Trên Bài Báo Khoa Học Gốc: The Adversary: The Philosophy of Cryptography</a:t>
            </a:r>
            <a:br/>
            <a:r>
              <a:t>Tác giả: Harry Halpin — Xuất bản trên Tạp chí An ninh mạng Oxford (Oxford Journal of Cybersecurity, 2025)</a:t>
            </a:r>
          </a:p>
          <a:p>
            <a:pPr algn="ctr">
              <a:defRPr b="1" sz="1050">
                <a:solidFill>
                  <a:srgbClr val="059669"/>
                </a:solidFill>
              </a:defRPr>
            </a:pPr>
            <a:r>
              <a:t>Phương Pháp Luận Nghiên Cứu: Triển khai 3 Trụ cột độc lập (Kỹ thuật PoC, Mô phỏng an ninh 7 Games, Thực nghiệm trên 1.000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Thông Tin Xuất Bản &amp; Tóm Tắt Toàn Văn Bài Báo</a:t>
            </a:r>
          </a:p>
          <a:p>
            <a:pPr>
              <a:defRPr b="1" sz="930">
                <a:solidFill>
                  <a:srgbClr val="2563EB"/>
                </a:solidFill>
              </a:defRPr>
            </a:pPr>
            <a:r>
              <a:t>• Tên bài báo tiếng Anh gốc:</a:t>
            </a:r>
          </a:p>
          <a:p>
            <a:pPr>
              <a:spcBef>
                <a:spcPts val="150"/>
              </a:spcBef>
              <a:defRPr sz="880">
                <a:solidFill>
                  <a:srgbClr val="0F172A"/>
                </a:solidFill>
              </a:defRPr>
            </a:pPr>
            <a:r>
              <a:t>The Adversary: The Philosophy of Cryptography.</a:t>
            </a:r>
          </a:p>
          <a:p>
            <a:pPr>
              <a:spcBef>
                <a:spcPts val="500"/>
              </a:spcBef>
              <a:defRPr b="1" sz="930">
                <a:solidFill>
                  <a:srgbClr val="2563EB"/>
                </a:solidFill>
              </a:defRPr>
            </a:pPr>
            <a:r>
              <a:t>• Tác giả &amp; Cơ quan nghiên cứu:</a:t>
            </a:r>
          </a:p>
          <a:p>
            <a:pPr>
              <a:spcBef>
                <a:spcPts val="150"/>
              </a:spcBef>
              <a:defRPr sz="880">
                <a:solidFill>
                  <a:srgbClr val="0F172A"/>
                </a:solidFill>
              </a:defRPr>
            </a:pPr>
            <a:r>
              <a:t>Harry Halpin — Nhà nghiên cứu mật mã học hàng đầu, đồng sáng lập Nym Technologies và cựu nghiên cứu viên cấp cao tại Inria (Pháp).</a:t>
            </a:r>
          </a:p>
          <a:p>
            <a:pPr>
              <a:spcBef>
                <a:spcPts val="500"/>
              </a:spcBef>
              <a:defRPr b="1" sz="930">
                <a:solidFill>
                  <a:srgbClr val="2563EB"/>
                </a:solidFill>
              </a:defRPr>
            </a:pPr>
            <a:r>
              <a:t>• Tạp chí &amp; Năm xuất bản:</a:t>
            </a:r>
          </a:p>
          <a:p>
            <a:pPr>
              <a:spcBef>
                <a:spcPts val="150"/>
              </a:spcBef>
              <a:defRPr sz="880">
                <a:solidFill>
                  <a:srgbClr val="0F172A"/>
                </a:solidFill>
              </a:defRPr>
            </a:pPr>
            <a:r>
              <a:t>Tạp chí An ninh mạng Oxford (Oxford Journal of Cybersecurity), Nhà xuất bản Đại học Oxford (Oxford University Press), Tập 11, Số 1, Năm 2025.</a:t>
            </a:r>
          </a:p>
          <a:p>
            <a:pPr>
              <a:spcBef>
                <a:spcPts val="500"/>
              </a:spcBef>
              <a:defRPr b="1" sz="930">
                <a:solidFill>
                  <a:srgbClr val="2563EB"/>
                </a:solidFill>
              </a:defRPr>
            </a:pPr>
            <a:r>
              <a:t>• Luận điểm triết học trung tâm của bài báo:</a:t>
            </a:r>
          </a:p>
          <a:p>
            <a:pPr>
              <a:spcBef>
                <a:spcPts val="150"/>
              </a:spcBef>
              <a:defRPr sz="880">
                <a:solidFill>
                  <a:srgbClr val="0F172A"/>
                </a:solidFill>
              </a:defRPr>
            </a:pPr>
            <a:r>
              <a:t>Mật mã học không chỉ là bài toán toán học thuần túy trên lý thuyết, mà là một cuộc chiến tương tác đối kháng có chủ đích giữa Kẻ phòng thủ và Kẻ thù hình thức (The Adversary).</a:t>
            </a:r>
          </a:p>
          <a:p>
            <a:pPr>
              <a:spcBef>
                <a:spcPts val="500"/>
              </a:spcBef>
              <a:defRPr b="1" sz="930">
                <a:solidFill>
                  <a:srgbClr val="2563EB"/>
                </a:solidFill>
              </a:defRPr>
            </a:pPr>
            <a:r>
              <a:t>• Khung phân loại 4 mô hình Kẻ thù trong bài báo:</a:t>
            </a:r>
          </a:p>
          <a:p>
            <a:pPr>
              <a:spcBef>
                <a:spcPts val="150"/>
              </a:spcBef>
              <a:defRPr sz="880">
                <a:solidFill>
                  <a:srgbClr val="0F172A"/>
                </a:solidFill>
              </a:defRPr>
            </a:pPr>
            <a:r>
              <a:t>1. Kẻ tấn công thụ động (Passive Eavesdropper: Nghe lén đường truyền).</a:t>
            </a:r>
            <a:br/>
            <a:r>
              <a:t>2. Kẻ tấn công chủ động Dolev-Yao (Active Network Adversary: Can thiệp gói tin).</a:t>
            </a:r>
            <a:br/>
            <a:r>
              <a:t>3. Kẻ thù tính toán PPT (Probabilistic Polynomial-Time Adversary).</a:t>
            </a:r>
            <a:br/>
            <a:r>
              <a:t>4. Kẻ thù khai thác kênh kề &amp; siêu dữ liệu (Side-Channel &amp; Metadata Adversary).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8229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BFDBFE"/>
                </a:solidFill>
              </a:defRPr>
            </a:pPr>
            <a:r>
              <a:t>OXFORD UNIVERSITY PRESS • JOURNAL OF CYBERSECURITY</a:t>
            </a:r>
          </a:p>
          <a:p>
            <a:pPr>
              <a:defRPr sz="850">
                <a:solidFill>
                  <a:srgbClr val="FFFFFF"/>
                </a:solidFill>
              </a:defRPr>
            </a:pPr>
            <a:r>
              <a:t>ISSN 2057-2085 • Tập 11, Số 1, Năm 2025 • Article ID: tyae024</a:t>
            </a:r>
          </a:p>
        </p:txBody>
      </p:sp>
      <p:sp>
        <p:nvSpPr>
          <p:cNvPr id="10" name="TextBox 9"/>
          <p:cNvSpPr txBox="1"/>
          <p:nvPr/>
        </p:nvSpPr>
        <p:spPr>
          <a:xfrm>
            <a:off x="6263640" y="2148840"/>
            <a:ext cx="4937760" cy="4206240"/>
          </a:xfrm>
          <a:prstGeom prst="rect">
            <a:avLst/>
          </a:prstGeom>
          <a:noFill/>
        </p:spPr>
        <p:txBody>
          <a:bodyPr wrap="square">
            <a:spAutoFit/>
          </a:bodyPr>
          <a:lstStyle/>
          <a:p>
            <a:pPr>
              <a:defRPr b="1" sz="1300">
                <a:solidFill>
                  <a:srgbClr val="1E3A8A"/>
                </a:solidFill>
              </a:defRPr>
            </a:pPr>
            <a:r>
              <a:t>The Adversary: The Philosophy of Cryptography</a:t>
            </a:r>
          </a:p>
          <a:p>
            <a:pPr>
              <a:spcAft>
                <a:spcPts val="600"/>
              </a:spcAft>
              <a:defRPr sz="900">
                <a:solidFill>
                  <a:srgbClr val="2563EB"/>
                </a:solidFill>
              </a:defRPr>
            </a:pPr>
            <a:r>
              <a:t>Tác giả: Harry Halpin  |  Đơn vị: Nym Technologies &amp; Inria Research</a:t>
            </a:r>
          </a:p>
        </p:txBody>
      </p:sp>
      <p:sp>
        <p:nvSpPr>
          <p:cNvPr id="11" name="Rounded Rectangle 10"/>
          <p:cNvSpPr/>
          <p:nvPr/>
        </p:nvSpPr>
        <p:spPr>
          <a:xfrm>
            <a:off x="6263640" y="2971800"/>
            <a:ext cx="4937760" cy="16916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1E3A8A"/>
                </a:solidFill>
              </a:defRPr>
            </a:pPr>
            <a:r>
              <a:t>[ TRÍCH ĐOẠN LUẬN ĐIỂM CỐT LÕI TỪ BÀI BÁO ]</a:t>
            </a:r>
          </a:p>
          <a:p>
            <a:pPr>
              <a:spcBef>
                <a:spcPts val="300"/>
              </a:spcBef>
              <a:defRPr sz="819">
                <a:solidFill>
                  <a:srgbClr val="0F172A"/>
                </a:solidFill>
              </a:defRPr>
            </a:pPr>
            <a:r>
              <a:t>“Mật mã học không chỉ là bài toán mã hóa dữ liệu tĩnh, mà là sự tương tác đối kháng hình thức giữa người xây dựng hệ thống và Kẻ thù (The Adversary). Để bảo đảm toàn vẹn kho dữ liệu, bắt buộc phải sử dụng cây Merkle phân tách miền (RFC 6962) và kiểm nghiệm trên dữ liệu thực tế biến thiên.”</a:t>
            </a:r>
          </a:p>
        </p:txBody>
      </p:sp>
      <p:sp>
        <p:nvSpPr>
          <p:cNvPr id="12" name="Rounded Rectangle 11"/>
          <p:cNvSpPr/>
          <p:nvPr/>
        </p:nvSpPr>
        <p:spPr>
          <a:xfrm>
            <a:off x="6263640" y="4846320"/>
            <a:ext cx="2423160" cy="566928"/>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2563EB"/>
                </a:solidFill>
              </a:defRPr>
            </a:pPr>
            <a:r>
              <a:t>✓ Kẻ thù PPT &amp; Dolev-Yao</a:t>
            </a:r>
          </a:p>
        </p:txBody>
      </p:sp>
      <p:sp>
        <p:nvSpPr>
          <p:cNvPr id="13" name="Rounded Rectangle 12"/>
          <p:cNvSpPr/>
          <p:nvPr/>
        </p:nvSpPr>
        <p:spPr>
          <a:xfrm>
            <a:off x="8778240" y="4846320"/>
            <a:ext cx="2423160" cy="566928"/>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059669"/>
                </a:solidFill>
              </a:defRPr>
            </a:pPr>
            <a:r>
              <a:t>✓ Chuẩn RFC 6962 Domain Separation</a:t>
            </a:r>
          </a:p>
        </p:txBody>
      </p:sp>
      <p:sp>
        <p:nvSpPr>
          <p:cNvPr id="14" name="Rounded Rectangle 13"/>
          <p:cNvSpPr/>
          <p:nvPr/>
        </p:nvSpPr>
        <p:spPr>
          <a:xfrm>
            <a:off x="6263640" y="5532120"/>
            <a:ext cx="2423160" cy="566928"/>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7E22CE"/>
                </a:solidFill>
              </a:defRPr>
            </a:pPr>
            <a:r>
              <a:t>✓ Cây Merkle &amp; Xác minh O(log N)</a:t>
            </a:r>
          </a:p>
        </p:txBody>
      </p:sp>
      <p:sp>
        <p:nvSpPr>
          <p:cNvPr id="15" name="Rounded Rectangle 14"/>
          <p:cNvSpPr/>
          <p:nvPr/>
        </p:nvSpPr>
        <p:spPr>
          <a:xfrm>
            <a:off x="8778240" y="5532120"/>
            <a:ext cx="2423160" cy="566928"/>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19">
                <a:solidFill>
                  <a:srgbClr val="D97706"/>
                </a:solidFill>
              </a:defRPr>
            </a:pPr>
            <a:r>
              <a:t>✓ Nguyên lý Kerckhoffs &amp; Kênh kề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2. Bối Cảnh, Động Lực Nghiên Cứu Và Lời Kêu Gọi Kiểm Nghiệm Thực Tế</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Khoảng Trống Học Thuật &amp; Động Lực Triển Khai Đồ Án</a:t>
            </a:r>
          </a:p>
          <a:p>
            <a:pPr>
              <a:defRPr b="1" sz="930">
                <a:solidFill>
                  <a:srgbClr val="2563EB"/>
                </a:solidFill>
              </a:defRPr>
            </a:pPr>
            <a:r>
              <a:t>• Khoảng trống học thuật trong bài báo gốc:</a:t>
            </a:r>
          </a:p>
          <a:p>
            <a:pPr>
              <a:spcBef>
                <a:spcPts val="150"/>
              </a:spcBef>
              <a:defRPr sz="880">
                <a:solidFill>
                  <a:srgbClr val="0F172A"/>
                </a:solidFill>
              </a:defRPr>
            </a:pPr>
            <a:r>
              <a:t>Bài báo của Harry Halpin (2025) là một công trình nghiên cứu triết học và lý thuyết mật mã học đỉnh cao, nhưng HOÀN TOÀN KHÔNG CÓ BỘ MÃ NGUỒN CỤ THỂ, không có tập dữ liệu thực nghiệm và không có các số liệu đo lường định lượng.</a:t>
            </a:r>
          </a:p>
          <a:p>
            <a:pPr>
              <a:spcBef>
                <a:spcPts val="500"/>
              </a:spcBef>
              <a:defRPr b="1" sz="930">
                <a:solidFill>
                  <a:srgbClr val="2563EB"/>
                </a:solidFill>
              </a:defRPr>
            </a:pPr>
            <a:r>
              <a:t>• Lời kêu gọi từ bài báo (Mục 7 Trang 14-15):</a:t>
            </a:r>
          </a:p>
          <a:p>
            <a:pPr>
              <a:spcBef>
                <a:spcPts val="150"/>
              </a:spcBef>
              <a:defRPr sz="880">
                <a:solidFill>
                  <a:srgbClr val="0F172A"/>
                </a:solidFill>
              </a:defRPr>
            </a:pPr>
            <a:r>
              <a:t>Tác giả nhấn mạnh: Các cấu trúc dữ liệu mật mã (như Merkle Tree) cần được kiểm chứng trong các môi trường hệ thống thực tế với dữ liệu biến thiên, thay vì chỉ dừng lại ở các chứng minh toán học trên trang giấy.</a:t>
            </a:r>
          </a:p>
          <a:p>
            <a:pPr>
              <a:spcBef>
                <a:spcPts val="500"/>
              </a:spcBef>
              <a:defRPr b="1" sz="930">
                <a:solidFill>
                  <a:srgbClr val="2563EB"/>
                </a:solidFill>
              </a:defRPr>
            </a:pPr>
            <a:r>
              <a:t>• Động lực và sứ mệnh của Đồ án DT005:</a:t>
            </a:r>
          </a:p>
          <a:p>
            <a:pPr>
              <a:spcBef>
                <a:spcPts val="150"/>
              </a:spcBef>
              <a:defRPr sz="880">
                <a:solidFill>
                  <a:srgbClr val="0F172A"/>
                </a:solidFill>
              </a:defRPr>
            </a:pPr>
            <a:r>
              <a:t>Hiện thực hóa 100% khung lý thuyết của Harry Halpin thành một hệ thống phần mềm hoàn chỉnh chạy thực tế, thiết kế bộ dữ liệu 1.000 tệp tin thực tế và đo đạc các chỉ số hiệu năng khách quan.</a:t>
            </a:r>
          </a:p>
          <a:p>
            <a:pPr>
              <a:spcBef>
                <a:spcPts val="500"/>
              </a:spcBef>
              <a:defRPr b="1" sz="930">
                <a:solidFill>
                  <a:srgbClr val="2563EB"/>
                </a:solidFill>
              </a:defRPr>
            </a:pPr>
            <a:r>
              <a:t>• Ý nghĩa thực tiễn của đề tài:</a:t>
            </a:r>
          </a:p>
          <a:p>
            <a:pPr>
              <a:spcBef>
                <a:spcPts val="150"/>
              </a:spcBef>
              <a:defRPr sz="880">
                <a:solidFill>
                  <a:srgbClr val="0F172A"/>
                </a:solidFill>
              </a:defRPr>
            </a:pPr>
            <a:r>
              <a:t>Cung cấp giải pháp bảo vệ toàn vẹn dữ liệu cho các hệ thống doanh nghiệp, cơ sở dữ liệu nhật ký kiểm toán không thể sửa đổi (Append-Only Log) và bảo vệ máy khách nhẹ (Light Client) tiết kiệm hơn 98% băng thông mạng.</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00">
                <a:solidFill>
                  <a:srgbClr val="1E3A8A"/>
                </a:solidFill>
              </a:defRPr>
            </a:pPr>
            <a:r>
              <a:t>SƠ ĐỒ CHUYỂN GIAO TRI THỨC: TỪ BÀI BÁO ĐẾN ĐỒ ÁN</a:t>
            </a:r>
          </a:p>
        </p:txBody>
      </p:sp>
      <p:sp>
        <p:nvSpPr>
          <p:cNvPr id="10" name="Rounded Rectangle 9"/>
          <p:cNvSpPr/>
          <p:nvPr/>
        </p:nvSpPr>
        <p:spPr>
          <a:xfrm>
            <a:off x="6263640" y="1874520"/>
            <a:ext cx="4937760" cy="1280160"/>
          </a:xfrm>
          <a:prstGeom prst="roundRect">
            <a:avLst/>
          </a:prstGeom>
          <a:solidFill>
            <a:srgbClr val="F1F5F9"/>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BƯỚC 1: KHUNG LÝ THUYẾT GỐC (HARRY HALPIN 2025)</a:t>
            </a:r>
          </a:p>
          <a:p>
            <a:pPr>
              <a:spcBef>
                <a:spcPts val="300"/>
              </a:spcBef>
              <a:defRPr sz="800">
                <a:solidFill>
                  <a:srgbClr val="0F172A"/>
                </a:solidFill>
              </a:defRPr>
            </a:pPr>
            <a:r>
              <a:t>• Nền tảng triết học: Định nghĩa Kẻ thù mật mã học (The Adversary).</a:t>
            </a:r>
            <a:br/>
            <a:r>
              <a:t>• Đề xuất chuẩn RFC 6962 Certificate Transparency.</a:t>
            </a:r>
            <a:br/>
            <a:r>
              <a:t>• Hạn chế bài báo gốc: 0 dòng mã nguồn, 0 tập dữ liệu, 0 benchmark định lượng.</a:t>
            </a:r>
          </a:p>
        </p:txBody>
      </p:sp>
      <p:sp>
        <p:nvSpPr>
          <p:cNvPr id="11" name="Rounded Rectangle 10"/>
          <p:cNvSpPr/>
          <p:nvPr/>
        </p:nvSpPr>
        <p:spPr>
          <a:xfrm>
            <a:off x="6263640" y="3291840"/>
            <a:ext cx="4937760"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D97706"/>
                </a:solidFill>
              </a:defRPr>
            </a:pPr>
            <a:r>
              <a:t>BƯỚC 2: KHOẢNG TRỐNG KHOA HỌC CẦN KIỂM CHỨNG</a:t>
            </a:r>
          </a:p>
          <a:p>
            <a:pPr>
              <a:spcBef>
                <a:spcPts val="300"/>
              </a:spcBef>
              <a:defRPr sz="800">
                <a:solidFill>
                  <a:srgbClr val="0F172A"/>
                </a:solidFill>
              </a:defRPr>
            </a:pPr>
            <a:r>
              <a:t>• Bài báo kêu gọi: Cần kiểm nghiệm trên hệ thống thực tế biến thiên.</a:t>
            </a:r>
            <a:br/>
            <a:r>
              <a:t>• Thách thức: Xây dựng cấu trúc Merkle Tree thế nào để không bị Rebuild O(N) khi cập nhật?</a:t>
            </a:r>
          </a:p>
        </p:txBody>
      </p:sp>
      <p:sp>
        <p:nvSpPr>
          <p:cNvPr id="12" name="Rounded Rectangle 11"/>
          <p:cNvSpPr/>
          <p:nvPr/>
        </p:nvSpPr>
        <p:spPr>
          <a:xfrm>
            <a:off x="6263640" y="4709160"/>
            <a:ext cx="4937760" cy="1280160"/>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BƯỚC 3: ĐÓNG GÓP HIỆN THỰC HÓA CỦA ĐỒ ÁN DT005</a:t>
            </a:r>
          </a:p>
          <a:p>
            <a:pPr>
              <a:spcBef>
                <a:spcPts val="300"/>
              </a:spcBef>
              <a:defRPr sz="800">
                <a:solidFill>
                  <a:srgbClr val="0F172A"/>
                </a:solidFill>
              </a:defRPr>
            </a:pPr>
            <a:r>
              <a:t>• Xây dựng mô hình PoC HD-MerkleTree phân cấp Biba 1977.</a:t>
            </a:r>
            <a:br/>
            <a:r>
              <a:t>• Hiện thực hóa 7 Security Games đối kháng toán học độc lập.</a:t>
            </a:r>
            <a:br/>
            <a:r>
              <a:t>• Benchmark thực tế trên 1.000 tệp tin (4.1 MB) qua 5 vòng đo kiểm.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1: DỊCH BÀI BÁO VÀ TÓM TẮT NỘI DUNG</a:t>
            </a:r>
          </a:p>
          <a:p>
            <a:pPr>
              <a:spcBef>
                <a:spcPts val="200"/>
              </a:spcBef>
              <a:defRPr b="1" sz="1700">
                <a:solidFill>
                  <a:srgbClr val="FFFFFF"/>
                </a:solidFill>
              </a:defRPr>
            </a:pPr>
            <a:r>
              <a:t>3. Tổng Hợp Các Luận Điểm Mật Mã Học Cốt Lõi Từ Bài Báo</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6 Luận Điểm Mật Mã Học Nền Tảng Của Harry Halpin</a:t>
            </a:r>
          </a:p>
          <a:p>
            <a:pPr>
              <a:defRPr b="1" sz="900">
                <a:solidFill>
                  <a:srgbClr val="2563EB"/>
                </a:solidFill>
              </a:defRPr>
            </a:pPr>
            <a:r>
              <a:t>• 1. Mô hình Kẻ thù PPT (Mục 4 Trang 7):</a:t>
            </a:r>
          </a:p>
          <a:p>
            <a:pPr>
              <a:spcBef>
                <a:spcPts val="150"/>
              </a:spcBef>
              <a:defRPr sz="850">
                <a:solidFill>
                  <a:srgbClr val="0F172A"/>
                </a:solidFill>
              </a:defRPr>
            </a:pPr>
            <a:r>
              <a:t>Kẻ tấn công có năng lực tính toán ngẫu nhiên trong thời gian đa thức (Goldwasser-Micali 1984). Xác suất bẻ gãy hệ thống an toàn không được vượt quá hàm không đáng kể negl(n) &lt;= 2^-128.</a:t>
            </a:r>
          </a:p>
          <a:p>
            <a:pPr>
              <a:spcBef>
                <a:spcPts val="500"/>
              </a:spcBef>
              <a:defRPr b="1" sz="900">
                <a:solidFill>
                  <a:srgbClr val="2563EB"/>
                </a:solidFill>
              </a:defRPr>
            </a:pPr>
            <a:r>
              <a:t>• 2. Nguyên lý Kerckhoffs (Mục 2 Trang 3):</a:t>
            </a:r>
          </a:p>
          <a:p>
            <a:pPr>
              <a:spcBef>
                <a:spcPts val="150"/>
              </a:spcBef>
              <a:defRPr sz="850">
                <a:solidFill>
                  <a:srgbClr val="0F172A"/>
                </a:solidFill>
              </a:defRPr>
            </a:pPr>
            <a:r>
              <a:t>Độ an toàn của hệ thống mật mã phải phụ thuộc hoàn toàn vào sự bí mật của khóa (hoặc tính bất biến của Root Hash), tuyệt đối không dựa vào sự bí mật của mã nguồn.</a:t>
            </a:r>
          </a:p>
          <a:p>
            <a:pPr>
              <a:spcBef>
                <a:spcPts val="500"/>
              </a:spcBef>
              <a:defRPr b="1" sz="900">
                <a:solidFill>
                  <a:srgbClr val="2563EB"/>
                </a:solidFill>
              </a:defRPr>
            </a:pPr>
            <a:r>
              <a:t>• 3. Kẻ thù Mạng Dolev-Yao (Mục 4 Trang 8):</a:t>
            </a:r>
          </a:p>
          <a:p>
            <a:pPr>
              <a:spcBef>
                <a:spcPts val="150"/>
              </a:spcBef>
              <a:defRPr sz="850">
                <a:solidFill>
                  <a:srgbClr val="0F172A"/>
                </a:solidFill>
              </a:defRPr>
            </a:pPr>
            <a:r>
              <a:t>Kẻ tấn công kiểm soát toàn bộ kênh truyền thông, có quyền sửa đổi gói tin, tráo đổi dữ liệu và thực hiện tấn công phát lại (Replay Attack).</a:t>
            </a:r>
          </a:p>
          <a:p>
            <a:pPr>
              <a:spcBef>
                <a:spcPts val="500"/>
              </a:spcBef>
              <a:defRPr b="1" sz="900">
                <a:solidFill>
                  <a:srgbClr val="2563EB"/>
                </a:solidFill>
              </a:defRPr>
            </a:pPr>
            <a:r>
              <a:t>• 4. Chuẩn phân tách miền RFC 6962 (Mục 5 Trang 8-10):</a:t>
            </a:r>
          </a:p>
          <a:p>
            <a:pPr>
              <a:spcBef>
                <a:spcPts val="150"/>
              </a:spcBef>
              <a:defRPr sz="850">
                <a:solidFill>
                  <a:srgbClr val="0F172A"/>
                </a:solidFill>
              </a:defRPr>
            </a:pPr>
            <a:r>
              <a:t>Bắt buộc gắn tiền tố phân tách miền 0x00 cho nút lá và 0x01 cho nút nhánh để triệt tiêu hoàn toàn tấn công giả mạo tiền ảnh cấp 2 (Second-Preimage Attack).</a:t>
            </a:r>
          </a:p>
          <a:p>
            <a:pPr>
              <a:spcBef>
                <a:spcPts val="500"/>
              </a:spcBef>
              <a:defRPr b="1" sz="900">
                <a:solidFill>
                  <a:srgbClr val="2563EB"/>
                </a:solidFill>
              </a:defRPr>
            </a:pPr>
            <a:r>
              <a:t>• 5. Xác minh cục bộ O(log N) của Merkle (Mục 4 Trang 5):</a:t>
            </a:r>
          </a:p>
          <a:p>
            <a:pPr>
              <a:spcBef>
                <a:spcPts val="150"/>
              </a:spcBef>
              <a:defRPr sz="850">
                <a:solidFill>
                  <a:srgbClr val="0F172A"/>
                </a:solidFill>
              </a:defRPr>
            </a:pPr>
            <a:r>
              <a:t>Máy khách nhẹ (Light Client) chỉ cần một bằng chứng logarit để xác minh 1 tệp tin mà không cần tải toàn bộ kho dữ liệu.</a:t>
            </a:r>
          </a:p>
          <a:p>
            <a:pPr>
              <a:spcBef>
                <a:spcPts val="500"/>
              </a:spcBef>
              <a:defRPr b="1" sz="900">
                <a:solidFill>
                  <a:srgbClr val="2563EB"/>
                </a:solidFill>
              </a:defRPr>
            </a:pPr>
            <a:r>
              <a:t>• 6. Tấn công kênh kề &amp; Rò rỉ siêu dữ liệu (Mục 5 Trang 10, Mục 6):</a:t>
            </a:r>
          </a:p>
          <a:p>
            <a:pPr>
              <a:spcBef>
                <a:spcPts val="150"/>
              </a:spcBef>
              <a:defRPr sz="850">
                <a:solidFill>
                  <a:srgbClr val="0F172A"/>
                </a:solidFill>
              </a:defRPr>
            </a:pPr>
            <a:r>
              <a:t>Cảnh báo nguy cơ tấn công đo thời gian (Timing Attack theo Paul Kocher 1996) và rò rỉ danh tính tệp tin qua siêu dữ liệu.</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00">
                <a:solidFill>
                  <a:srgbClr val="1E3A8A"/>
                </a:solidFill>
              </a:defRPr>
            </a:pPr>
            <a:r>
              <a:t>BỐN TRỤ CỘT LUẬN ĐIỂM MẬT MÃ HỌC CỐT LÕI</a:t>
            </a:r>
          </a:p>
        </p:txBody>
      </p:sp>
      <p:sp>
        <p:nvSpPr>
          <p:cNvPr id="10" name="Rounded Rectangle 9"/>
          <p:cNvSpPr/>
          <p:nvPr/>
        </p:nvSpPr>
        <p:spPr>
          <a:xfrm>
            <a:off x="6263640" y="1874520"/>
            <a:ext cx="2400300" cy="205740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2563EB"/>
                </a:solidFill>
              </a:defRPr>
            </a:pPr>
            <a:r>
              <a:t>1. Kháng Va Chạm SHA-256</a:t>
            </a:r>
          </a:p>
          <a:p>
            <a:pPr>
              <a:spcBef>
                <a:spcPts val="400"/>
              </a:spcBef>
              <a:defRPr sz="819">
                <a:solidFill>
                  <a:srgbClr val="0F172A"/>
                </a:solidFill>
              </a:defRPr>
            </a:pPr>
            <a:r>
              <a:t>Không gian tìm kiếm: 2^256 bit</a:t>
            </a:r>
            <a:br/>
            <a:r>
              <a:t>Birthday Bound: 2^128 phép toán</a:t>
            </a:r>
            <a:br/>
            <a:r>
              <a:t>Kẻ thù PPT không thể tìm va chạm ngẫu nhiên (Adv &lt;= 2^-128).</a:t>
            </a:r>
          </a:p>
        </p:txBody>
      </p:sp>
      <p:sp>
        <p:nvSpPr>
          <p:cNvPr id="11" name="Rounded Rectangle 10"/>
          <p:cNvSpPr/>
          <p:nvPr/>
        </p:nvSpPr>
        <p:spPr>
          <a:xfrm>
            <a:off x="8801100" y="1874520"/>
            <a:ext cx="2400300" cy="205740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059669"/>
                </a:solidFill>
              </a:defRPr>
            </a:pPr>
            <a:r>
              <a:t>2. Phân Tách Miền RFC 6962</a:t>
            </a:r>
          </a:p>
          <a:p>
            <a:pPr>
              <a:spcBef>
                <a:spcPts val="400"/>
              </a:spcBef>
              <a:defRPr sz="819">
                <a:solidFill>
                  <a:srgbClr val="0F172A"/>
                </a:solidFill>
              </a:defRPr>
            </a:pPr>
            <a:r>
              <a:t>Nút lá: H(0x00 || Dữ liệu)</a:t>
            </a:r>
            <a:br/>
            <a:r>
              <a:t>Nút nhánh: H(0x01 || Trái || Phải)</a:t>
            </a:r>
            <a:br/>
            <a:r>
              <a:t>Hai tập tiền tố rời nhau hoàn toàn, triệt tiêu va chạm tiền ảnh cấp 2.</a:t>
            </a:r>
          </a:p>
        </p:txBody>
      </p:sp>
      <p:sp>
        <p:nvSpPr>
          <p:cNvPr id="12" name="Rounded Rectangle 11"/>
          <p:cNvSpPr/>
          <p:nvPr/>
        </p:nvSpPr>
        <p:spPr>
          <a:xfrm>
            <a:off x="6263640" y="4069080"/>
            <a:ext cx="2400300" cy="2057400"/>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7E22CE"/>
                </a:solidFill>
              </a:defRPr>
            </a:pPr>
            <a:r>
              <a:t>3. Xác Minh Cục Bộ O(log N)</a:t>
            </a:r>
          </a:p>
          <a:p>
            <a:pPr>
              <a:spcBef>
                <a:spcPts val="400"/>
              </a:spcBef>
              <a:defRPr sz="819">
                <a:solidFill>
                  <a:srgbClr val="0F172A"/>
                </a:solidFill>
              </a:defRPr>
            </a:pPr>
            <a:r>
              <a:t>Chiều cao cây: h ≈ 10-13 tầng</a:t>
            </a:r>
            <a:br/>
            <a:r>
              <a:t>Proof: 990 Byte - 1.369 Byte</a:t>
            </a:r>
            <a:br/>
            <a:r>
              <a:t>Tiết kiệm 98.8% băng thông mạng và bảo vệ tính riêng tư 999 tệp còn lại.</a:t>
            </a:r>
          </a:p>
        </p:txBody>
      </p:sp>
      <p:sp>
        <p:nvSpPr>
          <p:cNvPr id="13" name="Rounded Rectangle 12"/>
          <p:cNvSpPr/>
          <p:nvPr/>
        </p:nvSpPr>
        <p:spPr>
          <a:xfrm>
            <a:off x="8801100" y="4069080"/>
            <a:ext cx="2400300" cy="205740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D97706"/>
                </a:solidFill>
              </a:defRPr>
            </a:pPr>
            <a:r>
              <a:t>4. Phòng Chống Kênh Kề</a:t>
            </a:r>
          </a:p>
          <a:p>
            <a:pPr>
              <a:spcBef>
                <a:spcPts val="400"/>
              </a:spcBef>
              <a:defRPr sz="819">
                <a:solidFill>
                  <a:srgbClr val="0F172A"/>
                </a:solidFill>
              </a:defRPr>
            </a:pPr>
            <a:r>
              <a:t>Paul Kocher 1996: Đo thời gian so sánh</a:t>
            </a:r>
            <a:br/>
            <a:r>
              <a:t>Giải pháp: hmac.compare_digest() O(1)</a:t>
            </a:r>
            <a:br/>
            <a:r>
              <a:t>Xóa đè vùng nhớ nhạy cảm RAM qua secure_erase().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4. Phương Pháp Luận Nghiên Cứu: Ba Trụ Cột Độc Lập Chuẩn Mực</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Tuyên Bố Rõ Ràng 3 Trụ Cột Phương Pháp Luận</a:t>
            </a:r>
          </a:p>
          <a:p>
            <a:pPr>
              <a:defRPr b="1" sz="900">
                <a:solidFill>
                  <a:srgbClr val="2563EB"/>
                </a:solidFill>
              </a:defRPr>
            </a:pPr>
            <a:r>
              <a:t>• Tuyên bố tính chuẩn mực khoa học:</a:t>
            </a:r>
          </a:p>
          <a:p>
            <a:pPr>
              <a:spcBef>
                <a:spcPts val="150"/>
              </a:spcBef>
              <a:defRPr sz="850">
                <a:solidFill>
                  <a:srgbClr val="0F172A"/>
                </a:solidFill>
              </a:defRPr>
            </a:pPr>
            <a:r>
              <a:t>Nhóm nghiên cứu KHÔNG gộp chung các phần việc làm một, mà phân định rõ ràng thành 3 trụ cột phương pháp luận độc lập, tự chủ:</a:t>
            </a:r>
          </a:p>
          <a:p>
            <a:pPr>
              <a:spcBef>
                <a:spcPts val="500"/>
              </a:spcBef>
              <a:defRPr b="1" sz="900">
                <a:solidFill>
                  <a:srgbClr val="2563EB"/>
                </a:solidFill>
              </a:defRPr>
            </a:pPr>
            <a:r>
              <a:t>• Trụ cột I (Hướng 1) - Kỹ thuật hệ thống &amp; PoC:</a:t>
            </a:r>
          </a:p>
          <a:p>
            <a:pPr>
              <a:spcBef>
                <a:spcPts val="150"/>
              </a:spcBef>
              <a:defRPr sz="850">
                <a:solidFill>
                  <a:srgbClr val="0F172A"/>
                </a:solidFill>
              </a:defRPr>
            </a:pPr>
            <a:r>
              <a:t>- Tệp thực thi: src/proposed_model/hd_merkle_tree.py</a:t>
            </a:r>
            <a:br/>
            <a:r>
              <a:t>- Bản chất: Đề xuất kiến trúc Cây Merkle phân tầng (HD-MerkleTree) kết hợp mô hình toàn vẹn Biba 1977 và kỹ thuật cập nhật Dirty-Path cục bộ trong RAM.</a:t>
            </a:r>
            <a:br/>
            <a:r>
              <a:t>- Đóng góp: Giải quyết triệt để vấn đề Rebuild toàn bộ O(N) của cây Merkle phẳng.</a:t>
            </a:r>
          </a:p>
          <a:p>
            <a:pPr>
              <a:spcBef>
                <a:spcPts val="500"/>
              </a:spcBef>
              <a:defRPr b="1" sz="900">
                <a:solidFill>
                  <a:srgbClr val="2563EB"/>
                </a:solidFill>
              </a:defRPr>
            </a:pPr>
            <a:r>
              <a:t>• Trụ cột II (Hướng 2) - Mô phỏng an ninh hình thức (7 Games):</a:t>
            </a:r>
          </a:p>
          <a:p>
            <a:pPr>
              <a:spcBef>
                <a:spcPts val="150"/>
              </a:spcBef>
              <a:defRPr sz="850">
                <a:solidFill>
                  <a:srgbClr val="0F172A"/>
                </a:solidFill>
              </a:defRPr>
            </a:pPr>
            <a:r>
              <a:t>- Tệp thực thi: src/proposed_model/security_games.py</a:t>
            </a:r>
            <a:br/>
            <a:r>
              <a:t>- Bản chất: Khung kiểm định toán học tự động 7 mô hình an ninh theo đúng các giả định của Harry Halpin (PPT, Dolev-Yao, RFC 6962, Tuyết lở, Biba, Kênh kề).</a:t>
            </a:r>
          </a:p>
          <a:p>
            <a:pPr>
              <a:spcBef>
                <a:spcPts val="500"/>
              </a:spcBef>
              <a:defRPr b="1" sz="900">
                <a:solidFill>
                  <a:srgbClr val="2563EB"/>
                </a:solidFill>
              </a:defRPr>
            </a:pPr>
            <a:r>
              <a:t>• Trụ cột III (Hướng 4) - Thực nghiệm định lượng quy mô lớn:</a:t>
            </a:r>
          </a:p>
          <a:p>
            <a:pPr>
              <a:spcBef>
                <a:spcPts val="150"/>
              </a:spcBef>
              <a:defRPr sz="850">
                <a:solidFill>
                  <a:srgbClr val="0F172A"/>
                </a:solidFill>
              </a:defRPr>
            </a:pPr>
            <a:r>
              <a:t>- Tệp thực thi: src/benchmark/run_benchmark.py</a:t>
            </a:r>
            <a:br/>
            <a:r>
              <a:t>- Bản chất: Đo lường khách quan 5 lần lặp độc lập trên 1.000 tệp tin thực tế, so sánh đối đầu trực diện 4 mô hình bảo mật.</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none">
            <a:spAutoFit/>
          </a:bodyPr>
          <a:lstStyle/>
          <a:p>
            <a:pPr>
              <a:defRPr b="1" sz="1100">
                <a:solidFill>
                  <a:srgbClr val="1E3A8A"/>
                </a:solidFill>
              </a:defRPr>
            </a:pPr>
            <a:r>
              <a:t>KIẾN TRÚC BA TRỤ CỘT ĐỘC LẬP CHUẨN MỰC</a:t>
            </a:r>
          </a:p>
        </p:txBody>
      </p:sp>
      <p:sp>
        <p:nvSpPr>
          <p:cNvPr id="10" name="Rounded Rectangle 9"/>
          <p:cNvSpPr/>
          <p:nvPr/>
        </p:nvSpPr>
        <p:spPr>
          <a:xfrm>
            <a:off x="6263640" y="1920240"/>
            <a:ext cx="1584960" cy="4343400"/>
          </a:xfrm>
          <a:prstGeom prst="roundRect">
            <a:avLst/>
          </a:prstGeom>
          <a:solidFill>
            <a:srgbClr val="EFF6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TRỤ CỘT I (HƯỚNG 1)</a:t>
            </a:r>
            <a:br/>
            <a:r>
              <a:t>KỸ THUẬT HỆ THỐNG PoC</a:t>
            </a:r>
          </a:p>
          <a:p>
            <a:pPr>
              <a:spcBef>
                <a:spcPts val="800"/>
              </a:spcBef>
              <a:defRPr sz="819">
                <a:solidFill>
                  <a:srgbClr val="0F172A"/>
                </a:solidFill>
              </a:defRPr>
            </a:pPr>
            <a:r>
              <a:t>• hd_merkle_tree.py</a:t>
            </a:r>
            <a:br/>
            <a:r>
              <a:t>• Cấu trúc Biba 1977</a:t>
            </a:r>
            <a:br/>
            <a:r>
              <a:t>• Cập nhật Dirty-Path RAM</a:t>
            </a:r>
            <a:br/>
            <a:r>
              <a:t>• 5 Tầng kiến trúc PoC</a:t>
            </a:r>
            <a:br/>
            <a:r>
              <a:t>• 17 Unit Tests tự động</a:t>
            </a:r>
          </a:p>
        </p:txBody>
      </p:sp>
      <p:sp>
        <p:nvSpPr>
          <p:cNvPr id="11" name="Rounded Rectangle 10"/>
          <p:cNvSpPr/>
          <p:nvPr/>
        </p:nvSpPr>
        <p:spPr>
          <a:xfrm>
            <a:off x="7940040" y="1920240"/>
            <a:ext cx="1584960" cy="4343400"/>
          </a:xfrm>
          <a:prstGeom prst="roundRect">
            <a:avLst/>
          </a:prstGeom>
          <a:solidFill>
            <a:srgbClr val="FAF5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7E22CE"/>
                </a:solidFill>
              </a:defRPr>
            </a:pPr>
            <a:r>
              <a:t>TRỤ CỘT II (HƯỚNG 2)</a:t>
            </a:r>
            <a:br/>
            <a:r>
              <a:t>MÔ PHỎNG AN NINH HÌNH THỨC</a:t>
            </a:r>
          </a:p>
          <a:p>
            <a:pPr>
              <a:spcBef>
                <a:spcPts val="800"/>
              </a:spcBef>
              <a:defRPr sz="819">
                <a:solidFill>
                  <a:srgbClr val="0F172A"/>
                </a:solidFill>
              </a:defRPr>
            </a:pPr>
            <a:r>
              <a:t>• security_games.py</a:t>
            </a:r>
            <a:br/>
            <a:r>
              <a:t>• Khung 7 Trò chơi đối kháng</a:t>
            </a:r>
            <a:br/>
            <a:r>
              <a:t>• PPT, Dolev-Yao, Tuyết lở</a:t>
            </a:r>
            <a:br/>
            <a:r>
              <a:t>• Consistency Proof RFC 6962</a:t>
            </a:r>
            <a:br/>
            <a:r>
              <a:t>• Kháng kênh kề O(1)</a:t>
            </a:r>
          </a:p>
        </p:txBody>
      </p:sp>
      <p:sp>
        <p:nvSpPr>
          <p:cNvPr id="12" name="Rounded Rectangle 11"/>
          <p:cNvSpPr/>
          <p:nvPr/>
        </p:nvSpPr>
        <p:spPr>
          <a:xfrm>
            <a:off x="9616440" y="1920240"/>
            <a:ext cx="1584960" cy="4343400"/>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TRỤ CỘT III (HƯỚNG 4)</a:t>
            </a:r>
            <a:br/>
            <a:r>
              <a:t>THỰC NGHIỆM ĐỊNH LƯỢNG</a:t>
            </a:r>
          </a:p>
          <a:p>
            <a:pPr>
              <a:spcBef>
                <a:spcPts val="800"/>
              </a:spcBef>
              <a:defRPr sz="819">
                <a:solidFill>
                  <a:srgbClr val="0F172A"/>
                </a:solidFill>
              </a:defRPr>
            </a:pPr>
            <a:r>
              <a:t>• run_benchmark.py</a:t>
            </a:r>
            <a:br/>
            <a:r>
              <a:t>• Quy mô: 1.000 tệp tin thật</a:t>
            </a:r>
            <a:br/>
            <a:r>
              <a:t>• 5 Vòng lặp đo lường CPU</a:t>
            </a:r>
            <a:br/>
            <a:r>
              <a:t>• 4 Mô hình so sánh đối đầu</a:t>
            </a:r>
            <a:br/>
            <a:r>
              <a:t>• Xuất dữ liệu JSON &amp; 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5. Bảng Ma Trận Đối Chiếu Chi Tiết 100% Giữa Bài Báo Và Đồ Án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Bảng Đối Chiếu Chi Tiết 6 Điểm Nòng Cốt</a:t>
            </a:r>
          </a:p>
          <a:p>
            <a:pPr>
              <a:defRPr b="1" sz="850">
                <a:solidFill>
                  <a:srgbClr val="2563EB"/>
                </a:solidFill>
              </a:defRPr>
            </a:pPr>
            <a:r>
              <a:t>• Điểm đối chiếu 1: Kẻ thù PPT (Goldwasser-Micali 1984):</a:t>
            </a:r>
          </a:p>
          <a:p>
            <a:pPr>
              <a:spcBef>
                <a:spcPts val="150"/>
              </a:spcBef>
              <a:defRPr sz="800">
                <a:solidFill>
                  <a:srgbClr val="0F172A"/>
                </a:solidFill>
              </a:defRPr>
            </a:pPr>
            <a:r>
              <a:t>- Bài báo: Mục 4 Trang 7  |  Đồ án: Game 1 (security_games.py)</a:t>
            </a:r>
            <a:br/>
            <a:r>
              <a:t>- Minh chứng: Thử thách 50 lượt ngẫu nhiên, lợi thế Adv(A) = 0.0 &lt;= 2^-128.</a:t>
            </a:r>
          </a:p>
          <a:p>
            <a:pPr>
              <a:spcBef>
                <a:spcPts val="500"/>
              </a:spcBef>
              <a:defRPr b="1" sz="850">
                <a:solidFill>
                  <a:srgbClr val="2563EB"/>
                </a:solidFill>
              </a:defRPr>
            </a:pPr>
            <a:r>
              <a:t>• Điểm đối chiếu 2: Nguyên lý Kerckhoffs (Kerckhoffs 1883):</a:t>
            </a:r>
          </a:p>
          <a:p>
            <a:pPr>
              <a:spcBef>
                <a:spcPts val="150"/>
              </a:spcBef>
              <a:defRPr sz="800">
                <a:solidFill>
                  <a:srgbClr val="0F172A"/>
                </a:solidFill>
              </a:defRPr>
            </a:pPr>
            <a:r>
              <a:t>- Bài báo: Mục 2 Trang 3  |  Đồ án: Công khai 100% mã nguồn trên GitHub</a:t>
            </a:r>
            <a:br/>
            <a:r>
              <a:t>- Minh chứng: Chỉ cần Root Hash 32 byte để bảo vệ toàn vẹn dữ liệu.</a:t>
            </a:r>
          </a:p>
          <a:p>
            <a:pPr>
              <a:spcBef>
                <a:spcPts val="500"/>
              </a:spcBef>
              <a:defRPr b="1" sz="850">
                <a:solidFill>
                  <a:srgbClr val="2563EB"/>
                </a:solidFill>
              </a:defRPr>
            </a:pPr>
            <a:r>
              <a:t>• Điểm đối chiếu 3: Kẻ tấn công Mạng Dolev-Yao (Dolev-Yao 1983):</a:t>
            </a:r>
          </a:p>
          <a:p>
            <a:pPr>
              <a:spcBef>
                <a:spcPts val="150"/>
              </a:spcBef>
              <a:defRPr sz="800">
                <a:solidFill>
                  <a:srgbClr val="0F172A"/>
                </a:solidFill>
              </a:defRPr>
            </a:pPr>
            <a:r>
              <a:t>- Bài báo: Mục 4 Trang 8  |  Đồ án: Game 2 &amp; Web Demo (Nút đảo 1 bit)</a:t>
            </a:r>
            <a:br/>
            <a:r>
              <a:t>- Minh chứng: Chặn đứng 100% hành vi sửa tệp, tráo Proof và đổi đường dẫn.</a:t>
            </a:r>
          </a:p>
          <a:p>
            <a:pPr>
              <a:spcBef>
                <a:spcPts val="500"/>
              </a:spcBef>
              <a:defRPr b="1" sz="850">
                <a:solidFill>
                  <a:srgbClr val="2563EB"/>
                </a:solidFill>
              </a:defRPr>
            </a:pPr>
            <a:r>
              <a:t>• Điểm đối chiếu 4: Phân tách miền RFC 6962:</a:t>
            </a:r>
          </a:p>
          <a:p>
            <a:pPr>
              <a:spcBef>
                <a:spcPts val="150"/>
              </a:spcBef>
              <a:defRPr sz="800">
                <a:solidFill>
                  <a:srgbClr val="0F172A"/>
                </a:solidFill>
              </a:defRPr>
            </a:pPr>
            <a:r>
              <a:t>- Bài báo: Mục 5 Trang 8-10  |  Đồ án: Tiền tố 0x00 cho lá và 0x01 cho nhánh</a:t>
            </a:r>
            <a:br/>
            <a:r>
              <a:t>- Minh chứng: Triệt tiêu 100% va chạm tiền ảnh cấp hai (Second-preimage).</a:t>
            </a:r>
          </a:p>
          <a:p>
            <a:pPr>
              <a:spcBef>
                <a:spcPts val="500"/>
              </a:spcBef>
              <a:defRPr b="1" sz="850">
                <a:solidFill>
                  <a:srgbClr val="2563EB"/>
                </a:solidFill>
              </a:defRPr>
            </a:pPr>
            <a:r>
              <a:t>• Điểm đối chiếu 5: Xác minh cục bộ O(log N) của Ralph Merkle:</a:t>
            </a:r>
          </a:p>
          <a:p>
            <a:pPr>
              <a:spcBef>
                <a:spcPts val="150"/>
              </a:spcBef>
              <a:defRPr sz="800">
                <a:solidFill>
                  <a:srgbClr val="0F172A"/>
                </a:solidFill>
              </a:defRPr>
            </a:pPr>
            <a:r>
              <a:t>- Bài báo: Mục 4 Trang 5  |  Đồ án: Bằng chứng Merkle Proof (0.97 - 1.34 KB)</a:t>
            </a:r>
            <a:br/>
            <a:r>
              <a:t>- Minh chứng: Tiết kiệm 98.8% băng thông so với việc tải toàn bộ 111 KB.</a:t>
            </a:r>
          </a:p>
          <a:p>
            <a:pPr>
              <a:spcBef>
                <a:spcPts val="500"/>
              </a:spcBef>
              <a:defRPr b="1" sz="850">
                <a:solidFill>
                  <a:srgbClr val="2563EB"/>
                </a:solidFill>
              </a:defRPr>
            </a:pPr>
            <a:r>
              <a:t>• Điểm đối chiếu 6: Lời kêu gọi kiểm nghiệm thực tế (Mục 7):</a:t>
            </a:r>
          </a:p>
          <a:p>
            <a:pPr>
              <a:spcBef>
                <a:spcPts val="150"/>
              </a:spcBef>
              <a:defRPr sz="800">
                <a:solidFill>
                  <a:srgbClr val="0F172A"/>
                </a:solidFill>
              </a:defRPr>
            </a:pPr>
            <a:r>
              <a:t>- Bài báo: Kêu gọi thử nghiệm  |  Đồ án: Bộ 1.000 tệp tin thực tế (4.1 MB)</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none">
            <a:spAutoFit/>
          </a:bodyPr>
          <a:lstStyle/>
          <a:p>
            <a:pPr>
              <a:defRPr b="1" sz="1100">
                <a:solidFill>
                  <a:srgbClr val="1E3A8A"/>
                </a:solidFill>
              </a:defRPr>
            </a:pPr>
            <a:r>
              <a:t>BẢNG ĐIỂM KIỂM ĐỊNH CHẤT LƯỢNG KHOA HỌC (SCORECARD)</a:t>
            </a:r>
          </a:p>
        </p:txBody>
      </p:sp>
      <p:sp>
        <p:nvSpPr>
          <p:cNvPr id="10" name="Rounded Rectangle 9"/>
          <p:cNvSpPr/>
          <p:nvPr/>
        </p:nvSpPr>
        <p:spPr>
          <a:xfrm>
            <a:off x="6263640" y="1874520"/>
            <a:ext cx="4937760" cy="960120"/>
          </a:xfrm>
          <a:prstGeom prst="roundRect">
            <a:avLst/>
          </a:prstGeom>
          <a:solidFill>
            <a:srgbClr val="EFF6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00">
                <a:solidFill>
                  <a:srgbClr val="1E3A8A"/>
                </a:solidFill>
              </a:defRPr>
            </a:pPr>
            <a:r>
              <a:t>★ 100% ĐỐI CHIẾU BÀI BÁO</a:t>
            </a:r>
          </a:p>
          <a:p>
            <a:pPr>
              <a:spcBef>
                <a:spcPts val="200"/>
              </a:spcBef>
              <a:defRPr sz="819">
                <a:solidFill>
                  <a:srgbClr val="0F172A"/>
                </a:solidFill>
              </a:defRPr>
            </a:pPr>
            <a:r>
              <a:t>Kế thừa trọn vẹn 6/6 luận điểm của Harry Halpin (2025)</a:t>
            </a:r>
          </a:p>
        </p:txBody>
      </p:sp>
      <p:sp>
        <p:nvSpPr>
          <p:cNvPr id="11" name="Rounded Rectangle 10"/>
          <p:cNvSpPr/>
          <p:nvPr/>
        </p:nvSpPr>
        <p:spPr>
          <a:xfrm>
            <a:off x="6263640" y="2953512"/>
            <a:ext cx="4937760" cy="96012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00">
                <a:solidFill>
                  <a:srgbClr val="2563EB"/>
                </a:solidFill>
              </a:defRPr>
            </a:pPr>
            <a:r>
              <a:t>★ 2.500+ DÒNG MÃ NGUỒN</a:t>
            </a:r>
          </a:p>
          <a:p>
            <a:pPr>
              <a:spcBef>
                <a:spcPts val="200"/>
              </a:spcBef>
              <a:defRPr sz="819">
                <a:solidFill>
                  <a:srgbClr val="0F172A"/>
                </a:solidFill>
              </a:defRPr>
            </a:pPr>
            <a:r>
              <a:t>Hiện thực hóa 4 CLI độc lập bằng Python chuẩn, không gian lận thư viện ngoài</a:t>
            </a:r>
          </a:p>
        </p:txBody>
      </p:sp>
      <p:sp>
        <p:nvSpPr>
          <p:cNvPr id="12" name="Rounded Rectangle 11"/>
          <p:cNvSpPr/>
          <p:nvPr/>
        </p:nvSpPr>
        <p:spPr>
          <a:xfrm>
            <a:off x="6263640" y="4032504"/>
            <a:ext cx="4937760" cy="96012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00">
                <a:solidFill>
                  <a:srgbClr val="059669"/>
                </a:solidFill>
              </a:defRPr>
            </a:pPr>
            <a:r>
              <a:t>★ 17/17 UNIT TESTS PASS</a:t>
            </a:r>
          </a:p>
          <a:p>
            <a:pPr>
              <a:spcBef>
                <a:spcPts val="200"/>
              </a:spcBef>
              <a:defRPr sz="819">
                <a:solidFill>
                  <a:srgbClr val="0F172A"/>
                </a:solidFill>
              </a:defRPr>
            </a:pPr>
            <a:r>
              <a:t>Kiểm thử tự động bao phủ toàn diện I/O đĩa vật lý sửa, thêm, xóa và nhất quán</a:t>
            </a:r>
          </a:p>
        </p:txBody>
      </p:sp>
      <p:sp>
        <p:nvSpPr>
          <p:cNvPr id="13" name="Rounded Rectangle 12"/>
          <p:cNvSpPr/>
          <p:nvPr/>
        </p:nvSpPr>
        <p:spPr>
          <a:xfrm>
            <a:off x="6263640" y="5111496"/>
            <a:ext cx="4937760" cy="96012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000">
                <a:solidFill>
                  <a:srgbClr val="D97706"/>
                </a:solidFill>
              </a:defRPr>
            </a:pPr>
            <a:r>
              <a:t>★ 1.000 TỆP THỰC NGHIỆM</a:t>
            </a:r>
          </a:p>
          <a:p>
            <a:pPr>
              <a:spcBef>
                <a:spcPts val="200"/>
              </a:spcBef>
              <a:defRPr sz="819">
                <a:solidFill>
                  <a:srgbClr val="0F172A"/>
                </a:solidFill>
              </a:defRPr>
            </a:pPr>
            <a:r>
              <a:t>Bộ dữ liệu doanh nghiệp thật (4.1 MB, 14 định dạng) đo 5 vòng lặp độc lập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6. Dẫn Chứng Chứng Minh Chi Tiết Điểm Đối Chiếu 1, 2 Và 3</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Chứng Minh Toán Học Và Khảo Nghiệm Thực Tế</a:t>
            </a:r>
          </a:p>
          <a:p>
            <a:pPr>
              <a:defRPr b="1" sz="930">
                <a:solidFill>
                  <a:srgbClr val="2563EB"/>
                </a:solidFill>
              </a:defRPr>
            </a:pPr>
            <a:r>
              <a:t>• Điểm 1: Không gian tìm kiếm kẻ thù PPT (Mục 4 Trang 7 Tài liệu [33, 34]):</a:t>
            </a:r>
          </a:p>
          <a:p>
            <a:pPr>
              <a:spcBef>
                <a:spcPts val="150"/>
              </a:spcBef>
              <a:defRPr sz="880">
                <a:solidFill>
                  <a:srgbClr val="0F172A"/>
                </a:solidFill>
              </a:defRPr>
            </a:pPr>
            <a:r>
              <a:t>- Lý thuyết bài báo: Kẻ tấn công thời gian đa thức không thể giải bài toán tìm tiền ảnh hoặc va chạm băm nếu không gian khóa đủ lớn.</a:t>
            </a:r>
            <a:br/>
            <a:r>
              <a:t>- Dẫn chứng toán học: Mã băm SHA-256 có độ dài 256 bit. Không gian tìm kiếm là 2^256 chuỗi. Dù kẻ thù dùng thuật toán ngày sinh (Birthday Attack), độ phức tạp vẫn là 2^128 phép băm. Xác suất thành công thực nghiệm đo được qua 50 lượt thử thách đối kháng là 0.0%.</a:t>
            </a:r>
          </a:p>
          <a:p>
            <a:pPr>
              <a:spcBef>
                <a:spcPts val="500"/>
              </a:spcBef>
              <a:defRPr b="1" sz="930">
                <a:solidFill>
                  <a:srgbClr val="2563EB"/>
                </a:solidFill>
              </a:defRPr>
            </a:pPr>
            <a:r>
              <a:t>• Điểm 2: Nguyên lý Kerckhoffs về tính minh bạch (Mục 2 Trang 3 Tài liệu [14, 15]):</a:t>
            </a:r>
          </a:p>
          <a:p>
            <a:pPr>
              <a:spcBef>
                <a:spcPts val="150"/>
              </a:spcBef>
              <a:defRPr sz="880">
                <a:solidFill>
                  <a:srgbClr val="0F172A"/>
                </a:solidFill>
              </a:defRPr>
            </a:pPr>
            <a:r>
              <a:t>- Lý thuyết bài báo: Độ an toàn của hệ thống không được dựa vào sự bí mật của mã nguồn mà chỉ dựa vào khóa hoặc giá trị băm tin cậy.</a:t>
            </a:r>
            <a:br/>
            <a:r>
              <a:t>- Dẫn chứng chứng minh: Nhóm công khai toàn bộ mã nguồn trên máy chủ, công khai cấu trúc cây Merkle. Người kiểm tra chỉ cần nắm giữ đúng chuỗi băm gốc 32 byte (256 bit) có không gian tìm kiếm 2 mũ 256, bất khả thi đối với mọi siêu máy tính.</a:t>
            </a:r>
          </a:p>
          <a:p>
            <a:pPr>
              <a:spcBef>
                <a:spcPts val="500"/>
              </a:spcBef>
              <a:defRPr b="1" sz="930">
                <a:solidFill>
                  <a:srgbClr val="2563EB"/>
                </a:solidFill>
              </a:defRPr>
            </a:pPr>
            <a:r>
              <a:t>• Điểm 3: Ba hành vi kẻ thù chủ động Dolev-Yao (Mục 4 Trang 8 Tài liệu [52]):</a:t>
            </a:r>
          </a:p>
          <a:p>
            <a:pPr>
              <a:spcBef>
                <a:spcPts val="150"/>
              </a:spcBef>
              <a:defRPr sz="880">
                <a:solidFill>
                  <a:srgbClr val="0F172A"/>
                </a:solidFill>
              </a:defRPr>
            </a:pPr>
            <a:r>
              <a:t>- Lý thuyết bài báo: Kẻ tấn công mạng có toàn quyền can thiệp, đánh tráo và giả mạo thông điệp.</a:t>
            </a:r>
            <a:br/>
            <a:r>
              <a:t>- Dẫn chứng chứng minh: Lập trình sẵn 3 nút mô phỏng tấn công trong web_demo.py. Thao tác trên 1.000 tệp tin cho thấy hệ thống phát hiện chính xác 100% tệp bị can thiệp và định vị trong 0.022 ms.</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438912"/>
          </a:xfrm>
          <a:prstGeom prst="round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199632" y="138074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5936" y="138074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0" y="1380744"/>
            <a:ext cx="100584" cy="1005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766560" y="1316736"/>
            <a:ext cx="4480560" cy="2743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850">
                <a:solidFill>
                  <a:srgbClr val="64748B"/>
                </a:solidFill>
              </a:defRPr>
            </a:pPr>
            <a:r>
              <a:t>🔒 127.0.0.1:8080/dashboard</a:t>
            </a:r>
          </a:p>
        </p:txBody>
      </p:sp>
      <p:sp>
        <p:nvSpPr>
          <p:cNvPr id="14" name="Rounded Rectangle 13"/>
          <p:cNvSpPr/>
          <p:nvPr/>
        </p:nvSpPr>
        <p:spPr>
          <a:xfrm>
            <a:off x="6217920" y="1783080"/>
            <a:ext cx="5029200" cy="640080"/>
          </a:xfrm>
          <a:prstGeom prst="roundRect">
            <a:avLst/>
          </a:prstGeom>
          <a:solidFill>
            <a:srgbClr val="FEF2F2"/>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DC2626"/>
                </a:solidFill>
              </a:defRPr>
            </a:pPr>
            <a:r>
              <a:t>⚠️ PHÁT HIỆN TẤN CÔNG: VI PHẠM TOÀN VẸN DỮ LIỆU!</a:t>
            </a:r>
          </a:p>
          <a:p>
            <a:pPr>
              <a:defRPr sz="800">
                <a:solidFill>
                  <a:srgbClr val="0F172A"/>
                </a:solidFill>
              </a:defRPr>
            </a:pPr>
            <a:r>
              <a:t>Thuật toán HD-MerkleTree phát hiện sai khác tức thì và cô lập tệp tin bị can thiệp.</a:t>
            </a:r>
          </a:p>
        </p:txBody>
      </p:sp>
      <p:sp>
        <p:nvSpPr>
          <p:cNvPr id="15" name="Rounded Rectangle 14"/>
          <p:cNvSpPr/>
          <p:nvPr/>
        </p:nvSpPr>
        <p:spPr>
          <a:xfrm>
            <a:off x="6217920" y="2514600"/>
            <a:ext cx="5029200" cy="21031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19">
                <a:solidFill>
                  <a:srgbClr val="DC2626"/>
                </a:solidFill>
              </a:defRPr>
            </a:pPr>
            <a:r>
              <a:t>• Vị trí tệp tin bị sửa đổi: certificates/pdf_audits/Chung_Thu_Kiem_Toan_110.pdf</a:t>
            </a:r>
          </a:p>
          <a:p>
            <a:pPr>
              <a:spcBef>
                <a:spcPts val="300"/>
              </a:spcBef>
              <a:defRPr sz="819">
                <a:solidFill>
                  <a:srgbClr val="0F172A"/>
                </a:solidFill>
              </a:defRPr>
            </a:pPr>
            <a:r>
              <a:t>• Hành vi kẻ tấn công: Mô phỏng đảo 1-bit ngẫu nhiên tại byte offset 0x008E</a:t>
            </a:r>
          </a:p>
          <a:p>
            <a:pPr>
              <a:spcBef>
                <a:spcPts val="300"/>
              </a:spcBef>
              <a:defRPr sz="819">
                <a:solidFill>
                  <a:srgbClr val="0F172A"/>
                </a:solidFill>
              </a:defRPr>
            </a:pPr>
            <a:r>
              <a:t>• Tốc độ định vị lỗi: 0.022 ms (Duyệt theo nhánh phân cấp Biba O(log N))</a:t>
            </a:r>
          </a:p>
          <a:p>
            <a:pPr>
              <a:spcBef>
                <a:spcPts val="300"/>
              </a:spcBef>
              <a:defRPr sz="819">
                <a:solidFill>
                  <a:srgbClr val="0F172A"/>
                </a:solidFill>
              </a:defRPr>
            </a:pPr>
            <a:r>
              <a:t>• Tỷ lệ nguyên vẹn kho dữ liệu: 99.9% (999/1.000 tệp tin còn lại an toàn tuyệt đối)</a:t>
            </a:r>
          </a:p>
          <a:p>
            <a:pPr>
              <a:spcBef>
                <a:spcPts val="300"/>
              </a:spcBef>
              <a:defRPr sz="819">
                <a:solidFill>
                  <a:srgbClr val="0F172A"/>
                </a:solidFill>
              </a:defRPr>
            </a:pPr>
            <a:r>
              <a:t>• Trạng thái phản ứng hệ thống: BLOCKED - Từ chối xác thực tệp hỏng, giữ nguyên State Root</a:t>
            </a:r>
          </a:p>
        </p:txBody>
      </p:sp>
      <p:sp>
        <p:nvSpPr>
          <p:cNvPr id="16" name="Rounded Rectangle 15"/>
          <p:cNvSpPr/>
          <p:nvPr/>
        </p:nvSpPr>
        <p:spPr>
          <a:xfrm>
            <a:off x="6217920" y="4754880"/>
            <a:ext cx="5029200" cy="146304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DẪN CHỨNG CHỨNG MINH KHOA HỌC:</a:t>
            </a:r>
          </a:p>
          <a:p>
            <a:pPr>
              <a:spcBef>
                <a:spcPts val="300"/>
              </a:spcBef>
              <a:defRPr sz="819">
                <a:solidFill>
                  <a:srgbClr val="0F172A"/>
                </a:solidFill>
              </a:defRPr>
            </a:pPr>
            <a:r>
              <a:t>Nhờ phân cấp thư mục Biba 1977, hệ thống chỉ duyệt nhánh vi phạm thay vì quét toàn bộ 1.000 tệp tin. Thời gian định vị tệp lỗi nhanh hơn 4.000 lần so với duyệt tuần tự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2: PHƯƠNG PHÁP LUẬN NGHIÊN CỨU</a:t>
            </a:r>
          </a:p>
          <a:p>
            <a:pPr>
              <a:spcBef>
                <a:spcPts val="200"/>
              </a:spcBef>
              <a:defRPr b="1" sz="1700">
                <a:solidFill>
                  <a:srgbClr val="FFFFFF"/>
                </a:solidFill>
              </a:defRPr>
            </a:pPr>
            <a:r>
              <a:t>7. Dẫn Chứng Chứng Minh Chi Tiết Điểm Đối Chiếu 4, 5 Và 6</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Chứng Minh Toán Học Và Khảo Nghiệm Thực Tế</a:t>
            </a:r>
          </a:p>
          <a:p>
            <a:pPr>
              <a:defRPr b="1" sz="930">
                <a:solidFill>
                  <a:srgbClr val="2563EB"/>
                </a:solidFill>
              </a:defRPr>
            </a:pPr>
            <a:r>
              <a:t>• Điểm 4: Nguy cơ va chạm ghép chuỗi và Chuẩn RFC 6962 (Mục 5 Trang 8-10):</a:t>
            </a:r>
          </a:p>
          <a:p>
            <a:pPr>
              <a:spcBef>
                <a:spcPts val="150"/>
              </a:spcBef>
              <a:defRPr sz="880">
                <a:solidFill>
                  <a:srgbClr val="0F172A"/>
                </a:solidFill>
              </a:defRPr>
            </a:pPr>
            <a:r>
              <a:t>- Lý thuyết bài báo: Cây Merkle thông thường nếu băm nút lá và nhánh cùng chung định dạng H(a || b) sẽ bị tấn công tráo đổi lá thành nhánh.</a:t>
            </a:r>
            <a:br/>
            <a:r>
              <a:t>- Dẫn chứng toán học: Nhóm áp dụng RFC 6962 phân tách miền: Lá = H(0x00 || Dữ liệu) và Nhánh = H(0x01 || Trái || Phải). Do tập tiền tố rời nhau, xác suất va chạm giả mạo triệt tiêu về dưới 2 mũ âm 128, chứng minh an toàn tuyệt đối.</a:t>
            </a:r>
          </a:p>
          <a:p>
            <a:pPr>
              <a:spcBef>
                <a:spcPts val="500"/>
              </a:spcBef>
              <a:defRPr b="1" sz="930">
                <a:solidFill>
                  <a:srgbClr val="2563EB"/>
                </a:solidFill>
              </a:defRPr>
            </a:pPr>
            <a:r>
              <a:t>• Điểm 5: Xác minh cục bộ O(log N) của Ralph Merkle (Mục 4 Trang 5 Tài liệu [27]):</a:t>
            </a:r>
          </a:p>
          <a:p>
            <a:pPr>
              <a:spcBef>
                <a:spcPts val="150"/>
              </a:spcBef>
              <a:defRPr sz="880">
                <a:solidFill>
                  <a:srgbClr val="0F172A"/>
                </a:solidFill>
              </a:defRPr>
            </a:pPr>
            <a:r>
              <a:t>- Lý thuyết bài báo: Bằng chứng Merkle cho phép xác minh độc lập 1 tệp với độ phức tạp O(log N) thay vì phải tải và kiểm tra toàn bộ O(N) tệp tin.</a:t>
            </a:r>
            <a:br/>
            <a:r>
              <a:t>- Dẫn chứng số liệu: Trên 1.000 tệp tin, chiều cao cây chỉ là 10-13 tầng băm. Kích thước bằng chứng chỉ 1.37 KB (1.369 Byte) so với toàn bộ danh mục 111.13 KB, tiết kiệm 98.8% băng thông mạng và thời gian xác minh chỉ mất 0.02 ms.</a:t>
            </a:r>
          </a:p>
          <a:p>
            <a:pPr>
              <a:spcBef>
                <a:spcPts val="500"/>
              </a:spcBef>
              <a:defRPr b="1" sz="930">
                <a:solidFill>
                  <a:srgbClr val="2563EB"/>
                </a:solidFill>
              </a:defRPr>
            </a:pPr>
            <a:r>
              <a:t>• Điểm 6: Lời kêu gọi kiểm nghiệm thực tế (Mục 7 Trang 14-15):</a:t>
            </a:r>
          </a:p>
          <a:p>
            <a:pPr>
              <a:spcBef>
                <a:spcPts val="150"/>
              </a:spcBef>
              <a:defRPr sz="880">
                <a:solidFill>
                  <a:srgbClr val="0F172A"/>
                </a:solidFill>
              </a:defRPr>
            </a:pPr>
            <a:r>
              <a:t>- Lý thuyết bài báo: Mật mã học đòi hỏi đánh giá trên dữ liệu thực tế biến thiên kích thước.</a:t>
            </a:r>
            <a:br/>
            <a:r>
              <a:t>- Dẫn chứng thực thi: Nhóm xây dựng 1.000 tệp tin thực tế, đo đạc độc lập 5 lần bằng hàm CPU thời gian thực perf_counter.</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399032"/>
            <a:ext cx="4937760" cy="457200"/>
          </a:xfrm>
          <a:prstGeom prst="rect">
            <a:avLst/>
          </a:prstGeom>
          <a:noFill/>
        </p:spPr>
        <p:txBody>
          <a:bodyPr wrap="none">
            <a:spAutoFit/>
          </a:bodyPr>
          <a:lstStyle/>
          <a:p>
            <a:pPr>
              <a:defRPr b="1" sz="1100">
                <a:solidFill>
                  <a:srgbClr val="1E3A8A"/>
                </a:solidFill>
              </a:defRPr>
            </a:pPr>
            <a:r>
              <a:t>SƠ ĐỒ CÂY MERKLE PHÂN TÁCH MIỀN RFC 6962</a:t>
            </a:r>
          </a:p>
        </p:txBody>
      </p:sp>
      <p:sp>
        <p:nvSpPr>
          <p:cNvPr id="10" name="Rounded Rectangle 9"/>
          <p:cNvSpPr/>
          <p:nvPr/>
        </p:nvSpPr>
        <p:spPr>
          <a:xfrm>
            <a:off x="7680960" y="1874520"/>
            <a:ext cx="2011680" cy="594360"/>
          </a:xfrm>
          <a:prstGeom prst="round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00">
                <a:solidFill>
                  <a:srgbClr val="FFFFFF"/>
                </a:solidFill>
              </a:defRPr>
            </a:pPr>
            <a:r>
              <a:t>ROOT HASH (32 B)</a:t>
            </a:r>
            <a:br/>
            <a:r>
              <a:t>Hierarchical State Root</a:t>
            </a:r>
          </a:p>
        </p:txBody>
      </p:sp>
      <p:sp>
        <p:nvSpPr>
          <p:cNvPr id="11" name="Rounded Rectangle 10"/>
          <p:cNvSpPr/>
          <p:nvPr/>
        </p:nvSpPr>
        <p:spPr>
          <a:xfrm>
            <a:off x="6400800" y="2743200"/>
            <a:ext cx="2103120" cy="64008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00">
                <a:solidFill>
                  <a:srgbClr val="2563EB"/>
                </a:solidFill>
              </a:defRPr>
            </a:pPr>
            <a:r>
              <a:t>NÚT NHÁNH 1 (0x01)</a:t>
            </a:r>
            <a:br/>
            <a:r>
              <a:t>H(0x01 || Trái || Phải)</a:t>
            </a:r>
          </a:p>
        </p:txBody>
      </p:sp>
      <p:sp>
        <p:nvSpPr>
          <p:cNvPr id="12" name="Rounded Rectangle 11"/>
          <p:cNvSpPr/>
          <p:nvPr/>
        </p:nvSpPr>
        <p:spPr>
          <a:xfrm>
            <a:off x="8869680" y="2743200"/>
            <a:ext cx="2103120" cy="64008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00">
                <a:solidFill>
                  <a:srgbClr val="2563EB"/>
                </a:solidFill>
              </a:defRPr>
            </a:pPr>
            <a:r>
              <a:t>NÚT NHÁNH 2 (0x01)</a:t>
            </a:r>
            <a:br/>
            <a:r>
              <a:t>H(0x01 || Trái || Phải)</a:t>
            </a:r>
          </a:p>
        </p:txBody>
      </p:sp>
      <p:sp>
        <p:nvSpPr>
          <p:cNvPr id="13" name="Rounded Rectangle 12"/>
          <p:cNvSpPr/>
          <p:nvPr/>
        </p:nvSpPr>
        <p:spPr>
          <a:xfrm>
            <a:off x="6263640" y="3657600"/>
            <a:ext cx="1143000" cy="77724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750">
                <a:solidFill>
                  <a:srgbClr val="D97706"/>
                </a:solidFill>
              </a:defRPr>
            </a:pPr>
            <a:r>
              <a:t>LÁ 1 (0x00)</a:t>
            </a:r>
          </a:p>
          <a:p>
            <a:pPr algn="ctr">
              <a:defRPr sz="700">
                <a:solidFill>
                  <a:srgbClr val="0F172A"/>
                </a:solidFill>
              </a:defRPr>
            </a:pPr>
            <a:r>
              <a:t>H(0x00||Data)</a:t>
            </a:r>
          </a:p>
        </p:txBody>
      </p:sp>
      <p:sp>
        <p:nvSpPr>
          <p:cNvPr id="14" name="Rounded Rectangle 13"/>
          <p:cNvSpPr/>
          <p:nvPr/>
        </p:nvSpPr>
        <p:spPr>
          <a:xfrm>
            <a:off x="7498080" y="3657600"/>
            <a:ext cx="1143000" cy="77724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750">
                <a:solidFill>
                  <a:srgbClr val="D97706"/>
                </a:solidFill>
              </a:defRPr>
            </a:pPr>
            <a:r>
              <a:t>LÁ 2 (0x00)</a:t>
            </a:r>
          </a:p>
          <a:p>
            <a:pPr algn="ctr">
              <a:defRPr sz="700">
                <a:solidFill>
                  <a:srgbClr val="0F172A"/>
                </a:solidFill>
              </a:defRPr>
            </a:pPr>
            <a:r>
              <a:t>H(0x00||Data)</a:t>
            </a:r>
          </a:p>
        </p:txBody>
      </p:sp>
      <p:sp>
        <p:nvSpPr>
          <p:cNvPr id="15" name="Rounded Rectangle 14"/>
          <p:cNvSpPr/>
          <p:nvPr/>
        </p:nvSpPr>
        <p:spPr>
          <a:xfrm>
            <a:off x="8732520" y="3657600"/>
            <a:ext cx="1143000" cy="77724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750">
                <a:solidFill>
                  <a:srgbClr val="D97706"/>
                </a:solidFill>
              </a:defRPr>
            </a:pPr>
            <a:r>
              <a:t>LÁ 3 (0x00)</a:t>
            </a:r>
          </a:p>
          <a:p>
            <a:pPr algn="ctr">
              <a:defRPr sz="700">
                <a:solidFill>
                  <a:srgbClr val="0F172A"/>
                </a:solidFill>
              </a:defRPr>
            </a:pPr>
            <a:r>
              <a:t>H(0x00||Data)</a:t>
            </a:r>
          </a:p>
        </p:txBody>
      </p:sp>
      <p:sp>
        <p:nvSpPr>
          <p:cNvPr id="16" name="Rounded Rectangle 15"/>
          <p:cNvSpPr/>
          <p:nvPr/>
        </p:nvSpPr>
        <p:spPr>
          <a:xfrm>
            <a:off x="9966960" y="3657600"/>
            <a:ext cx="1143000" cy="777240"/>
          </a:xfrm>
          <a:prstGeom prst="roundRect">
            <a:avLst/>
          </a:prstGeom>
          <a:solidFill>
            <a:srgbClr val="FEF3C7"/>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750">
                <a:solidFill>
                  <a:srgbClr val="D97706"/>
                </a:solidFill>
              </a:defRPr>
            </a:pPr>
            <a:r>
              <a:t>LÁ 4 (0x00)</a:t>
            </a:r>
          </a:p>
          <a:p>
            <a:pPr algn="ctr">
              <a:defRPr sz="700">
                <a:solidFill>
                  <a:srgbClr val="0F172A"/>
                </a:solidFill>
              </a:defRPr>
            </a:pPr>
            <a:r>
              <a:t>H(0x00||Data)</a:t>
            </a:r>
          </a:p>
        </p:txBody>
      </p:sp>
      <p:sp>
        <p:nvSpPr>
          <p:cNvPr id="17" name="Rounded Rectangle 16"/>
          <p:cNvSpPr/>
          <p:nvPr/>
        </p:nvSpPr>
        <p:spPr>
          <a:xfrm>
            <a:off x="6263640" y="4709160"/>
            <a:ext cx="4937760" cy="15087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CHỨNG MINH TOÁN HỌC KHÁNG SECOND-PREIMAGE:</a:t>
            </a:r>
          </a:p>
          <a:p>
            <a:pPr>
              <a:spcBef>
                <a:spcPts val="300"/>
              </a:spcBef>
              <a:defRPr sz="819">
                <a:solidFill>
                  <a:srgbClr val="0F172A"/>
                </a:solidFill>
              </a:defRPr>
            </a:pPr>
            <a:r>
              <a:t>Do tiền tố 0x00 (Lá) và 0x01 (Nhánh) là hai tập byte rời nhau, không tồn tại bất kỳ chuỗi dữ liệu tệp nào có thể tạo ra mã băm trùng khớp với nút nhánh. Xác suất giả mạo triệt tiêu về dưới 2^-128 theo Birthday bound của SHA-256.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3: DỮ LIỆU THỰC NGHIỆM VÀ KIẾN TRÚC KỸ THUẬT</a:t>
            </a:r>
          </a:p>
          <a:p>
            <a:pPr>
              <a:spcBef>
                <a:spcPts val="200"/>
              </a:spcBef>
              <a:defRPr b="1" sz="1700">
                <a:solidFill>
                  <a:srgbClr val="FFFFFF"/>
                </a:solidFill>
              </a:defRPr>
            </a:pPr>
            <a:r>
              <a:t>8. Quy Trình Hiện Thực Hóa Kỹ Thuật 3 Giai Đoạn Từ Lý Thuyết Đến Mã Nguồn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Quy Trình Hiện Thực Hóa Kỹ Thuật Chuẩn Khoa Học</a:t>
            </a:r>
          </a:p>
          <a:p>
            <a:pPr>
              <a:defRPr b="1" sz="930">
                <a:solidFill>
                  <a:srgbClr val="2563EB"/>
                </a:solidFill>
              </a:defRPr>
            </a:pPr>
            <a:r>
              <a:t>• Giai đoạn 1: Nghiên cứu lý thuyết &amp; Dịch thuật chuyên sâu:</a:t>
            </a:r>
          </a:p>
          <a:p>
            <a:pPr>
              <a:spcBef>
                <a:spcPts val="150"/>
              </a:spcBef>
              <a:defRPr sz="880">
                <a:solidFill>
                  <a:srgbClr val="0F172A"/>
                </a:solidFill>
              </a:defRPr>
            </a:pPr>
            <a:r>
              <a:t>- Dịch toàn văn 28 trang bài báo tiếng Anh của Harry Halpin (2025).</a:t>
            </a:r>
            <a:br/>
            <a:r>
              <a:t>- Trích xuất và mô hình hóa toán học 6 luận điểm then chốt.</a:t>
            </a:r>
            <a:br/>
            <a:r>
              <a:t>- Phát hiện vấn đề: Cây Merkle phẳng truyền thống bị nút thắt cổ chai Rebuild O(N) khi Thêm/Xóa tệp.</a:t>
            </a:r>
          </a:p>
          <a:p>
            <a:pPr>
              <a:spcBef>
                <a:spcPts val="500"/>
              </a:spcBef>
              <a:defRPr b="1" sz="930">
                <a:solidFill>
                  <a:srgbClr val="2563EB"/>
                </a:solidFill>
              </a:defRPr>
            </a:pPr>
            <a:r>
              <a:t>• Giai đoạn 2: Thiết kế kiến trúc PoC &amp; Mô phỏng an ninh:</a:t>
            </a:r>
          </a:p>
          <a:p>
            <a:pPr>
              <a:spcBef>
                <a:spcPts val="150"/>
              </a:spcBef>
              <a:defRPr sz="880">
                <a:solidFill>
                  <a:srgbClr val="0F172A"/>
                </a:solidFill>
              </a:defRPr>
            </a:pPr>
            <a:r>
              <a:t>- Thiết kế mô hình Cây Merkle phân cấp HD-MerkleTree theo cấu trúc Biba 1977.</a:t>
            </a:r>
            <a:br/>
            <a:r>
              <a:t>- Tích hợp chuẩn phân tách miền RFC 6962 và cơ chế xóa bộ nhớ an toàn.</a:t>
            </a:r>
            <a:br/>
            <a:r>
              <a:t>- Lập trình độc lập 7 mô hình kiểm định an ninh hình thức (security_games.py).</a:t>
            </a:r>
          </a:p>
          <a:p>
            <a:pPr>
              <a:spcBef>
                <a:spcPts val="500"/>
              </a:spcBef>
              <a:defRPr b="1" sz="930">
                <a:solidFill>
                  <a:srgbClr val="2563EB"/>
                </a:solidFill>
              </a:defRPr>
            </a:pPr>
            <a:r>
              <a:t>• Giai đoạn 3: Xây dựng tập dữ liệu &amp; Thực nghiệm định lượng:</a:t>
            </a:r>
          </a:p>
          <a:p>
            <a:pPr>
              <a:spcBef>
                <a:spcPts val="150"/>
              </a:spcBef>
              <a:defRPr sz="880">
                <a:solidFill>
                  <a:srgbClr val="0F172A"/>
                </a:solidFill>
              </a:defRPr>
            </a:pPr>
            <a:r>
              <a:t>- Sinh tập dữ liệu thực tế realistic_dataset gồm 1.000 tệp tin, 23 thư mục (4.1 MB, 14 định dạng: PDF, log, source code, hình ảnh).</a:t>
            </a:r>
            <a:br/>
            <a:r>
              <a:t>- Đo lường đối đầu 4 cơ chế bảo mật qua 5 vòng lặp độc lập, xuất JSON &amp; CSV.</a:t>
            </a:r>
            <a:br/>
            <a:r>
              <a:t>- Đóng gói giao diện Web Demo trực quan trình diễn trước hội đồng.</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none">
            <a:spAutoFit/>
          </a:bodyPr>
          <a:lstStyle/>
          <a:p>
            <a:pPr>
              <a:defRPr b="1" sz="1100">
                <a:solidFill>
                  <a:srgbClr val="1E3A8A"/>
                </a:solidFill>
              </a:defRPr>
            </a:pPr>
            <a:r>
              <a:t>QUY TRÌNH HIỆN THỰC HÓA BA GIAI ĐOẠN</a:t>
            </a:r>
          </a:p>
        </p:txBody>
      </p:sp>
      <p:sp>
        <p:nvSpPr>
          <p:cNvPr id="10" name="Rounded Rectangle 9"/>
          <p:cNvSpPr/>
          <p:nvPr/>
        </p:nvSpPr>
        <p:spPr>
          <a:xfrm>
            <a:off x="6263640" y="1874520"/>
            <a:ext cx="4937760" cy="1280160"/>
          </a:xfrm>
          <a:prstGeom prst="roundRect">
            <a:avLst/>
          </a:prstGeom>
          <a:solidFill>
            <a:srgbClr val="EFF6FF"/>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GIAI ĐOẠN 1: DỊCH THUẬT &amp; KHUNG LÝ THUYẾT</a:t>
            </a:r>
          </a:p>
          <a:p>
            <a:pPr>
              <a:spcBef>
                <a:spcPts val="300"/>
              </a:spcBef>
              <a:defRPr sz="819">
                <a:solidFill>
                  <a:srgbClr val="0F172A"/>
                </a:solidFill>
              </a:defRPr>
            </a:pPr>
            <a:r>
              <a:t>• Dịch học thuật toàn văn bài báo Harry Halpin 2025.</a:t>
            </a:r>
            <a:br/>
            <a:r>
              <a:t>• Trích xuất 6 luận điểm an ninh mật mã học cốt lõi.</a:t>
            </a:r>
            <a:br/>
            <a:r>
              <a:t>• Xác định lỗ hổng Rebuild O(N) của cây Merkle phẳng.</a:t>
            </a:r>
          </a:p>
        </p:txBody>
      </p:sp>
      <p:sp>
        <p:nvSpPr>
          <p:cNvPr id="11" name="Rounded Rectangle 10"/>
          <p:cNvSpPr/>
          <p:nvPr/>
        </p:nvSpPr>
        <p:spPr>
          <a:xfrm>
            <a:off x="6263640" y="3291840"/>
            <a:ext cx="4937760" cy="1280160"/>
          </a:xfrm>
          <a:prstGeom prst="roundRect">
            <a:avLst/>
          </a:prstGeom>
          <a:solidFill>
            <a:srgbClr val="FAF5FF"/>
          </a:solidFill>
          <a:ln>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7E22CE"/>
                </a:solidFill>
              </a:defRPr>
            </a:pPr>
            <a:r>
              <a:t>GIAI ĐOẠN 2: THIẾT KẾ &amp; HIỆN THỰC HÓA PoC</a:t>
            </a:r>
          </a:p>
          <a:p>
            <a:pPr>
              <a:spcBef>
                <a:spcPts val="300"/>
              </a:spcBef>
              <a:defRPr sz="819">
                <a:solidFill>
                  <a:srgbClr val="0F172A"/>
                </a:solidFill>
              </a:defRPr>
            </a:pPr>
            <a:r>
              <a:t>• Phát triển HD-MerkleTree phân cấp Biba 1977.</a:t>
            </a:r>
            <a:br/>
            <a:r>
              <a:t>• Cài đặt chuẩn tiền tố RFC 6962 Domain Separation.</a:t>
            </a:r>
            <a:br/>
            <a:r>
              <a:t>• Lập trình khung 7 Security Games độc lập.</a:t>
            </a:r>
          </a:p>
        </p:txBody>
      </p:sp>
      <p:sp>
        <p:nvSpPr>
          <p:cNvPr id="12" name="Rounded Rectangle 11"/>
          <p:cNvSpPr/>
          <p:nvPr/>
        </p:nvSpPr>
        <p:spPr>
          <a:xfrm>
            <a:off x="6263640" y="4709160"/>
            <a:ext cx="4937760" cy="128016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GIAI ĐOẠN 3: ĐO LƯỜNG THỰC NGHIỆM ĐỊNH LƯỢNG</a:t>
            </a:r>
          </a:p>
          <a:p>
            <a:pPr>
              <a:spcBef>
                <a:spcPts val="300"/>
              </a:spcBef>
              <a:defRPr sz="819">
                <a:solidFill>
                  <a:srgbClr val="0F172A"/>
                </a:solidFill>
              </a:defRPr>
            </a:pPr>
            <a:r>
              <a:t>• Xây dựng bộ 1.000 tệp tin thực tế (4.1 MB, 23 thư mục).</a:t>
            </a:r>
            <a:br/>
            <a:r>
              <a:t>• Đo kiểm 5 vòng độc lập bằng time.perf_counter().</a:t>
            </a:r>
            <a:br/>
            <a:r>
              <a:t>• Tích hợp Web Demo trực quan kiểm thử một chạm.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9. Hiện Thực Hóa 3 Mô Hình Kiểm Tra Toàn Vẹn Nền Tảng Đối Chứng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Đặc Điểm Kỹ Thuật Và Kết Quả Đo Đạc 3 Mô Hình</a:t>
            </a:r>
          </a:p>
          <a:p>
            <a:pPr>
              <a:defRPr b="1" sz="930">
                <a:solidFill>
                  <a:srgbClr val="2563EB"/>
                </a:solidFill>
              </a:defRPr>
            </a:pPr>
            <a:r>
              <a:t>• Mô hình 1: Danh sách phẳng băm SHA-256 (sha256_manifest.py):</a:t>
            </a:r>
          </a:p>
          <a:p>
            <a:pPr>
              <a:spcBef>
                <a:spcPts val="150"/>
              </a:spcBef>
              <a:defRPr sz="880">
                <a:solidFill>
                  <a:srgbClr val="0F172A"/>
                </a:solidFill>
              </a:defRPr>
            </a:pPr>
            <a:r>
              <a:t>- Nguyên lý: Băm tuần tự từng tệp tin và lưu chuỗi băm tổng hợp.</a:t>
            </a:r>
            <a:br/>
            <a:r>
              <a:t>- Bằng chứng thực nghiệm: Khởi tạo ~62.6 ms, dung lượng bảng 111.13 KB. Hạn chế: Muốn kiểm tra 1 tệp tin trong mô hình cơ bản, máy khách phải lưu toàn bộ manifest 111 KB (hoặc quét tệp tốn 0.17 ms).</a:t>
            </a:r>
          </a:p>
          <a:p>
            <a:pPr>
              <a:spcBef>
                <a:spcPts val="500"/>
              </a:spcBef>
              <a:defRPr b="1" sz="930">
                <a:solidFill>
                  <a:srgbClr val="2563EB"/>
                </a:solidFill>
              </a:defRPr>
            </a:pPr>
            <a:r>
              <a:t>• Mô hình 2: Danh sách băm có khóa bí mật HMAC (hmac_manifest.py):</a:t>
            </a:r>
          </a:p>
          <a:p>
            <a:pPr>
              <a:spcBef>
                <a:spcPts val="150"/>
              </a:spcBef>
              <a:defRPr sz="880">
                <a:solidFill>
                  <a:srgbClr val="0F172A"/>
                </a:solidFill>
              </a:defRPr>
            </a:pPr>
            <a:r>
              <a:t>- Nguyên lý: Sử dụng khóa bí mật đối xứng K để chống giả mạo danh mục.</a:t>
            </a:r>
            <a:br/>
            <a:r>
              <a:t>- Bằng chứng thực nghiệm: Khởi tạo ~60.6 ms, dung lượng 111.14 KB. Hạn chế: Buộc phải phân phối khóa bí mật K cho máy khách, chưa hỗ trợ chống chối bỏ bất đối xứng.</a:t>
            </a:r>
          </a:p>
          <a:p>
            <a:pPr>
              <a:spcBef>
                <a:spcPts val="500"/>
              </a:spcBef>
              <a:defRPr b="1" sz="930">
                <a:solidFill>
                  <a:srgbClr val="2563EB"/>
                </a:solidFill>
              </a:defRPr>
            </a:pPr>
            <a:r>
              <a:t>• Mô hình 3: Cây Merkle nhị phân truyền thống (standard_merkle_tree.py):</a:t>
            </a:r>
          </a:p>
          <a:p>
            <a:pPr>
              <a:spcBef>
                <a:spcPts val="150"/>
              </a:spcBef>
              <a:defRPr sz="880">
                <a:solidFill>
                  <a:srgbClr val="0F172A"/>
                </a:solidFill>
              </a:defRPr>
            </a:pPr>
            <a:r>
              <a:t>- Nguyên lý: Cây Merkle phẳng chuẩn theo phát minh Ralph Merkle năm 1978.</a:t>
            </a:r>
            <a:br/>
            <a:r>
              <a:t>- Bằng chứng thực nghiệm: Cho phép tạo bằng chứng xác thực từng tệp nặng chỉ 990 Byte, kiểm tra trong 0.02 ms, tiết kiệm hơn 99% băng thông.</a:t>
            </a:r>
          </a:p>
          <a:p>
            <a:pPr>
              <a:spcBef>
                <a:spcPts val="500"/>
              </a:spcBef>
              <a:defRPr b="1" sz="930">
                <a:solidFill>
                  <a:srgbClr val="2563EB"/>
                </a:solidFill>
              </a:defRPr>
            </a:pPr>
            <a:r>
              <a:t>• Đánh giá kết quả:</a:t>
            </a:r>
          </a:p>
          <a:p>
            <a:pPr>
              <a:spcBef>
                <a:spcPts val="150"/>
              </a:spcBef>
              <a:defRPr sz="880">
                <a:solidFill>
                  <a:srgbClr val="0F172A"/>
                </a:solidFill>
              </a:defRPr>
            </a:pPr>
            <a:r>
              <a:t>Cả 3 mô hình đều phát hiện chính xác 100% khi xảy ra tấn công trên 1.000 tệp tin.</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438912"/>
          </a:xfrm>
          <a:prstGeom prst="round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199632" y="138074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5936" y="138074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0" y="1380744"/>
            <a:ext cx="100584" cy="1005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766560" y="1316736"/>
            <a:ext cx="4480560" cy="2743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850">
                <a:solidFill>
                  <a:srgbClr val="64748B"/>
                </a:solidFill>
              </a:defRPr>
            </a:pPr>
            <a:r>
              <a:t>🔒 127.0.0.1:8080/monitor</a:t>
            </a:r>
          </a:p>
        </p:txBody>
      </p:sp>
      <p:sp>
        <p:nvSpPr>
          <p:cNvPr id="14" name="Rounded Rectangle 13"/>
          <p:cNvSpPr/>
          <p:nvPr/>
        </p:nvSpPr>
        <p:spPr>
          <a:xfrm>
            <a:off x="6217920" y="1783080"/>
            <a:ext cx="5029200" cy="64008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059669"/>
                </a:solidFill>
              </a:defRPr>
            </a:pPr>
            <a:r>
              <a:t>✓ HỆ THỐNG AN TOÀN: ĐÃ NẠP 1.000 TỆP TIN NGUYÊN BẢN</a:t>
            </a:r>
          </a:p>
          <a:p>
            <a:pPr>
              <a:defRPr sz="800">
                <a:solidFill>
                  <a:srgbClr val="0F172A"/>
                </a:solidFill>
              </a:defRPr>
            </a:pPr>
            <a:r>
              <a:t>Toàn bộ 1.000 tệp tin đã được lập chỉ mục băm và khởi tạo cây trạng thái thành công.</a:t>
            </a:r>
          </a:p>
        </p:txBody>
      </p:sp>
      <p:sp>
        <p:nvSpPr>
          <p:cNvPr id="15" name="Rounded Rectangle 14"/>
          <p:cNvSpPr/>
          <p:nvPr/>
        </p:nvSpPr>
        <p:spPr>
          <a:xfrm>
            <a:off x="6217920" y="2514600"/>
            <a:ext cx="5029200" cy="20574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19">
                <a:solidFill>
                  <a:srgbClr val="0F172A"/>
                </a:solidFill>
              </a:defRPr>
            </a:pPr>
            <a:r>
              <a:t>• Tổng số tệp tin quản lý: 1.000 tệp tin (Dung lượng tổng: 4.10 MB)</a:t>
            </a:r>
          </a:p>
          <a:p>
            <a:pPr>
              <a:spcBef>
                <a:spcPts val="300"/>
              </a:spcBef>
              <a:defRPr sz="819">
                <a:solidFill>
                  <a:srgbClr val="0F172A"/>
                </a:solidFill>
              </a:defRPr>
            </a:pPr>
            <a:r>
              <a:t>• Cấu trúc phân tầng Biba: 44 nút thư mục phân cấp (23 thư mục vật lý)</a:t>
            </a:r>
          </a:p>
          <a:p>
            <a:pPr>
              <a:spcBef>
                <a:spcPts val="300"/>
              </a:spcBef>
              <a:defRPr sz="819">
                <a:solidFill>
                  <a:srgbClr val="1E3A8A"/>
                </a:solidFill>
              </a:defRPr>
            </a:pPr>
            <a:r>
              <a:t>• Mã băm gốc SHA-256 Root: 68b6ff85d8ff48dcf7cfb21ab07edb6d...</a:t>
            </a:r>
          </a:p>
          <a:p>
            <a:pPr>
              <a:spcBef>
                <a:spcPts val="300"/>
              </a:spcBef>
              <a:defRPr sz="819">
                <a:solidFill>
                  <a:srgbClr val="0F172A"/>
                </a:solidFill>
              </a:defRPr>
            </a:pPr>
            <a:r>
              <a:t>• Hierarchical State Root: c00746adfd343a50bc8b04838c2b5eb3...</a:t>
            </a:r>
          </a:p>
          <a:p>
            <a:pPr>
              <a:spcBef>
                <a:spcPts val="300"/>
              </a:spcBef>
              <a:defRPr sz="819">
                <a:solidFill>
                  <a:srgbClr val="0F172A"/>
                </a:solidFill>
              </a:defRPr>
            </a:pPr>
            <a:r>
              <a:t>• Thời gian khởi tạo ban đầu: 62.58 ms (Flat SHA) | 89.91 ms (HD-MerkleTree)</a:t>
            </a:r>
          </a:p>
        </p:txBody>
      </p:sp>
      <p:sp>
        <p:nvSpPr>
          <p:cNvPr id="16" name="Rounded Rectangle 15"/>
          <p:cNvSpPr/>
          <p:nvPr/>
        </p:nvSpPr>
        <p:spPr>
          <a:xfrm>
            <a:off x="6217920" y="4709160"/>
            <a:ext cx="5029200" cy="150876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ĐỐI CHUẨN 3 MÔ HÌNH NỀN TẢNG (BASELINE):</a:t>
            </a:r>
          </a:p>
          <a:p>
            <a:pPr>
              <a:spcBef>
                <a:spcPts val="300"/>
              </a:spcBef>
              <a:defRPr sz="819">
                <a:solidFill>
                  <a:srgbClr val="0F172A"/>
                </a:solidFill>
              </a:defRPr>
            </a:pPr>
            <a:r>
              <a:t>Cả 3 mô hình nền tảng (Flat SHA-256, HMAC-SHA256, Standard Merkle Tree) đều được hiện thực hóa độc lập và đo đạc trên cùng tập dữ liệu để đảm bảo tính khách quan tuyệt đối.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10. Sơ Đồ Kiến Trúc Đề Xuất HD-MerkleTree &amp; Cơ Chế Xóa Bộ Nhớ</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Giải Thích Chi Tiết 5 Tầng Kiến Trúc Hệ Thống (hd_merkle_tree.py)</a:t>
            </a:r>
          </a:p>
          <a:p>
            <a:pPr>
              <a:defRPr b="1" sz="869">
                <a:solidFill>
                  <a:srgbClr val="2563EB"/>
                </a:solidFill>
              </a:defRPr>
            </a:pPr>
            <a:r>
              <a:t>• Tầng 1: Lưu trữ phân tầng Biba 1977:</a:t>
            </a:r>
          </a:p>
          <a:p>
            <a:pPr>
              <a:spcBef>
                <a:spcPts val="150"/>
              </a:spcBef>
              <a:defRPr sz="819">
                <a:solidFill>
                  <a:srgbClr val="0F172A"/>
                </a:solidFill>
              </a:defRPr>
            </a:pPr>
            <a:r>
              <a:t>Tổ chức 1.000 tệp tin trong 23 thư mục theo mô hình toàn vẹn Biba. Kháng tấn công ghi ngược từ tệp thường lên thư mục bảo mật.</a:t>
            </a:r>
          </a:p>
          <a:p>
            <a:pPr>
              <a:spcBef>
                <a:spcPts val="500"/>
              </a:spcBef>
              <a:defRPr b="1" sz="869">
                <a:solidFill>
                  <a:srgbClr val="2563EB"/>
                </a:solidFill>
              </a:defRPr>
            </a:pPr>
            <a:r>
              <a:t>• Tầng 2: Phân tách miền băm chuẩn RFC 6962:</a:t>
            </a:r>
          </a:p>
          <a:p>
            <a:pPr>
              <a:spcBef>
                <a:spcPts val="150"/>
              </a:spcBef>
              <a:defRPr sz="819">
                <a:solidFill>
                  <a:srgbClr val="0F172A"/>
                </a:solidFill>
              </a:defRPr>
            </a:pPr>
            <a:r>
              <a:t>Gắn tiền tố 0x00 cho lá và 0x01 cho nhánh. Hai tập tiền tố hoàn toàn rời nhau, triệt tiêu 100% va chạm tiền ảnh cấp hai.</a:t>
            </a:r>
          </a:p>
          <a:p>
            <a:pPr>
              <a:spcBef>
                <a:spcPts val="500"/>
              </a:spcBef>
              <a:defRPr b="1" sz="869">
                <a:solidFill>
                  <a:srgbClr val="2563EB"/>
                </a:solidFill>
              </a:defRPr>
            </a:pPr>
            <a:r>
              <a:t>• Tầng 3: Động cơ Cây Merkle phân cấp trong RAM &amp; Cập nhật Dirty-Path:</a:t>
            </a:r>
          </a:p>
          <a:p>
            <a:pPr>
              <a:spcBef>
                <a:spcPts val="150"/>
              </a:spcBef>
              <a:defRPr sz="819">
                <a:solidFill>
                  <a:srgbClr val="0F172A"/>
                </a:solidFill>
              </a:defRPr>
            </a:pPr>
            <a:r>
              <a:t>Băm song song (~89.9 ms / 1.000 tệp). Cập nhật cục bộ Dirty-Path: khi sửa 1 tệp chỉ tính lại h=4 nút tổ tiên trong ~0.14 ms; khi thêm/xóa đạt 0.10 - 0.16 ms (nhanh hơn 458 - 708 lần so với Standard Merkle ~71-73 ms Rebuild mảng 1D).</a:t>
            </a:r>
          </a:p>
          <a:p>
            <a:pPr>
              <a:spcBef>
                <a:spcPts val="500"/>
              </a:spcBef>
              <a:defRPr b="1" sz="869">
                <a:solidFill>
                  <a:srgbClr val="2563EB"/>
                </a:solidFill>
              </a:defRPr>
            </a:pPr>
            <a:r>
              <a:t>• Tầng 4: Bộ tạo bằng chứng xác thực tối ưu:</a:t>
            </a:r>
          </a:p>
          <a:p>
            <a:pPr>
              <a:spcBef>
                <a:spcPts val="150"/>
              </a:spcBef>
              <a:defRPr sz="819">
                <a:solidFill>
                  <a:srgbClr val="0F172A"/>
                </a:solidFill>
              </a:defRPr>
            </a:pPr>
            <a:r>
              <a:t>Tạo Inclusion Proof gọn nhẹ 1.37 KB (1.369 Byte, tiết kiệm 98.8% băng thông), và Bằng chứng Nhất quán RFC 6962 độc lập chứng minh kho dữ liệu là append-only.</a:t>
            </a:r>
          </a:p>
          <a:p>
            <a:pPr>
              <a:spcBef>
                <a:spcPts val="500"/>
              </a:spcBef>
              <a:defRPr b="1" sz="869">
                <a:solidFill>
                  <a:srgbClr val="2563EB"/>
                </a:solidFill>
              </a:defRPr>
            </a:pPr>
            <a:r>
              <a:t>• Tầng 5: Bảo vệ Kênh kề &amp; Cơ chế Xóa sạch Bộ nhớ (Memory Zeroization):</a:t>
            </a:r>
          </a:p>
          <a:p>
            <a:pPr>
              <a:spcBef>
                <a:spcPts val="150"/>
              </a:spcBef>
              <a:defRPr sz="819">
                <a:solidFill>
                  <a:srgbClr val="0F172A"/>
                </a:solidFill>
              </a:defRPr>
            </a:pPr>
            <a:r>
              <a:t>Hàm hmac.compare_digest triệt tiêu kênh kề đo thời gian O(1) theo Kocher 1996; hàm secure_erase() xóa đè RAM ngăn kẻ thù trích xuất bộ nhớ (Memory Dump Adversary).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399032"/>
            <a:ext cx="4937760" cy="457200"/>
          </a:xfrm>
          <a:prstGeom prst="rect">
            <a:avLst/>
          </a:prstGeom>
          <a:noFill/>
        </p:spPr>
        <p:txBody>
          <a:bodyPr wrap="none">
            <a:spAutoFit/>
          </a:bodyPr>
          <a:lstStyle/>
          <a:p>
            <a:pPr>
              <a:defRPr b="1" sz="1100">
                <a:solidFill>
                  <a:srgbClr val="1E3A8A"/>
                </a:solidFill>
              </a:defRPr>
            </a:pPr>
            <a:r>
              <a:t>SƠ ĐỒ 5 TẦNG KIẾN TRÚC MÔ HÌNH ĐỀ XUẤT HD-MERKLETREE</a:t>
            </a:r>
          </a:p>
        </p:txBody>
      </p:sp>
      <p:sp>
        <p:nvSpPr>
          <p:cNvPr id="10" name="Rounded Rectangle 9"/>
          <p:cNvSpPr/>
          <p:nvPr/>
        </p:nvSpPr>
        <p:spPr>
          <a:xfrm>
            <a:off x="6263640" y="1874520"/>
            <a:ext cx="4937760" cy="804672"/>
          </a:xfrm>
          <a:prstGeom prst="roundRect">
            <a:avLst/>
          </a:prstGeom>
          <a:solidFill>
            <a:srgbClr val="EEF2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1E3A8A"/>
                </a:solidFill>
              </a:defRPr>
            </a:pPr>
            <a:r>
              <a:t>TẦNG 5: CLIENT VERIFICATION &amp; ZEROIZATION</a:t>
            </a:r>
          </a:p>
          <a:p>
            <a:pPr>
              <a:spcBef>
                <a:spcPts val="200"/>
              </a:spcBef>
              <a:defRPr sz="780">
                <a:solidFill>
                  <a:srgbClr val="0F172A"/>
                </a:solidFill>
              </a:defRPr>
            </a:pPr>
            <a:r>
              <a:t>Hàm hmac.compare_digest() O(1) chống kênh kề Kocher 1996; secure_erase() xóa đè RAM.</a:t>
            </a:r>
          </a:p>
        </p:txBody>
      </p:sp>
      <p:sp>
        <p:nvSpPr>
          <p:cNvPr id="11" name="Rounded Rectangle 10"/>
          <p:cNvSpPr/>
          <p:nvPr/>
        </p:nvSpPr>
        <p:spPr>
          <a:xfrm>
            <a:off x="6263640" y="2770632"/>
            <a:ext cx="4937760" cy="804672"/>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2563EB"/>
                </a:solidFill>
              </a:defRPr>
            </a:pPr>
            <a:r>
              <a:t>TẦNG 4: PROOF GENERATOR ENGINE</a:t>
            </a:r>
          </a:p>
          <a:p>
            <a:pPr>
              <a:spcBef>
                <a:spcPts val="200"/>
              </a:spcBef>
              <a:defRPr sz="780">
                <a:solidFill>
                  <a:srgbClr val="0F172A"/>
                </a:solidFill>
              </a:defRPr>
            </a:pPr>
            <a:r>
              <a:t>Tạo Inclusion Proof gọn nhẹ 1.369 Byte (tiết kiệm 98.8% băng thông) &amp; Consistency Proof RFC 6962.</a:t>
            </a:r>
          </a:p>
        </p:txBody>
      </p:sp>
      <p:sp>
        <p:nvSpPr>
          <p:cNvPr id="12" name="Rounded Rectangle 11"/>
          <p:cNvSpPr/>
          <p:nvPr/>
        </p:nvSpPr>
        <p:spPr>
          <a:xfrm>
            <a:off x="6263640" y="3666744"/>
            <a:ext cx="4937760" cy="804672"/>
          </a:xfrm>
          <a:prstGeom prst="roundRect">
            <a:avLst/>
          </a:prstGeom>
          <a:solidFill>
            <a:srgbClr val="FAF5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7E22CE"/>
                </a:solidFill>
              </a:defRPr>
            </a:pPr>
            <a:r>
              <a:t>TẦNG 3: IN-MEMORY DYNAMIC MERKLE ENGINE</a:t>
            </a:r>
          </a:p>
          <a:p>
            <a:pPr>
              <a:spcBef>
                <a:spcPts val="200"/>
              </a:spcBef>
              <a:defRPr sz="780">
                <a:solidFill>
                  <a:srgbClr val="0F172A"/>
                </a:solidFill>
              </a:defRPr>
            </a:pPr>
            <a:r>
              <a:t>ThreadPool băm song song, bộ nhớ đệm Dirty-Path cập nhật cục bộ chỉ h=4 nút tổ tiên.</a:t>
            </a:r>
          </a:p>
        </p:txBody>
      </p:sp>
      <p:sp>
        <p:nvSpPr>
          <p:cNvPr id="13" name="Rounded Rectangle 12"/>
          <p:cNvSpPr/>
          <p:nvPr/>
        </p:nvSpPr>
        <p:spPr>
          <a:xfrm>
            <a:off x="6263640" y="4562856"/>
            <a:ext cx="4937760" cy="804672"/>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D97706"/>
                </a:solidFill>
              </a:defRPr>
            </a:pPr>
            <a:r>
              <a:t>TẦNG 2: RFC 6962 DOMAIN SEPARATION</a:t>
            </a:r>
          </a:p>
          <a:p>
            <a:pPr>
              <a:spcBef>
                <a:spcPts val="200"/>
              </a:spcBef>
              <a:defRPr sz="780">
                <a:solidFill>
                  <a:srgbClr val="0F172A"/>
                </a:solidFill>
              </a:defRPr>
            </a:pPr>
            <a:r>
              <a:t>Gắn tiền tố byte 0x00 cho nút lá và 0x01 cho nút nhánh, triệt tiêu 100% va chạm tiền ảnh cấp 2.</a:t>
            </a:r>
          </a:p>
        </p:txBody>
      </p:sp>
      <p:sp>
        <p:nvSpPr>
          <p:cNvPr id="14" name="Rounded Rectangle 13"/>
          <p:cNvSpPr/>
          <p:nvPr/>
        </p:nvSpPr>
        <p:spPr>
          <a:xfrm>
            <a:off x="6263640" y="5458968"/>
            <a:ext cx="4937760" cy="804672"/>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50">
                <a:solidFill>
                  <a:srgbClr val="059669"/>
                </a:solidFill>
              </a:defRPr>
            </a:pPr>
            <a:r>
              <a:t>TẦNG 1: MULTI-TIER STORAGE (BIBA 1977)</a:t>
            </a:r>
          </a:p>
          <a:p>
            <a:pPr>
              <a:spcBef>
                <a:spcPts val="200"/>
              </a:spcBef>
              <a:defRPr sz="780">
                <a:solidFill>
                  <a:srgbClr val="0F172A"/>
                </a:solidFill>
              </a:defRPr>
            </a:pPr>
            <a:r>
              <a:t>Tổ chức 1.000 tệp tin trong 23 thư mục theo mô hình toàn vẹn phân cấp Biba (No write-up).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4A: TRỤ CỘT I - KỸ THUẬT HỆ THỐNG &amp; POC (HƯỚNG 1)</a:t>
            </a:r>
          </a:p>
          <a:p>
            <a:pPr>
              <a:spcBef>
                <a:spcPts val="200"/>
              </a:spcBef>
              <a:defRPr b="1" sz="1700">
                <a:solidFill>
                  <a:srgbClr val="FFFFFF"/>
                </a:solidFill>
              </a:defRPr>
            </a:pPr>
            <a:r>
              <a:t>11. Bốn Dẫn Chứng Chứng Minh Kỹ Thuật Đột Phá Của Mô Hình HD-MerkleTree</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4 Dẫn Chứng Chứng Minh Cải Tiến Do Nhóm Tự Xây Dựng</a:t>
            </a:r>
          </a:p>
          <a:p>
            <a:pPr>
              <a:defRPr b="1" sz="930">
                <a:solidFill>
                  <a:srgbClr val="2563EB"/>
                </a:solidFill>
              </a:defRPr>
            </a:pPr>
            <a:r>
              <a:t>• 1. Ánh xạ trực tiếp cấu trúc thư mục tự nhiên theo mô hình Biba 1977:</a:t>
            </a:r>
          </a:p>
          <a:p>
            <a:pPr>
              <a:spcBef>
                <a:spcPts val="150"/>
              </a:spcBef>
              <a:defRPr sz="880">
                <a:solidFill>
                  <a:srgbClr val="0F172A"/>
                </a:solidFill>
              </a:defRPr>
            </a:pPr>
            <a:r>
              <a:t>- Chứng minh: Cây Merkle phản chiếu chính xác từng thư mục cha, con. Nhờ đó, thuật toán định vị lỗi chỉ duyệt theo nhánh vi phạm trong O(k log N) thay vì duyệt toàn bộ O(N) 1.000 tệp tin, xác định tệp hỏng chỉ trong 0.022 ms.</a:t>
            </a:r>
          </a:p>
          <a:p>
            <a:pPr>
              <a:spcBef>
                <a:spcPts val="500"/>
              </a:spcBef>
              <a:defRPr b="1" sz="930">
                <a:solidFill>
                  <a:srgbClr val="2563EB"/>
                </a:solidFill>
              </a:defRPr>
            </a:pPr>
            <a:r>
              <a:t>• 2. Chuẩn phân tách miền RFC 6962 triệt tiêu va chạm:</a:t>
            </a:r>
          </a:p>
          <a:p>
            <a:pPr>
              <a:spcBef>
                <a:spcPts val="150"/>
              </a:spcBef>
              <a:defRPr sz="880">
                <a:solidFill>
                  <a:srgbClr val="0F172A"/>
                </a:solidFill>
              </a:defRPr>
            </a:pPr>
            <a:r>
              <a:t>- Chứng minh: Gắn tiền tố byte 0x00 cho lá và 0x01 cho nhánh. Không gian băm nút lá và nhánh hoàn toàn tách biệt, triệt tiêu 100% tấn công giả mạo tiền ảnh cấp 2 với xác suất va chạm dưới 2 mũ âm 128.</a:t>
            </a:r>
          </a:p>
          <a:p>
            <a:pPr>
              <a:spcBef>
                <a:spcPts val="500"/>
              </a:spcBef>
              <a:defRPr b="1" sz="930">
                <a:solidFill>
                  <a:srgbClr val="2563EB"/>
                </a:solidFill>
              </a:defRPr>
            </a:pPr>
            <a:r>
              <a:t>• 3. Lan truyền đường dẫn bẩn cục bộ siêu tốc khi cập nhật tệp:</a:t>
            </a:r>
          </a:p>
          <a:p>
            <a:pPr>
              <a:spcBef>
                <a:spcPts val="150"/>
              </a:spcBef>
              <a:defRPr sz="880">
                <a:solidFill>
                  <a:srgbClr val="0F172A"/>
                </a:solidFill>
              </a:defRPr>
            </a:pPr>
            <a:r>
              <a:t>- Chứng minh toán học: Khi sửa 1 tệp tin, chỉ cần băm lại đúng h = 4 nút tổ tiên từ lá lên đỉnh cây (~0.14 ms). Thời gian thực nghiệm khi thêm/xóa tệp đạt 0.10 - 0.16 ms so với 70.81 - 73.42 ms của Standard Merkle (nhanh hơn 458 - 708 lần do cấu trúc mảng 1D của Standard Merkle phải Rebuild O(N)).</a:t>
            </a:r>
          </a:p>
          <a:p>
            <a:pPr>
              <a:spcBef>
                <a:spcPts val="500"/>
              </a:spcBef>
              <a:defRPr b="1" sz="930">
                <a:solidFill>
                  <a:srgbClr val="2563EB"/>
                </a:solidFill>
              </a:defRPr>
            </a:pPr>
            <a:r>
              <a:t>• 4. Bằng chứng nhất quán RFC 6962 và Phòng chống kênh kề đo thời gian:</a:t>
            </a:r>
          </a:p>
          <a:p>
            <a:pPr>
              <a:spcBef>
                <a:spcPts val="150"/>
              </a:spcBef>
              <a:defRPr sz="880">
                <a:solidFill>
                  <a:srgbClr val="0F172A"/>
                </a:solidFill>
              </a:defRPr>
            </a:pPr>
            <a:r>
              <a:t>- Chứng minh: Bằng chứng tính nhất quán chỉ cần 10 nút (320 byte) chứng minh kho dữ liệu là append-only, chống chèn backdoor lịch sử. Sử dụng hàm hmac.compare_digest triệt tiêu hoàn toàn tấn công kênh kề theo Kocher 1996.</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399032"/>
            <a:ext cx="4937760" cy="457200"/>
          </a:xfrm>
          <a:prstGeom prst="rect">
            <a:avLst/>
          </a:prstGeom>
          <a:noFill/>
        </p:spPr>
        <p:txBody>
          <a:bodyPr wrap="none">
            <a:spAutoFit/>
          </a:bodyPr>
          <a:lstStyle/>
          <a:p>
            <a:pPr>
              <a:defRPr b="1" sz="1100">
                <a:solidFill>
                  <a:srgbClr val="1E3A8A"/>
                </a:solidFill>
              </a:defRPr>
            </a:pPr>
            <a:r>
              <a:t>BIỂU ĐỒ ĐỐI SÁNH THỜI GIAN CẬP NHẬT TỆP (MS)</a:t>
            </a:r>
          </a:p>
        </p:txBody>
      </p:sp>
      <p:graphicFrame>
        <p:nvGraphicFramePr>
          <p:cNvPr id="10" name="Chart 9"/>
          <p:cNvGraphicFramePr>
            <a:graphicFrameLocks noGrp="1"/>
          </p:cNvGraphicFramePr>
          <p:nvPr/>
        </p:nvGraphicFramePr>
        <p:xfrm>
          <a:off x="6263640" y="1874520"/>
          <a:ext cx="4937760" cy="2926080"/>
        </p:xfrm>
        <a:graphic>
          <a:graphicData uri="http://schemas.openxmlformats.org/drawingml/2006/chart">
            <c:chart xmlns:c="http://schemas.openxmlformats.org/drawingml/2006/chart" r:id="rId2"/>
          </a:graphicData>
        </a:graphic>
      </p:graphicFrame>
      <p:sp>
        <p:nvSpPr>
          <p:cNvPr id="11" name="Rounded Rectangle 10"/>
          <p:cNvSpPr/>
          <p:nvPr/>
        </p:nvSpPr>
        <p:spPr>
          <a:xfrm>
            <a:off x="6263640" y="4892040"/>
            <a:ext cx="4937760" cy="132588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 ĐỘT PHÁ TỐC ĐỘ CẬP NHẬT CỦA HD-MERKLETREE:</a:t>
            </a:r>
          </a:p>
          <a:p>
            <a:pPr>
              <a:spcBef>
                <a:spcPts val="300"/>
              </a:spcBef>
              <a:defRPr sz="819">
                <a:solidFill>
                  <a:srgbClr val="0F172A"/>
                </a:solidFill>
              </a:defRPr>
            </a:pPr>
            <a:r>
              <a:t>• Thêm tệp mới: Nhanh hơn 458 lần (0.16 ms so với 73.42 ms)</a:t>
            </a:r>
            <a:br/>
            <a:r>
              <a:t>• Xóa tệp tin: Nhanh hơn 708 lần (0.10 ms so với 70.81 ms)</a:t>
            </a:r>
            <a:br/>
            <a:r>
              <a:t>• Nguyên nhân: Tránh Rebuild O(N) nhờ cơ chế lan truyền Dirty-Path cục bộ.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4B: TRỤ CỘT III - THỰC NGHIỆM ĐỊNH LƯỢNG QUY MÔ LỚN (HƯỚNG 4)</a:t>
            </a:r>
          </a:p>
          <a:p>
            <a:pPr>
              <a:spcBef>
                <a:spcPts val="200"/>
              </a:spcBef>
              <a:defRPr b="1" sz="1700">
                <a:solidFill>
                  <a:srgbClr val="FFFFFF"/>
                </a:solidFill>
              </a:defRPr>
            </a:pPr>
            <a:r>
              <a:t>12. Bảng Đo Lường Số Liệu Thực Nghiệm Đối Đầu Trên 1.000 Tệp Tin</a:t>
            </a:r>
          </a:p>
        </p:txBody>
      </p:sp>
      <p:sp>
        <p:nvSpPr>
          <p:cNvPr id="6" name="Rounded Rectangle 5"/>
          <p:cNvSpPr/>
          <p:nvPr/>
        </p:nvSpPr>
        <p:spPr>
          <a:xfrm>
            <a:off x="731520" y="1234440"/>
            <a:ext cx="56692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gridCol w="868680"/>
                <a:gridCol w="1005840"/>
                <a:gridCol w="868680"/>
                <a:gridCol w="1005840"/>
              </a:tblGrid>
              <a:tr h="493776">
                <a:tc>
                  <a:txBody>
                    <a:bodyPr/>
                    <a:lstStyle/>
                    <a:p>
                      <a:pPr algn="ctr">
                        <a:defRPr b="1" sz="950">
                          <a:solidFill>
                            <a:srgbClr val="FFFFFF"/>
                          </a:solidFill>
                        </a:defRPr>
                      </a:pPr>
                      <a:r>
                        <a:t>Cơ Chế Bảo Mật</a:t>
                      </a:r>
                    </a:p>
                  </a:txBody>
                  <a:tcPr>
                    <a:solidFill>
                      <a:srgbClr val="1E3A8A"/>
                    </a:solidFill>
                  </a:tcPr>
                </a:tc>
                <a:tc>
                  <a:txBody>
                    <a:bodyPr/>
                    <a:lstStyle/>
                    <a:p>
                      <a:pPr algn="ctr">
                        <a:defRPr b="1" sz="950">
                          <a:solidFill>
                            <a:srgbClr val="FFFFFF"/>
                          </a:solidFill>
                        </a:defRPr>
                      </a:pPr>
                      <a:r>
                        <a:t>Khởi Tạo</a:t>
                      </a:r>
                    </a:p>
                  </a:txBody>
                  <a:tcPr>
                    <a:solidFill>
                      <a:srgbClr val="1E3A8A"/>
                    </a:solidFill>
                  </a:tcPr>
                </a:tc>
                <a:tc>
                  <a:txBody>
                    <a:bodyPr/>
                    <a:lstStyle/>
                    <a:p>
                      <a:pPr algn="ctr">
                        <a:defRPr b="1" sz="950">
                          <a:solidFill>
                            <a:srgbClr val="FFFFFF"/>
                          </a:solidFill>
                        </a:defRPr>
                      </a:pPr>
                      <a:r>
                        <a:t>Xác Minh 1 Tệp</a:t>
                      </a:r>
                    </a:p>
                  </a:txBody>
                  <a:tcPr>
                    <a:solidFill>
                      <a:srgbClr val="1E3A8A"/>
                    </a:solidFill>
                  </a:tcPr>
                </a:tc>
                <a:tc>
                  <a:txBody>
                    <a:bodyPr/>
                    <a:lstStyle/>
                    <a:p>
                      <a:pPr algn="ctr">
                        <a:defRPr b="1" sz="950">
                          <a:solidFill>
                            <a:srgbClr val="FFFFFF"/>
                          </a:solidFill>
                        </a:defRPr>
                      </a:pPr>
                      <a:r>
                        <a:t>Dung Lượng Bảng</a:t>
                      </a:r>
                    </a:p>
                  </a:txBody>
                  <a:tcPr>
                    <a:solidFill>
                      <a:srgbClr val="1E3A8A"/>
                    </a:solidFill>
                  </a:tcPr>
                </a:tc>
                <a:tc>
                  <a:txBody>
                    <a:bodyPr/>
                    <a:lstStyle/>
                    <a:p>
                      <a:pPr algn="ctr">
                        <a:defRPr b="1" sz="950">
                          <a:solidFill>
                            <a:srgbClr val="FFFFFF"/>
                          </a:solidFill>
                        </a:defRPr>
                      </a:pPr>
                      <a:r>
                        <a:t>Bằng Chứng 1 Tệp</a:t>
                      </a:r>
                    </a:p>
                  </a:txBody>
                  <a:tcPr>
                    <a:solidFill>
                      <a:srgbClr val="1E3A8A"/>
                    </a:solidFill>
                  </a:tcPr>
                </a:tc>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62.58 ms</a:t>
                      </a:r>
                    </a:p>
                  </a:txBody>
                  <a:tcPr>
                    <a:solidFill>
                      <a:srgbClr val="FFFFFF"/>
                    </a:solidFill>
                  </a:tcPr>
                </a:tc>
                <a:tc>
                  <a:txBody>
                    <a:bodyPr/>
                    <a:lstStyle/>
                    <a:p>
                      <a:pPr algn="ctr">
                        <a:defRPr sz="900">
                          <a:solidFill>
                            <a:srgbClr val="0F172A"/>
                          </a:solidFill>
                        </a:defRPr>
                      </a:pPr>
                      <a:r>
                        <a:t>0.17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60.65 ms</a:t>
                      </a:r>
                    </a:p>
                  </a:txBody>
                  <a:tcPr>
                    <a:solidFill>
                      <a:srgbClr val="F8FAFC"/>
                    </a:solidFill>
                  </a:tcPr>
                </a:tc>
                <a:tc>
                  <a:txBody>
                    <a:bodyPr/>
                    <a:lstStyle/>
                    <a:p>
                      <a:pPr algn="ctr">
                        <a:defRPr sz="900">
                          <a:solidFill>
                            <a:srgbClr val="0F172A"/>
                          </a:solidFill>
                        </a:defRPr>
                      </a:pPr>
                      <a:r>
                        <a:t>0.07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Cần chia sẻ khóa K</a:t>
                      </a:r>
                    </a:p>
                  </a:txBody>
                  <a:tcPr>
                    <a:solidFill>
                      <a:srgbClr val="F8FAFC"/>
                    </a:solidFill>
                  </a:tcPr>
                </a:tc>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60.72 ms</a:t>
                      </a:r>
                    </a:p>
                  </a:txBody>
                  <a:tcPr>
                    <a:solidFill>
                      <a:srgbClr val="FFFFFF"/>
                    </a:solidFill>
                  </a:tcPr>
                </a:tc>
                <a:tc>
                  <a:txBody>
                    <a:bodyPr/>
                    <a:lstStyle/>
                    <a:p>
                      <a:pPr algn="ctr">
                        <a:defRPr sz="900">
                          <a:solidFill>
                            <a:srgbClr val="0F172A"/>
                          </a:solidFill>
                        </a:defRPr>
                      </a:pPr>
                      <a:r>
                        <a:t>0.02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990 Byte</a:t>
                      </a:r>
                    </a:p>
                  </a:txBody>
                  <a:tcPr>
                    <a:solidFill>
                      <a:srgbClr val="FFFFFF"/>
                    </a:solidFill>
                  </a:tcPr>
                </a:tc>
              </a:tr>
              <a:tr h="493776">
                <a:tc>
                  <a:txBody>
                    <a:bodyPr/>
                    <a:lstStyle/>
                    <a:p>
                      <a:pPr>
                        <a:defRPr sz="900" b="1">
                          <a:solidFill>
                            <a:srgbClr val="059669"/>
                          </a:solidFill>
                        </a:defRPr>
                      </a:pPr>
                      <a:r>
                        <a:t>4. Cây Merkle cải tiến</a:t>
                      </a:r>
                    </a:p>
                  </a:txBody>
                  <a:tcPr>
                    <a:solidFill>
                      <a:srgbClr val="ECFDF5"/>
                    </a:solidFill>
                  </a:tcPr>
                </a:tc>
                <a:tc>
                  <a:txBody>
                    <a:bodyPr/>
                    <a:lstStyle/>
                    <a:p>
                      <a:pPr algn="ctr">
                        <a:defRPr sz="900" b="1">
                          <a:solidFill>
                            <a:srgbClr val="059669"/>
                          </a:solidFill>
                        </a:defRPr>
                      </a:pPr>
                      <a:r>
                        <a:t>89.91 ms</a:t>
                      </a:r>
                    </a:p>
                  </a:txBody>
                  <a:tcPr>
                    <a:solidFill>
                      <a:srgbClr val="ECFDF5"/>
                    </a:solidFill>
                  </a:tcPr>
                </a:tc>
                <a:tc>
                  <a:txBody>
                    <a:bodyPr/>
                    <a:lstStyle/>
                    <a:p>
                      <a:pPr algn="ctr">
                        <a:defRPr sz="900" b="1">
                          <a:solidFill>
                            <a:srgbClr val="059669"/>
                          </a:solidFill>
                        </a:defRPr>
                      </a:pPr>
                      <a:r>
                        <a:t>0.02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1.369 Byte</a:t>
                      </a:r>
                    </a:p>
                  </a:txBody>
                  <a:tcPr>
                    <a:solidFill>
                      <a:srgbClr val="ECFDF5"/>
                    </a:solidFill>
                  </a:tcPr>
                </a:tc>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b="1" sz="1000">
                <a:solidFill>
                  <a:srgbClr val="1E3A8A"/>
                </a:solidFill>
              </a:defRPr>
            </a:pPr>
            <a:r>
              <a:t>Dẫn Chứng Chứng Minh 3 Chiều Giữa Bài Báo - Số Liệu - Ý Nghĩa:</a:t>
            </a:r>
          </a:p>
          <a:p>
            <a:pPr>
              <a:spcBef>
                <a:spcPts val="300"/>
              </a:spcBef>
              <a:defRPr b="1" sz="850">
                <a:solidFill>
                  <a:srgbClr val="2563EB"/>
                </a:solidFill>
              </a:defRPr>
            </a:pPr>
            <a:r>
              <a:t>• 1. Đối chiếu Bài báo khoa học (Mục 4, 5, 6, Tài liệu [27, 36, 109]):</a:t>
            </a:r>
          </a:p>
          <a:p>
            <a:pPr>
              <a:spcBef>
                <a:spcPts val="100"/>
              </a:spcBef>
              <a:defRPr sz="800">
                <a:solidFill>
                  <a:srgbClr val="0F172A"/>
                </a:solidFill>
              </a:defRPr>
            </a:pPr>
            <a:r>
              <a:t>Harry Halpin (2025) cung cấp khung lý thuyết về Kẻ tấn công hình thức, RFC 6962 và kiểm định PPT. Thực nghiệm định lượng trên 1.000 tệp tin là kết quả nghiên cứu độc lập của nhóm DT005.</a:t>
            </a:r>
          </a:p>
          <a:p>
            <a:pPr>
              <a:spcBef>
                <a:spcPts val="300"/>
              </a:spcBef>
              <a:defRPr b="1" sz="850">
                <a:solidFill>
                  <a:srgbClr val="2563EB"/>
                </a:solidFill>
              </a:defRPr>
            </a:pPr>
            <a:r>
              <a:t>• 2. Đối chiếu Số liệu Benchmark Thực nghiệm Độc lập (results/benchmark_results.json):</a:t>
            </a:r>
          </a:p>
          <a:p>
            <a:pPr>
              <a:spcBef>
                <a:spcPts val="100"/>
              </a:spcBef>
              <a:defRPr sz="800">
                <a:solidFill>
                  <a:srgbClr val="0F172A"/>
                </a:solidFill>
              </a:defRPr>
            </a:pPr>
            <a:r>
              <a:t>Xác minh 1 tệp = 0.02 ms (nhanh hơn ~8.5 lần so với Flat SHA-256 0.17 ms); Bằng chứng = 1.369 Byte (tiết kiệm 98.8% băng thông so với 111.13 KB manifest); Cập nhật động khi Thêm/Xóa = 0.10 - 0.16 ms (nhanh hơn 458 - 708 lần so với Standard Merkle ~71-73 ms Rebuild mảng 1D).</a:t>
            </a:r>
          </a:p>
          <a:p>
            <a:pPr>
              <a:spcBef>
                <a:spcPts val="300"/>
              </a:spcBef>
              <a:defRPr b="1" sz="850">
                <a:solidFill>
                  <a:srgbClr val="2563EB"/>
                </a:solidFill>
              </a:defRPr>
            </a:pPr>
            <a:r>
              <a:t>• 3. Giải thích ngắn gọn lý do vì sao tốt hơn (Có bằng chứng chứng minh):</a:t>
            </a:r>
          </a:p>
          <a:p>
            <a:pPr>
              <a:spcBef>
                <a:spcPts val="100"/>
              </a:spcBef>
              <a:defRPr sz="800">
                <a:solidFill>
                  <a:srgbClr val="0F172A"/>
                </a:solidFill>
              </a:defRPr>
            </a:pPr>
            <a:r>
              <a:t>Nhanh hơn khi Thêm/Xóa vì HD-Merkle chỉ cập nhật nhánh thư mục cục bộ O(log N) thay vì Rebuild toàn bộ O(N) của implementation Standard Merkle mảng 1D; Tiết kiệm 98.8% băng thông và bảo vệ 100% tính riêng tư vì chỉ truyền các nút anh em, không tiết lộ 999 tệp còn lại qua mạng.</a:t>
            </a:r>
          </a:p>
        </p:txBody>
      </p:sp>
      <p:sp>
        <p:nvSpPr>
          <p:cNvPr id="9" name="Rounded Rectangle 8"/>
          <p:cNvSpPr/>
          <p:nvPr/>
        </p:nvSpPr>
        <p:spPr>
          <a:xfrm>
            <a:off x="6675120" y="1234440"/>
            <a:ext cx="47548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399032"/>
            <a:ext cx="4389120" cy="457200"/>
          </a:xfrm>
          <a:prstGeom prst="rect">
            <a:avLst/>
          </a:prstGeom>
          <a:noFill/>
        </p:spPr>
        <p:txBody>
          <a:bodyPr wrap="none">
            <a:spAutoFit/>
          </a:bodyPr>
          <a:lstStyle/>
          <a:p>
            <a:pPr>
              <a:defRPr b="1" sz="1050">
                <a:solidFill>
                  <a:srgbClr val="1E3A8A"/>
                </a:solidFill>
              </a:defRPr>
            </a:pPr>
            <a:r>
              <a:t>BIỂU ĐỒ HIỆU NĂNG 4 MÔ HÌNH (1.000 TỆP TIN)</a:t>
            </a:r>
          </a:p>
        </p:txBody>
      </p:sp>
      <p:graphicFrame>
        <p:nvGraphicFramePr>
          <p:cNvPr id="11" name="Chart 10"/>
          <p:cNvGraphicFramePr>
            <a:graphicFrameLocks noGrp="1"/>
          </p:cNvGraphicFramePr>
          <p:nvPr/>
        </p:nvGraphicFramePr>
        <p:xfrm>
          <a:off x="6858000" y="1874520"/>
          <a:ext cx="4389120" cy="2926080"/>
        </p:xfrm>
        <a:graphic>
          <a:graphicData uri="http://schemas.openxmlformats.org/drawingml/2006/chart">
            <c:chart xmlns:c="http://schemas.openxmlformats.org/drawingml/2006/chart" r:id="rId2"/>
          </a:graphicData>
        </a:graphic>
      </p:graphicFrame>
      <p:sp>
        <p:nvSpPr>
          <p:cNvPr id="12" name="Rounded Rectangle 11"/>
          <p:cNvSpPr/>
          <p:nvPr/>
        </p:nvSpPr>
        <p:spPr>
          <a:xfrm>
            <a:off x="6858000" y="4892040"/>
            <a:ext cx="4389120" cy="137160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1E3A8A"/>
                </a:solidFill>
              </a:defRPr>
            </a:pPr>
            <a:r>
              <a:t>NHẬN XÉT THỰC NGHIỆM ĐỊNH LƯỢNG:</a:t>
            </a:r>
          </a:p>
          <a:p>
            <a:pPr>
              <a:spcBef>
                <a:spcPts val="200"/>
              </a:spcBef>
              <a:defRPr sz="800">
                <a:solidFill>
                  <a:srgbClr val="0F172A"/>
                </a:solidFill>
              </a:defRPr>
            </a:pPr>
            <a:r>
              <a:t>• Xác minh 1 tệp của HD-Merkle đạt 0.02 ms (nhanh hơn ~8.5 lần Flat SHA 0.17 ms).</a:t>
            </a:r>
            <a:br/>
            <a:r>
              <a:t>• Thời gian khởi tạo 89.91 ms hoàn toàn tối ưu cho 1.000 tệp trong 23 thư mục.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4C: TRỤ CỘT II - MÔ PHỎNG AN NINH HÌNH THỨC (HƯỚNG 2)</a:t>
            </a:r>
          </a:p>
          <a:p>
            <a:pPr>
              <a:spcBef>
                <a:spcPts val="200"/>
              </a:spcBef>
              <a:defRPr b="1" sz="1700">
                <a:solidFill>
                  <a:srgbClr val="FFFFFF"/>
                </a:solidFill>
              </a:defRPr>
            </a:pPr>
            <a:r>
              <a:t>13. Khung 7 Trò Chơi An Ninh Mật Mã Học (Games 1 – 4: Va Chạm, Mạng, Nút &amp; Tuyết Lở)</a:t>
            </a:r>
          </a:p>
        </p:txBody>
      </p:sp>
      <p:sp>
        <p:nvSpPr>
          <p:cNvPr id="6" name="Rounded Rectangle 5"/>
          <p:cNvSpPr/>
          <p:nvPr/>
        </p:nvSpPr>
        <p:spPr>
          <a:xfrm>
            <a:off x="731520" y="1234440"/>
            <a:ext cx="530352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846320" cy="4800600"/>
          </a:xfrm>
          <a:prstGeom prst="rect">
            <a:avLst/>
          </a:prstGeom>
          <a:noFill/>
        </p:spPr>
        <p:txBody>
          <a:bodyPr wrap="square">
            <a:spAutoFit/>
          </a:bodyPr>
          <a:lstStyle/>
          <a:p>
            <a:pPr>
              <a:spcAft>
                <a:spcPts val="800"/>
              </a:spcAft>
              <a:defRPr b="1" sz="1200">
                <a:solidFill>
                  <a:srgbClr val="1E3A8A"/>
                </a:solidFill>
              </a:defRPr>
            </a:pPr>
            <a:r>
              <a:t>Bốn Mô Hình Kiểm Định Toán Học Đối Kháng (Games 1 – 4)</a:t>
            </a:r>
          </a:p>
          <a:p>
            <a:pPr>
              <a:defRPr b="1" sz="790">
                <a:solidFill>
                  <a:srgbClr val="2563EB"/>
                </a:solidFill>
              </a:defRPr>
            </a:pPr>
            <a:r>
              <a:t>• Game 1: Chống tấn công tìm va chạm mã băm (PPT Adversary):</a:t>
            </a:r>
          </a:p>
          <a:p>
            <a:pPr>
              <a:spcBef>
                <a:spcPts val="150"/>
              </a:spcBef>
              <a:defRPr sz="740">
                <a:solidFill>
                  <a:srgbClr val="0F172A"/>
                </a:solidFill>
              </a:defRPr>
            </a:pPr>
            <a:r>
              <a:t>1. Ý nghĩa: Kẻ tấn công có năng lực tính toán ngẫu nhiên nhưng bị giới hạn về thời gian và tài nguyên (đa thức).</a:t>
            </a:r>
            <a:br/>
            <a:r>
              <a:t>2. Cách tấn công: Cố tìm 2 tệp khác nhau A != B sao cho SHA256(A) = SHA256(B) để đánh lừa hệ thống.</a:t>
            </a:r>
            <a:br/>
            <a:r>
              <a:t>3. Cách phòng thủ: SHA-256 (256-bit). Tìm va chạm ngẫu nhiên đòi hỏi ~2^128 phép băm theo Birthday bound.</a:t>
            </a:r>
            <a:br/>
            <a:r>
              <a:t>4. Kết quả: Thử nghiệm 50 lượt ngẫu nhiên: Kẻ thù thắng 0/50 (0.0%), lợi thế đối thủ Adv &lt;= 2^-128.</a:t>
            </a:r>
          </a:p>
          <a:p>
            <a:pPr>
              <a:spcBef>
                <a:spcPts val="500"/>
              </a:spcBef>
              <a:defRPr b="1" sz="790">
                <a:solidFill>
                  <a:srgbClr val="2563EB"/>
                </a:solidFill>
              </a:defRPr>
            </a:pPr>
            <a:r>
              <a:t>• Game 2: Chống kẻ tấn công đường truyền mạng (Dolev–Yao Adversary):</a:t>
            </a:r>
          </a:p>
          <a:p>
            <a:pPr>
              <a:spcBef>
                <a:spcPts val="150"/>
              </a:spcBef>
              <a:defRPr sz="740">
                <a:solidFill>
                  <a:srgbClr val="0F172A"/>
                </a:solidFill>
              </a:defRPr>
            </a:pPr>
            <a:r>
              <a:t>1. Ý nghĩa: Kẻ tấn công có quyền nghe lén, chặn, sửa đổi hoặc thay thế gói tin truyền giữa Server và Client.</a:t>
            </a:r>
            <a:br/>
            <a:r>
              <a:t>2. Cách tấn công: (1) Sửa nội dung tệp; (2) Thay đổi mã băm trong Proof; (3) Tráo đường dẫn tệp.</a:t>
            </a:r>
            <a:br/>
            <a:r>
              <a:t>3. Cách phòng thủ: Client lưu Root Hash tin cậy; tự băm tệp và lần ngược lên Root Hash theo chuỗi Proof.</a:t>
            </a:r>
            <a:br/>
            <a:r>
              <a:t>4. Kết quả: Phát hiện chính xác 100% mọi hành vi can thiệp làm sai lệch Root Hash.</a:t>
            </a:r>
          </a:p>
          <a:p>
            <a:pPr>
              <a:spcBef>
                <a:spcPts val="500"/>
              </a:spcBef>
              <a:defRPr b="1" sz="790">
                <a:solidFill>
                  <a:srgbClr val="2563EB"/>
                </a:solidFill>
              </a:defRPr>
            </a:pPr>
            <a:r>
              <a:t>• Game 3: Chống giả mạo nút lá và nút nhánh (Second-Preimage &amp; Domain Separation):</a:t>
            </a:r>
          </a:p>
          <a:p>
            <a:pPr>
              <a:spcBef>
                <a:spcPts val="150"/>
              </a:spcBef>
              <a:defRPr sz="740">
                <a:solidFill>
                  <a:srgbClr val="0F172A"/>
                </a:solidFill>
              </a:defRPr>
            </a:pPr>
            <a:r>
              <a:t>1. Ý nghĩa: Merkle Tree gồm nút lá (tệp dữ liệu) và nút nhánh (ghép băm); nếu không tách biệt sẽ bị đánh tráo.</a:t>
            </a:r>
            <a:br/>
            <a:r>
              <a:t>2. Cách tấn công: Tạo tệp chứa chuỗi ghép Left || Right nhằm lừa hệ thống coi tệp rác là một nút lá.</a:t>
            </a:r>
            <a:br/>
            <a:r>
              <a:t>3. Cách phòng thủ: Chuẩn RFC 6962: H_leaf = SHA256(0x00 || Data), H_branch = SHA256(0x01 || L || R).</a:t>
            </a:r>
            <a:br/>
            <a:r>
              <a:t>4. Kết quả: Hai miền tiền tố độc lập hoàn toàn, triệt tiêu 100% việc nhầm lẫn giữa lá và nhánh.</a:t>
            </a:r>
          </a:p>
          <a:p>
            <a:pPr>
              <a:spcBef>
                <a:spcPts val="500"/>
              </a:spcBef>
              <a:defRPr b="1" sz="790">
                <a:solidFill>
                  <a:srgbClr val="2563EB"/>
                </a:solidFill>
              </a:defRPr>
            </a:pPr>
            <a:r>
              <a:t>• Game 4: Kiểm tra hiệu ứng tuyết lở (Avalanche Effect):</a:t>
            </a:r>
          </a:p>
          <a:p>
            <a:pPr>
              <a:spcBef>
                <a:spcPts val="150"/>
              </a:spcBef>
              <a:defRPr sz="740">
                <a:solidFill>
                  <a:srgbClr val="0F172A"/>
                </a:solidFill>
              </a:defRPr>
            </a:pPr>
            <a:r>
              <a:t>1. Ý nghĩa: Thay đổi một phần rất nhỏ đầu vào thì mã băm đầu ra phải biến đổi ngẫu nhiên rất mạnh.</a:t>
            </a:r>
            <a:br/>
            <a:r>
              <a:t>2. Cách tấn công: Đảo 1 bit trong tệp rồi so sánh mã băm trước và sau để dò tìm quy luật tương quan.</a:t>
            </a:r>
            <a:br/>
            <a:r>
              <a:t>3. Cách phòng thủ: Đo khoảng cách Hamming; tỷ lệ bit thay đổi kỳ vọng xấp xỉ 50% (Shannon Diffusion).</a:t>
            </a:r>
            <a:br/>
            <a:r>
              <a:t>4. Kết quả: Thực nghiệm đo được 50.39% ≈ 50%, phù hợp hoàn hảo với đặc tính khuếch tán của SHA-256.</a:t>
            </a:r>
          </a:p>
        </p:txBody>
      </p:sp>
      <p:sp>
        <p:nvSpPr>
          <p:cNvPr id="8" name="Rounded Rectangle 7"/>
          <p:cNvSpPr/>
          <p:nvPr/>
        </p:nvSpPr>
        <p:spPr>
          <a:xfrm>
            <a:off x="6217920" y="1234440"/>
            <a:ext cx="521208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399032"/>
            <a:ext cx="4754880" cy="457200"/>
          </a:xfrm>
          <a:prstGeom prst="rect">
            <a:avLst/>
          </a:prstGeom>
          <a:noFill/>
        </p:spPr>
        <p:txBody>
          <a:bodyPr wrap="none">
            <a:spAutoFit/>
          </a:bodyPr>
          <a:lstStyle/>
          <a:p>
            <a:pPr>
              <a:defRPr b="1" sz="1100">
                <a:solidFill>
                  <a:srgbClr val="1E3A8A"/>
                </a:solidFill>
              </a:defRPr>
            </a:pPr>
            <a:r>
              <a:t>KẾT QUẢ ĐỐI KHÁNG THỰC TẾ (GAMES 1 – 4)</a:t>
            </a:r>
          </a:p>
        </p:txBody>
      </p:sp>
      <p:sp>
        <p:nvSpPr>
          <p:cNvPr id="10" name="Rounded Rectangle 9"/>
          <p:cNvSpPr/>
          <p:nvPr/>
        </p:nvSpPr>
        <p:spPr>
          <a:xfrm>
            <a:off x="6446520" y="1874520"/>
            <a:ext cx="4754880" cy="1051560"/>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 GAME 1: PPT ADVERSARY  [ PASS ]</a:t>
            </a:r>
          </a:p>
          <a:p>
            <a:pPr>
              <a:spcBef>
                <a:spcPts val="200"/>
              </a:spcBef>
              <a:defRPr sz="800">
                <a:solidFill>
                  <a:srgbClr val="0F172A"/>
                </a:solidFill>
              </a:defRPr>
            </a:pPr>
            <a:r>
              <a:t>Tấn công: Tìm va chạm ngẫu nhiên</a:t>
            </a:r>
            <a:br/>
            <a:r>
              <a:t>Kết quả: Thử thách 50 lượt ngẫu nhiên</a:t>
            </a:r>
            <a:br/>
            <a:r>
              <a:t>Kẻ thù thắng: 0/50 (0.0% va chạm)</a:t>
            </a:r>
            <a:br/>
            <a:r>
              <a:t>Lợi thế đối thủ: Adv &lt;= 2^-128</a:t>
            </a:r>
          </a:p>
        </p:txBody>
      </p:sp>
      <p:sp>
        <p:nvSpPr>
          <p:cNvPr id="11" name="Rounded Rectangle 10"/>
          <p:cNvSpPr/>
          <p:nvPr/>
        </p:nvSpPr>
        <p:spPr>
          <a:xfrm>
            <a:off x="6446520" y="3017520"/>
            <a:ext cx="4754880" cy="10515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2563EB"/>
                </a:solidFill>
              </a:defRPr>
            </a:pPr>
            <a:r>
              <a:t>🛡️ GAME 2: DOLEV-YAO NETWORK  [ PASS ]</a:t>
            </a:r>
          </a:p>
          <a:p>
            <a:pPr>
              <a:spcBef>
                <a:spcPts val="200"/>
              </a:spcBef>
              <a:defRPr sz="800">
                <a:solidFill>
                  <a:srgbClr val="0F172A"/>
                </a:solidFill>
              </a:defRPr>
            </a:pPr>
            <a:r>
              <a:t>Tấn công: Nghe lén, đảo bit, tráo proof</a:t>
            </a:r>
            <a:br/>
            <a:r>
              <a:t>Kết quả: Kiểm tra đối chiếu Root Hash</a:t>
            </a:r>
            <a:br/>
            <a:r>
              <a:t>Phát hiện: 100% can thiệp bị chặn</a:t>
            </a:r>
            <a:br/>
            <a:r>
              <a:t>Thời gian phản ứng: 0.02 ms</a:t>
            </a:r>
          </a:p>
        </p:txBody>
      </p:sp>
      <p:sp>
        <p:nvSpPr>
          <p:cNvPr id="12" name="Rounded Rectangle 11"/>
          <p:cNvSpPr/>
          <p:nvPr/>
        </p:nvSpPr>
        <p:spPr>
          <a:xfrm>
            <a:off x="6446520" y="4160520"/>
            <a:ext cx="4754880" cy="1051560"/>
          </a:xfrm>
          <a:prstGeom prst="roundRect">
            <a:avLst/>
          </a:prstGeom>
          <a:solidFill>
            <a:srgbClr val="FAF5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7E22CE"/>
                </a:solidFill>
              </a:defRPr>
            </a:pPr>
            <a:r>
              <a:t>🛡️ GAME 3: SECOND-PREIMAGE  [ PASS ]</a:t>
            </a:r>
          </a:p>
          <a:p>
            <a:pPr>
              <a:spcBef>
                <a:spcPts val="200"/>
              </a:spcBef>
              <a:defRPr sz="800">
                <a:solidFill>
                  <a:srgbClr val="0F172A"/>
                </a:solidFill>
              </a:defRPr>
            </a:pPr>
            <a:r>
              <a:t>Tấn công: Tráo nút lá thành nút nhánh</a:t>
            </a:r>
            <a:br/>
            <a:r>
              <a:t>Kết quả: Phân tách tiền tố 0x00 &amp; 0x01</a:t>
            </a:r>
            <a:br/>
            <a:r>
              <a:t>Kháng va chạm: Triệt tiêu 100%</a:t>
            </a:r>
            <a:br/>
            <a:r>
              <a:t>Chuẩn áp dụng: RFC 6962</a:t>
            </a:r>
          </a:p>
        </p:txBody>
      </p:sp>
      <p:sp>
        <p:nvSpPr>
          <p:cNvPr id="13" name="Rounded Rectangle 12"/>
          <p:cNvSpPr/>
          <p:nvPr/>
        </p:nvSpPr>
        <p:spPr>
          <a:xfrm>
            <a:off x="6446520" y="5303520"/>
            <a:ext cx="4754880" cy="10515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D97706"/>
                </a:solidFill>
              </a:defRPr>
            </a:pPr>
            <a:r>
              <a:t>🛡️ GAME 4: AVALANCHE EFFECT  [ PASS ]</a:t>
            </a:r>
          </a:p>
          <a:p>
            <a:pPr>
              <a:spcBef>
                <a:spcPts val="200"/>
              </a:spcBef>
              <a:defRPr sz="800">
                <a:solidFill>
                  <a:srgbClr val="0F172A"/>
                </a:solidFill>
              </a:defRPr>
            </a:pPr>
            <a:r>
              <a:t>Tấn công: Đảo 1 bit tìm quy luật băm</a:t>
            </a:r>
            <a:br/>
            <a:r>
              <a:t>Kết quả đo đạc: 129/256 bit biến đổi</a:t>
            </a:r>
            <a:br/>
            <a:r>
              <a:t>Tỷ lệ khuếch tán: 50.39% ≈ 50%</a:t>
            </a:r>
            <a:br/>
            <a:r>
              <a:t>Đặc tính: Chuẩn Shannon Diffusion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4C: TRỤ CỘT II - MÔ PHỎNG AN NINH HÌNH THỨC (HƯỚNG 2)</a:t>
            </a:r>
          </a:p>
          <a:p>
            <a:pPr>
              <a:spcBef>
                <a:spcPts val="200"/>
              </a:spcBef>
              <a:defRPr b="1" sz="1700">
                <a:solidFill>
                  <a:srgbClr val="FFFFFF"/>
                </a:solidFill>
              </a:defRPr>
            </a:pPr>
            <a:r>
              <a:t>14. Khung 7 Trò Chơi An Ninh Mật Mã Học (Games 5 – 7 &amp; Bảng Tổng Kết)</a:t>
            </a:r>
          </a:p>
        </p:txBody>
      </p:sp>
      <p:sp>
        <p:nvSpPr>
          <p:cNvPr id="6" name="Rounded Rectangle 5"/>
          <p:cNvSpPr/>
          <p:nvPr/>
        </p:nvSpPr>
        <p:spPr>
          <a:xfrm>
            <a:off x="731520" y="1234440"/>
            <a:ext cx="502920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572000" cy="4800600"/>
          </a:xfrm>
          <a:prstGeom prst="rect">
            <a:avLst/>
          </a:prstGeom>
          <a:noFill/>
        </p:spPr>
        <p:txBody>
          <a:bodyPr wrap="square">
            <a:spAutoFit/>
          </a:bodyPr>
          <a:lstStyle/>
          <a:p>
            <a:pPr>
              <a:spcAft>
                <a:spcPts val="800"/>
              </a:spcAft>
              <a:defRPr b="1" sz="1200">
                <a:solidFill>
                  <a:srgbClr val="1E3A8A"/>
                </a:solidFill>
              </a:defRPr>
            </a:pPr>
            <a:r>
              <a:t>Ba Mô Hình Kiểm Định Nâng Cao (Games 5 – 7)</a:t>
            </a:r>
          </a:p>
          <a:p>
            <a:pPr>
              <a:defRPr b="1" sz="790">
                <a:solidFill>
                  <a:srgbClr val="2563EB"/>
                </a:solidFill>
              </a:defRPr>
            </a:pPr>
            <a:r>
              <a:t>• Game 5: Bảo vệ tính nhất quán lịch sử (Append-Only Consistency Proof):</a:t>
            </a:r>
          </a:p>
          <a:p>
            <a:pPr>
              <a:spcBef>
                <a:spcPts val="150"/>
              </a:spcBef>
              <a:defRPr sz="740">
                <a:solidFill>
                  <a:srgbClr val="0F172A"/>
                </a:solidFill>
              </a:defRPr>
            </a:pPr>
            <a:r>
              <a:t>1. Ý nghĩa: Kiểm tra dữ liệu cũ có được giữ nguyên khi hệ thống bổ sung dữ liệu mới hay không.</a:t>
            </a:r>
            <a:br/>
            <a:r>
              <a:t>2. Cách tấn công: Server sửa 1 tệp cũ trong 950 tệp, thêm 50 tệp mới thành 1.000 tệp rồi tuyên bố lịch sử nguyên vẹn.</a:t>
            </a:r>
            <a:br/>
            <a:r>
              <a:t>3. Cách phòng thủ: Consistency Proof RFC 6962 chứng minh cây cũ m=950 là tiền tố bất biến của cây mới n=1.000.</a:t>
            </a:r>
            <a:br/>
            <a:r>
              <a:t>4. Kết quả: Nếu dữ liệu cũ bị sửa, bằng chứng nhất quán bị từ chối ngay lập tức.</a:t>
            </a:r>
          </a:p>
          <a:p>
            <a:pPr>
              <a:spcBef>
                <a:spcPts val="500"/>
              </a:spcBef>
              <a:defRPr b="1" sz="790">
                <a:solidFill>
                  <a:srgbClr val="2563EB"/>
                </a:solidFill>
              </a:defRPr>
            </a:pPr>
            <a:r>
              <a:t>• Game 6: Chống trích xuất dữ liệu nhạy cảm từ RAM (Memory-Dump Adversary):</a:t>
            </a:r>
          </a:p>
          <a:p>
            <a:pPr>
              <a:spcBef>
                <a:spcPts val="150"/>
              </a:spcBef>
              <a:defRPr sz="740">
                <a:solidFill>
                  <a:srgbClr val="0F172A"/>
                </a:solidFill>
              </a:defRPr>
            </a:pPr>
            <a:r>
              <a:t>1. Ý nghĩa: Kẻ tấn công đọc trộm RAM sau khi chương trình chạy để tìm khóa bí mật hoặc dữ liệu nhạy cảm.</a:t>
            </a:r>
            <a:br/>
            <a:r>
              <a:t>2. Cách tấn công: Dump bộ nhớ tiến trình và tìm kiếm khóa còn vương lại trong bộ nhớ đệm.</a:t>
            </a:r>
            <a:br/>
            <a:r>
              <a:t>3. Cách phòng thủ: Memory Zeroization: lưu khóa trong bytearray, chủ động ghi đè bằng 0x00 qua secure_erase().</a:t>
            </a:r>
            <a:br/>
            <a:r>
              <a:t>4. Lưu ý Python: gc.collect() thu hồi biến nhưng trong runtime không bảo đảm xóa sạch tuyệt đối mọi bản sao.</a:t>
            </a:r>
          </a:p>
          <a:p>
            <a:pPr>
              <a:spcBef>
                <a:spcPts val="500"/>
              </a:spcBef>
              <a:defRPr b="1" sz="790">
                <a:solidFill>
                  <a:srgbClr val="2563EB"/>
                </a:solidFill>
              </a:defRPr>
            </a:pPr>
            <a:r>
              <a:t>• Game 7: Chống tấn công đo thời gian &amp; Giảm rò rỉ siêu dữ liệu:</a:t>
            </a:r>
          </a:p>
          <a:p>
            <a:pPr>
              <a:spcBef>
                <a:spcPts val="150"/>
              </a:spcBef>
              <a:defRPr sz="740">
                <a:solidFill>
                  <a:srgbClr val="0F172A"/>
                </a:solidFill>
              </a:defRPr>
            </a:pPr>
            <a:r>
              <a:t>Phần A (Timing Side-Channel): Không dùng toán tử == (dừng sớm theo ký tự sai). Sử dụng hmac.compare_digest() để thời gian so sánh chuỗi là hằng số O(1).</a:t>
            </a:r>
            <a:br/>
            <a:r>
              <a:t>Phần B (Metadata Leakage): Thay vì tải toàn bộ 111 KB manifest chứa tên 1.000 tệp, Merkle Proof chỉ gửi mã băm anh em cần thiết, bảo vệ tính riêng tư của 999 tệp còn lại.</a:t>
            </a:r>
          </a:p>
        </p:txBody>
      </p:sp>
      <p:sp>
        <p:nvSpPr>
          <p:cNvPr id="8" name="Rounded Rectangle 7"/>
          <p:cNvSpPr/>
          <p:nvPr/>
        </p:nvSpPr>
        <p:spPr>
          <a:xfrm>
            <a:off x="5943600" y="1234440"/>
            <a:ext cx="5486400" cy="32918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868680"/>
                <a:gridCol w="2331720"/>
                <a:gridCol w="2103120"/>
              </a:tblGrid>
              <a:tr h="388620">
                <a:tc>
                  <a:txBody>
                    <a:bodyPr/>
                    <a:lstStyle/>
                    <a:p>
                      <a:pPr algn="ctr">
                        <a:defRPr b="1" sz="919">
                          <a:solidFill>
                            <a:srgbClr val="FFFFFF"/>
                          </a:solidFill>
                        </a:defRPr>
                      </a:pPr>
                      <a:r>
                        <a:t>Game</a:t>
                      </a:r>
                    </a:p>
                  </a:txBody>
                  <a:tcPr>
                    <a:solidFill>
                      <a:srgbClr val="1E3A8A"/>
                    </a:solidFill>
                  </a:tcPr>
                </a:tc>
                <a:tc>
                  <a:txBody>
                    <a:bodyPr/>
                    <a:lstStyle/>
                    <a:p>
                      <a:pPr algn="ctr">
                        <a:defRPr b="1" sz="919">
                          <a:solidFill>
                            <a:srgbClr val="FFFFFF"/>
                          </a:solidFill>
                        </a:defRPr>
                      </a:pPr>
                      <a:r>
                        <a:t>Mục Tiêu Bảo Mật</a:t>
                      </a:r>
                    </a:p>
                  </a:txBody>
                  <a:tcPr>
                    <a:solidFill>
                      <a:srgbClr val="1E3A8A"/>
                    </a:solidFill>
                  </a:tcPr>
                </a:tc>
                <a:tc>
                  <a:txBody>
                    <a:bodyPr/>
                    <a:lstStyle/>
                    <a:p>
                      <a:pPr algn="ctr">
                        <a:defRPr b="1" sz="919">
                          <a:solidFill>
                            <a:srgbClr val="FFFFFF"/>
                          </a:solidFill>
                        </a:defRPr>
                      </a:pPr>
                      <a:r>
                        <a:t>Cơ Chế Chính Triển Khai</a:t>
                      </a:r>
                    </a:p>
                  </a:txBody>
                  <a:tcPr>
                    <a:solidFill>
                      <a:srgbClr val="1E3A8A"/>
                    </a:solidFill>
                  </a:tcPr>
                </a:tc>
              </a:tr>
              <a:tr h="388620">
                <a:tc>
                  <a:txBody>
                    <a:bodyPr/>
                    <a:lstStyle/>
                    <a:p>
                      <a:pPr algn="ctr">
                        <a:defRPr sz="819" b="1">
                          <a:solidFill>
                            <a:srgbClr val="2563EB"/>
                          </a:solidFill>
                        </a:defRPr>
                      </a:pPr>
                      <a:r>
                        <a:t>Game 1</a:t>
                      </a:r>
                    </a:p>
                  </a:txBody>
                  <a:tcPr>
                    <a:solidFill>
                      <a:srgbClr val="F8FAFC"/>
                    </a:solidFill>
                  </a:tcPr>
                </a:tc>
                <a:tc>
                  <a:txBody>
                    <a:bodyPr/>
                    <a:lstStyle/>
                    <a:p>
                      <a:pPr>
                        <a:defRPr sz="819">
                          <a:solidFill>
                            <a:srgbClr val="0F172A"/>
                          </a:solidFill>
                        </a:defRPr>
                      </a:pPr>
                      <a:r>
                        <a:t>Chống tìm hai dữ liệu cùng mã băm</a:t>
                      </a:r>
                    </a:p>
                  </a:txBody>
                  <a:tcPr>
                    <a:solidFill>
                      <a:srgbClr val="F8FAFC"/>
                    </a:solidFill>
                  </a:tcPr>
                </a:tc>
                <a:tc>
                  <a:txBody>
                    <a:bodyPr/>
                    <a:lstStyle/>
                    <a:p>
                      <a:pPr>
                        <a:defRPr sz="819">
                          <a:solidFill>
                            <a:srgbClr val="0F172A"/>
                          </a:solidFill>
                        </a:defRPr>
                      </a:pPr>
                      <a:r>
                        <a:t>SHA-256 (Adv &lt;= 2^-128)</a:t>
                      </a:r>
                    </a:p>
                  </a:txBody>
                  <a:tcPr>
                    <a:solidFill>
                      <a:srgbClr val="F8FAFC"/>
                    </a:solidFill>
                  </a:tcPr>
                </a:tc>
              </a:tr>
              <a:tr h="388620">
                <a:tc>
                  <a:txBody>
                    <a:bodyPr/>
                    <a:lstStyle/>
                    <a:p>
                      <a:pPr algn="ctr">
                        <a:defRPr sz="819" b="1">
                          <a:solidFill>
                            <a:srgbClr val="2563EB"/>
                          </a:solidFill>
                        </a:defRPr>
                      </a:pPr>
                      <a:r>
                        <a:t>Game 2</a:t>
                      </a:r>
                    </a:p>
                  </a:txBody>
                  <a:tcPr>
                    <a:solidFill>
                      <a:srgbClr val="FFFFFF"/>
                    </a:solidFill>
                  </a:tcPr>
                </a:tc>
                <a:tc>
                  <a:txBody>
                    <a:bodyPr/>
                    <a:lstStyle/>
                    <a:p>
                      <a:pPr>
                        <a:defRPr sz="819">
                          <a:solidFill>
                            <a:srgbClr val="0F172A"/>
                          </a:solidFill>
                        </a:defRPr>
                      </a:pPr>
                      <a:r>
                        <a:t>Phát hiện dữ liệu bị sửa khi truyền</a:t>
                      </a:r>
                    </a:p>
                  </a:txBody>
                  <a:tcPr>
                    <a:solidFill>
                      <a:srgbClr val="FFFFFF"/>
                    </a:solidFill>
                  </a:tcPr>
                </a:tc>
                <a:tc>
                  <a:txBody>
                    <a:bodyPr/>
                    <a:lstStyle/>
                    <a:p>
                      <a:pPr>
                        <a:defRPr sz="819">
                          <a:solidFill>
                            <a:srgbClr val="0F172A"/>
                          </a:solidFill>
                        </a:defRPr>
                      </a:pPr>
                      <a:r>
                        <a:t>Merkle Proof + Root Hash tin cậy</a:t>
                      </a:r>
                    </a:p>
                  </a:txBody>
                  <a:tcPr>
                    <a:solidFill>
                      <a:srgbClr val="FFFFFF"/>
                    </a:solidFill>
                  </a:tcPr>
                </a:tc>
              </a:tr>
              <a:tr h="388620">
                <a:tc>
                  <a:txBody>
                    <a:bodyPr/>
                    <a:lstStyle/>
                    <a:p>
                      <a:pPr algn="ctr">
                        <a:defRPr sz="819" b="1">
                          <a:solidFill>
                            <a:srgbClr val="2563EB"/>
                          </a:solidFill>
                        </a:defRPr>
                      </a:pPr>
                      <a:r>
                        <a:t>Game 3</a:t>
                      </a:r>
                    </a:p>
                  </a:txBody>
                  <a:tcPr>
                    <a:solidFill>
                      <a:srgbClr val="F8FAFC"/>
                    </a:solidFill>
                  </a:tcPr>
                </a:tc>
                <a:tc>
                  <a:txBody>
                    <a:bodyPr/>
                    <a:lstStyle/>
                    <a:p>
                      <a:pPr>
                        <a:defRPr sz="819">
                          <a:solidFill>
                            <a:srgbClr val="0F172A"/>
                          </a:solidFill>
                        </a:defRPr>
                      </a:pPr>
                      <a:r>
                        <a:t>Phân biệt nút lá và nút nhánh</a:t>
                      </a:r>
                    </a:p>
                  </a:txBody>
                  <a:tcPr>
                    <a:solidFill>
                      <a:srgbClr val="F8FAFC"/>
                    </a:solidFill>
                  </a:tcPr>
                </a:tc>
                <a:tc>
                  <a:txBody>
                    <a:bodyPr/>
                    <a:lstStyle/>
                    <a:p>
                      <a:pPr>
                        <a:defRPr sz="819">
                          <a:solidFill>
                            <a:srgbClr val="0F172A"/>
                          </a:solidFill>
                        </a:defRPr>
                      </a:pPr>
                      <a:r>
                        <a:t>Domain Separation (0x00 / 0x01)</a:t>
                      </a:r>
                    </a:p>
                  </a:txBody>
                  <a:tcPr>
                    <a:solidFill>
                      <a:srgbClr val="F8FAFC"/>
                    </a:solidFill>
                  </a:tcPr>
                </a:tc>
              </a:tr>
              <a:tr h="388620">
                <a:tc>
                  <a:txBody>
                    <a:bodyPr/>
                    <a:lstStyle/>
                    <a:p>
                      <a:pPr algn="ctr">
                        <a:defRPr sz="819" b="1">
                          <a:solidFill>
                            <a:srgbClr val="2563EB"/>
                          </a:solidFill>
                        </a:defRPr>
                      </a:pPr>
                      <a:r>
                        <a:t>Game 4</a:t>
                      </a:r>
                    </a:p>
                  </a:txBody>
                  <a:tcPr>
                    <a:solidFill>
                      <a:srgbClr val="FFFFFF"/>
                    </a:solidFill>
                  </a:tcPr>
                </a:tc>
                <a:tc>
                  <a:txBody>
                    <a:bodyPr/>
                    <a:lstStyle/>
                    <a:p>
                      <a:pPr>
                        <a:defRPr sz="819">
                          <a:solidFill>
                            <a:srgbClr val="0F172A"/>
                          </a:solidFill>
                        </a:defRPr>
                      </a:pPr>
                      <a:r>
                        <a:t>Kiểm tra mức độ thay đổi mã băm</a:t>
                      </a:r>
                    </a:p>
                  </a:txBody>
                  <a:tcPr>
                    <a:solidFill>
                      <a:srgbClr val="FFFFFF"/>
                    </a:solidFill>
                  </a:tcPr>
                </a:tc>
                <a:tc>
                  <a:txBody>
                    <a:bodyPr/>
                    <a:lstStyle/>
                    <a:p>
                      <a:pPr>
                        <a:defRPr sz="819">
                          <a:solidFill>
                            <a:srgbClr val="0F172A"/>
                          </a:solidFill>
                        </a:defRPr>
                      </a:pPr>
                      <a:r>
                        <a:t>Avalanche Effect (50.39% ≈ 50%)</a:t>
                      </a:r>
                    </a:p>
                  </a:txBody>
                  <a:tcPr>
                    <a:solidFill>
                      <a:srgbClr val="FFFFFF"/>
                    </a:solidFill>
                  </a:tcPr>
                </a:tc>
              </a:tr>
              <a:tr h="388620">
                <a:tc>
                  <a:txBody>
                    <a:bodyPr/>
                    <a:lstStyle/>
                    <a:p>
                      <a:pPr algn="ctr">
                        <a:defRPr sz="819" b="1">
                          <a:solidFill>
                            <a:srgbClr val="2563EB"/>
                          </a:solidFill>
                        </a:defRPr>
                      </a:pPr>
                      <a:r>
                        <a:t>Game 5</a:t>
                      </a:r>
                    </a:p>
                  </a:txBody>
                  <a:tcPr>
                    <a:solidFill>
                      <a:srgbClr val="F8FAFC"/>
                    </a:solidFill>
                  </a:tcPr>
                </a:tc>
                <a:tc>
                  <a:txBody>
                    <a:bodyPr/>
                    <a:lstStyle/>
                    <a:p>
                      <a:pPr>
                        <a:defRPr sz="819">
                          <a:solidFill>
                            <a:srgbClr val="0F172A"/>
                          </a:solidFill>
                        </a:defRPr>
                      </a:pPr>
                      <a:r>
                        <a:t>Kiểm tra nhất quán qua các lần cập nhật</a:t>
                      </a:r>
                    </a:p>
                  </a:txBody>
                  <a:tcPr>
                    <a:solidFill>
                      <a:srgbClr val="F8FAFC"/>
                    </a:solidFill>
                  </a:tcPr>
                </a:tc>
                <a:tc>
                  <a:txBody>
                    <a:bodyPr/>
                    <a:lstStyle/>
                    <a:p>
                      <a:pPr>
                        <a:defRPr sz="819">
                          <a:solidFill>
                            <a:srgbClr val="0F172A"/>
                          </a:solidFill>
                        </a:defRPr>
                      </a:pPr>
                      <a:r>
                        <a:t>Consistency Proof RFC 6962</a:t>
                      </a:r>
                    </a:p>
                  </a:txBody>
                  <a:tcPr>
                    <a:solidFill>
                      <a:srgbClr val="F8FAFC"/>
                    </a:solidFill>
                  </a:tcPr>
                </a:tc>
              </a:tr>
              <a:tr h="388620">
                <a:tc>
                  <a:txBody>
                    <a:bodyPr/>
                    <a:lstStyle/>
                    <a:p>
                      <a:pPr algn="ctr">
                        <a:defRPr sz="819" b="1">
                          <a:solidFill>
                            <a:srgbClr val="2563EB"/>
                          </a:solidFill>
                        </a:defRPr>
                      </a:pPr>
                      <a:r>
                        <a:t>Game 6</a:t>
                      </a:r>
                    </a:p>
                  </a:txBody>
                  <a:tcPr>
                    <a:solidFill>
                      <a:srgbClr val="FFFFFF"/>
                    </a:solidFill>
                  </a:tcPr>
                </a:tc>
                <a:tc>
                  <a:txBody>
                    <a:bodyPr/>
                    <a:lstStyle/>
                    <a:p>
                      <a:pPr>
                        <a:defRPr sz="819">
                          <a:solidFill>
                            <a:srgbClr val="0F172A"/>
                          </a:solidFill>
                        </a:defRPr>
                      </a:pPr>
                      <a:r>
                        <a:t>Hạn chế dữ liệu nhạy cảm trong RAM</a:t>
                      </a:r>
                    </a:p>
                  </a:txBody>
                  <a:tcPr>
                    <a:solidFill>
                      <a:srgbClr val="FFFFFF"/>
                    </a:solidFill>
                  </a:tcPr>
                </a:tc>
                <a:tc>
                  <a:txBody>
                    <a:bodyPr/>
                    <a:lstStyle/>
                    <a:p>
                      <a:pPr>
                        <a:defRPr sz="819">
                          <a:solidFill>
                            <a:srgbClr val="0F172A"/>
                          </a:solidFill>
                        </a:defRPr>
                      </a:pPr>
                      <a:r>
                        <a:t>Memory Zeroization (secure_erase)</a:t>
                      </a:r>
                    </a:p>
                  </a:txBody>
                  <a:tcPr>
                    <a:solidFill>
                      <a:srgbClr val="FFFFFF"/>
                    </a:solidFill>
                  </a:tcPr>
                </a:tc>
              </a:tr>
              <a:tr h="388620">
                <a:tc>
                  <a:txBody>
                    <a:bodyPr/>
                    <a:lstStyle/>
                    <a:p>
                      <a:pPr algn="ctr">
                        <a:defRPr sz="819" b="1">
                          <a:solidFill>
                            <a:srgbClr val="2563EB"/>
                          </a:solidFill>
                        </a:defRPr>
                      </a:pPr>
                      <a:r>
                        <a:t>Game 7</a:t>
                      </a:r>
                    </a:p>
                  </a:txBody>
                  <a:tcPr>
                    <a:solidFill>
                      <a:srgbClr val="F8FAFC"/>
                    </a:solidFill>
                  </a:tcPr>
                </a:tc>
                <a:tc>
                  <a:txBody>
                    <a:bodyPr/>
                    <a:lstStyle/>
                    <a:p>
                      <a:pPr>
                        <a:defRPr sz="819">
                          <a:solidFill>
                            <a:srgbClr val="0F172A"/>
                          </a:solidFill>
                        </a:defRPr>
                      </a:pPr>
                      <a:r>
                        <a:t>Giảm rò rỉ thời gian &amp; siêu dữ liệu</a:t>
                      </a:r>
                    </a:p>
                  </a:txBody>
                  <a:tcPr>
                    <a:solidFill>
                      <a:srgbClr val="F8FAFC"/>
                    </a:solidFill>
                  </a:tcPr>
                </a:tc>
                <a:tc>
                  <a:txBody>
                    <a:bodyPr/>
                    <a:lstStyle/>
                    <a:p>
                      <a:pPr>
                        <a:defRPr sz="819">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950">
                <a:solidFill>
                  <a:srgbClr val="1E3A8A"/>
                </a:solidFill>
              </a:defRPr>
            </a:pPr>
            <a:r>
              <a:t>Lưu Ý Phương Pháp Luận Khi Báo Cáo:</a:t>
            </a:r>
          </a:p>
          <a:p>
            <a:pPr>
              <a:spcBef>
                <a:spcPts val="250"/>
              </a:spcBef>
              <a:defRPr sz="78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780">
                <a:solidFill>
                  <a:srgbClr val="0F172A"/>
                </a:solidFill>
              </a:defRPr>
            </a:pPr>
            <a:r>
              <a:t>• Đối chiếu mã nguồn: Được triển khai và chạy độc lập qua tệp src/proposed_model/security_games.py, không gộp chung benchmark.</a:t>
            </a:r>
          </a:p>
          <a:p>
            <a:pPr>
              <a:spcBef>
                <a:spcPts val="250"/>
              </a:spcBef>
              <a:defRPr sz="78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15. Kịch Bản Thao Tác Trình Diễn Trên Giao Diện Web Trực Quan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Các Bước Thao Tác Trình Diễn Trước Hội Đồng</a:t>
            </a:r>
          </a:p>
          <a:p>
            <a:pPr>
              <a:defRPr b="1" sz="1000">
                <a:solidFill>
                  <a:srgbClr val="2563EB"/>
                </a:solidFill>
              </a:defRPr>
            </a:pPr>
            <a:r>
              <a:t>• Khởi động hệ thống nhanh chóng:</a:t>
            </a:r>
          </a:p>
          <a:p>
            <a:pPr>
              <a:spcBef>
                <a:spcPts val="150"/>
              </a:spcBef>
              <a:defRPr sz="950">
                <a:solidFill>
                  <a:srgbClr val="0F172A"/>
                </a:solidFill>
              </a:defRPr>
            </a:pPr>
            <a:r>
              <a:t>Chỉ cần nhấp đúp tệp run_demo_web.bat trên màn hình máy tính. Trình duyệt web sẽ tự động mở trang điều khiển tại địa chỉ nội bộ http://127.0.0.1:8080.</a:t>
            </a:r>
          </a:p>
          <a:p>
            <a:pPr>
              <a:spcBef>
                <a:spcPts val="500"/>
              </a:spcBef>
              <a:defRPr b="1" sz="1000">
                <a:solidFill>
                  <a:srgbClr val="2563EB"/>
                </a:solidFill>
              </a:defRPr>
            </a:pPr>
            <a:r>
              <a:t>• Bước 1: Nạp 1.000 tệp tin dữ liệu gốc ban đầu:</a:t>
            </a:r>
          </a:p>
          <a:p>
            <a:pPr>
              <a:spcBef>
                <a:spcPts val="150"/>
              </a:spcBef>
              <a:defRPr sz="950">
                <a:solidFill>
                  <a:srgbClr val="0F172A"/>
                </a:solidFill>
              </a:defRPr>
            </a:pPr>
            <a:r>
              <a:t>Nhấp nút Nạp dữ liệu để hệ thống quét toàn bộ 1.000 tệp tin nguyên bản từ thư mục realistic_dataset và tạo chuỗi băm gốc 32 byte.</a:t>
            </a:r>
          </a:p>
          <a:p>
            <a:pPr>
              <a:spcBef>
                <a:spcPts val="500"/>
              </a:spcBef>
              <a:defRPr b="1" sz="1000">
                <a:solidFill>
                  <a:srgbClr val="2563EB"/>
                </a:solidFill>
              </a:defRPr>
            </a:pPr>
            <a:r>
              <a:t>• Bước 2: Mô phỏng hành vi Kẻ tấn công mạng:</a:t>
            </a:r>
          </a:p>
          <a:p>
            <a:pPr>
              <a:spcBef>
                <a:spcPts val="150"/>
              </a:spcBef>
              <a:defRPr sz="950">
                <a:solidFill>
                  <a:srgbClr val="0F172A"/>
                </a:solidFill>
              </a:defRPr>
            </a:pPr>
            <a:r>
              <a:t>1. Nhấp Đảo 1 bit ngẫu nhiên để mô phỏng dữ liệu bị sửa đổi ngầm.</a:t>
            </a:r>
            <a:br/>
            <a:r>
              <a:t>2. Nhấp Chèn tệp lạ để mô phỏng tin tặc tải mã độc lên máy chủ.</a:t>
            </a:r>
            <a:br/>
            <a:r>
              <a:t>3. Nhấp Xóa lén tệp tin để mô phỏng hành vi xóa dữ liệu phá hoại.</a:t>
            </a:r>
          </a:p>
          <a:p>
            <a:pPr>
              <a:spcBef>
                <a:spcPts val="500"/>
              </a:spcBef>
              <a:defRPr b="1" sz="1000">
                <a:solidFill>
                  <a:srgbClr val="2563EB"/>
                </a:solidFill>
              </a:defRPr>
            </a:pPr>
            <a:r>
              <a:t>• Bước 3: Kiểm tra và định vị lỗi tức thì:</a:t>
            </a:r>
          </a:p>
          <a:p>
            <a:pPr>
              <a:spcBef>
                <a:spcPts val="150"/>
              </a:spcBef>
              <a:defRPr sz="950">
                <a:solidFill>
                  <a:srgbClr val="0F172A"/>
                </a:solidFill>
              </a:defRPr>
            </a:pPr>
            <a:r>
              <a:t>Nhấp Chạy kiểm tra toàn vẹn. Hệ thống lập tức chỉ đúng tên tệp bị can thiệp, hiển thị tỷ lệ nguyên vẹn và tốc độ xử lý hơn 4.000 tệp mỗi giây.</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234440"/>
            <a:ext cx="5394960" cy="438912"/>
          </a:xfrm>
          <a:prstGeom prst="roundRect">
            <a:avLst/>
          </a:prstGeom>
          <a:solidFill>
            <a:srgbClr val="F1F5F9"/>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199632" y="138074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5936" y="138074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0" y="1380744"/>
            <a:ext cx="100584" cy="100584"/>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766560" y="1316736"/>
            <a:ext cx="4480560" cy="2743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850">
                <a:solidFill>
                  <a:srgbClr val="64748B"/>
                </a:solidFill>
              </a:defRPr>
            </a:pPr>
            <a:r>
              <a:t>🔒 127.0.0.1:8080/terminal</a:t>
            </a:r>
          </a:p>
        </p:txBody>
      </p:sp>
      <p:sp>
        <p:nvSpPr>
          <p:cNvPr id="14" name="Rounded Rectangle 13"/>
          <p:cNvSpPr/>
          <p:nvPr/>
        </p:nvSpPr>
        <p:spPr>
          <a:xfrm>
            <a:off x="6263640" y="1783080"/>
            <a:ext cx="1554480" cy="41148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FFFFFF"/>
                </a:solidFill>
              </a:defRPr>
            </a:pPr>
            <a:r>
              <a:t>⚡ Đảo 1 Bit</a:t>
            </a:r>
          </a:p>
        </p:txBody>
      </p:sp>
      <p:sp>
        <p:nvSpPr>
          <p:cNvPr id="15" name="Rounded Rectangle 14"/>
          <p:cNvSpPr/>
          <p:nvPr/>
        </p:nvSpPr>
        <p:spPr>
          <a:xfrm>
            <a:off x="1546841879640" y="1783080"/>
            <a:ext cx="1554480" cy="4114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FFFFFF"/>
                </a:solidFill>
              </a:defRPr>
            </a:pPr>
            <a:r>
              <a:t>➕ Chèn Tệp Lạ</a:t>
            </a:r>
          </a:p>
        </p:txBody>
      </p:sp>
      <p:sp>
        <p:nvSpPr>
          <p:cNvPr id="16" name="Rounded Rectangle 15"/>
          <p:cNvSpPr/>
          <p:nvPr/>
        </p:nvSpPr>
        <p:spPr>
          <a:xfrm>
            <a:off x="3093677495640" y="1783080"/>
            <a:ext cx="1554480" cy="41148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850">
                <a:solidFill>
                  <a:srgbClr val="FFFFFF"/>
                </a:solidFill>
              </a:defRPr>
            </a:pPr>
            <a:r>
              <a:t>🗑️ Xóa Lén Tệp</a:t>
            </a:r>
          </a:p>
        </p:txBody>
      </p:sp>
      <p:sp>
        <p:nvSpPr>
          <p:cNvPr id="17" name="Rounded Rectangle 16"/>
          <p:cNvSpPr/>
          <p:nvPr/>
        </p:nvSpPr>
        <p:spPr>
          <a:xfrm>
            <a:off x="6263640" y="2286000"/>
            <a:ext cx="4937760" cy="388620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00">
                <a:solidFill>
                  <a:srgbClr val="FACC15"/>
                </a:solidFill>
              </a:defRPr>
            </a:pPr>
            <a:r>
              <a:t>$ python src/demo/web_demo.py --port 8080</a:t>
            </a:r>
          </a:p>
          <a:p>
            <a:pPr>
              <a:spcBef>
                <a:spcPts val="400"/>
              </a:spcBef>
              <a:defRPr sz="800">
                <a:solidFill>
                  <a:srgbClr val="4ADE80"/>
                </a:solidFill>
              </a:defRPr>
            </a:pPr>
            <a:r>
              <a:t>[SYSTEM] Web Server started at http://127.0.0.1:8080</a:t>
            </a:r>
          </a:p>
          <a:p>
            <a:pPr>
              <a:spcBef>
                <a:spcPts val="400"/>
              </a:spcBef>
              <a:defRPr sz="800">
                <a:solidFill>
                  <a:srgbClr val="FFFFFF"/>
                </a:solidFill>
              </a:defRPr>
            </a:pPr>
            <a:r>
              <a:t>[INFO] Scanning realistic_dataset (1.000 files, 4.10 MB)...</a:t>
            </a:r>
          </a:p>
          <a:p>
            <a:pPr>
              <a:spcBef>
                <a:spcPts val="400"/>
              </a:spcBef>
              <a:defRPr sz="800">
                <a:solidFill>
                  <a:srgbClr val="4ADE80"/>
                </a:solidFill>
              </a:defRPr>
            </a:pPr>
            <a:r>
              <a:t>[SUCCESS] HD-MerkleTree built: 44 directories indexed in 0.089 s</a:t>
            </a:r>
          </a:p>
          <a:p>
            <a:pPr>
              <a:spcBef>
                <a:spcPts val="400"/>
              </a:spcBef>
              <a:defRPr sz="800">
                <a:solidFill>
                  <a:srgbClr val="FACC15"/>
                </a:solidFill>
              </a:defRPr>
            </a:pPr>
            <a:r>
              <a:t>[SIMULATE] User clicked: [Đảo 1 Bit Ngẫu Nhiên]</a:t>
            </a:r>
          </a:p>
          <a:p>
            <a:pPr>
              <a:spcBef>
                <a:spcPts val="400"/>
              </a:spcBef>
              <a:defRPr sz="800">
                <a:solidFill>
                  <a:srgbClr val="F87171"/>
                </a:solidFill>
              </a:defRPr>
            </a:pPr>
            <a:r>
              <a:t>[ATTACK] Injected bit-flip into 'Chung_Thu_Kiem_Toan_110.pdf'</a:t>
            </a:r>
          </a:p>
          <a:p>
            <a:pPr>
              <a:spcBef>
                <a:spcPts val="400"/>
              </a:spcBef>
              <a:defRPr sz="800">
                <a:solidFill>
                  <a:srgbClr val="FACC15"/>
                </a:solidFill>
              </a:defRPr>
            </a:pPr>
            <a:r>
              <a:t>[ALERT] Localized corrupted file in 0.022 ms via Biba Dirty-Path!</a:t>
            </a:r>
          </a:p>
          <a:p>
            <a:pPr>
              <a:spcBef>
                <a:spcPts val="400"/>
              </a:spcBef>
              <a:defRPr sz="800">
                <a:solidFill>
                  <a:srgbClr val="F87171"/>
                </a:solidFill>
              </a:defRPr>
            </a:pPr>
            <a:r>
              <a:t>[VERDICT] Proof verification: REJECTED (Integrity violation detected)</a:t>
            </a:r>
          </a:p>
          <a:p>
            <a:pPr>
              <a:spcBef>
                <a:spcPts val="400"/>
              </a:spcBef>
              <a:defRPr sz="800">
                <a:solidFill>
                  <a:srgbClr val="4ADE80"/>
                </a:solidFill>
              </a:defRPr>
            </a:pPr>
            <a:r>
              <a:t>[BENCHMARK] Throughput: 45,454 files/sec | Zero memory leaks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16. Bảng Điều Khiển Biểu Đồ Đo Đạc Trực Quan Hóa Động</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Trực Quan Hóa Biểu Đồ Khoa Học Hoạt Động Ngoại Tuyến</a:t>
            </a:r>
          </a:p>
          <a:p>
            <a:pPr>
              <a:defRPr b="1" sz="1000">
                <a:solidFill>
                  <a:srgbClr val="2563EB"/>
                </a:solidFill>
              </a:defRPr>
            </a:pPr>
            <a:r>
              <a:t>• Hoạt động hoàn toàn ngoại tuyến:</a:t>
            </a:r>
          </a:p>
          <a:p>
            <a:pPr>
              <a:spcBef>
                <a:spcPts val="150"/>
              </a:spcBef>
              <a:defRPr sz="950">
                <a:solidFill>
                  <a:srgbClr val="0F172A"/>
                </a:solidFill>
              </a:defRPr>
            </a:pPr>
            <a:r>
              <a:t>Hệ thống tích hợp sẵn thư viện vẽ biểu đồ nội bộ, không cần kết nối mạng Internet vẫn hiển thị mượt mà và trực quan khi báo cáo trước hội đồng.</a:t>
            </a:r>
          </a:p>
          <a:p>
            <a:pPr>
              <a:spcBef>
                <a:spcPts val="500"/>
              </a:spcBef>
              <a:defRPr b="1" sz="1000">
                <a:solidFill>
                  <a:srgbClr val="2563EB"/>
                </a:solidFill>
              </a:defRPr>
            </a:pPr>
            <a:r>
              <a:t>• 4 Biểu đồ phân tích khoa học chuyên sâu:</a:t>
            </a:r>
          </a:p>
          <a:p>
            <a:pPr>
              <a:spcBef>
                <a:spcPts val="150"/>
              </a:spcBef>
              <a:defRPr sz="950">
                <a:solidFill>
                  <a:srgbClr val="0F172A"/>
                </a:solidFill>
              </a:defRPr>
            </a:pPr>
            <a:r>
              <a:t>1. Biểu đồ so sánh thời gian khởi tạo và xác minh của 4 mô hình trên 1.000 tệp tin.</a:t>
            </a:r>
            <a:br/>
            <a:r>
              <a:t>2. Biểu đồ chi phí cập nhật khi sửa 1 tệp tin phản hồi tức thì theo chiều cao cây.</a:t>
            </a:r>
            <a:br/>
            <a:r>
              <a:t>3. Biểu đồ dung lượng bảng băm và kích thước bằng chứng gửi qua mạng.</a:t>
            </a:r>
            <a:br/>
            <a:r>
              <a:t>4. Biểu đồ kiểm tra khả năng mở rộng quy mô từ 50 tệp lên 1.000 tệp tin.</a:t>
            </a:r>
          </a:p>
          <a:p>
            <a:pPr>
              <a:spcBef>
                <a:spcPts val="500"/>
              </a:spcBef>
              <a:defRPr b="1" sz="1000">
                <a:solidFill>
                  <a:srgbClr val="2563EB"/>
                </a:solidFill>
              </a:defRPr>
            </a:pPr>
            <a:r>
              <a:t>• Đo lường thời gian thực:</a:t>
            </a:r>
          </a:p>
          <a:p>
            <a:pPr>
              <a:spcBef>
                <a:spcPts val="150"/>
              </a:spcBef>
              <a:defRPr sz="950">
                <a:solidFill>
                  <a:srgbClr val="0F172A"/>
                </a:solidFill>
              </a:defRPr>
            </a:pPr>
            <a:r>
              <a:t>Khi nhấp Đo lường và cập nhật lại biểu đồ ngay, hệ thống sẽ chạy đo đạc trực tiếp trên máy và vẽ kết quả tức thì.</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399032"/>
            <a:ext cx="4937760" cy="457200"/>
          </a:xfrm>
          <a:prstGeom prst="rect">
            <a:avLst/>
          </a:prstGeom>
          <a:noFill/>
        </p:spPr>
        <p:txBody>
          <a:bodyPr wrap="none">
            <a:spAutoFit/>
          </a:bodyPr>
          <a:lstStyle/>
          <a:p>
            <a:pPr>
              <a:defRPr b="1" sz="1100">
                <a:solidFill>
                  <a:srgbClr val="1E3A8A"/>
                </a:solidFill>
              </a:defRPr>
            </a:pPr>
            <a:r>
              <a:t>BIỂU ĐỒ DUNG LƯỢNG TRUYỀN TẢI QUA MẠNG (BYTES)</a:t>
            </a:r>
          </a:p>
        </p:txBody>
      </p:sp>
      <p:graphicFrame>
        <p:nvGraphicFramePr>
          <p:cNvPr id="10" name="Chart 9"/>
          <p:cNvGraphicFramePr>
            <a:graphicFrameLocks noGrp="1"/>
          </p:cNvGraphicFramePr>
          <p:nvPr/>
        </p:nvGraphicFramePr>
        <p:xfrm>
          <a:off x="6263640" y="1874520"/>
          <a:ext cx="4937760" cy="2926080"/>
        </p:xfrm>
        <a:graphic>
          <a:graphicData uri="http://schemas.openxmlformats.org/drawingml/2006/chart">
            <c:chart xmlns:c="http://schemas.openxmlformats.org/drawingml/2006/chart" r:id="rId2"/>
          </a:graphicData>
        </a:graphic>
      </p:graphicFrame>
      <p:sp>
        <p:nvSpPr>
          <p:cNvPr id="11" name="Rounded Rectangle 10"/>
          <p:cNvSpPr/>
          <p:nvPr/>
        </p:nvSpPr>
        <p:spPr>
          <a:xfrm>
            <a:off x="6263640" y="4892040"/>
            <a:ext cx="4937760" cy="1325880"/>
          </a:xfrm>
          <a:prstGeom prst="roundRect">
            <a:avLst/>
          </a:prstGeom>
          <a:solidFill>
            <a:srgbClr val="ECFDF5"/>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 TIẾT KIỆM BĂNG THÔNG MẠNG ĐỘT PHÁ (98.8%):</a:t>
            </a:r>
          </a:p>
          <a:p>
            <a:pPr>
              <a:spcBef>
                <a:spcPts val="300"/>
              </a:spcBef>
              <a:defRPr sz="819">
                <a:solidFill>
                  <a:srgbClr val="0F172A"/>
                </a:solidFill>
              </a:defRPr>
            </a:pPr>
            <a:r>
              <a:t>• Bằng chứng HD-Merkle chỉ 1.369 Byte (so với toàn bộ bảng 113.802 Byte).</a:t>
            </a:r>
            <a:br/>
            <a:r>
              <a:t>• Máy khách chỉ cần tải các nút anh em trên nhánh, không lộ 999 tệp còn lại.</a:t>
            </a:r>
            <a:br/>
            <a:r>
              <a:t>• Bảo vệ 100% tính riêng tư siêu dữ liệu (Metadata Confidentiality).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00">
                <a:solidFill>
                  <a:srgbClr val="93C5FD"/>
                </a:solidFill>
              </a:defRPr>
            </a:pPr>
            <a:r>
              <a:t>PHẦN 5: TRÌNH DIỄN THỰC TẾ VÀ TỔNG KẾT</a:t>
            </a:r>
          </a:p>
          <a:p>
            <a:pPr>
              <a:spcBef>
                <a:spcPts val="200"/>
              </a:spcBef>
              <a:defRPr b="1" sz="1700">
                <a:solidFill>
                  <a:srgbClr val="FFFFFF"/>
                </a:solidFill>
              </a:defRPr>
            </a:pPr>
            <a:r>
              <a:t>17. Tổng Kết Đóng Góp Khoa Học Và Giá Trị Thực Tiễn Của Đồ Án</a:t>
            </a:r>
          </a:p>
        </p:txBody>
      </p:sp>
      <p:sp>
        <p:nvSpPr>
          <p:cNvPr id="6" name="Rounded Rectangle 5"/>
          <p:cNvSpPr/>
          <p:nvPr/>
        </p:nvSpPr>
        <p:spPr>
          <a:xfrm>
            <a:off x="731520" y="1234440"/>
            <a:ext cx="512064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663440" cy="4800600"/>
          </a:xfrm>
          <a:prstGeom prst="rect">
            <a:avLst/>
          </a:prstGeom>
          <a:noFill/>
        </p:spPr>
        <p:txBody>
          <a:bodyPr wrap="square">
            <a:spAutoFit/>
          </a:bodyPr>
          <a:lstStyle/>
          <a:p>
            <a:pPr>
              <a:spcAft>
                <a:spcPts val="800"/>
              </a:spcAft>
              <a:defRPr b="1" sz="1200">
                <a:solidFill>
                  <a:srgbClr val="1E3A8A"/>
                </a:solidFill>
              </a:defRPr>
            </a:pPr>
            <a:r>
              <a:t>Những Đóng Góp Nổi Bật Đạt Được Trong Đồ Án</a:t>
            </a:r>
          </a:p>
          <a:p>
            <a:pPr>
              <a:defRPr b="1" sz="950">
                <a:solidFill>
                  <a:srgbClr val="2563EB"/>
                </a:solidFill>
              </a:defRPr>
            </a:pPr>
            <a:r>
              <a:t>• 1. Hoàn thành toàn diện việc nghiên cứu bài báo tiếng Anh gốc:</a:t>
            </a:r>
          </a:p>
          <a:p>
            <a:pPr>
              <a:spcBef>
                <a:spcPts val="150"/>
              </a:spcBef>
              <a:defRPr sz="900">
                <a:solidFill>
                  <a:srgbClr val="0F172A"/>
                </a:solidFill>
              </a:defRPr>
            </a:pPr>
            <a:r>
              <a:t>Dịch thuật học thuật toàn văn bài báo của Harry Halpin (2025), đối chiếu 100% các luận điểm về Kẻ thù mật mã, hiệu ứng tuyết lở SHA-256, nguyên lý Kerckhoffs và kiểm định PPT.</a:t>
            </a:r>
          </a:p>
          <a:p>
            <a:pPr>
              <a:spcBef>
                <a:spcPts val="500"/>
              </a:spcBef>
              <a:defRPr b="1" sz="950">
                <a:solidFill>
                  <a:srgbClr val="2563EB"/>
                </a:solidFill>
              </a:defRPr>
            </a:pPr>
            <a:r>
              <a:t>• 2. Triển khai 3 Trụ cột phương pháp luận độc lập chuẩn mực:</a:t>
            </a:r>
          </a:p>
          <a:p>
            <a:pPr>
              <a:spcBef>
                <a:spcPts val="150"/>
              </a:spcBef>
              <a:defRPr sz="900">
                <a:solidFill>
                  <a:srgbClr val="0F172A"/>
                </a:solidFill>
              </a:defRPr>
            </a:pPr>
            <a:r>
              <a:t>Tách bạch rõ ràng 3 hướng: Kỹ thuật hệ thống PoC (hd_merkle_tree.py), Mô phỏng 7 Game an toàn mật mã học (security_games.py) và Thực nghiệm quy mô lớn 1.000 tệp tin.</a:t>
            </a:r>
          </a:p>
          <a:p>
            <a:pPr>
              <a:spcBef>
                <a:spcPts val="500"/>
              </a:spcBef>
              <a:defRPr b="1" sz="950">
                <a:solidFill>
                  <a:srgbClr val="2563EB"/>
                </a:solidFill>
              </a:defRPr>
            </a:pPr>
            <a:r>
              <a:t>• 3. Đối chuẩn đầy đủ 3 mô hình nền tảng:</a:t>
            </a:r>
          </a:p>
          <a:p>
            <a:pPr>
              <a:spcBef>
                <a:spcPts val="150"/>
              </a:spcBef>
              <a:defRPr sz="900">
                <a:solidFill>
                  <a:srgbClr val="0F172A"/>
                </a:solidFill>
              </a:defRPr>
            </a:pPr>
            <a:r>
              <a:t>Hiện thực hóa và đo đạc đầy đủ các cơ chế danh sách SHA-256, HMAC và cây Merkle nhị phân truyền thống trên 1.000 tệp tin.</a:t>
            </a:r>
          </a:p>
          <a:p>
            <a:pPr>
              <a:spcBef>
                <a:spcPts val="500"/>
              </a:spcBef>
              <a:defRPr b="1" sz="950">
                <a:solidFill>
                  <a:srgbClr val="2563EB"/>
                </a:solidFill>
              </a:defRPr>
            </a:pPr>
            <a:r>
              <a:t>• 4. Phát triển thành công mô hình cải tiến có dẫn chứng chứng minh:</a:t>
            </a:r>
          </a:p>
          <a:p>
            <a:pPr>
              <a:spcBef>
                <a:spcPts val="150"/>
              </a:spcBef>
              <a:defRPr sz="900">
                <a:solidFill>
                  <a:srgbClr val="0F172A"/>
                </a:solidFill>
              </a:defRPr>
            </a:pPr>
            <a:r>
              <a:t>Đề xuất mô hình HD-MerkleTree kết hợp chuẩn tiền tố RFC 6962, xác minh nhanh hơn ~8.5 lần, thêm/xóa nhanh hơn 458 - 708 lần so với Rebuild mảng 1D, tiết kiệm hơn 98.8% băng thông và có bằng chứng nhất quán độc lập.</a:t>
            </a:r>
          </a:p>
          <a:p>
            <a:pPr>
              <a:spcBef>
                <a:spcPts val="500"/>
              </a:spcBef>
              <a:defRPr b="1" sz="950">
                <a:solidFill>
                  <a:srgbClr val="2563EB"/>
                </a:solidFill>
              </a:defRPr>
            </a:pPr>
            <a:r>
              <a:t>• 5. Đóng gói sản phẩm hoàn chỉnh:</a:t>
            </a:r>
          </a:p>
          <a:p>
            <a:pPr>
              <a:spcBef>
                <a:spcPts val="150"/>
              </a:spcBef>
              <a:defRPr sz="900">
                <a:solidFill>
                  <a:srgbClr val="0F172A"/>
                </a:solidFill>
              </a:defRPr>
            </a:pPr>
            <a:r>
              <a:t>Bộ slide báo cáo chặt chẽ cùng ứng dụng web demo trực quan sẵn sàng trình diễn trước hội đồng.</a:t>
            </a:r>
          </a:p>
        </p:txBody>
      </p:sp>
      <p:sp>
        <p:nvSpPr>
          <p:cNvPr id="8" name="Rounded Rectangle 7"/>
          <p:cNvSpPr/>
          <p:nvPr/>
        </p:nvSpPr>
        <p:spPr>
          <a:xfrm>
            <a:off x="6035040" y="1234440"/>
            <a:ext cx="5394960" cy="52578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none">
            <a:spAutoFit/>
          </a:bodyPr>
          <a:lstStyle/>
          <a:p>
            <a:pPr>
              <a:defRPr b="1" sz="1100">
                <a:solidFill>
                  <a:srgbClr val="1E3A8A"/>
                </a:solidFill>
              </a:defRPr>
            </a:pPr>
            <a:r>
              <a:t>BỐN ĐÓNG GÓP TOÀN DIỆN CỦA ĐỒ ÁN DT005</a:t>
            </a:r>
          </a:p>
        </p:txBody>
      </p:sp>
      <p:sp>
        <p:nvSpPr>
          <p:cNvPr id="10" name="Rounded Rectangle 9"/>
          <p:cNvSpPr/>
          <p:nvPr/>
        </p:nvSpPr>
        <p:spPr>
          <a:xfrm>
            <a:off x="6263640" y="1874520"/>
            <a:ext cx="4937760" cy="1051560"/>
          </a:xfrm>
          <a:prstGeom prst="roundRect">
            <a:avLst/>
          </a:prstGeom>
          <a:solidFill>
            <a:srgbClr val="EFF6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1E3A8A"/>
                </a:solidFill>
              </a:defRPr>
            </a:pPr>
            <a:r>
              <a:t>🏆 1. HỌC THUẬT &amp; DỊCH THUẬT</a:t>
            </a:r>
          </a:p>
          <a:p>
            <a:pPr>
              <a:spcBef>
                <a:spcPts val="200"/>
              </a:spcBef>
              <a:defRPr sz="819">
                <a:solidFill>
                  <a:srgbClr val="0F172A"/>
                </a:solidFill>
              </a:defRPr>
            </a:pPr>
            <a:r>
              <a:t>Dịch toàn văn bài báo Harry Halpin 2025; đối chiếu 100% luận điểm Kẻ thù mật mã học.</a:t>
            </a:r>
          </a:p>
        </p:txBody>
      </p:sp>
      <p:sp>
        <p:nvSpPr>
          <p:cNvPr id="11" name="Rounded Rectangle 10"/>
          <p:cNvSpPr/>
          <p:nvPr/>
        </p:nvSpPr>
        <p:spPr>
          <a:xfrm>
            <a:off x="6263640" y="3017520"/>
            <a:ext cx="4937760" cy="10515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2563EB"/>
                </a:solidFill>
              </a:defRPr>
            </a:pPr>
            <a:r>
              <a:t>🏆 2. KIẾN TRÚC PoC SÁNG TẠO</a:t>
            </a:r>
          </a:p>
          <a:p>
            <a:pPr>
              <a:spcBef>
                <a:spcPts val="200"/>
              </a:spcBef>
              <a:defRPr sz="819">
                <a:solidFill>
                  <a:srgbClr val="0F172A"/>
                </a:solidFill>
              </a:defRPr>
            </a:pPr>
            <a:r>
              <a:t>Đề xuất HD-MerkleTree phân cấp Biba 1977, cập nhật Dirty-Path nhanh hơn 458 - 708 lần.</a:t>
            </a:r>
          </a:p>
        </p:txBody>
      </p:sp>
      <p:sp>
        <p:nvSpPr>
          <p:cNvPr id="12" name="Rounded Rectangle 11"/>
          <p:cNvSpPr/>
          <p:nvPr/>
        </p:nvSpPr>
        <p:spPr>
          <a:xfrm>
            <a:off x="6263640" y="4160520"/>
            <a:ext cx="4937760" cy="1051560"/>
          </a:xfrm>
          <a:prstGeom prst="roundRect">
            <a:avLst/>
          </a:prstGeom>
          <a:solidFill>
            <a:srgbClr val="FAF5FF"/>
          </a:solidFill>
          <a:ln w="1905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7E22CE"/>
                </a:solidFill>
              </a:defRPr>
            </a:pPr>
            <a:r>
              <a:t>🏆 3. MÔ PHỎNG 7 SECURITY GAMES</a:t>
            </a:r>
          </a:p>
          <a:p>
            <a:pPr>
              <a:spcBef>
                <a:spcPts val="200"/>
              </a:spcBef>
              <a:defRPr sz="819">
                <a:solidFill>
                  <a:srgbClr val="0F172A"/>
                </a:solidFill>
              </a:defRPr>
            </a:pPr>
            <a:r>
              <a:t>Khung kiểm định đối kháng toán học độc lập (PPT, Dolev-Yao, RFC 6962, Tuyết lở, Kênh kề).</a:t>
            </a:r>
          </a:p>
        </p:txBody>
      </p:sp>
      <p:sp>
        <p:nvSpPr>
          <p:cNvPr id="13" name="Rounded Rectangle 12"/>
          <p:cNvSpPr/>
          <p:nvPr/>
        </p:nvSpPr>
        <p:spPr>
          <a:xfrm>
            <a:off x="6263640" y="5303520"/>
            <a:ext cx="4937760" cy="1051560"/>
          </a:xfrm>
          <a:prstGeom prst="roundRect">
            <a:avLst/>
          </a:prstGeom>
          <a:solidFill>
            <a:srgbClr val="ECFDF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50">
                <a:solidFill>
                  <a:srgbClr val="059669"/>
                </a:solidFill>
              </a:defRPr>
            </a:pPr>
            <a:r>
              <a:t>🏆 4. THỰC NGHIỆM ĐỊNH LƯỢNG</a:t>
            </a:r>
          </a:p>
          <a:p>
            <a:pPr>
              <a:spcBef>
                <a:spcPts val="200"/>
              </a:spcBef>
              <a:defRPr sz="819">
                <a:solidFill>
                  <a:srgbClr val="0F172A"/>
                </a:solidFill>
              </a:defRPr>
            </a:pPr>
            <a:r>
              <a:t>Đo kiểm 1.000 tệp tin qua 5 vòng lặp, chứng minh tiết kiệm 98.8% băng thông qua Web 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