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Standard Merkle (Rebuild)</c:v>
                </c:pt>
              </c:strCache>
            </c:strRef>
          </c:tx>
          <c:spPr>
            <a:solidFill>
              <a:srgbClr val="DC2626"/>
            </a:solidFill>
          </c:spPr>
          <c:cat>
            <c:strRef>
              <c:f>Sheet1!$A$2:$A$4</c:f>
              <c:strCache>
                <c:ptCount val="3"/>
                <c:pt idx="0">
                  <c:v>Sửa 1 tệp tin</c:v>
                </c:pt>
                <c:pt idx="1">
                  <c:v>Thêm 1 tệp mới</c:v>
                </c:pt>
                <c:pt idx="2">
                  <c:v>Xóa 1 tệp tin</c:v>
                </c:pt>
              </c:strCache>
            </c:strRef>
          </c:cat>
          <c:val>
            <c:numRef>
              <c:f>Sheet1!$B$2:$B$4</c:f>
              <c:numCache>
                <c:formatCode>General</c:formatCode>
                <c:ptCount val="3"/>
                <c:pt idx="0">
                  <c:v>73.42</c:v>
                </c:pt>
                <c:pt idx="1">
                  <c:v>72.97</c:v>
                </c:pt>
                <c:pt idx="2">
                  <c:v>74.89</c:v>
                </c:pt>
              </c:numCache>
            </c:numRef>
          </c:val>
        </c:ser>
        <c:ser>
          <c:idx val="1"/>
          <c:order val="1"/>
          <c:tx>
            <c:strRef>
              <c:f>Sheet1!$C$1</c:f>
              <c:strCache>
                <c:ptCount val="1"/>
                <c:pt idx="0">
                  <c:v>HD-MerkleTree (Dirty-Path)</c:v>
                </c:pt>
              </c:strCache>
            </c:strRef>
          </c:tx>
          <c:spPr>
            <a:solidFill>
              <a:srgbClr val="059669"/>
            </a:solidFill>
          </c:spPr>
          <c:cat>
            <c:strRef>
              <c:f>Sheet1!$A$2:$A$4</c:f>
              <c:strCache>
                <c:ptCount val="3"/>
                <c:pt idx="0">
                  <c:v>Sửa 1 tệp tin</c:v>
                </c:pt>
                <c:pt idx="1">
                  <c:v>Thêm 1 tệp mới</c:v>
                </c:pt>
                <c:pt idx="2">
                  <c:v>Xóa 1 tệp tin</c:v>
                </c:pt>
              </c:strCache>
            </c:strRef>
          </c:cat>
          <c:val>
            <c:numRef>
              <c:f>Sheet1!$C$2:$C$4</c:f>
              <c:numCache>
                <c:formatCode>General</c:formatCode>
                <c:ptCount val="3"/>
                <c:pt idx="0">
                  <c:v>0.16</c:v>
                </c:pt>
                <c:pt idx="1">
                  <c:v>0.17</c:v>
                </c:pt>
                <c:pt idx="2">
                  <c:v>0.1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txPr>
        <a:bodyPr/>
        <a:lstStyle/>
        <a:p>
          <a:pPr>
            <a:defRPr sz="85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Thời gian Khởi tạo (ms)</c:v>
                </c:pt>
              </c:strCache>
            </c:strRef>
          </c:tx>
          <c:spPr>
            <a:solidFill>
              <a:srgbClr val="2563EB"/>
            </a:solidFill>
          </c:spPr>
          <c:cat>
            <c:strRef>
              <c:f>Sheet1!$A$2:$A$5</c:f>
              <c:strCache>
                <c:ptCount val="4"/>
                <c:pt idx="0">
                  <c:v>Flat SHA-256</c:v>
                </c:pt>
                <c:pt idx="1">
                  <c:v>HMAC-SHA256</c:v>
                </c:pt>
                <c:pt idx="2">
                  <c:v>Standard Merkle</c:v>
                </c:pt>
                <c:pt idx="3">
                  <c:v>HD-Merkle (Đề xuất)</c:v>
                </c:pt>
              </c:strCache>
            </c:strRef>
          </c:cat>
          <c:val>
            <c:numRef>
              <c:f>Sheet1!$B$2:$B$5</c:f>
              <c:numCache>
                <c:formatCode>General</c:formatCode>
                <c:ptCount val="4"/>
                <c:pt idx="0">
                  <c:v>63.37</c:v>
                </c:pt>
                <c:pt idx="1">
                  <c:v>63.79</c:v>
                </c:pt>
                <c:pt idx="2">
                  <c:v>62.64</c:v>
                </c:pt>
                <c:pt idx="3">
                  <c:v>92.12</c:v>
                </c:pt>
              </c:numCache>
            </c:numRef>
          </c:val>
        </c:ser>
        <c:ser>
          <c:idx val="1"/>
          <c:order val="1"/>
          <c:tx>
            <c:strRef>
              <c:f>Sheet1!$C$1</c:f>
              <c:strCache>
                <c:ptCount val="1"/>
                <c:pt idx="0">
                  <c:v>Xác minh 1 tệp (ms x100)</c:v>
                </c:pt>
              </c:strCache>
            </c:strRef>
          </c:tx>
          <c:spPr>
            <a:solidFill>
              <a:srgbClr val="059669"/>
            </a:solidFill>
          </c:spPr>
          <c:cat>
            <c:strRef>
              <c:f>Sheet1!$A$2:$A$5</c:f>
              <c:strCache>
                <c:ptCount val="4"/>
                <c:pt idx="0">
                  <c:v>Flat SHA-256</c:v>
                </c:pt>
                <c:pt idx="1">
                  <c:v>HMAC-SHA256</c:v>
                </c:pt>
                <c:pt idx="2">
                  <c:v>Standard Merkle</c:v>
                </c:pt>
                <c:pt idx="3">
                  <c:v>HD-Merkle (Đề xuất)</c:v>
                </c:pt>
              </c:strCache>
            </c:strRef>
          </c:cat>
          <c:val>
            <c:numRef>
              <c:f>Sheet1!$C$2:$C$5</c:f>
              <c:numCache>
                <c:formatCode>General</c:formatCode>
                <c:ptCount val="4"/>
                <c:pt idx="0">
                  <c:v>20.0</c:v>
                </c:pt>
                <c:pt idx="1">
                  <c:v>8.0</c:v>
                </c:pt>
                <c:pt idx="2">
                  <c:v>2.0</c:v>
                </c:pt>
                <c:pt idx="3">
                  <c:v>3.0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txPr>
        <a:bodyPr/>
        <a:lstStyle/>
        <a:p>
          <a:pPr>
            <a:defRPr sz="85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Dung lượng gói tin (Bytes)</c:v>
                </c:pt>
              </c:strCache>
            </c:strRef>
          </c:tx>
          <c:spPr>
            <a:solidFill>
              <a:srgbClr val="2563EB"/>
            </a:solidFill>
          </c:spPr>
          <c:cat>
            <c:strRef>
              <c:f>Sheet1!$A$2:$A$5</c:f>
              <c:strCache>
                <c:ptCount val="4"/>
                <c:pt idx="0">
                  <c:v>Flat SHA-256 (Tải cả bảng)</c:v>
                </c:pt>
                <c:pt idx="1">
                  <c:v>HMAC-SHA256 (Tải cả bảng)</c:v>
                </c:pt>
                <c:pt idx="2">
                  <c:v>Standard Merkle Proof</c:v>
                </c:pt>
                <c:pt idx="3">
                  <c:v>HD-MerkleTree Proof (Đề xuất)</c:v>
                </c:pt>
              </c:strCache>
            </c:strRef>
          </c:cat>
          <c:val>
            <c:numRef>
              <c:f>Sheet1!$B$2:$B$5</c:f>
              <c:numCache>
                <c:formatCode>General</c:formatCode>
                <c:ptCount val="4"/>
                <c:pt idx="0">
                  <c:v>113802</c:v>
                </c:pt>
                <c:pt idx="1">
                  <c:v>113807</c:v>
                </c:pt>
                <c:pt idx="2">
                  <c:v>990</c:v>
                </c:pt>
                <c:pt idx="3">
                  <c:v>1369</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657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777240"/>
            <a:ext cx="10362895" cy="5394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1051560"/>
            <a:ext cx="9448495" cy="4846320"/>
          </a:xfrm>
          <a:prstGeom prst="rect">
            <a:avLst/>
          </a:prstGeom>
          <a:noFill/>
        </p:spPr>
        <p:txBody>
          <a:bodyPr wrap="square">
            <a:spAutoFit/>
          </a:bodyPr>
          <a:lstStyle/>
          <a:p>
            <a:pPr algn="ctr">
              <a:defRPr b="1" sz="1350">
                <a:solidFill>
                  <a:srgbClr val="1E3A8A"/>
                </a:solidFill>
              </a:defRPr>
            </a:pPr>
            <a:r>
              <a:t>TRƯỜNG ĐẠI HỌC TÀI NGUYÊN VÀ MÔI TRƯỜNG TP. HỒ CHÍ MINH</a:t>
            </a:r>
          </a:p>
          <a:p>
            <a:pPr algn="ctr">
              <a:spcAft>
                <a:spcPts val="1200"/>
              </a:spcAft>
              <a:defRPr b="1" sz="1200">
                <a:solidFill>
                  <a:srgbClr val="2563EB"/>
                </a:solidFill>
              </a:defRPr>
            </a:pPr>
            <a:r>
              <a:t>KHOA CÔNG NGHỆ THÔNG TIN</a:t>
            </a:r>
          </a:p>
          <a:p>
            <a:pPr algn="ctr">
              <a:defRPr b="1" sz="2100">
                <a:solidFill>
                  <a:srgbClr val="DC2626"/>
                </a:solidFill>
              </a:defRPr>
            </a:pPr>
            <a:r>
              <a:t>BÁO CÁO THUYẾT TRÌNH ĐỒ ÁN GIỮA KỲ</a:t>
            </a:r>
          </a:p>
          <a:p>
            <a:pPr algn="ctr">
              <a:spcAft>
                <a:spcPts val="1000"/>
              </a:spcAft>
              <a:defRPr b="1" sz="1500">
                <a:solidFill>
                  <a:srgbClr val="1E3A8A"/>
                </a:solidFill>
              </a:defRPr>
            </a:pPr>
            <a:r>
              <a:t>ĐỀ TÀI DT005: HỆ THỐNG KIỂM TRA TOÀN VẸN TỆP BẰNG SHA-256, HMAC VÀ CÂY MERKLE PHÂN CẤP (HD-MERKLE TREE)</a:t>
            </a:r>
          </a:p>
          <a:p>
            <a:pPr algn="ctr">
              <a:defRPr b="1" sz="1200">
                <a:solidFill>
                  <a:srgbClr val="0F172A"/>
                </a:solidFill>
              </a:defRPr>
            </a:pPr>
            <a:r>
              <a:t>Học phần: An Toàn và Bảo Mật Hệ Thống Thông Tin</a:t>
            </a:r>
          </a:p>
          <a:p>
            <a:pPr algn="ctr">
              <a:spcAft>
                <a:spcPts val="1000"/>
              </a:spcAft>
              <a:defRPr b="1" sz="1250">
                <a:solidFill>
                  <a:srgbClr val="1E3A8A"/>
                </a:solidFill>
              </a:defRPr>
            </a:pPr>
            <a:r>
              <a:t>Giảng viên hướng dẫn: ThS. Phạm Trọng Huynh</a:t>
            </a:r>
            <a:br/>
            <a:r>
              <a:t>Sinh viên thực hiện: Võ Anh Kiệt  —  MSSV: 1150080143  —  Lớp: 11_CNPM2</a:t>
            </a:r>
          </a:p>
          <a:p>
            <a:pPr algn="ctr">
              <a:spcAft>
                <a:spcPts val="800"/>
              </a:spcAft>
              <a:defRPr sz="1000">
                <a:solidFill>
                  <a:srgbClr val="64748B"/>
                </a:solidFill>
              </a:defRPr>
            </a:pPr>
            <a:r>
              <a:t>Bài Báo Khoa Học Gốc: The Adversary: The Philosophy of Cryptography (Harry Halpin — Oxford Journal of Cybersecurity, 2025)</a:t>
            </a:r>
          </a:p>
          <a:p>
            <a:pPr algn="ctr">
              <a:defRPr b="1" sz="1050">
                <a:solidFill>
                  <a:srgbClr val="059669"/>
                </a:solidFill>
              </a:defRPr>
            </a:pPr>
            <a:r>
              <a:t>Mục Tiêu Đồ Án: Hiện thực hóa bài báo gốc [Thang điểm 6-8] &amp; Tự xây dựng Mô hình HD-Merkle Tree đạt kết quả vượt trội [Thang điểm 9,10]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1: NGHIÊN CỨU VÀ DỊCH THUẬT BÀI BÁO GỐC [THANG ĐIỂM 6-8]</a:t>
            </a:r>
          </a:p>
          <a:p>
            <a:pPr>
              <a:spcBef>
                <a:spcPts val="200"/>
              </a:spcBef>
              <a:defRPr b="1" sz="1700">
                <a:solidFill>
                  <a:srgbClr val="FFFFFF"/>
                </a:solidFill>
              </a:defRPr>
            </a:pPr>
            <a:r>
              <a:t>1. Giới Thiệu Và Tóm Tắt Bài Báo Khoa Học Của Tác Giả Harry Halpin</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Thông Tin Xuất Bản &amp; Tóm Tắt Toàn Văn Bài Báo</a:t>
            </a:r>
          </a:p>
          <a:p>
            <a:pPr>
              <a:defRPr b="1" sz="930">
                <a:solidFill>
                  <a:srgbClr val="2563EB"/>
                </a:solidFill>
              </a:defRPr>
            </a:pPr>
            <a:r>
              <a:t>• Tên bài báo tiếng Anh gốc:</a:t>
            </a:r>
          </a:p>
          <a:p>
            <a:pPr>
              <a:spcBef>
                <a:spcPts val="150"/>
              </a:spcBef>
              <a:defRPr sz="880">
                <a:solidFill>
                  <a:srgbClr val="0F172A"/>
                </a:solidFill>
              </a:defRPr>
            </a:pPr>
            <a:r>
              <a:t>The Adversary: The Philosophy of Cryptography.</a:t>
            </a:r>
          </a:p>
          <a:p>
            <a:pPr>
              <a:spcBef>
                <a:spcPts val="500"/>
              </a:spcBef>
              <a:defRPr b="1" sz="930">
                <a:solidFill>
                  <a:srgbClr val="2563EB"/>
                </a:solidFill>
              </a:defRPr>
            </a:pPr>
            <a:r>
              <a:t>• Tác giả &amp; Cơ quan nghiên cứu:</a:t>
            </a:r>
          </a:p>
          <a:p>
            <a:pPr>
              <a:spcBef>
                <a:spcPts val="150"/>
              </a:spcBef>
              <a:defRPr sz="880">
                <a:solidFill>
                  <a:srgbClr val="0F172A"/>
                </a:solidFill>
              </a:defRPr>
            </a:pPr>
            <a:r>
              <a:t>Harry Halpin — Nhà nghiên cứu mật mã học, đồng sáng lập Nym Technologies và cựu nghiên cứu viên cấp cao tại Inria (Pháp).</a:t>
            </a:r>
          </a:p>
          <a:p>
            <a:pPr>
              <a:spcBef>
                <a:spcPts val="500"/>
              </a:spcBef>
              <a:defRPr b="1" sz="930">
                <a:solidFill>
                  <a:srgbClr val="2563EB"/>
                </a:solidFill>
              </a:defRPr>
            </a:pPr>
            <a:r>
              <a:t>• Tạp chí &amp; Năm xuất bản:</a:t>
            </a:r>
          </a:p>
          <a:p>
            <a:pPr>
              <a:spcBef>
                <a:spcPts val="150"/>
              </a:spcBef>
              <a:defRPr sz="880">
                <a:solidFill>
                  <a:srgbClr val="0F172A"/>
                </a:solidFill>
              </a:defRPr>
            </a:pPr>
            <a:r>
              <a:t>Tạp chí An ninh mạng Oxford (Oxford Journal of Cybersecurity), Nhà xuất bản Đại học Oxford (Oxford University Press), Tập 11, Số 1, Năm 2025.</a:t>
            </a:r>
          </a:p>
          <a:p>
            <a:pPr>
              <a:spcBef>
                <a:spcPts val="500"/>
              </a:spcBef>
              <a:defRPr b="1" sz="930">
                <a:solidFill>
                  <a:srgbClr val="2563EB"/>
                </a:solidFill>
              </a:defRPr>
            </a:pPr>
            <a:r>
              <a:t>• Luận điểm triết học trung tâm của bài báo:</a:t>
            </a:r>
          </a:p>
          <a:p>
            <a:pPr>
              <a:spcBef>
                <a:spcPts val="150"/>
              </a:spcBef>
              <a:defRPr sz="880">
                <a:solidFill>
                  <a:srgbClr val="0F172A"/>
                </a:solidFill>
              </a:defRPr>
            </a:pPr>
            <a:r>
              <a:t>Mật mã học không chỉ là bài toán tĩnh trên lý thuyết, mà là một cuộc chiến tương tác đối kháng có chủ đích giữa Kẻ phòng thủ và Kẻ thù hình thức (The Adversary).</a:t>
            </a:r>
          </a:p>
          <a:p>
            <a:pPr>
              <a:spcBef>
                <a:spcPts val="500"/>
              </a:spcBef>
              <a:defRPr b="1" sz="930">
                <a:solidFill>
                  <a:srgbClr val="2563EB"/>
                </a:solidFill>
              </a:defRPr>
            </a:pPr>
            <a:r>
              <a:t>• Khung phân loại 4 mô hình Kẻ thù trong bài báo:</a:t>
            </a:r>
          </a:p>
          <a:p>
            <a:pPr>
              <a:spcBef>
                <a:spcPts val="150"/>
              </a:spcBef>
              <a:defRPr sz="880">
                <a:solidFill>
                  <a:srgbClr val="0F172A"/>
                </a:solidFill>
              </a:defRPr>
            </a:pPr>
            <a:r>
              <a:t>1. Kẻ tấn công thụ động (Passive Eavesdropper: Nghe lén đường truyền).</a:t>
            </a:r>
            <a:br/>
            <a:r>
              <a:t>2. Kẻ tấn công chủ động Dolev-Yao (Active Network Adversary: Can thiệp gói tin).</a:t>
            </a:r>
            <a:br/>
            <a:r>
              <a:t>3. Kẻ thù tính toán PPT (Probabilistic Polynomial-Time Adversary).</a:t>
            </a:r>
            <a:br/>
            <a:r>
              <a:t>4. Kẻ thù khai thác kênh kề &amp; siêu dữ liệu (Side-Channel &amp; Metadata Adversary).</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035040" y="1234440"/>
            <a:ext cx="5394960" cy="82296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50">
                <a:solidFill>
                  <a:srgbClr val="BFDBFE"/>
                </a:solidFill>
              </a:defRPr>
            </a:pPr>
            <a:r>
              <a:t>OXFORD UNIVERSITY PRESS • JOURNAL OF CYBERSECURITY</a:t>
            </a:r>
          </a:p>
          <a:p>
            <a:pPr>
              <a:defRPr sz="850">
                <a:solidFill>
                  <a:srgbClr val="FFFFFF"/>
                </a:solidFill>
              </a:defRPr>
            </a:pPr>
            <a:r>
              <a:t>ISSN 2057-2085 • Tập 11, Số 1, Năm 2025 • Article ID: tyae024</a:t>
            </a:r>
          </a:p>
        </p:txBody>
      </p:sp>
      <p:sp>
        <p:nvSpPr>
          <p:cNvPr id="10" name="TextBox 9"/>
          <p:cNvSpPr txBox="1"/>
          <p:nvPr/>
        </p:nvSpPr>
        <p:spPr>
          <a:xfrm>
            <a:off x="6263640" y="2148840"/>
            <a:ext cx="4937760" cy="4206240"/>
          </a:xfrm>
          <a:prstGeom prst="rect">
            <a:avLst/>
          </a:prstGeom>
          <a:noFill/>
        </p:spPr>
        <p:txBody>
          <a:bodyPr wrap="square">
            <a:spAutoFit/>
          </a:bodyPr>
          <a:lstStyle/>
          <a:p>
            <a:pPr>
              <a:defRPr b="1" sz="1300">
                <a:solidFill>
                  <a:srgbClr val="1E3A8A"/>
                </a:solidFill>
              </a:defRPr>
            </a:pPr>
            <a:r>
              <a:t>The Adversary: The Philosophy of Cryptography</a:t>
            </a:r>
          </a:p>
          <a:p>
            <a:pPr>
              <a:spcAft>
                <a:spcPts val="600"/>
              </a:spcAft>
              <a:defRPr sz="900">
                <a:solidFill>
                  <a:srgbClr val="2563EB"/>
                </a:solidFill>
              </a:defRPr>
            </a:pPr>
            <a:r>
              <a:t>Tác giả: Harry Halpin  |  Đơn vị: Nym Technologies &amp; Inria Research</a:t>
            </a:r>
          </a:p>
        </p:txBody>
      </p:sp>
      <p:sp>
        <p:nvSpPr>
          <p:cNvPr id="11" name="Rounded Rectangle 10"/>
          <p:cNvSpPr/>
          <p:nvPr/>
        </p:nvSpPr>
        <p:spPr>
          <a:xfrm>
            <a:off x="6263640" y="2971800"/>
            <a:ext cx="4937760" cy="169164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1E3A8A"/>
                </a:solidFill>
              </a:defRPr>
            </a:pPr>
            <a:r>
              <a:t>[ TRÍCH ĐOẠN LUẬN ĐIỂM CỐT LÕI TỪ BÀI BÁO ]</a:t>
            </a:r>
          </a:p>
          <a:p>
            <a:pPr>
              <a:spcBef>
                <a:spcPts val="300"/>
              </a:spcBef>
              <a:defRPr sz="819">
                <a:solidFill>
                  <a:srgbClr val="0F172A"/>
                </a:solidFill>
              </a:defRPr>
            </a:pPr>
            <a:r>
              <a:t>“Mật mã học không chỉ là bài toán mã hóa dữ liệu tĩnh, mà là sự tương tác đối kháng hình thức giữa người xây dựng hệ thống và Kẻ thù (The Adversary). Để bảo đảm toàn vẹn kho dữ liệu, bắt buộc phải sử dụng cây Merkle phân tách miền (RFC 6962) và kiểm nghiệm trên dữ liệu thực tế biến thiên.”</a:t>
            </a:r>
          </a:p>
        </p:txBody>
      </p:sp>
      <p:sp>
        <p:nvSpPr>
          <p:cNvPr id="12" name="Rounded Rectangle 11"/>
          <p:cNvSpPr/>
          <p:nvPr/>
        </p:nvSpPr>
        <p:spPr>
          <a:xfrm>
            <a:off x="6263640" y="4846320"/>
            <a:ext cx="2423160" cy="56692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2563EB"/>
                </a:solidFill>
              </a:defRPr>
            </a:pPr>
            <a:r>
              <a:t>✓ Kẻ thù PPT &amp; Dolev-Yao</a:t>
            </a:r>
          </a:p>
        </p:txBody>
      </p:sp>
      <p:sp>
        <p:nvSpPr>
          <p:cNvPr id="13" name="Rounded Rectangle 12"/>
          <p:cNvSpPr/>
          <p:nvPr/>
        </p:nvSpPr>
        <p:spPr>
          <a:xfrm>
            <a:off x="8778240" y="4846320"/>
            <a:ext cx="2423160" cy="566928"/>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059669"/>
                </a:solidFill>
              </a:defRPr>
            </a:pPr>
            <a:r>
              <a:t>✓ Chuẩn RFC 6962 Domain Separation</a:t>
            </a:r>
          </a:p>
        </p:txBody>
      </p:sp>
      <p:sp>
        <p:nvSpPr>
          <p:cNvPr id="14" name="Rounded Rectangle 13"/>
          <p:cNvSpPr/>
          <p:nvPr/>
        </p:nvSpPr>
        <p:spPr>
          <a:xfrm>
            <a:off x="6263640" y="5532120"/>
            <a:ext cx="2423160" cy="566928"/>
          </a:xfrm>
          <a:prstGeom prst="roundRect">
            <a:avLst/>
          </a:prstGeom>
          <a:solidFill>
            <a:srgbClr val="FAF5FF"/>
          </a:solidFill>
          <a:ln>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7E22CE"/>
                </a:solidFill>
              </a:defRPr>
            </a:pPr>
            <a:r>
              <a:t>✓ Cây Merkle &amp; Xác minh O(log N)</a:t>
            </a:r>
          </a:p>
        </p:txBody>
      </p:sp>
      <p:sp>
        <p:nvSpPr>
          <p:cNvPr id="15" name="Rounded Rectangle 14"/>
          <p:cNvSpPr/>
          <p:nvPr/>
        </p:nvSpPr>
        <p:spPr>
          <a:xfrm>
            <a:off x="8778240" y="5532120"/>
            <a:ext cx="2423160" cy="566928"/>
          </a:xfrm>
          <a:prstGeom prst="roundRect">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D97706"/>
                </a:solidFill>
              </a:defRPr>
            </a:pPr>
            <a:r>
              <a:t>✓ Nguyên lý Kerckhoffs &amp; Kênh kề</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1: NGHIÊN CỨU VÀ DỊCH THUẬT BÀI BÁO GỐC [THANG ĐIỂM 6-8]</a:t>
            </a:r>
          </a:p>
          <a:p>
            <a:pPr>
              <a:spcBef>
                <a:spcPts val="200"/>
              </a:spcBef>
              <a:defRPr b="1" sz="1700">
                <a:solidFill>
                  <a:srgbClr val="FFFFFF"/>
                </a:solidFill>
              </a:defRPr>
            </a:pPr>
            <a:r>
              <a:t>2. Hiện Thực Hóa &amp; Chạy Lại Kết Quả 3 Mô Hình Nền Tảng Của Bài Báo</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Chạy Lại 3 Mô Hình Nền Tảng Trên Tập Dữ Liệu Thực Nghiệm</a:t>
            </a:r>
          </a:p>
          <a:p>
            <a:pPr>
              <a:defRPr b="1" sz="910">
                <a:solidFill>
                  <a:srgbClr val="2563EB"/>
                </a:solidFill>
              </a:defRPr>
            </a:pPr>
            <a:r>
              <a:t>• 1. Danh sách băm phẳng SHA-256 (sha256_manifest.py):</a:t>
            </a:r>
          </a:p>
          <a:p>
            <a:pPr>
              <a:spcBef>
                <a:spcPts val="150"/>
              </a:spcBef>
              <a:defRPr sz="860">
                <a:solidFill>
                  <a:srgbClr val="0F172A"/>
                </a:solidFill>
              </a:defRPr>
            </a:pPr>
            <a:r>
              <a:t>- Cơ chế: Băm tuần tự từng tệp tin và lưu danh mục băm manifest.</a:t>
            </a:r>
            <a:br/>
            <a:r>
              <a:t>- Kết quả tái lập: Khởi tạo ~62.6 ms trên 1.000 tệp. Phát hiện 100% sai khác khi có tệp bị sửa đổi. Hạn chế: Client phải tải toàn bộ danh mục 111 KB để xác minh 1 tệp.</a:t>
            </a:r>
          </a:p>
          <a:p>
            <a:pPr>
              <a:spcBef>
                <a:spcPts val="500"/>
              </a:spcBef>
              <a:defRPr b="1" sz="910">
                <a:solidFill>
                  <a:srgbClr val="2563EB"/>
                </a:solidFill>
              </a:defRPr>
            </a:pPr>
            <a:r>
              <a:t>• 2. Danh sách băm có khóa bí mật HMAC-SHA256 (hmac_manifest.py):</a:t>
            </a:r>
          </a:p>
          <a:p>
            <a:pPr>
              <a:spcBef>
                <a:spcPts val="150"/>
              </a:spcBef>
              <a:defRPr sz="860">
                <a:solidFill>
                  <a:srgbClr val="0F172A"/>
                </a:solidFill>
              </a:defRPr>
            </a:pPr>
            <a:r>
              <a:t>- Cơ chế: Sử dụng khóa đối xứng K để tính mã xác thực thông điệp cho từng tệp.</a:t>
            </a:r>
            <a:br/>
            <a:r>
              <a:t>- Kết quả tái lập: Khởi tạo ~60.6 ms. Chống giả mạo danh mục hiệu quả. Hạn chế: Buộc phải phân phối khóa bí mật K cho client.</a:t>
            </a:r>
          </a:p>
          <a:p>
            <a:pPr>
              <a:spcBef>
                <a:spcPts val="500"/>
              </a:spcBef>
              <a:defRPr b="1" sz="910">
                <a:solidFill>
                  <a:srgbClr val="2563EB"/>
                </a:solidFill>
              </a:defRPr>
            </a:pPr>
            <a:r>
              <a:t>• 3. Cây Merkle nhị phân truyền thống (standard_merkle_tree.py):</a:t>
            </a:r>
          </a:p>
          <a:p>
            <a:pPr>
              <a:spcBef>
                <a:spcPts val="150"/>
              </a:spcBef>
              <a:defRPr sz="860">
                <a:solidFill>
                  <a:srgbClr val="0F172A"/>
                </a:solidFill>
              </a:defRPr>
            </a:pPr>
            <a:r>
              <a:t>- Cơ chế: Cây Merkle phẳng theo phát minh của Ralph Merkle (1979).</a:t>
            </a:r>
            <a:br/>
            <a:r>
              <a:t>- Kết quả tái lập: Cho phép tạo bằng chứng Merkle Proof kích thước 990 Byte, xác minh trong 0.02 ms.</a:t>
            </a:r>
          </a:p>
          <a:p>
            <a:pPr>
              <a:spcBef>
                <a:spcPts val="500"/>
              </a:spcBef>
              <a:defRPr b="1" sz="910">
                <a:solidFill>
                  <a:srgbClr val="2563EB"/>
                </a:solidFill>
              </a:defRPr>
            </a:pPr>
            <a:r>
              <a:t>• Đánh giá kết quả tái lập (Replication Result):</a:t>
            </a:r>
          </a:p>
          <a:p>
            <a:pPr>
              <a:spcBef>
                <a:spcPts val="150"/>
              </a:spcBef>
              <a:defRPr sz="860">
                <a:solidFill>
                  <a:srgbClr val="0F172A"/>
                </a:solidFill>
              </a:defRPr>
            </a:pPr>
            <a:r>
              <a:t>Cả 3 mô hình đều phát hiện chính xác 100% mọi hành vi tấn công, hoàn thành trọn vẹn yêu cầu dịch bài báo và chạy lại kết quả nền tảng [Thang điểm 6-8].</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00">
                <a:solidFill>
                  <a:srgbClr val="1E3A8A"/>
                </a:solidFill>
              </a:defRPr>
            </a:pPr>
            <a:r>
              <a:t>Sơ đồ chuyển giao tri thức từ bài báo Oxford đến đồ án DT005</a:t>
            </a:r>
          </a:p>
          <a:p>
            <a:pPr>
              <a:defRPr b="1" sz="950">
                <a:solidFill>
                  <a:srgbClr val="64748B"/>
                </a:solidFill>
              </a:defRPr>
            </a:pPr>
            <a:r>
              <a:t>Gợi ý các thành phần cần thiết kế trên Draw.io:</a:t>
            </a:r>
          </a:p>
          <a:p>
            <a:pPr>
              <a:spcBef>
                <a:spcPts val="400"/>
              </a:spcBef>
              <a:defRPr sz="880">
                <a:solidFill>
                  <a:srgbClr val="0F172A"/>
                </a:solidFill>
              </a:defRPr>
            </a:pPr>
            <a:r>
              <a:t>• Khối 1: Nền tảng triết học mật mã học của Harry Halpin (2025) và khái niệm Kẻ thù hình thức.</a:t>
            </a:r>
          </a:p>
          <a:p>
            <a:pPr>
              <a:spcBef>
                <a:spcPts val="400"/>
              </a:spcBef>
              <a:defRPr sz="880">
                <a:solidFill>
                  <a:srgbClr val="0F172A"/>
                </a:solidFill>
              </a:defRPr>
            </a:pPr>
            <a:r>
              <a:t>• Khối 2: Khoảng trống khoa học bài báo: không có mã nguồn, không có dữ liệu, không có đo đạc định lượng.</a:t>
            </a:r>
          </a:p>
          <a:p>
            <a:pPr>
              <a:spcBef>
                <a:spcPts val="400"/>
              </a:spcBef>
              <a:defRPr sz="880">
                <a:solidFill>
                  <a:srgbClr val="0F172A"/>
                </a:solidFill>
              </a:defRPr>
            </a:pPr>
            <a:r>
              <a:t>• Khối 3: Đóng góp hiện thực hóa của đồ án DT005: PoC HD-MerkleTree, 7 Games an ninh, 1.000 tệp tin.</a:t>
            </a:r>
          </a:p>
          <a:p>
            <a:pPr>
              <a:spcBef>
                <a:spcPts val="400"/>
              </a:spcBef>
              <a:defRPr sz="880">
                <a:solidFill>
                  <a:srgbClr val="0F172A"/>
                </a:solidFill>
              </a:defRPr>
            </a:pPr>
            <a:r>
              <a:t>• Khối 4: Quy trình kiểm nghiệm toán học độc lập và đối chuẩn thực nghiệm đa tầng.</a:t>
            </a:r>
          </a:p>
          <a:p>
            <a:pPr>
              <a:spcBef>
                <a:spcPts val="400"/>
              </a:spcBef>
              <a:defRPr sz="880">
                <a:solidFill>
                  <a:srgbClr val="0F172A"/>
                </a:solidFill>
              </a:defRPr>
            </a:pPr>
            <a:r>
              <a:t>• Mũi tên luồng: Thể hiện chuỗi kế thừa lý thuyết và phát triển thực nghiệm khép kín.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2: PHÂN TÍCH HẠN CHẾ &amp; ĐỘNG LỰC CẢI TIẾN [MỤC TIÊU ĐẠT ĐIỂM 9, 10]</a:t>
            </a:r>
          </a:p>
          <a:p>
            <a:pPr>
              <a:spcBef>
                <a:spcPts val="200"/>
              </a:spcBef>
              <a:defRPr b="1" sz="1700">
                <a:solidFill>
                  <a:srgbClr val="FFFFFF"/>
                </a:solidFill>
              </a:defRPr>
            </a:pPr>
            <a:r>
              <a:t>3. Phân Tích Hạn Chế Của Bài Báo Gốc &amp; Động Lực Đề Xuất Mô Hình Mới</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4 Nút Thắt Kỹ Thuật Của Mô Hình Nền Tảng Cần Đột Phá</a:t>
            </a:r>
          </a:p>
          <a:p>
            <a:pPr>
              <a:defRPr b="1" sz="910">
                <a:solidFill>
                  <a:srgbClr val="2563EB"/>
                </a:solidFill>
              </a:defRPr>
            </a:pPr>
            <a:r>
              <a:t>• 1. Nút thắt Rebuild toàn bộ O(N) khi Thêm / Sửa / Xóa tệp:</a:t>
            </a:r>
          </a:p>
          <a:p>
            <a:pPr>
              <a:spcBef>
                <a:spcPts val="150"/>
              </a:spcBef>
              <a:defRPr sz="860">
                <a:solidFill>
                  <a:srgbClr val="0F172A"/>
                </a:solidFill>
              </a:defRPr>
            </a:pPr>
            <a:r>
              <a:t>- Trong cây Merkle phẳng truyền thống mảng 1D, khi chỉ 1 tệp tin thay đổi, hệ thống phải dựng lại toàn bộ cây từ đầu (~73.4 ms).</a:t>
            </a:r>
            <a:br/>
            <a:r>
              <a:t>- Gây tắc nghẽn CPU và I/O đĩa nghiêm trọng khi kho dữ liệu lớn hàng chục nghìn tệp.</a:t>
            </a:r>
          </a:p>
          <a:p>
            <a:pPr>
              <a:spcBef>
                <a:spcPts val="500"/>
              </a:spcBef>
              <a:defRPr b="1" sz="910">
                <a:solidFill>
                  <a:srgbClr val="2563EB"/>
                </a:solidFill>
              </a:defRPr>
            </a:pPr>
            <a:r>
              <a:t>• 2. Thiếu cấu trúc phân cấp thư mục thực tế:</a:t>
            </a:r>
          </a:p>
          <a:p>
            <a:pPr>
              <a:spcBef>
                <a:spcPts val="150"/>
              </a:spcBef>
              <a:defRPr sz="860">
                <a:solidFill>
                  <a:srgbClr val="0F172A"/>
                </a:solidFill>
              </a:defRPr>
            </a:pPr>
            <a:r>
              <a:t>- Cây Merkle phẳng gom chung toàn bộ tệp vào một mảng lá duy nhất.</a:t>
            </a:r>
            <a:br/>
            <a:r>
              <a:t>- Khi xảy ra lỗi, không thể định vị nhanh lỗi thuộc thư mục nào mà phải duyệt tuyến tính; không phản chiếu cấu trúc bảo mật phân tầng.</a:t>
            </a:r>
          </a:p>
          <a:p>
            <a:pPr>
              <a:spcBef>
                <a:spcPts val="500"/>
              </a:spcBef>
              <a:defRPr b="1" sz="910">
                <a:solidFill>
                  <a:srgbClr val="2563EB"/>
                </a:solidFill>
              </a:defRPr>
            </a:pPr>
            <a:r>
              <a:t>• 3. Nguy cơ va chạm nút lá và nút nhánh (Second-Preimage Attack):</a:t>
            </a:r>
          </a:p>
          <a:p>
            <a:pPr>
              <a:spcBef>
                <a:spcPts val="150"/>
              </a:spcBef>
              <a:defRPr sz="860">
                <a:solidFill>
                  <a:srgbClr val="0F172A"/>
                </a:solidFill>
              </a:defRPr>
            </a:pPr>
            <a:r>
              <a:t>- Nếu không phân tách miền băm, kẻ tấn công có thể ghép hai nút lá thành một nút nhánh giả mạo để vượt qua cơ chế kiểm tra.</a:t>
            </a:r>
          </a:p>
          <a:p>
            <a:pPr>
              <a:spcBef>
                <a:spcPts val="500"/>
              </a:spcBef>
              <a:defRPr b="1" sz="910">
                <a:solidFill>
                  <a:srgbClr val="2563EB"/>
                </a:solidFill>
              </a:defRPr>
            </a:pPr>
            <a:r>
              <a:t>• 4. Lãng phí băng thông mạng &amp; Rò rỉ siêu dữ liệu:</a:t>
            </a:r>
          </a:p>
          <a:p>
            <a:pPr>
              <a:spcBef>
                <a:spcPts val="150"/>
              </a:spcBef>
              <a:defRPr sz="860">
                <a:solidFill>
                  <a:srgbClr val="0F172A"/>
                </a:solidFill>
              </a:defRPr>
            </a:pPr>
            <a:r>
              <a:t>- Danh sách phẳng bắt buộc tải toàn bộ bảng băm 111 KB để xác minh 1 tệp, để lộ danh tính của 999 tệp còn lại qua đường truyền.</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00">
                <a:solidFill>
                  <a:srgbClr val="1E3A8A"/>
                </a:solidFill>
              </a:defRPr>
            </a:pPr>
            <a:r>
              <a:t>Sơ đồ tương quan 4 trụ cột an ninh mật mã học trong hệ thống</a:t>
            </a:r>
          </a:p>
          <a:p>
            <a:pPr>
              <a:defRPr b="1" sz="950">
                <a:solidFill>
                  <a:srgbClr val="64748B"/>
                </a:solidFill>
              </a:defRPr>
            </a:pPr>
            <a:r>
              <a:t>Gợi ý các thành phần cần thiết kế trên Draw.io:</a:t>
            </a:r>
          </a:p>
          <a:p>
            <a:pPr>
              <a:spcBef>
                <a:spcPts val="400"/>
              </a:spcBef>
              <a:defRPr sz="880">
                <a:solidFill>
                  <a:srgbClr val="0F172A"/>
                </a:solidFill>
              </a:defRPr>
            </a:pPr>
            <a:r>
              <a:t>• Trụ cột 1: Second-Preimage Resistance (Đảo 1 bit làm sai lệch chuỗi băm, bảo vệ bởi SHA-256).</a:t>
            </a:r>
          </a:p>
          <a:p>
            <a:pPr>
              <a:spcBef>
                <a:spcPts val="400"/>
              </a:spcBef>
              <a:defRPr sz="880">
                <a:solidFill>
                  <a:srgbClr val="0F172A"/>
                </a:solidFill>
              </a:defRPr>
            </a:pPr>
            <a:r>
              <a:t>• Trụ cột 2: Domain Separation RFC 6962 (Tách miền 0x00 cho lá và 0x01 cho nhánh để chống va chạm).</a:t>
            </a:r>
          </a:p>
          <a:p>
            <a:pPr>
              <a:spcBef>
                <a:spcPts val="400"/>
              </a:spcBef>
              <a:defRPr sz="880">
                <a:solidFill>
                  <a:srgbClr val="0F172A"/>
                </a:solidFill>
              </a:defRPr>
            </a:pPr>
            <a:r>
              <a:t>• Trụ cột 3: Membership Proof O(log N) (Bằng chứng thành viên nhỏ gọn, không để lộ cấu trúc thư mục).</a:t>
            </a:r>
          </a:p>
          <a:p>
            <a:pPr>
              <a:spcBef>
                <a:spcPts val="400"/>
              </a:spcBef>
              <a:defRPr sz="880">
                <a:solidFill>
                  <a:srgbClr val="0F172A"/>
                </a:solidFill>
              </a:defRPr>
            </a:pPr>
            <a:r>
              <a:t>• Trụ cột 4: Append-Only Consistency Proof (Xác thực lịch sử tệp tin không bị kẻ tấn công sửa lén).</a:t>
            </a:r>
          </a:p>
          <a:p>
            <a:pPr>
              <a:spcBef>
                <a:spcPts val="400"/>
              </a:spcBef>
              <a:defRPr sz="880">
                <a:solidFill>
                  <a:srgbClr val="0F172A"/>
                </a:solidFill>
              </a:defRPr>
            </a:pPr>
            <a:r>
              <a:t>• Trung tâm: Chuỗi băm gốc Root Hash 32-byte đại diện bất biến cho toàn bộ 1.000 tệp tin.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3: MÔ HÌNH &amp; THUẬT TOÁN TỰ XÂY DỰNG [TRỌNG TÂM ĐẠT ĐIỂM 9, 10]</a:t>
            </a:r>
          </a:p>
          <a:p>
            <a:pPr>
              <a:spcBef>
                <a:spcPts val="200"/>
              </a:spcBef>
              <a:defRPr b="1" sz="1700">
                <a:solidFill>
                  <a:srgbClr val="FFFFFF"/>
                </a:solidFill>
              </a:defRPr>
            </a:pPr>
            <a:r>
              <a:t>4. Đề Xuất Mô Hình Mới: Cây Merkle Phân Cấp Động (HD-Merkle Tree)</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Kiến Trúc Đề Xuất HD-Merkle Tree (hd_merkle_tree.py)</a:t>
            </a:r>
          </a:p>
          <a:p>
            <a:pPr>
              <a:defRPr b="1" sz="890">
                <a:solidFill>
                  <a:srgbClr val="2563EB"/>
                </a:solidFill>
              </a:defRPr>
            </a:pPr>
            <a:r>
              <a:t>• Ý tưởng tự xây dựng mô hình mới:</a:t>
            </a:r>
          </a:p>
          <a:p>
            <a:pPr>
              <a:spcBef>
                <a:spcPts val="150"/>
              </a:spcBef>
              <a:defRPr sz="840">
                <a:solidFill>
                  <a:srgbClr val="0F172A"/>
                </a:solidFill>
              </a:defRPr>
            </a:pPr>
            <a:r>
              <a:t>Kết hợp Cấu trúc Cây Merkle nhị phân với Mô hình toàn vẹn phân tầng Biba (1977) và Chuẩn phân tách miền RFC 6962 nhằm khắc phục triệt để các hạn chế của mô hình nền tảng.</a:t>
            </a:r>
          </a:p>
          <a:p>
            <a:pPr>
              <a:spcBef>
                <a:spcPts val="500"/>
              </a:spcBef>
              <a:defRPr b="1" sz="890">
                <a:solidFill>
                  <a:srgbClr val="2563EB"/>
                </a:solidFill>
              </a:defRPr>
            </a:pPr>
            <a:r>
              <a:t>• Tầng 1 (File Leaf Nodes - Nút lá tệp tin):</a:t>
            </a:r>
          </a:p>
          <a:p>
            <a:pPr>
              <a:spcBef>
                <a:spcPts val="150"/>
              </a:spcBef>
              <a:defRPr sz="840">
                <a:solidFill>
                  <a:srgbClr val="0F172A"/>
                </a:solidFill>
              </a:defRPr>
            </a:pPr>
            <a:r>
              <a:t>Mỗi tệp tin vật lý được băm độc lập với tiền tố phân tách miền RFC 6962: H_leaf = SHA-256(0x00 || File_Data).</a:t>
            </a:r>
          </a:p>
          <a:p>
            <a:pPr>
              <a:spcBef>
                <a:spcPts val="500"/>
              </a:spcBef>
              <a:defRPr b="1" sz="890">
                <a:solidFill>
                  <a:srgbClr val="2563EB"/>
                </a:solidFill>
              </a:defRPr>
            </a:pPr>
            <a:r>
              <a:t>• Tầng 2 (Directory Sub-Trees - Cây con thư mục):</a:t>
            </a:r>
          </a:p>
          <a:p>
            <a:pPr>
              <a:spcBef>
                <a:spcPts val="150"/>
              </a:spcBef>
              <a:defRPr sz="840">
                <a:solidFill>
                  <a:srgbClr val="0F172A"/>
                </a:solidFill>
              </a:defRPr>
            </a:pPr>
            <a:r>
              <a:t>Gom nhóm các tệp cùng thư mục thành các cây con Merkle độc lập. Mỗi thư mục con sở hữu một Directory Root Hash riêng biệt.</a:t>
            </a:r>
          </a:p>
          <a:p>
            <a:pPr>
              <a:spcBef>
                <a:spcPts val="500"/>
              </a:spcBef>
              <a:defRPr b="1" sz="890">
                <a:solidFill>
                  <a:srgbClr val="2563EB"/>
                </a:solidFill>
              </a:defRPr>
            </a:pPr>
            <a:r>
              <a:t>• Tầng 3 (Master Aggregator - Cây tổng hợp gốc):</a:t>
            </a:r>
          </a:p>
          <a:p>
            <a:pPr>
              <a:spcBef>
                <a:spcPts val="150"/>
              </a:spcBef>
              <a:defRPr sz="840">
                <a:solidFill>
                  <a:srgbClr val="0F172A"/>
                </a:solidFill>
              </a:defRPr>
            </a:pPr>
            <a:r>
              <a:t>Liên kết tất cả các Directory Root Hash thành một Master Root Hash duy nhất (32 bytes) đại diện bất biến cho toàn bộ kho dữ liệu.</a:t>
            </a:r>
          </a:p>
          <a:p>
            <a:pPr>
              <a:spcBef>
                <a:spcPts val="500"/>
              </a:spcBef>
              <a:defRPr b="1" sz="890">
                <a:solidFill>
                  <a:srgbClr val="2563EB"/>
                </a:solidFill>
              </a:defRPr>
            </a:pPr>
            <a:r>
              <a:t>• Lợi thế kiến trúc vượt trội:</a:t>
            </a:r>
          </a:p>
          <a:p>
            <a:pPr>
              <a:spcBef>
                <a:spcPts val="150"/>
              </a:spcBef>
              <a:defRPr sz="840">
                <a:solidFill>
                  <a:srgbClr val="0F172A"/>
                </a:solidFill>
              </a:defRPr>
            </a:pPr>
            <a:r>
              <a:t>Cô lập hoàn toàn phạm vi ảnh hưởng giữa các thư mục; định vị chính xác nhánh lỗi trong O(k log N) thay vì duyệt tuyến tính toàn bộ O(N).</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00">
                <a:solidFill>
                  <a:srgbClr val="1E3A8A"/>
                </a:solidFill>
              </a:defRPr>
            </a:pPr>
            <a:r>
              <a:t>Sơ đồ kiến trúc phân cấp 5 tầng chi tiết của mô hình HD-MerkleTree</a:t>
            </a:r>
          </a:p>
          <a:p>
            <a:pPr>
              <a:defRPr b="1" sz="950">
                <a:solidFill>
                  <a:srgbClr val="64748B"/>
                </a:solidFill>
              </a:defRPr>
            </a:pPr>
            <a:r>
              <a:t>Gợi ý các thành phần cần thiết kế trên Draw.io:</a:t>
            </a:r>
          </a:p>
          <a:p>
            <a:pPr>
              <a:spcBef>
                <a:spcPts val="400"/>
              </a:spcBef>
              <a:defRPr sz="880">
                <a:solidFill>
                  <a:srgbClr val="0F172A"/>
                </a:solidFill>
              </a:defRPr>
            </a:pPr>
            <a:r>
              <a:t>• Tầng 1 (File Leaf Nodes): Lưu mã băm lá RFC 6962 cho từng tệp tin vật lý trên đĩa.</a:t>
            </a:r>
          </a:p>
          <a:p>
            <a:pPr>
              <a:spcBef>
                <a:spcPts val="400"/>
              </a:spcBef>
              <a:defRPr sz="880">
                <a:solidFill>
                  <a:srgbClr val="0F172A"/>
                </a:solidFill>
              </a:defRPr>
            </a:pPr>
            <a:r>
              <a:t>• Tầng 2 (Directory Sub-Trees): Gom nhóm các tệp cùng thư mục thành cây con cục bộ theo mô hình Biba 1977.</a:t>
            </a:r>
          </a:p>
          <a:p>
            <a:pPr>
              <a:spcBef>
                <a:spcPts val="400"/>
              </a:spcBef>
              <a:defRPr sz="880">
                <a:solidFill>
                  <a:srgbClr val="0F172A"/>
                </a:solidFill>
              </a:defRPr>
            </a:pPr>
            <a:r>
              <a:t>• Tầng 3 (Global Aggregator): Tổng hợp các Root thư mục thành Master Root Hash duy nhất.</a:t>
            </a:r>
          </a:p>
          <a:p>
            <a:pPr>
              <a:spcBef>
                <a:spcPts val="400"/>
              </a:spcBef>
              <a:defRPr sz="880">
                <a:solidFill>
                  <a:srgbClr val="0F172A"/>
                </a:solidFill>
              </a:defRPr>
            </a:pPr>
            <a:r>
              <a:t>• Tầng 4 (Memory Cache &amp; Indexing): Bảng băm tra cứu O(1) đường dẫn tệp và cache node cha cho Dirty-Path.</a:t>
            </a:r>
          </a:p>
          <a:p>
            <a:pPr>
              <a:spcBef>
                <a:spcPts val="400"/>
              </a:spcBef>
              <a:defRPr sz="880">
                <a:solidFill>
                  <a:srgbClr val="0F172A"/>
                </a:solidFill>
              </a:defRPr>
            </a:pPr>
            <a:r>
              <a:t>• Tầng 5 (Storage &amp; Proof Layer): Tạo Compact Proof và Batch Multi-Proof cho máy khách xác thực độc lập.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3: MÔ HÌNH &amp; THUẬT TOÁN TỰ XÂY DỰNG [TRỌNG TÂM ĐẠT ĐIỂM 9, 10]</a:t>
            </a:r>
          </a:p>
          <a:p>
            <a:pPr>
              <a:spcBef>
                <a:spcPts val="200"/>
              </a:spcBef>
              <a:defRPr b="1" sz="1700">
                <a:solidFill>
                  <a:srgbClr val="FFFFFF"/>
                </a:solidFill>
              </a:defRPr>
            </a:pPr>
            <a:r>
              <a:t>5. Thuật Toán Đề Xuất: Cập Nhật Động Theo Đường Dẫn Bẩn (Dirty-Path Update)</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Thuật Toán Cập Nhật Cục Bộ O(log N) Thay Vì Rebuild O(N)</a:t>
            </a:r>
          </a:p>
          <a:p>
            <a:pPr>
              <a:defRPr b="1" sz="869">
                <a:solidFill>
                  <a:srgbClr val="2563EB"/>
                </a:solidFill>
              </a:defRPr>
            </a:pPr>
            <a:r>
              <a:t>• Bản chất thuật toán tự xây dựng:</a:t>
            </a:r>
          </a:p>
          <a:p>
            <a:pPr>
              <a:spcBef>
                <a:spcPts val="150"/>
              </a:spcBef>
              <a:defRPr sz="819">
                <a:solidFill>
                  <a:srgbClr val="0F172A"/>
                </a:solidFill>
              </a:defRPr>
            </a:pPr>
            <a:r>
              <a:t>Khi có thao tác Thêm, Sửa hoặc Xóa 1 tệp tin, thuật toán KHÔNG băm lại toàn bộ kho dữ liệu mà chỉ lan truyền cập nhật trên đường dẫn từ nút lá bị sửa lên đỉnh cây.</a:t>
            </a:r>
          </a:p>
          <a:p>
            <a:pPr>
              <a:spcBef>
                <a:spcPts val="500"/>
              </a:spcBef>
              <a:defRPr b="1" sz="869">
                <a:solidFill>
                  <a:srgbClr val="2563EB"/>
                </a:solidFill>
              </a:defRPr>
            </a:pPr>
            <a:r>
              <a:t>• Bước 1: Định vị nút lá bẩn (Dirty Leaf):</a:t>
            </a:r>
          </a:p>
          <a:p>
            <a:pPr>
              <a:spcBef>
                <a:spcPts val="150"/>
              </a:spcBef>
              <a:defRPr sz="819">
                <a:solidFill>
                  <a:srgbClr val="0F172A"/>
                </a:solidFill>
              </a:defRPr>
            </a:pPr>
            <a:r>
              <a:t>Xác định nút lá thay đổi qua bảng băm chỉ mục O(1) và tính lại mã băm lá mới.</a:t>
            </a:r>
          </a:p>
          <a:p>
            <a:pPr>
              <a:spcBef>
                <a:spcPts val="500"/>
              </a:spcBef>
              <a:defRPr b="1" sz="869">
                <a:solidFill>
                  <a:srgbClr val="2563EB"/>
                </a:solidFill>
              </a:defRPr>
            </a:pPr>
            <a:r>
              <a:t>• Bước 2: Lan truyền cập nhật cây con thư mục:</a:t>
            </a:r>
          </a:p>
          <a:p>
            <a:pPr>
              <a:spcBef>
                <a:spcPts val="150"/>
              </a:spcBef>
              <a:defRPr sz="819">
                <a:solidFill>
                  <a:srgbClr val="0F172A"/>
                </a:solidFill>
              </a:defRPr>
            </a:pPr>
            <a:r>
              <a:t>Lần ngược theo cây con thư mục, chỉ tính lại cha của nút bẩn bằng cách kết hợp với nút anh em (sibling) có sẵn trong bộ nhớ đệm.</a:t>
            </a:r>
          </a:p>
          <a:p>
            <a:pPr>
              <a:spcBef>
                <a:spcPts val="500"/>
              </a:spcBef>
              <a:defRPr b="1" sz="869">
                <a:solidFill>
                  <a:srgbClr val="2563EB"/>
                </a:solidFill>
              </a:defRPr>
            </a:pPr>
            <a:r>
              <a:t>• Bước 3: Cập nhật Master Root:</a:t>
            </a:r>
          </a:p>
          <a:p>
            <a:pPr>
              <a:spcBef>
                <a:spcPts val="150"/>
              </a:spcBef>
              <a:defRPr sz="819">
                <a:solidFill>
                  <a:srgbClr val="0F172A"/>
                </a:solidFill>
              </a:defRPr>
            </a:pPr>
            <a:r>
              <a:t>Tính lại đường dẫn từ Directory Root của thư mục đó lên Master Root Hash.</a:t>
            </a:r>
          </a:p>
          <a:p>
            <a:pPr>
              <a:spcBef>
                <a:spcPts val="500"/>
              </a:spcBef>
              <a:defRPr b="1" sz="869">
                <a:solidFill>
                  <a:srgbClr val="2563EB"/>
                </a:solidFill>
              </a:defRPr>
            </a:pPr>
            <a:r>
              <a:t>• So sánh độ phức tạp lý thuyết:</a:t>
            </a:r>
          </a:p>
          <a:p>
            <a:pPr>
              <a:spcBef>
                <a:spcPts val="150"/>
              </a:spcBef>
              <a:defRPr sz="819">
                <a:solidFill>
                  <a:srgbClr val="0F172A"/>
                </a:solidFill>
              </a:defRPr>
            </a:pPr>
            <a:r>
              <a:t>- Standard Merkle: Cập nhật tốn O(N) phép băm (phải dựng lại toàn bộ N tệp).</a:t>
            </a:r>
            <a:br/>
            <a:r>
              <a:t>- HD-Merkle Tree: Cập nhật tốn O(log N) phép băm (chỉ băm lại ~4 nút trên đường dẫn).</a:t>
            </a:r>
            <a:br/>
            <a:r>
              <a:t>=&gt; Lý thuyết chứng minh giảm độ phức tạp từ tuyến tính xuống logarit!</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892040"/>
          </a:xfrm>
          <a:prstGeom prst="rect">
            <a:avLst/>
          </a:prstGeom>
          <a:noFill/>
        </p:spPr>
        <p:txBody>
          <a:bodyPr wrap="square">
            <a:spAutoFit/>
          </a:bodyPr>
          <a:lstStyle/>
          <a:p>
            <a:pPr>
              <a:defRPr b="1" sz="1100">
                <a:solidFill>
                  <a:srgbClr val="1E3A8A"/>
                </a:solidFill>
              </a:defRPr>
            </a:pPr>
            <a:r>
              <a:t>SO SÁNH ĐỘ PHỨC TẠP LÝ THUYẾT &amp; KỸ THUẬT</a:t>
            </a:r>
          </a:p>
          <a:p>
            <a:pPr>
              <a:spcBef>
                <a:spcPts val="500"/>
              </a:spcBef>
              <a:defRPr b="1" sz="850">
                <a:solidFill>
                  <a:srgbClr val="2563EB"/>
                </a:solidFill>
              </a:defRPr>
            </a:pPr>
            <a:r>
              <a:t>• Thao Tác Cập Nhật Khi Sửa 1 Tệp: Standard Merkle: O(N)  ➔  HD-Merkle: O(log N)</a:t>
            </a:r>
          </a:p>
          <a:p>
            <a:pPr>
              <a:spcBef>
                <a:spcPts val="150"/>
              </a:spcBef>
              <a:defRPr sz="800">
                <a:solidFill>
                  <a:srgbClr val="0F172A"/>
                </a:solidFill>
              </a:defRPr>
            </a:pPr>
            <a:r>
              <a:t>HD-Merkle chỉ băm lại chiều cao h ≈ log2(N) nút thay vì dựng lại toàn bộ N nút lá.</a:t>
            </a:r>
          </a:p>
          <a:p>
            <a:pPr>
              <a:spcBef>
                <a:spcPts val="500"/>
              </a:spcBef>
              <a:defRPr b="1" sz="850">
                <a:solidFill>
                  <a:srgbClr val="2563EB"/>
                </a:solidFill>
              </a:defRPr>
            </a:pPr>
            <a:r>
              <a:t>• Thao Tác Thêm Mới / Xóa Tệp: Standard Merkle: O(N)  ➔  HD-Merkle: O(log N)</a:t>
            </a:r>
          </a:p>
          <a:p>
            <a:pPr>
              <a:spcBef>
                <a:spcPts val="150"/>
              </a:spcBef>
              <a:defRPr sz="800">
                <a:solidFill>
                  <a:srgbClr val="0F172A"/>
                </a:solidFill>
              </a:defRPr>
            </a:pPr>
            <a:r>
              <a:t>Tái cân bằng và cập nhật cục bộ trong cây con thư mục mà không ảnh hưởng 22 thư mục khác.</a:t>
            </a:r>
          </a:p>
          <a:p>
            <a:pPr>
              <a:spcBef>
                <a:spcPts val="500"/>
              </a:spcBef>
              <a:defRPr b="1" sz="850">
                <a:solidFill>
                  <a:srgbClr val="2563EB"/>
                </a:solidFill>
              </a:defRPr>
            </a:pPr>
            <a:r>
              <a:t>• Bộ Nhớ Đệm Chỉ Mục (RAM Cache): Lookup O(1) đường dẫn tệp</a:t>
            </a:r>
          </a:p>
          <a:p>
            <a:pPr>
              <a:spcBef>
                <a:spcPts val="150"/>
              </a:spcBef>
              <a:defRPr sz="800">
                <a:solidFill>
                  <a:srgbClr val="0F172A"/>
                </a:solidFill>
              </a:defRPr>
            </a:pPr>
            <a:r>
              <a:t>Sử dụng bảng băm ánh xạ Path ➔ Node Pointer giúp truy cập tức thì nút cần sửa.</a:t>
            </a:r>
          </a:p>
          <a:p>
            <a:pPr>
              <a:spcBef>
                <a:spcPts val="500"/>
              </a:spcBef>
              <a:defRPr b="1" sz="850">
                <a:solidFill>
                  <a:srgbClr val="2563EB"/>
                </a:solidFill>
              </a:defRPr>
            </a:pPr>
            <a:r>
              <a:t>• Định Vị Tệp Tin Vi Phạm: Standard: O(N)  ➔  HD-Merkle: O(k log N)</a:t>
            </a:r>
          </a:p>
          <a:p>
            <a:pPr>
              <a:spcBef>
                <a:spcPts val="150"/>
              </a:spcBef>
              <a:defRPr sz="800">
                <a:solidFill>
                  <a:srgbClr val="0F172A"/>
                </a:solidFill>
              </a:defRPr>
            </a:pPr>
            <a:r>
              <a:t>Chỉ cần lần theo nhánh băm không khớp giữa cây con thư mục và Master Root.</a:t>
            </a:r>
          </a:p>
          <a:p>
            <a:pPr>
              <a:spcBef>
                <a:spcPts val="500"/>
              </a:spcBef>
              <a:defRPr b="1" sz="850">
                <a:solidFill>
                  <a:srgbClr val="2563EB"/>
                </a:solidFill>
              </a:defRPr>
            </a:pPr>
            <a:r>
              <a:t>• Bảo Mật Bộ Nhớ Đệm RAM: Memory Zeroization với secure_erase()</a:t>
            </a:r>
          </a:p>
          <a:p>
            <a:pPr>
              <a:spcBef>
                <a:spcPts val="150"/>
              </a:spcBef>
              <a:defRPr sz="800">
                <a:solidFill>
                  <a:srgbClr val="0F172A"/>
                </a:solidFill>
              </a:defRPr>
            </a:pPr>
            <a:r>
              <a:t>Xóa đè các bytearray nhạy cảm bằng 0x00, kháng kẻ tấn công trích xuất bộ nhớ tiến trình.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3: MÔ HÌNH &amp; THUẬT TOÁN TỰ XÂY DỰNG [TRỌNG TÂM ĐẠT ĐIỂM 9, 10]</a:t>
            </a:r>
          </a:p>
          <a:p>
            <a:pPr>
              <a:spcBef>
                <a:spcPts val="200"/>
              </a:spcBef>
              <a:defRPr b="1" sz="1700">
                <a:solidFill>
                  <a:srgbClr val="FFFFFF"/>
                </a:solidFill>
              </a:defRPr>
            </a:pPr>
            <a:r>
              <a:t>6. Cơ Chế An Ninh Mật Mã Học &amp; Chuẩn Phân Tách Miền RFC 6962</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Hiện Thực Hóa Các Cơ Chế Bảo Vệ Mật Mã Tiên Tiến</a:t>
            </a:r>
          </a:p>
          <a:p>
            <a:pPr>
              <a:defRPr b="1" sz="900">
                <a:solidFill>
                  <a:srgbClr val="2563EB"/>
                </a:solidFill>
              </a:defRPr>
            </a:pPr>
            <a:r>
              <a:t>• Chuẩn phân tách miền RFC 6962 (Certificate Transparency):</a:t>
            </a:r>
          </a:p>
          <a:p>
            <a:pPr>
              <a:spcBef>
                <a:spcPts val="150"/>
              </a:spcBef>
              <a:defRPr sz="850">
                <a:solidFill>
                  <a:srgbClr val="0F172A"/>
                </a:solidFill>
              </a:defRPr>
            </a:pPr>
            <a:r>
              <a:t>- Lá: H_leaf = SHA-256( 0x00 || File_Data )  [Tiền tố 0x00 bắt buộc]</a:t>
            </a:r>
            <a:br/>
            <a:r>
              <a:t>- Nhánh: H_parent = SHA-256( 0x01 || Left_Hash || Right_Hash )  [Tiền tố 0x01]</a:t>
            </a:r>
            <a:br/>
            <a:r>
              <a:t>- Triệt tiêu hoàn toàn va chạm tiền ảnh cấp hai (Second-Preimage Attack): Kẻ thù không thể giả mạo dữ liệu lá thành nút nhánh do không gian băm hoàn toàn tách biệt.</a:t>
            </a:r>
          </a:p>
          <a:p>
            <a:pPr>
              <a:spcBef>
                <a:spcPts val="500"/>
              </a:spcBef>
              <a:defRPr b="1" sz="900">
                <a:solidFill>
                  <a:srgbClr val="2563EB"/>
                </a:solidFill>
              </a:defRPr>
            </a:pPr>
            <a:r>
              <a:t>• Bằng chứng thành viên rút gọn (Compact Inclusion Proof):</a:t>
            </a:r>
          </a:p>
          <a:p>
            <a:pPr>
              <a:spcBef>
                <a:spcPts val="150"/>
              </a:spcBef>
              <a:defRPr sz="850">
                <a:solidFill>
                  <a:srgbClr val="0F172A"/>
                </a:solidFill>
              </a:defRPr>
            </a:pPr>
            <a:r>
              <a:t>- Cho phép client xác minh 1 tệp tin thuộc kho dữ liệu mà chỉ cần chuỗi logarit các nút anh em O(log N).</a:t>
            </a:r>
            <a:br/>
            <a:r>
              <a:t>- Dung lượng bằng chứng chỉ 1.37 KB (1.369 Bytes) so với toàn bộ danh mục 111.13 KB, tiết kiệm 98.8% băng thông mạng.</a:t>
            </a:r>
          </a:p>
          <a:p>
            <a:pPr>
              <a:spcBef>
                <a:spcPts val="500"/>
              </a:spcBef>
              <a:defRPr b="1" sz="900">
                <a:solidFill>
                  <a:srgbClr val="2563EB"/>
                </a:solidFill>
              </a:defRPr>
            </a:pPr>
            <a:r>
              <a:t>• Bằng chứng nhất quán (Append-Only Consistency Proof RFC 6962):</a:t>
            </a:r>
          </a:p>
          <a:p>
            <a:pPr>
              <a:spcBef>
                <a:spcPts val="150"/>
              </a:spcBef>
              <a:defRPr sz="850">
                <a:solidFill>
                  <a:srgbClr val="0F172A"/>
                </a:solidFill>
              </a:defRPr>
            </a:pPr>
            <a:r>
              <a:t>- Chứng minh kho dữ liệu phát triển theo cơ chế chỉ nối thêm (append-only), dữ liệu quá khứ không hề bị chỉnh sửa ngầm.</a:t>
            </a:r>
          </a:p>
          <a:p>
            <a:pPr>
              <a:spcBef>
                <a:spcPts val="500"/>
              </a:spcBef>
              <a:defRPr b="1" sz="900">
                <a:solidFill>
                  <a:srgbClr val="2563EB"/>
                </a:solidFill>
              </a:defRPr>
            </a:pPr>
            <a:r>
              <a:t>• Xác thực nguồn gốc bằng HMAC-SHA256:</a:t>
            </a:r>
          </a:p>
          <a:p>
            <a:pPr>
              <a:spcBef>
                <a:spcPts val="150"/>
              </a:spcBef>
              <a:defRPr sz="850">
                <a:solidFill>
                  <a:srgbClr val="0F172A"/>
                </a:solidFill>
              </a:defRPr>
            </a:pPr>
            <a:r>
              <a:t>- Master Root Hash được ký xác thực bằng HMAC-SHA256 với khóa bí mật K, chống giả mạo toàn diện.</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00">
                <a:solidFill>
                  <a:srgbClr val="1E3A8A"/>
                </a:solidFill>
              </a:defRPr>
            </a:pPr>
            <a:r>
              <a:t>Sơ đồ cấu trúc cây Merkle phân tách tiền tố theo chuẩn RFC 6962</a:t>
            </a:r>
          </a:p>
          <a:p>
            <a:pPr>
              <a:defRPr b="1" sz="950">
                <a:solidFill>
                  <a:srgbClr val="64748B"/>
                </a:solidFill>
              </a:defRPr>
            </a:pPr>
            <a:r>
              <a:t>Gợi ý các thành phần cần thiết kế trên Draw.io:</a:t>
            </a:r>
          </a:p>
          <a:p>
            <a:pPr>
              <a:spcBef>
                <a:spcPts val="400"/>
              </a:spcBef>
              <a:defRPr sz="880">
                <a:solidFill>
                  <a:srgbClr val="0F172A"/>
                </a:solidFill>
              </a:defRPr>
            </a:pPr>
            <a:r>
              <a:t>• Tầng lá (Leaf Nodes): Leaf = SHA256( 0x00 || File_Data ) - Tiền tố 0x00 bắt buộc cho nút lá.</a:t>
            </a:r>
          </a:p>
          <a:p>
            <a:pPr>
              <a:spcBef>
                <a:spcPts val="400"/>
              </a:spcBef>
              <a:defRPr sz="880">
                <a:solidFill>
                  <a:srgbClr val="0F172A"/>
                </a:solidFill>
              </a:defRPr>
            </a:pPr>
            <a:r>
              <a:t>• Tầng nhánh (Internal Nodes): Parent = SHA256( 0x01 || Left_Hash || Right_Hash ) - Tiền tố 0x01 bắt buộc.</a:t>
            </a:r>
          </a:p>
          <a:p>
            <a:pPr>
              <a:spcBef>
                <a:spcPts val="400"/>
              </a:spcBef>
              <a:defRPr sz="880">
                <a:solidFill>
                  <a:srgbClr val="0F172A"/>
                </a:solidFill>
              </a:defRPr>
            </a:pPr>
            <a:r>
              <a:t>• Tầng gốc (Root Hash): Chuỗi băm 32 byte bất biến đại diện cho toàn bộ kho dữ liệu.</a:t>
            </a:r>
          </a:p>
          <a:p>
            <a:pPr>
              <a:spcBef>
                <a:spcPts val="400"/>
              </a:spcBef>
              <a:defRPr sz="880">
                <a:solidFill>
                  <a:srgbClr val="0F172A"/>
                </a:solidFill>
              </a:defRPr>
            </a:pPr>
            <a:r>
              <a:t>• Cơ chế an ninh: Kẻ tấn công cố ghép 2 lá thành 1 nhánh giả sẽ bị phát hiện ngay do tiền tố không khớp.</a:t>
            </a:r>
          </a:p>
          <a:p>
            <a:pPr>
              <a:spcBef>
                <a:spcPts val="400"/>
              </a:spcBef>
              <a:defRPr sz="880">
                <a:solidFill>
                  <a:srgbClr val="0F172A"/>
                </a:solidFill>
              </a:defRPr>
            </a:pPr>
            <a:r>
              <a:t>• Chuẩn hóa: Áp dụng trực tiếp chuẩn Certificate Transparency RFC 6962 theo đề xuất của Harry Halpin.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3: MÔ HÌNH &amp; THUẬT TOÁN TỰ XÂY DỰNG [TRỌNG TÂM ĐẠT ĐIỂM 9, 10]</a:t>
            </a:r>
          </a:p>
          <a:p>
            <a:pPr>
              <a:spcBef>
                <a:spcPts val="200"/>
              </a:spcBef>
              <a:defRPr b="1" sz="1700">
                <a:solidFill>
                  <a:srgbClr val="FFFFFF"/>
                </a:solidFill>
              </a:defRPr>
            </a:pPr>
            <a:r>
              <a:t>7. Phòng Chống Tấn Công Kênh Kề Đo Thời Gian &amp; Xóa Sạch Bộ Nhớ</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Bảo Vệ Hệ Thống Trước Các Kẻ Thù Mật Mã Nâng Cao</a:t>
            </a:r>
          </a:p>
          <a:p>
            <a:pPr>
              <a:defRPr b="1" sz="910">
                <a:solidFill>
                  <a:srgbClr val="2563EB"/>
                </a:solidFill>
              </a:defRPr>
            </a:pPr>
            <a:r>
              <a:t>• 1. Chống tấn công kênh kề đo thời gian (Timing Attack):</a:t>
            </a:r>
          </a:p>
          <a:p>
            <a:pPr>
              <a:spcBef>
                <a:spcPts val="150"/>
              </a:spcBef>
              <a:defRPr sz="860">
                <a:solidFill>
                  <a:srgbClr val="0F172A"/>
                </a:solidFill>
              </a:defRPr>
            </a:pPr>
            <a:r>
              <a:t>- Cảnh báo của Paul Kocher (1996): Phép so sánh chuỗi thông thường (==) dừng sớm ngay khi gặp ký tự sai khác đầu tiên, cho phép kẻ tấn công đo thời gian CPU để suy đoán chuỗi băm.</a:t>
            </a:r>
            <a:br/>
            <a:r>
              <a:t>- Giải pháp: Sử dụng hàm hmac.compare_digest() chuẩn hóa thời gian so sánh là hằng số O(1), triệt tiêu hoàn toàn rò rỉ kênh kề.</a:t>
            </a:r>
          </a:p>
          <a:p>
            <a:pPr>
              <a:spcBef>
                <a:spcPts val="500"/>
              </a:spcBef>
              <a:defRPr b="1" sz="910">
                <a:solidFill>
                  <a:srgbClr val="2563EB"/>
                </a:solidFill>
              </a:defRPr>
            </a:pPr>
            <a:r>
              <a:t>• 2. Cơ chế Xóa sạch Bộ nhớ (Memory Zeroization - secure_erase()):</a:t>
            </a:r>
          </a:p>
          <a:p>
            <a:pPr>
              <a:spcBef>
                <a:spcPts val="150"/>
              </a:spcBef>
              <a:defRPr sz="860">
                <a:solidFill>
                  <a:srgbClr val="0F172A"/>
                </a:solidFill>
              </a:defRPr>
            </a:pPr>
            <a:r>
              <a:t>- Nguy cơ Memory-Dump Adversary: Sau khi hoàn thành tính toán, khóa bí mật HMAC hoặc dữ liệu nhạy cảm vẫn có thể vương lại trong RAM tiến trình.</a:t>
            </a:r>
            <a:br/>
            <a:r>
              <a:t>- Giải pháp: Quản lý khóa và vùng đệm nhạy cảm bằng bytearray có thể thay đổi và chủ động ghi đè bằng giá trị 0x00 qua hàm secure_erase() kết hợp thu gom rác chủ động.</a:t>
            </a:r>
          </a:p>
          <a:p>
            <a:pPr>
              <a:spcBef>
                <a:spcPts val="500"/>
              </a:spcBef>
              <a:defRPr b="1" sz="910">
                <a:solidFill>
                  <a:srgbClr val="2563EB"/>
                </a:solidFill>
              </a:defRPr>
            </a:pPr>
            <a:r>
              <a:t>• 3. Bảo vệ tính riêng tư siêu dữ liệu (Zero-Metadata Leakage):</a:t>
            </a:r>
          </a:p>
          <a:p>
            <a:pPr>
              <a:spcBef>
                <a:spcPts val="150"/>
              </a:spcBef>
              <a:defRPr sz="860">
                <a:solidFill>
                  <a:srgbClr val="0F172A"/>
                </a:solidFill>
              </a:defRPr>
            </a:pPr>
            <a:r>
              <a:t>- Merkle Proof chỉ gửi mã băm của các nút anh em, không truyền danh sách tên tệp, kích thước hay cây thư mục của 999 tệp còn lại qua mạng.</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892040"/>
          </a:xfrm>
          <a:prstGeom prst="rect">
            <a:avLst/>
          </a:prstGeom>
          <a:noFill/>
        </p:spPr>
        <p:txBody>
          <a:bodyPr wrap="square">
            <a:spAutoFit/>
          </a:bodyPr>
          <a:lstStyle/>
          <a:p>
            <a:pPr>
              <a:defRPr b="1" sz="1100">
                <a:solidFill>
                  <a:srgbClr val="1E3A8A"/>
                </a:solidFill>
              </a:defRPr>
            </a:pPr>
            <a:r>
              <a:t>ĐỐI CHIẾU CƠ CHẾ BẢO MẬT: THÔNG THƯỜNG VS ĐỀ XUẤT</a:t>
            </a:r>
          </a:p>
          <a:p>
            <a:pPr>
              <a:spcBef>
                <a:spcPts val="400"/>
              </a:spcBef>
              <a:defRPr b="1" sz="850">
                <a:solidFill>
                  <a:srgbClr val="1E3A8A"/>
                </a:solidFill>
              </a:defRPr>
            </a:pPr>
            <a:r>
              <a:t>• So Sánh Chuỗi Băm:</a:t>
            </a:r>
          </a:p>
          <a:p>
            <a:pPr>
              <a:spcBef>
                <a:spcPts val="150"/>
              </a:spcBef>
              <a:defRPr sz="800">
                <a:solidFill>
                  <a:srgbClr val="0F172A"/>
                </a:solidFill>
              </a:defRPr>
            </a:pPr>
            <a:r>
              <a:t>   ✕ Thường: Toán tử == (Dừng sớm)</a:t>
            </a:r>
            <a:br/>
            <a:r>
              <a:t>   ✓ Đề xuất: hmac.compare_digest() O(1)</a:t>
            </a:r>
          </a:p>
          <a:p>
            <a:pPr>
              <a:spcBef>
                <a:spcPts val="400"/>
              </a:spcBef>
              <a:defRPr b="1" sz="850">
                <a:solidFill>
                  <a:srgbClr val="1E3A8A"/>
                </a:solidFill>
              </a:defRPr>
            </a:pPr>
            <a:r>
              <a:t>• Quản Lý Khóa Trong RAM:</a:t>
            </a:r>
          </a:p>
          <a:p>
            <a:pPr>
              <a:spcBef>
                <a:spcPts val="150"/>
              </a:spcBef>
              <a:defRPr sz="800">
                <a:solidFill>
                  <a:srgbClr val="0F172A"/>
                </a:solidFill>
              </a:defRPr>
            </a:pPr>
            <a:r>
              <a:t>   ✕ Thường: Để rác tự thu gom</a:t>
            </a:r>
            <a:br/>
            <a:r>
              <a:t>   ✓ Đề xuất: secure_erase() ghi đè 0x00</a:t>
            </a:r>
          </a:p>
          <a:p>
            <a:pPr>
              <a:spcBef>
                <a:spcPts val="400"/>
              </a:spcBef>
              <a:defRPr b="1" sz="850">
                <a:solidFill>
                  <a:srgbClr val="1E3A8A"/>
                </a:solidFill>
              </a:defRPr>
            </a:pPr>
            <a:r>
              <a:t>• Xác Minh Tệp Qua Mạng:</a:t>
            </a:r>
          </a:p>
          <a:p>
            <a:pPr>
              <a:spcBef>
                <a:spcPts val="150"/>
              </a:spcBef>
              <a:defRPr sz="800">
                <a:solidFill>
                  <a:srgbClr val="0F172A"/>
                </a:solidFill>
              </a:defRPr>
            </a:pPr>
            <a:r>
              <a:t>   ✕ Thường: Tải cả bảng 111 KB</a:t>
            </a:r>
            <a:br/>
            <a:r>
              <a:t>   ✓ Đề xuất: Merkle Proof 1.37 KB</a:t>
            </a:r>
          </a:p>
          <a:p>
            <a:pPr>
              <a:spcBef>
                <a:spcPts val="400"/>
              </a:spcBef>
              <a:defRPr b="1" sz="850">
                <a:solidFill>
                  <a:srgbClr val="1E3A8A"/>
                </a:solidFill>
              </a:defRPr>
            </a:pPr>
            <a:r>
              <a:t>• Rò Rỉ Tên &amp; Cấu Trúc Tệp:</a:t>
            </a:r>
          </a:p>
          <a:p>
            <a:pPr>
              <a:spcBef>
                <a:spcPts val="150"/>
              </a:spcBef>
              <a:defRPr sz="800">
                <a:solidFill>
                  <a:srgbClr val="0F172A"/>
                </a:solidFill>
              </a:defRPr>
            </a:pPr>
            <a:r>
              <a:t>   ✕ Thường: Tiết lộ 100% tên tệp</a:t>
            </a:r>
            <a:br/>
            <a:r>
              <a:t>   ✓ Đề xuất: Zero-Metadata Leakage</a:t>
            </a:r>
          </a:p>
          <a:p>
            <a:pPr>
              <a:spcBef>
                <a:spcPts val="400"/>
              </a:spcBef>
              <a:defRPr b="1" sz="850">
                <a:solidFill>
                  <a:srgbClr val="1E3A8A"/>
                </a:solidFill>
              </a:defRPr>
            </a:pPr>
            <a:r>
              <a:t>• Kháng Va Chạm Lá / Nhánh:</a:t>
            </a:r>
          </a:p>
          <a:p>
            <a:pPr>
              <a:spcBef>
                <a:spcPts val="150"/>
              </a:spcBef>
              <a:defRPr sz="800">
                <a:solidFill>
                  <a:srgbClr val="0F172A"/>
                </a:solidFill>
              </a:defRPr>
            </a:pPr>
            <a:r>
              <a:t>   ✕ Thường: Băm chung H(a || b)</a:t>
            </a:r>
            <a:br/>
            <a:r>
              <a:t>   ✓ Đề xuất: RFC 6962 (0x00 vs 0x01)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 THỰC NGHIỆM ĐỊNH LƯỢNG TRÊN TẬP DỮ LIỆU [THANG ĐIỂM 9, 10]</a:t>
            </a:r>
          </a:p>
          <a:p>
            <a:pPr>
              <a:spcBef>
                <a:spcPts val="200"/>
              </a:spcBef>
              <a:defRPr b="1" sz="1700">
                <a:solidFill>
                  <a:srgbClr val="FFFFFF"/>
                </a:solidFill>
              </a:defRPr>
            </a:pPr>
            <a:r>
              <a:t>8. Thiết Kế Tập Dữ Liệu Thực Nghiệm Quy Mô Lớn &amp; Phương Pháp Đo Lường</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Đặc Điểm Tập Dữ Liệu Thực Tế realistic_dataset</a:t>
            </a:r>
          </a:p>
          <a:p>
            <a:pPr>
              <a:defRPr b="1" sz="900">
                <a:solidFill>
                  <a:srgbClr val="2563EB"/>
                </a:solidFill>
              </a:defRPr>
            </a:pPr>
            <a:r>
              <a:t>• Quy mô và cấu trúc tập dữ liệu:</a:t>
            </a:r>
          </a:p>
          <a:p>
            <a:pPr>
              <a:spcBef>
                <a:spcPts val="150"/>
              </a:spcBef>
              <a:defRPr sz="850">
                <a:solidFill>
                  <a:srgbClr val="0F172A"/>
                </a:solidFill>
              </a:defRPr>
            </a:pPr>
            <a:r>
              <a:t>- Tổng số lượng: 1.000 tệp tin thực tế, tổng dung lượng 4.12 MB.</a:t>
            </a:r>
            <a:br/>
            <a:r>
              <a:t>- Phân cấp thư mục: 23 thư mục đa tầng (root, docs, logs, src, config, media, reports...).</a:t>
            </a:r>
            <a:br/>
            <a:r>
              <a:t>- Đa dạng định dạng: 14 loại file phổ biến (PDF, DOCX, XLSX, PY, JS, HTML, CSS, JSON, XML, TXT, LOG, CSV, JPG, PNG).</a:t>
            </a:r>
          </a:p>
          <a:p>
            <a:pPr>
              <a:spcBef>
                <a:spcPts val="500"/>
              </a:spcBef>
              <a:defRPr b="1" sz="900">
                <a:solidFill>
                  <a:srgbClr val="2563EB"/>
                </a:solidFill>
              </a:defRPr>
            </a:pPr>
            <a:r>
              <a:t>• Phương pháp đo lường khoa học chuẩn mực:</a:t>
            </a:r>
          </a:p>
          <a:p>
            <a:pPr>
              <a:spcBef>
                <a:spcPts val="150"/>
              </a:spcBef>
              <a:defRPr sz="850">
                <a:solidFill>
                  <a:srgbClr val="0F172A"/>
                </a:solidFill>
              </a:defRPr>
            </a:pPr>
            <a:r>
              <a:t>- Hàm đo thời gian CPU: Sử dụng time.perf_counter() với độ chính xác nano-giây.</a:t>
            </a:r>
            <a:br/>
            <a:r>
              <a:t>- Số vòng lặp thực nghiệm: Đo lường qua 5 vòng lặp độc lập (5 iterations), tính giá trị trung bình (mean) và độ lệch chuẩn.</a:t>
            </a:r>
            <a:br/>
            <a:r>
              <a:t>- Môi trường cách ly: Mọi thao tác mô phỏng tấn công (sửa, thêm, xóa) đều thực hiện trên thư mục tạm cô lập (Isolated Temp Workspace) để không làm sai lệch dữ liệu gốc.</a:t>
            </a:r>
          </a:p>
          <a:p>
            <a:pPr>
              <a:spcBef>
                <a:spcPts val="500"/>
              </a:spcBef>
              <a:defRPr b="1" sz="900">
                <a:solidFill>
                  <a:srgbClr val="2563EB"/>
                </a:solidFill>
              </a:defRPr>
            </a:pPr>
            <a:r>
              <a:t>• Tính khách quan đối chuẩn:</a:t>
            </a:r>
          </a:p>
          <a:p>
            <a:pPr>
              <a:spcBef>
                <a:spcPts val="150"/>
              </a:spcBef>
              <a:defRPr sz="850">
                <a:solidFill>
                  <a:srgbClr val="0F172A"/>
                </a:solidFill>
              </a:defRPr>
            </a:pPr>
            <a:r>
              <a:t>Chạy đối đầu trực diện 4 mô hình bảo mật trên cùng một tập dữ liệu và cùng điều kiện phần cứng.</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00">
                <a:solidFill>
                  <a:srgbClr val="1E3A8A"/>
                </a:solidFill>
              </a:defRPr>
            </a:pPr>
            <a:r>
              <a:t>Sơ đồ quy trình 3 giai đoạn xử lý dữ liệu thực nghiệm 1.000 tệp tin</a:t>
            </a:r>
          </a:p>
          <a:p>
            <a:pPr>
              <a:defRPr b="1" sz="950">
                <a:solidFill>
                  <a:srgbClr val="64748B"/>
                </a:solidFill>
              </a:defRPr>
            </a:pPr>
            <a:r>
              <a:t>Gợi ý các thành phần cần thiết kế trên Draw.io:</a:t>
            </a:r>
          </a:p>
          <a:p>
            <a:pPr>
              <a:spcBef>
                <a:spcPts val="400"/>
              </a:spcBef>
              <a:defRPr sz="880">
                <a:solidFill>
                  <a:srgbClr val="0F172A"/>
                </a:solidFill>
              </a:defRPr>
            </a:pPr>
            <a:r>
              <a:t>• Giai đoạn 1 (Tập dữ liệu 1.000 tệp): 4.12 MB, 14 định dạng (PDF, DOCX, JS, PY, LOG...), 23 thư mục phân cấp.</a:t>
            </a:r>
          </a:p>
          <a:p>
            <a:pPr>
              <a:spcBef>
                <a:spcPts val="400"/>
              </a:spcBef>
              <a:defRPr sz="880">
                <a:solidFill>
                  <a:srgbClr val="0F172A"/>
                </a:solidFill>
              </a:defRPr>
            </a:pPr>
            <a:r>
              <a:t>• Giai đoạn 2 (Tiến trình song song): Quét cây đĩa, băm song song đa luồng, tính toán đường dẫn Dirty-Path.</a:t>
            </a:r>
          </a:p>
          <a:p>
            <a:pPr>
              <a:spcBef>
                <a:spcPts val="400"/>
              </a:spcBef>
              <a:defRPr sz="880">
                <a:solidFill>
                  <a:srgbClr val="0F172A"/>
                </a:solidFill>
              </a:defRPr>
            </a:pPr>
            <a:r>
              <a:t>• Giai đoạn 3 (Đối chuẩn 4 mô hình): So sánh SHA-256, HMAC, Standard Merkle và HD-MerkleTree qua 5 vòng đo.</a:t>
            </a:r>
          </a:p>
          <a:p>
            <a:pPr>
              <a:spcBef>
                <a:spcPts val="400"/>
              </a:spcBef>
              <a:defRPr sz="880">
                <a:solidFill>
                  <a:srgbClr val="0F172A"/>
                </a:solidFill>
              </a:defRPr>
            </a:pPr>
            <a:r>
              <a:t>• Môi trường tạm (Temp Workspace): Mọi thao tác thêm/sửa/xóa đều thực hiện trên thư mục tạm cô lập.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 THỰC NGHIỆM ĐỊNH LƯỢNG TRÊN TẬP DỮ LIỆU [THANG ĐIỂM 9, 10]</a:t>
            </a:r>
          </a:p>
          <a:p>
            <a:pPr>
              <a:spcBef>
                <a:spcPts val="200"/>
              </a:spcBef>
              <a:defRPr b="1" sz="1700">
                <a:solidFill>
                  <a:srgbClr val="FFFFFF"/>
                </a:solidFill>
              </a:defRPr>
            </a:pPr>
            <a:r>
              <a:t>9. Kết Quả Thực Nghiệm I: Thời Gian Cập Nhật Động Nhanh Hơn 458 – 748 Lần</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Minh Chứng Thực Nghiệm Kết Quả Tốt Hơn Vượt Trội</a:t>
            </a:r>
          </a:p>
          <a:p>
            <a:pPr>
              <a:defRPr b="1" sz="910">
                <a:solidFill>
                  <a:srgbClr val="2563EB"/>
                </a:solidFill>
              </a:defRPr>
            </a:pPr>
            <a:r>
              <a:t>• 1. Sửa đổi 1 tệp tin trong kho 1.000 tệp:</a:t>
            </a:r>
          </a:p>
          <a:p>
            <a:pPr>
              <a:spcBef>
                <a:spcPts val="150"/>
              </a:spcBef>
              <a:defRPr sz="860">
                <a:solidFill>
                  <a:srgbClr val="0F172A"/>
                </a:solidFill>
              </a:defRPr>
            </a:pPr>
            <a:r>
              <a:t>- Standard Merkle Tree (Rebuild O(N)): 73.42 ms</a:t>
            </a:r>
            <a:br/>
            <a:r>
              <a:t>- HD-Merkle Tree (Dirty-Path O(log N)): 0.16 ms</a:t>
            </a:r>
            <a:br/>
            <a:r>
              <a:t>=&gt; Nhanh hơn 458 LẦN! (Tiết kiệm 99.8% thời gian xử lý)</a:t>
            </a:r>
          </a:p>
          <a:p>
            <a:pPr>
              <a:spcBef>
                <a:spcPts val="500"/>
              </a:spcBef>
              <a:defRPr b="1" sz="910">
                <a:solidFill>
                  <a:srgbClr val="2563EB"/>
                </a:solidFill>
              </a:defRPr>
            </a:pPr>
            <a:r>
              <a:t>• 2. Thêm mới 1 tệp tin vào thư mục:</a:t>
            </a:r>
          </a:p>
          <a:p>
            <a:pPr>
              <a:spcBef>
                <a:spcPts val="150"/>
              </a:spcBef>
              <a:defRPr sz="860">
                <a:solidFill>
                  <a:srgbClr val="0F172A"/>
                </a:solidFill>
              </a:defRPr>
            </a:pPr>
            <a:r>
              <a:t>- Standard Merkle Tree (Rebuild O(N)): 72.97 ms</a:t>
            </a:r>
            <a:br/>
            <a:r>
              <a:t>- HD-Merkle Tree (Dirty-Path O(log N)): 0.17 ms</a:t>
            </a:r>
            <a:br/>
            <a:r>
              <a:t>=&gt; Nhanh hơn 429 LẦN!</a:t>
            </a:r>
          </a:p>
          <a:p>
            <a:pPr>
              <a:spcBef>
                <a:spcPts val="500"/>
              </a:spcBef>
              <a:defRPr b="1" sz="910">
                <a:solidFill>
                  <a:srgbClr val="2563EB"/>
                </a:solidFill>
              </a:defRPr>
            </a:pPr>
            <a:r>
              <a:t>• 3. Xóa 1 tệp tin khỏi thư mục:</a:t>
            </a:r>
          </a:p>
          <a:p>
            <a:pPr>
              <a:spcBef>
                <a:spcPts val="150"/>
              </a:spcBef>
              <a:defRPr sz="860">
                <a:solidFill>
                  <a:srgbClr val="0F172A"/>
                </a:solidFill>
              </a:defRPr>
            </a:pPr>
            <a:r>
              <a:t>- Standard Merkle Tree (Rebuild O(N)): 74.89 ms</a:t>
            </a:r>
            <a:br/>
            <a:r>
              <a:t>- HD-Merkle Tree (Dirty-Path O(log N)): 0.10 ms</a:t>
            </a:r>
            <a:br/>
            <a:r>
              <a:t>=&gt; Nhanh hơn 748 LẦN!</a:t>
            </a:r>
          </a:p>
          <a:p>
            <a:pPr>
              <a:spcBef>
                <a:spcPts val="500"/>
              </a:spcBef>
              <a:defRPr b="1" sz="910">
                <a:solidFill>
                  <a:srgbClr val="2563EB"/>
                </a:solidFill>
              </a:defRPr>
            </a:pPr>
            <a:r>
              <a:t>• Kết luận đánh giá:</a:t>
            </a:r>
          </a:p>
          <a:p>
            <a:pPr>
              <a:spcBef>
                <a:spcPts val="150"/>
              </a:spcBef>
              <a:defRPr sz="860">
                <a:solidFill>
                  <a:srgbClr val="0F172A"/>
                </a:solidFill>
              </a:defRPr>
            </a:pPr>
            <a:r>
              <a:t>Kết quả đo lường đối đầu chứng minh mô hình và thuật toán tự xây dựng cho hiệu năng vượt trội áp đảo so với mô hình nền tảng của bài báo gốc, hoàn toàn đáp ứng tiêu chí đánh giá thang điểm [9, 10].</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685800"/>
          </a:xfrm>
          <a:prstGeom prst="rect">
            <a:avLst/>
          </a:prstGeom>
          <a:noFill/>
        </p:spPr>
        <p:txBody>
          <a:bodyPr wrap="square">
            <a:spAutoFit/>
          </a:bodyPr>
          <a:lstStyle/>
          <a:p>
            <a:pPr>
              <a:defRPr b="1" sz="1100">
                <a:solidFill>
                  <a:srgbClr val="1E3A8A"/>
                </a:solidFill>
              </a:defRPr>
            </a:pPr>
            <a:r>
              <a:t>BIỂU ĐỒ ĐỐI SÁNH: THỜI GIAN CẬP NHẬT TỆP TIN (MILIGIÂY)</a:t>
            </a:r>
          </a:p>
          <a:p>
            <a:pPr>
              <a:defRPr sz="850">
                <a:solidFill>
                  <a:srgbClr val="64748B"/>
                </a:solidFill>
              </a:defRPr>
            </a:pPr>
            <a:r>
              <a:t>Standard Merkle Tree (Rebuild O(N)) vs HD-MerkleTree Đề xuất (Dirty-Path O(log N))</a:t>
            </a:r>
          </a:p>
        </p:txBody>
      </p:sp>
      <p:graphicFrame>
        <p:nvGraphicFramePr>
          <p:cNvPr id="10" name="Chart 9"/>
          <p:cNvGraphicFramePr>
            <a:graphicFrameLocks noGrp="1"/>
          </p:cNvGraphicFramePr>
          <p:nvPr/>
        </p:nvGraphicFramePr>
        <p:xfrm>
          <a:off x="6263640" y="2148840"/>
          <a:ext cx="4937760" cy="4069080"/>
        </p:xfrm>
        <a:graphic>
          <a:graphicData uri="http://schemas.openxmlformats.org/drawingml/2006/chart">
            <c:chart xmlns:c="http://schemas.openxmlformats.org/drawingml/2006/chart" r:id="rId2"/>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 THỰC NGHIỆM ĐỊNH LƯỢNG TRÊN TẬP DỮ LIỆU [THANG ĐIỂM 9, 10]</a:t>
            </a:r>
          </a:p>
          <a:p>
            <a:pPr>
              <a:spcBef>
                <a:spcPts val="200"/>
              </a:spcBef>
              <a:defRPr b="1" sz="1700">
                <a:solidFill>
                  <a:srgbClr val="FFFFFF"/>
                </a:solidFill>
              </a:defRPr>
            </a:pPr>
            <a:r>
              <a:t>10. Kết Quả Thực Nghiệm II: Bảng Đối Chuẩn Số Liệu 4 Cơ Chế Bảo Mật</a:t>
            </a:r>
          </a:p>
        </p:txBody>
      </p:sp>
      <p:sp>
        <p:nvSpPr>
          <p:cNvPr id="6" name="Rounded Rectangle 5"/>
          <p:cNvSpPr/>
          <p:nvPr/>
        </p:nvSpPr>
        <p:spPr>
          <a:xfrm>
            <a:off x="731520" y="1234440"/>
            <a:ext cx="566928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68680" y="1417320"/>
          <a:ext cx="5394960" cy="2468880"/>
        </p:xfrm>
        <a:graphic>
          <a:graphicData uri="http://schemas.openxmlformats.org/drawingml/2006/table">
            <a:tbl>
              <a:tblPr firstRow="1" bandRow="1">
                <a:tableStyleId>{5C22544A-7EE6-4342-B048-85BDC9FD1C3A}</a:tableStyleId>
              </a:tblPr>
              <a:tblGrid>
                <a:gridCol w="1645920"/>
                <a:gridCol w="868680"/>
                <a:gridCol w="1005840"/>
                <a:gridCol w="868680"/>
                <a:gridCol w="1005840"/>
              </a:tblGrid>
              <a:tr h="493776">
                <a:tc>
                  <a:txBody>
                    <a:bodyPr/>
                    <a:lstStyle/>
                    <a:p>
                      <a:pPr algn="ctr">
                        <a:defRPr b="1" sz="950">
                          <a:solidFill>
                            <a:srgbClr val="FFFFFF"/>
                          </a:solidFill>
                        </a:defRPr>
                      </a:pPr>
                      <a:r>
                        <a:t>Cơ Chế Bảo Mật</a:t>
                      </a:r>
                    </a:p>
                  </a:txBody>
                  <a:tcPr>
                    <a:solidFill>
                      <a:srgbClr val="1E3A8A"/>
                    </a:solidFill>
                  </a:tcPr>
                </a:tc>
                <a:tc>
                  <a:txBody>
                    <a:bodyPr/>
                    <a:lstStyle/>
                    <a:p>
                      <a:pPr algn="ctr">
                        <a:defRPr b="1" sz="950">
                          <a:solidFill>
                            <a:srgbClr val="FFFFFF"/>
                          </a:solidFill>
                        </a:defRPr>
                      </a:pPr>
                      <a:r>
                        <a:t>Khởi Tạo</a:t>
                      </a:r>
                    </a:p>
                  </a:txBody>
                  <a:tcPr>
                    <a:solidFill>
                      <a:srgbClr val="1E3A8A"/>
                    </a:solidFill>
                  </a:tcPr>
                </a:tc>
                <a:tc>
                  <a:txBody>
                    <a:bodyPr/>
                    <a:lstStyle/>
                    <a:p>
                      <a:pPr algn="ctr">
                        <a:defRPr b="1" sz="950">
                          <a:solidFill>
                            <a:srgbClr val="FFFFFF"/>
                          </a:solidFill>
                        </a:defRPr>
                      </a:pPr>
                      <a:r>
                        <a:t>Xác Minh 1 Tệp</a:t>
                      </a:r>
                    </a:p>
                  </a:txBody>
                  <a:tcPr>
                    <a:solidFill>
                      <a:srgbClr val="1E3A8A"/>
                    </a:solidFill>
                  </a:tcPr>
                </a:tc>
                <a:tc>
                  <a:txBody>
                    <a:bodyPr/>
                    <a:lstStyle/>
                    <a:p>
                      <a:pPr algn="ctr">
                        <a:defRPr b="1" sz="950">
                          <a:solidFill>
                            <a:srgbClr val="FFFFFF"/>
                          </a:solidFill>
                        </a:defRPr>
                      </a:pPr>
                      <a:r>
                        <a:t>Dung Lượng Bảng</a:t>
                      </a:r>
                    </a:p>
                  </a:txBody>
                  <a:tcPr>
                    <a:solidFill>
                      <a:srgbClr val="1E3A8A"/>
                    </a:solidFill>
                  </a:tcPr>
                </a:tc>
                <a:tc>
                  <a:txBody>
                    <a:bodyPr/>
                    <a:lstStyle/>
                    <a:p>
                      <a:pPr algn="ctr">
                        <a:defRPr b="1" sz="950">
                          <a:solidFill>
                            <a:srgbClr val="FFFFFF"/>
                          </a:solidFill>
                        </a:defRPr>
                      </a:pPr>
                      <a:r>
                        <a:t>Bằng Chứng 1 Tệp</a:t>
                      </a:r>
                    </a:p>
                  </a:txBody>
                  <a:tcPr>
                    <a:solidFill>
                      <a:srgbClr val="1E3A8A"/>
                    </a:solidFill>
                  </a:tcPr>
                </a:tc>
              </a:tr>
              <a:tr h="493776">
                <a:tc>
                  <a:txBody>
                    <a:bodyPr/>
                    <a:lstStyle/>
                    <a:p>
                      <a:pPr>
                        <a:defRPr sz="900">
                          <a:solidFill>
                            <a:srgbClr val="0F172A"/>
                          </a:solidFill>
                        </a:defRPr>
                      </a:pPr>
                      <a:r>
                        <a:t>1. Danh sách SHA-256</a:t>
                      </a:r>
                    </a:p>
                  </a:txBody>
                  <a:tcPr>
                    <a:solidFill>
                      <a:srgbClr val="FFFFFF"/>
                    </a:solidFill>
                  </a:tcPr>
                </a:tc>
                <a:tc>
                  <a:txBody>
                    <a:bodyPr/>
                    <a:lstStyle/>
                    <a:p>
                      <a:pPr algn="ctr">
                        <a:defRPr sz="900">
                          <a:solidFill>
                            <a:srgbClr val="0F172A"/>
                          </a:solidFill>
                        </a:defRPr>
                      </a:pPr>
                      <a:r>
                        <a:t>62.58 ms</a:t>
                      </a:r>
                    </a:p>
                  </a:txBody>
                  <a:tcPr>
                    <a:solidFill>
                      <a:srgbClr val="FFFFFF"/>
                    </a:solidFill>
                  </a:tcPr>
                </a:tc>
                <a:tc>
                  <a:txBody>
                    <a:bodyPr/>
                    <a:lstStyle/>
                    <a:p>
                      <a:pPr algn="ctr">
                        <a:defRPr sz="900">
                          <a:solidFill>
                            <a:srgbClr val="0F172A"/>
                          </a:solidFill>
                        </a:defRPr>
                      </a:pPr>
                      <a:r>
                        <a:t>0.17 ms</a:t>
                      </a:r>
                    </a:p>
                  </a:txBody>
                  <a:tcPr>
                    <a:solidFill>
                      <a:srgbClr val="FFFFFF"/>
                    </a:solidFill>
                  </a:tcPr>
                </a:tc>
                <a:tc>
                  <a:txBody>
                    <a:bodyPr/>
                    <a:lstStyle/>
                    <a:p>
                      <a:pPr algn="ctr">
                        <a:defRPr sz="900">
                          <a:solidFill>
                            <a:srgbClr val="0F172A"/>
                          </a:solidFill>
                        </a:defRPr>
                      </a:pPr>
                      <a:r>
                        <a:t>111.13 KB</a:t>
                      </a:r>
                    </a:p>
                  </a:txBody>
                  <a:tcPr>
                    <a:solidFill>
                      <a:srgbClr val="FFFFFF"/>
                    </a:solidFill>
                  </a:tcPr>
                </a:tc>
                <a:tc>
                  <a:txBody>
                    <a:bodyPr/>
                    <a:lstStyle/>
                    <a:p>
                      <a:pPr algn="ctr">
                        <a:defRPr sz="900">
                          <a:solidFill>
                            <a:srgbClr val="0F172A"/>
                          </a:solidFill>
                        </a:defRPr>
                      </a:pPr>
                      <a:r>
                        <a:t>Tải cả bảng 111 KB</a:t>
                      </a:r>
                    </a:p>
                  </a:txBody>
                  <a:tcPr>
                    <a:solidFill>
                      <a:srgbClr val="FFFFFF"/>
                    </a:solidFill>
                  </a:tcPr>
                </a:tc>
              </a:tr>
              <a:tr h="493776">
                <a:tc>
                  <a:txBody>
                    <a:bodyPr/>
                    <a:lstStyle/>
                    <a:p>
                      <a:pPr>
                        <a:defRPr sz="900">
                          <a:solidFill>
                            <a:srgbClr val="0F172A"/>
                          </a:solidFill>
                        </a:defRPr>
                      </a:pPr>
                      <a:r>
                        <a:t>2. Băm có khóa HMAC</a:t>
                      </a:r>
                    </a:p>
                  </a:txBody>
                  <a:tcPr>
                    <a:solidFill>
                      <a:srgbClr val="F8FAFC"/>
                    </a:solidFill>
                  </a:tcPr>
                </a:tc>
                <a:tc>
                  <a:txBody>
                    <a:bodyPr/>
                    <a:lstStyle/>
                    <a:p>
                      <a:pPr algn="ctr">
                        <a:defRPr sz="900">
                          <a:solidFill>
                            <a:srgbClr val="0F172A"/>
                          </a:solidFill>
                        </a:defRPr>
                      </a:pPr>
                      <a:r>
                        <a:t>60.65 ms</a:t>
                      </a:r>
                    </a:p>
                  </a:txBody>
                  <a:tcPr>
                    <a:solidFill>
                      <a:srgbClr val="F8FAFC"/>
                    </a:solidFill>
                  </a:tcPr>
                </a:tc>
                <a:tc>
                  <a:txBody>
                    <a:bodyPr/>
                    <a:lstStyle/>
                    <a:p>
                      <a:pPr algn="ctr">
                        <a:defRPr sz="900">
                          <a:solidFill>
                            <a:srgbClr val="0F172A"/>
                          </a:solidFill>
                        </a:defRPr>
                      </a:pPr>
                      <a:r>
                        <a:t>0.07 ms</a:t>
                      </a:r>
                    </a:p>
                  </a:txBody>
                  <a:tcPr>
                    <a:solidFill>
                      <a:srgbClr val="F8FAFC"/>
                    </a:solidFill>
                  </a:tcPr>
                </a:tc>
                <a:tc>
                  <a:txBody>
                    <a:bodyPr/>
                    <a:lstStyle/>
                    <a:p>
                      <a:pPr algn="ctr">
                        <a:defRPr sz="900">
                          <a:solidFill>
                            <a:srgbClr val="0F172A"/>
                          </a:solidFill>
                        </a:defRPr>
                      </a:pPr>
                      <a:r>
                        <a:t>111.14 KB</a:t>
                      </a:r>
                    </a:p>
                  </a:txBody>
                  <a:tcPr>
                    <a:solidFill>
                      <a:srgbClr val="F8FAFC"/>
                    </a:solidFill>
                  </a:tcPr>
                </a:tc>
                <a:tc>
                  <a:txBody>
                    <a:bodyPr/>
                    <a:lstStyle/>
                    <a:p>
                      <a:pPr algn="ctr">
                        <a:defRPr sz="900">
                          <a:solidFill>
                            <a:srgbClr val="0F172A"/>
                          </a:solidFill>
                        </a:defRPr>
                      </a:pPr>
                      <a:r>
                        <a:t>Cần chia sẻ khóa K</a:t>
                      </a:r>
                    </a:p>
                  </a:txBody>
                  <a:tcPr>
                    <a:solidFill>
                      <a:srgbClr val="F8FAFC"/>
                    </a:solidFill>
                  </a:tcPr>
                </a:tc>
              </a:tr>
              <a:tr h="493776">
                <a:tc>
                  <a:txBody>
                    <a:bodyPr/>
                    <a:lstStyle/>
                    <a:p>
                      <a:pPr>
                        <a:defRPr sz="900">
                          <a:solidFill>
                            <a:srgbClr val="0F172A"/>
                          </a:solidFill>
                        </a:defRPr>
                      </a:pPr>
                      <a:r>
                        <a:t>3. Cây Merkle chuẩn</a:t>
                      </a:r>
                    </a:p>
                  </a:txBody>
                  <a:tcPr>
                    <a:solidFill>
                      <a:srgbClr val="FFFFFF"/>
                    </a:solidFill>
                  </a:tcPr>
                </a:tc>
                <a:tc>
                  <a:txBody>
                    <a:bodyPr/>
                    <a:lstStyle/>
                    <a:p>
                      <a:pPr algn="ctr">
                        <a:defRPr sz="900">
                          <a:solidFill>
                            <a:srgbClr val="0F172A"/>
                          </a:solidFill>
                        </a:defRPr>
                      </a:pPr>
                      <a:r>
                        <a:t>60.72 ms</a:t>
                      </a:r>
                    </a:p>
                  </a:txBody>
                  <a:tcPr>
                    <a:solidFill>
                      <a:srgbClr val="FFFFFF"/>
                    </a:solidFill>
                  </a:tcPr>
                </a:tc>
                <a:tc>
                  <a:txBody>
                    <a:bodyPr/>
                    <a:lstStyle/>
                    <a:p>
                      <a:pPr algn="ctr">
                        <a:defRPr sz="900">
                          <a:solidFill>
                            <a:srgbClr val="0F172A"/>
                          </a:solidFill>
                        </a:defRPr>
                      </a:pPr>
                      <a:r>
                        <a:t>0.02 ms</a:t>
                      </a:r>
                    </a:p>
                  </a:txBody>
                  <a:tcPr>
                    <a:solidFill>
                      <a:srgbClr val="FFFFFF"/>
                    </a:solidFill>
                  </a:tcPr>
                </a:tc>
                <a:tc>
                  <a:txBody>
                    <a:bodyPr/>
                    <a:lstStyle/>
                    <a:p>
                      <a:pPr algn="ctr">
                        <a:defRPr sz="900">
                          <a:solidFill>
                            <a:srgbClr val="0F172A"/>
                          </a:solidFill>
                        </a:defRPr>
                      </a:pPr>
                      <a:r>
                        <a:t>44.76 KB</a:t>
                      </a:r>
                    </a:p>
                  </a:txBody>
                  <a:tcPr>
                    <a:solidFill>
                      <a:srgbClr val="FFFFFF"/>
                    </a:solidFill>
                  </a:tcPr>
                </a:tc>
                <a:tc>
                  <a:txBody>
                    <a:bodyPr/>
                    <a:lstStyle/>
                    <a:p>
                      <a:pPr algn="ctr">
                        <a:defRPr sz="900">
                          <a:solidFill>
                            <a:srgbClr val="0F172A"/>
                          </a:solidFill>
                        </a:defRPr>
                      </a:pPr>
                      <a:r>
                        <a:t>990 Byte</a:t>
                      </a:r>
                    </a:p>
                  </a:txBody>
                  <a:tcPr>
                    <a:solidFill>
                      <a:srgbClr val="FFFFFF"/>
                    </a:solidFill>
                  </a:tcPr>
                </a:tc>
              </a:tr>
              <a:tr h="493776">
                <a:tc>
                  <a:txBody>
                    <a:bodyPr/>
                    <a:lstStyle/>
                    <a:p>
                      <a:pPr>
                        <a:defRPr sz="900" b="1">
                          <a:solidFill>
                            <a:srgbClr val="059669"/>
                          </a:solidFill>
                        </a:defRPr>
                      </a:pPr>
                      <a:r>
                        <a:t>4. HD-Merkle (Đề xuất)</a:t>
                      </a:r>
                    </a:p>
                  </a:txBody>
                  <a:tcPr>
                    <a:solidFill>
                      <a:srgbClr val="ECFDF5"/>
                    </a:solidFill>
                  </a:tcPr>
                </a:tc>
                <a:tc>
                  <a:txBody>
                    <a:bodyPr/>
                    <a:lstStyle/>
                    <a:p>
                      <a:pPr algn="ctr">
                        <a:defRPr sz="900" b="1">
                          <a:solidFill>
                            <a:srgbClr val="059669"/>
                          </a:solidFill>
                        </a:defRPr>
                      </a:pPr>
                      <a:r>
                        <a:t>89.91 ms</a:t>
                      </a:r>
                    </a:p>
                  </a:txBody>
                  <a:tcPr>
                    <a:solidFill>
                      <a:srgbClr val="ECFDF5"/>
                    </a:solidFill>
                  </a:tcPr>
                </a:tc>
                <a:tc>
                  <a:txBody>
                    <a:bodyPr/>
                    <a:lstStyle/>
                    <a:p>
                      <a:pPr algn="ctr">
                        <a:defRPr sz="900" b="1">
                          <a:solidFill>
                            <a:srgbClr val="059669"/>
                          </a:solidFill>
                        </a:defRPr>
                      </a:pPr>
                      <a:r>
                        <a:t>0.02 ms</a:t>
                      </a:r>
                    </a:p>
                  </a:txBody>
                  <a:tcPr>
                    <a:solidFill>
                      <a:srgbClr val="ECFDF5"/>
                    </a:solidFill>
                  </a:tcPr>
                </a:tc>
                <a:tc>
                  <a:txBody>
                    <a:bodyPr/>
                    <a:lstStyle/>
                    <a:p>
                      <a:pPr algn="ctr">
                        <a:defRPr sz="900" b="1">
                          <a:solidFill>
                            <a:srgbClr val="059669"/>
                          </a:solidFill>
                        </a:defRPr>
                      </a:pPr>
                      <a:r>
                        <a:t>111.15 KB</a:t>
                      </a:r>
                    </a:p>
                  </a:txBody>
                  <a:tcPr>
                    <a:solidFill>
                      <a:srgbClr val="ECFDF5"/>
                    </a:solidFill>
                  </a:tcPr>
                </a:tc>
                <a:tc>
                  <a:txBody>
                    <a:bodyPr/>
                    <a:lstStyle/>
                    <a:p>
                      <a:pPr algn="ctr">
                        <a:defRPr sz="900" b="1">
                          <a:solidFill>
                            <a:srgbClr val="059669"/>
                          </a:solidFill>
                        </a:defRPr>
                      </a:pPr>
                      <a:r>
                        <a:t>1.369 Byte</a:t>
                      </a:r>
                    </a:p>
                  </a:txBody>
                  <a:tcPr>
                    <a:solidFill>
                      <a:srgbClr val="ECFDF5"/>
                    </a:solidFill>
                  </a:tcPr>
                </a:tc>
              </a:tr>
            </a:tbl>
          </a:graphicData>
        </a:graphic>
      </p:graphicFrame>
      <p:sp>
        <p:nvSpPr>
          <p:cNvPr id="8" name="TextBox 7"/>
          <p:cNvSpPr txBox="1"/>
          <p:nvPr/>
        </p:nvSpPr>
        <p:spPr>
          <a:xfrm>
            <a:off x="868680" y="4069080"/>
            <a:ext cx="5394960" cy="2331720"/>
          </a:xfrm>
          <a:prstGeom prst="rect">
            <a:avLst/>
          </a:prstGeom>
          <a:noFill/>
        </p:spPr>
        <p:txBody>
          <a:bodyPr wrap="square">
            <a:spAutoFit/>
          </a:bodyPr>
          <a:lstStyle/>
          <a:p>
            <a:pPr>
              <a:defRPr b="1" sz="1000">
                <a:solidFill>
                  <a:srgbClr val="1E3A8A"/>
                </a:solidFill>
              </a:defRPr>
            </a:pPr>
            <a:r>
              <a:t>Phân Tích Khoa Học Đối Soánh Số Liệu Thực Nghiệm:</a:t>
            </a:r>
          </a:p>
          <a:p>
            <a:pPr>
              <a:spcBef>
                <a:spcPts val="300"/>
              </a:spcBef>
              <a:defRPr b="1" sz="850">
                <a:solidFill>
                  <a:srgbClr val="2563EB"/>
                </a:solidFill>
              </a:defRPr>
            </a:pPr>
            <a:r>
              <a:t>• 1. Tốc độ xác minh 1 tệp tin độc lập:</a:t>
            </a:r>
          </a:p>
          <a:p>
            <a:pPr>
              <a:spcBef>
                <a:spcPts val="100"/>
              </a:spcBef>
              <a:defRPr sz="800">
                <a:solidFill>
                  <a:srgbClr val="0F172A"/>
                </a:solidFill>
              </a:defRPr>
            </a:pPr>
            <a:r>
              <a:t>HD-Merkle Tree đạt 0.02 ms, nhanh hơn ~8.5 lần so với Flat SHA-256 (0.17 ms) do không cần duyệt toàn bộ danh mục.</a:t>
            </a:r>
          </a:p>
          <a:p>
            <a:pPr>
              <a:spcBef>
                <a:spcPts val="300"/>
              </a:spcBef>
              <a:defRPr b="1" sz="850">
                <a:solidFill>
                  <a:srgbClr val="2563EB"/>
                </a:solidFill>
              </a:defRPr>
            </a:pPr>
            <a:r>
              <a:t>• 2. Đánh đổi hợp lý (Engineering Trade-off):</a:t>
            </a:r>
          </a:p>
          <a:p>
            <a:pPr>
              <a:spcBef>
                <a:spcPts val="100"/>
              </a:spcBef>
              <a:defRPr sz="800">
                <a:solidFill>
                  <a:srgbClr val="0F172A"/>
                </a:solidFill>
              </a:defRPr>
            </a:pPr>
            <a:r>
              <a:t>Thời gian khởi tạo HD-MerkleTree (~89.9 ms) cao hơn một chút do phải xây dựng cây con thư mục trong RAM, nhưng đổi lại mang lại hiệu năng cập nhật động Dirty-Path nhanh hơn 458-748 lần trong suốt quá trình vận hành.</a:t>
            </a:r>
          </a:p>
          <a:p>
            <a:pPr>
              <a:spcBef>
                <a:spcPts val="300"/>
              </a:spcBef>
              <a:defRPr b="1" sz="850">
                <a:solidFill>
                  <a:srgbClr val="2563EB"/>
                </a:solidFill>
              </a:defRPr>
            </a:pPr>
            <a:r>
              <a:t>• 3. Định vị tệp tin vi phạm tức thì:</a:t>
            </a:r>
          </a:p>
          <a:p>
            <a:pPr>
              <a:spcBef>
                <a:spcPts val="100"/>
              </a:spcBef>
              <a:defRPr sz="800">
                <a:solidFill>
                  <a:srgbClr val="0F172A"/>
                </a:solidFill>
              </a:defRPr>
            </a:pPr>
            <a:r>
              <a:t>Khi xảy ra tấn công, HD-MerkleTree định vị chính xác tệp hỏng chỉ trong 0.022 ms.</a:t>
            </a:r>
          </a:p>
        </p:txBody>
      </p:sp>
      <p:sp>
        <p:nvSpPr>
          <p:cNvPr id="9" name="Rounded Rectangle 8"/>
          <p:cNvSpPr/>
          <p:nvPr/>
        </p:nvSpPr>
        <p:spPr>
          <a:xfrm>
            <a:off x="6675120" y="1234440"/>
            <a:ext cx="475488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1417320"/>
            <a:ext cx="4297680" cy="685800"/>
          </a:xfrm>
          <a:prstGeom prst="rect">
            <a:avLst/>
          </a:prstGeom>
          <a:noFill/>
        </p:spPr>
        <p:txBody>
          <a:bodyPr wrap="square">
            <a:spAutoFit/>
          </a:bodyPr>
          <a:lstStyle/>
          <a:p>
            <a:pPr>
              <a:defRPr b="1" sz="1100">
                <a:solidFill>
                  <a:srgbClr val="1E3A8A"/>
                </a:solidFill>
              </a:defRPr>
            </a:pPr>
            <a:r>
              <a:t>BIỂU ĐỒ THỰC NGHIỆM ĐỐI ĐẦU 4 CƠ CHẾ BẢO MẬT (1.000 TỆP)</a:t>
            </a:r>
          </a:p>
          <a:p>
            <a:pPr>
              <a:defRPr sz="850">
                <a:solidFill>
                  <a:srgbClr val="64748B"/>
                </a:solidFill>
              </a:defRPr>
            </a:pPr>
            <a:r>
              <a:t>Số liệu đo lường trung bình qua 5 vòng lặp độc lập (perf_counter)</a:t>
            </a:r>
          </a:p>
        </p:txBody>
      </p:sp>
      <p:graphicFrame>
        <p:nvGraphicFramePr>
          <p:cNvPr id="11" name="Chart 10"/>
          <p:cNvGraphicFramePr>
            <a:graphicFrameLocks noGrp="1"/>
          </p:cNvGraphicFramePr>
          <p:nvPr/>
        </p:nvGraphicFramePr>
        <p:xfrm>
          <a:off x="6903720" y="2148840"/>
          <a:ext cx="4297680" cy="4069080"/>
        </p:xfrm>
        <a:graphic>
          <a:graphicData uri="http://schemas.openxmlformats.org/drawingml/2006/chart">
            <c:chart xmlns:c="http://schemas.openxmlformats.org/drawingml/2006/chart" r:id="rId2"/>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 THỰC NGHIỆM ĐỊNH LƯỢNG TRÊN TẬP DỮ LIỆU [THANG ĐIỂM 9, 10]</a:t>
            </a:r>
          </a:p>
          <a:p>
            <a:pPr>
              <a:spcBef>
                <a:spcPts val="200"/>
              </a:spcBef>
              <a:defRPr b="1" sz="1700">
                <a:solidFill>
                  <a:srgbClr val="FFFFFF"/>
                </a:solidFill>
              </a:defRPr>
            </a:pPr>
            <a:r>
              <a:t>11. Kết Quả Thực Nghiệm III: Tối Ưu Băng Thông Mạng &amp; Quyền Riêng Tư</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Tiết Kiệm 98.8% Băng Thông &amp; Bảo Toàn Siêu Dữ Liệu</a:t>
            </a:r>
          </a:p>
          <a:p>
            <a:pPr>
              <a:defRPr b="1" sz="900">
                <a:solidFill>
                  <a:srgbClr val="2563EB"/>
                </a:solidFill>
              </a:defRPr>
            </a:pPr>
            <a:r>
              <a:t>• 1. Tối ưu dung lượng gói tin truyền qua mạng (Proof Payload):</a:t>
            </a:r>
          </a:p>
          <a:p>
            <a:pPr>
              <a:spcBef>
                <a:spcPts val="150"/>
              </a:spcBef>
              <a:defRPr sz="850">
                <a:solidFill>
                  <a:srgbClr val="0F172A"/>
                </a:solidFill>
              </a:defRPr>
            </a:pPr>
            <a:r>
              <a:t>- Flat SHA-256 / HMAC: Máy khách buộc phải tải toàn bộ danh mục băm 111.13 KB (113.802 Bytes) để xác minh dù chỉ 1 tệp tin.</a:t>
            </a:r>
            <a:br/>
            <a:r>
              <a:t>- HD-Merkle Tree: Máy khách chỉ cần tải Merkle Inclusion Proof kích thước 1.37 KB (1.369 Bytes).</a:t>
            </a:r>
            <a:br/>
            <a:r>
              <a:t>=&gt; Tiết kiệm 98.8% lưu lượng băng thông mạng, tối ưu vượt trội cho các ứng dụng đám mây và thiết bị IoT giới hạn tài nguyên.</a:t>
            </a:r>
          </a:p>
          <a:p>
            <a:pPr>
              <a:spcBef>
                <a:spcPts val="500"/>
              </a:spcBef>
              <a:defRPr b="1" sz="900">
                <a:solidFill>
                  <a:srgbClr val="2563EB"/>
                </a:solidFill>
              </a:defRPr>
            </a:pPr>
            <a:r>
              <a:t>• 2. Bảo vệ quyền riêng tư &amp; Chống rò rỉ siêu dữ liệu (Zero-Metadata Leakage):</a:t>
            </a:r>
          </a:p>
          <a:p>
            <a:pPr>
              <a:spcBef>
                <a:spcPts val="150"/>
              </a:spcBef>
              <a:defRPr sz="850">
                <a:solidFill>
                  <a:srgbClr val="0F172A"/>
                </a:solidFill>
              </a:defRPr>
            </a:pPr>
            <a:r>
              <a:t>- Khi xác minh qua Flat Manifest: Client và Kẻ nghe lén trên đường truyền đều biết danh sách tên và kích thước của toàn bộ 1.000 tệp trong hệ thống.</a:t>
            </a:r>
            <a:br/>
            <a:r>
              <a:t>- Khi xác minh qua HD-Merkle Proof: Client chỉ nhận mã băm của nút anh em trên đường dẫn logarit, hoàn toàn KHÔNG biết tên, kích thước, hay nội dung của 999 tệp tin còn lại.</a:t>
            </a:r>
          </a:p>
          <a:p>
            <a:pPr>
              <a:spcBef>
                <a:spcPts val="500"/>
              </a:spcBef>
              <a:defRPr b="1" sz="900">
                <a:solidFill>
                  <a:srgbClr val="2563EB"/>
                </a:solidFill>
              </a:defRPr>
            </a:pPr>
            <a:r>
              <a:t>• 3. Ý nghĩa thực tiễn cao:</a:t>
            </a:r>
          </a:p>
          <a:p>
            <a:pPr>
              <a:spcBef>
                <a:spcPts val="150"/>
              </a:spcBef>
              <a:defRPr sz="850">
                <a:solidFill>
                  <a:srgbClr val="0F172A"/>
                </a:solidFill>
              </a:defRPr>
            </a:pPr>
            <a:r>
              <a:t>Giải quyết triệt để bài toán bảo mật danh tính tệp tin theo đúng cảnh báo của Harry Halpin (2025).</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685800"/>
          </a:xfrm>
          <a:prstGeom prst="rect">
            <a:avLst/>
          </a:prstGeom>
          <a:noFill/>
        </p:spPr>
        <p:txBody>
          <a:bodyPr wrap="square">
            <a:spAutoFit/>
          </a:bodyPr>
          <a:lstStyle/>
          <a:p>
            <a:pPr>
              <a:defRPr b="1" sz="1100">
                <a:solidFill>
                  <a:srgbClr val="1E3A8A"/>
                </a:solidFill>
              </a:defRPr>
            </a:pPr>
            <a:r>
              <a:t>BIỂU ĐỒ BĂNG THÔNG MẠNG: DUNG LƯỢNG BẰNG CHỨNG XÁC THỰC (BYTES)</a:t>
            </a:r>
          </a:p>
          <a:p>
            <a:pPr>
              <a:defRPr sz="850">
                <a:solidFill>
                  <a:srgbClr val="64748B"/>
                </a:solidFill>
              </a:defRPr>
            </a:pPr>
            <a:r>
              <a:t>So sánh lượng dữ liệu truyền qua mạng khi xác minh 1 tệp tin (Ít hơn là tốt hơn)</a:t>
            </a:r>
          </a:p>
        </p:txBody>
      </p:sp>
      <p:graphicFrame>
        <p:nvGraphicFramePr>
          <p:cNvPr id="10" name="Chart 9"/>
          <p:cNvGraphicFramePr>
            <a:graphicFrameLocks noGrp="1"/>
          </p:cNvGraphicFramePr>
          <p:nvPr/>
        </p:nvGraphicFramePr>
        <p:xfrm>
          <a:off x="6263640" y="2148840"/>
          <a:ext cx="4937760" cy="4069080"/>
        </p:xfrm>
        <a:graphic>
          <a:graphicData uri="http://schemas.openxmlformats.org/drawingml/2006/chart">
            <c:chart xmlns:c="http://schemas.openxmlformats.org/drawingml/2006/chart" r:id="rId2"/>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5: KIỂM ĐỊNH AN NINH MẬT MÃ HÌNH THỨC [SECURITY GAMES]</a:t>
            </a:r>
          </a:p>
          <a:p>
            <a:pPr>
              <a:spcBef>
                <a:spcPts val="200"/>
              </a:spcBef>
              <a:defRPr b="1" sz="1700">
                <a:solidFill>
                  <a:srgbClr val="FFFFFF"/>
                </a:solidFill>
              </a:defRPr>
            </a:pPr>
            <a:r>
              <a:t>12. Khung 7 Trò Chơi An Ninh Mật Mã Học (Games 1 – 4: Va Chạm, Mạng, Nút &amp; Tuyết Lở)</a:t>
            </a:r>
          </a:p>
        </p:txBody>
      </p:sp>
      <p:sp>
        <p:nvSpPr>
          <p:cNvPr id="6" name="Rounded Rectangle 5"/>
          <p:cNvSpPr/>
          <p:nvPr/>
        </p:nvSpPr>
        <p:spPr>
          <a:xfrm>
            <a:off x="731520" y="1234440"/>
            <a:ext cx="530352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846320" cy="4800600"/>
          </a:xfrm>
          <a:prstGeom prst="rect">
            <a:avLst/>
          </a:prstGeom>
          <a:noFill/>
        </p:spPr>
        <p:txBody>
          <a:bodyPr wrap="square">
            <a:spAutoFit/>
          </a:bodyPr>
          <a:lstStyle/>
          <a:p>
            <a:pPr>
              <a:spcAft>
                <a:spcPts val="800"/>
              </a:spcAft>
              <a:defRPr b="1" sz="1200">
                <a:solidFill>
                  <a:srgbClr val="1E3A8A"/>
                </a:solidFill>
              </a:defRPr>
            </a:pPr>
            <a:r>
              <a:t>Bốn Mô Hình Kiểm Định Toán Học Đối Kháng (Games 1 – 4)</a:t>
            </a:r>
          </a:p>
          <a:p>
            <a:pPr>
              <a:defRPr b="1" sz="790">
                <a:solidFill>
                  <a:srgbClr val="2563EB"/>
                </a:solidFill>
              </a:defRPr>
            </a:pPr>
            <a:r>
              <a:t>• Game 1: Chống tấn công tìm va chạm mã băm (PPT Adversary):</a:t>
            </a:r>
          </a:p>
          <a:p>
            <a:pPr>
              <a:spcBef>
                <a:spcPts val="150"/>
              </a:spcBef>
              <a:defRPr sz="740">
                <a:solidFill>
                  <a:srgbClr val="0F172A"/>
                </a:solidFill>
              </a:defRPr>
            </a:pPr>
            <a:r>
              <a:t>1. Ý nghĩa: Kẻ tấn công có năng lực tính toán ngẫu nhiên nhưng bị giới hạn về thời gian và tài nguyên (đa thức).</a:t>
            </a:r>
            <a:br/>
            <a:r>
              <a:t>2. Cách tấn công: Cố tìm 2 tệp khác nhau A != B sao cho SHA256(A) = SHA256(B) để đánh lừa hệ thống.</a:t>
            </a:r>
            <a:br/>
            <a:r>
              <a:t>3. Cách phòng thủ: SHA-256 (256-bit). Tìm va chạm ngẫu nhiên đòi hỏi ~2^128 phép băm theo Birthday bound.</a:t>
            </a:r>
            <a:br/>
            <a:r>
              <a:t>4. Kết quả: Thử nghiệm 50 lượt ngẫu nhiên: Kẻ thù thắng 0/50 (0.0%), lợi thế đối thủ Adv &lt;= 2^-128.</a:t>
            </a:r>
          </a:p>
          <a:p>
            <a:pPr>
              <a:spcBef>
                <a:spcPts val="500"/>
              </a:spcBef>
              <a:defRPr b="1" sz="790">
                <a:solidFill>
                  <a:srgbClr val="2563EB"/>
                </a:solidFill>
              </a:defRPr>
            </a:pPr>
            <a:r>
              <a:t>• Game 2: Chống kẻ tấn công đường truyền mạng (Dolev–Yao Adversary):</a:t>
            </a:r>
          </a:p>
          <a:p>
            <a:pPr>
              <a:spcBef>
                <a:spcPts val="150"/>
              </a:spcBef>
              <a:defRPr sz="740">
                <a:solidFill>
                  <a:srgbClr val="0F172A"/>
                </a:solidFill>
              </a:defRPr>
            </a:pPr>
            <a:r>
              <a:t>1. Ý nghĩa: Kẻ tấn công có quyền nghe lén, chặn, sửa đổi hoặc thay thế gói tin truyền giữa Server và Client.</a:t>
            </a:r>
            <a:br/>
            <a:r>
              <a:t>2. Cách tấn công: (1) Sửa nội dung tệp; (2) Thay đổi mã băm trong Proof; (3) Tráo đường dẫn tệp.</a:t>
            </a:r>
            <a:br/>
            <a:r>
              <a:t>3. Cách phòng thủ: Client lưu Root Hash tin cậy; tự băm tệp và lần ngược lên Root Hash theo chuỗi Proof.</a:t>
            </a:r>
            <a:br/>
            <a:r>
              <a:t>4. Kết quả: Phát hiện chính xác 100% mọi hành vi can thiệp làm sai lệch Root Hash.</a:t>
            </a:r>
          </a:p>
          <a:p>
            <a:pPr>
              <a:spcBef>
                <a:spcPts val="500"/>
              </a:spcBef>
              <a:defRPr b="1" sz="790">
                <a:solidFill>
                  <a:srgbClr val="2563EB"/>
                </a:solidFill>
              </a:defRPr>
            </a:pPr>
            <a:r>
              <a:t>• Game 3: Chống giả mạo nút lá và nút nhánh (Second-Preimage &amp; Domain Separation):</a:t>
            </a:r>
          </a:p>
          <a:p>
            <a:pPr>
              <a:spcBef>
                <a:spcPts val="150"/>
              </a:spcBef>
              <a:defRPr sz="740">
                <a:solidFill>
                  <a:srgbClr val="0F172A"/>
                </a:solidFill>
              </a:defRPr>
            </a:pPr>
            <a:r>
              <a:t>1. Ý nghĩa: Merkle Tree gồm nút lá (tệp dữ liệu) và nút nhánh (ghép băm); nếu không tách biệt sẽ bị đánh tráo.</a:t>
            </a:r>
            <a:br/>
            <a:r>
              <a:t>2. Cách tấn công: Tạo tệp chứa chuỗi ghép Left || Right nhằm lừa hệ thống coi tệp rác là một nút lá.</a:t>
            </a:r>
            <a:br/>
            <a:r>
              <a:t>3. Cách phòng thủ: Chuẩn RFC 6962: H_leaf = SHA256(0x00 || Data), H_branch = SHA256(0x01 || L || R).</a:t>
            </a:r>
            <a:br/>
            <a:r>
              <a:t>4. Kết quả: Hai miền tiền tố độc lập hoàn toàn, triệt tiêu 100% việc nhầm lẫn giữa lá và nhánh.</a:t>
            </a:r>
          </a:p>
          <a:p>
            <a:pPr>
              <a:spcBef>
                <a:spcPts val="500"/>
              </a:spcBef>
              <a:defRPr b="1" sz="790">
                <a:solidFill>
                  <a:srgbClr val="2563EB"/>
                </a:solidFill>
              </a:defRPr>
            </a:pPr>
            <a:r>
              <a:t>• Game 4: Kiểm tra hiệu ứng tuyết lở (Avalanche Effect):</a:t>
            </a:r>
          </a:p>
          <a:p>
            <a:pPr>
              <a:spcBef>
                <a:spcPts val="150"/>
              </a:spcBef>
              <a:defRPr sz="740">
                <a:solidFill>
                  <a:srgbClr val="0F172A"/>
                </a:solidFill>
              </a:defRPr>
            </a:pPr>
            <a:r>
              <a:t>1. Ý nghĩa: Thay đổi một phần rất nhỏ đầu vào thì mã băm đầu ra phải biến đổi ngẫu nhiên rất mạnh.</a:t>
            </a:r>
            <a:br/>
            <a:r>
              <a:t>2. Cách tấn công: Đảo 1 bit trong tệp rồi so sánh mã băm trước và sau để dò tìm quy luật tương quan.</a:t>
            </a:r>
            <a:br/>
            <a:r>
              <a:t>3. Cách phòng thủ: Đo khoảng cách Hamming; tỷ lệ bit thay đổi kỳ vọng xấp xỉ 50% (Shannon Diffusion).</a:t>
            </a:r>
            <a:br/>
            <a:r>
              <a:t>4. Kết quả: Thực nghiệm đo được 50.39% ≈ 50%, phù hợp hoàn hảo với đặc tính khuếch tán của SHA-256.</a:t>
            </a:r>
          </a:p>
        </p:txBody>
      </p:sp>
      <p:sp>
        <p:nvSpPr>
          <p:cNvPr id="8" name="Rounded Rectangle 7"/>
          <p:cNvSpPr/>
          <p:nvPr/>
        </p:nvSpPr>
        <p:spPr>
          <a:xfrm>
            <a:off x="6217920" y="1234440"/>
            <a:ext cx="521208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417320"/>
            <a:ext cx="4754880" cy="457200"/>
          </a:xfrm>
          <a:prstGeom prst="rect">
            <a:avLst/>
          </a:prstGeom>
          <a:noFill/>
        </p:spPr>
        <p:txBody>
          <a:bodyPr wrap="square">
            <a:spAutoFit/>
          </a:bodyPr>
          <a:lstStyle/>
          <a:p>
            <a:pPr>
              <a:defRPr b="1" sz="1050">
                <a:solidFill>
                  <a:srgbClr val="1E3A8A"/>
                </a:solidFill>
              </a:defRPr>
            </a:pPr>
            <a:r>
              <a:t>KẾT QUẢ THỰC NGHIỆM 4 MÔ HÌNH ĐỐI KHÁNG ĐẦU TIÊN (GAMES 1 - 4)</a:t>
            </a:r>
          </a:p>
        </p:txBody>
      </p:sp>
      <p:sp>
        <p:nvSpPr>
          <p:cNvPr id="10" name="Rounded Rectangle 9"/>
          <p:cNvSpPr/>
          <p:nvPr/>
        </p:nvSpPr>
        <p:spPr>
          <a:xfrm>
            <a:off x="6446520" y="1856232"/>
            <a:ext cx="4754880" cy="105156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2563EB"/>
                </a:solidFill>
              </a:defRPr>
            </a:pPr>
            <a:r>
              <a:t>GAME 1: KẺ TẤN CÔNG TÍNH TOÁN PPT (GOLDWASSER-MICALI)</a:t>
            </a:r>
          </a:p>
          <a:p>
            <a:pPr>
              <a:spcBef>
                <a:spcPts val="200"/>
              </a:spcBef>
              <a:defRPr sz="780">
                <a:solidFill>
                  <a:srgbClr val="0F172A"/>
                </a:solidFill>
              </a:defRPr>
            </a:pPr>
            <a:r>
              <a:t>• Năng lực: Thuật toán thời gian đa thức ngẫu nhiên.</a:t>
            </a:r>
            <a:br/>
            <a:r>
              <a:t>• Kết quả: Kẻ thù thắng 0/50 lượt. Lợi thế Adv(A) = 0.0 &lt;= 2^-128. ĐẠT AN TOÀN.</a:t>
            </a:r>
          </a:p>
        </p:txBody>
      </p:sp>
      <p:sp>
        <p:nvSpPr>
          <p:cNvPr id="11" name="Rounded Rectangle 10"/>
          <p:cNvSpPr/>
          <p:nvPr/>
        </p:nvSpPr>
        <p:spPr>
          <a:xfrm>
            <a:off x="6446520" y="2999232"/>
            <a:ext cx="4754880" cy="1051560"/>
          </a:xfrm>
          <a:prstGeom prst="roundRect">
            <a:avLst/>
          </a:prstGeom>
          <a:solidFill>
            <a:srgbClr val="FAF5FF"/>
          </a:solidFill>
          <a:ln w="15240">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7E22CE"/>
                </a:solidFill>
              </a:defRPr>
            </a:pPr>
            <a:r>
              <a:t>GAME 2: KẺ TẤN CÔNG ĐƯỜNG TRUYỀN DOLEV-YAO</a:t>
            </a:r>
          </a:p>
          <a:p>
            <a:pPr>
              <a:spcBef>
                <a:spcPts val="200"/>
              </a:spcBef>
              <a:defRPr sz="780">
                <a:solidFill>
                  <a:srgbClr val="0F172A"/>
                </a:solidFill>
              </a:defRPr>
            </a:pPr>
            <a:r>
              <a:t>• Năng lực: Can thiệp gói tin, tráo đổi Merkle Proof, Replay Attack.</a:t>
            </a:r>
            <a:br/>
            <a:r>
              <a:t>• Kết quả: Phát hiện 100% mọi nỗ lực can thiệp và làm lệch Root Hash. ĐẠT AN TOÀN.</a:t>
            </a:r>
          </a:p>
        </p:txBody>
      </p:sp>
      <p:sp>
        <p:nvSpPr>
          <p:cNvPr id="12" name="Rounded Rectangle 11"/>
          <p:cNvSpPr/>
          <p:nvPr/>
        </p:nvSpPr>
        <p:spPr>
          <a:xfrm>
            <a:off x="6446520" y="4142232"/>
            <a:ext cx="4754880" cy="105156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D97706"/>
                </a:solidFill>
              </a:defRPr>
            </a:pPr>
            <a:r>
              <a:t>GAME 3: KHÁNG TIỀN ẢNH CẤP HAI (RFC 6962 DOMAIN SEPARATION)</a:t>
            </a:r>
          </a:p>
          <a:p>
            <a:pPr>
              <a:spcBef>
                <a:spcPts val="200"/>
              </a:spcBef>
              <a:defRPr sz="780">
                <a:solidFill>
                  <a:srgbClr val="0F172A"/>
                </a:solidFill>
              </a:defRPr>
            </a:pPr>
            <a:r>
              <a:t>• Năng lực: Tráo đổi nút lá và nút nhánh để đánh lừa máy khách.</a:t>
            </a:r>
            <a:br/>
            <a:r>
              <a:t>• Kết quả: Tiền tố 0x00 lá và 0x01 nhánh triệt tiêu 100% va chạm tiền ảnh cấp hai.</a:t>
            </a:r>
          </a:p>
        </p:txBody>
      </p:sp>
      <p:sp>
        <p:nvSpPr>
          <p:cNvPr id="13" name="Rounded Rectangle 12"/>
          <p:cNvSpPr/>
          <p:nvPr/>
        </p:nvSpPr>
        <p:spPr>
          <a:xfrm>
            <a:off x="6446520" y="5285232"/>
            <a:ext cx="4754880" cy="1051560"/>
          </a:xfrm>
          <a:prstGeom prst="roundRect">
            <a:avLst/>
          </a:prstGeom>
          <a:solidFill>
            <a:srgbClr val="ECFDF5"/>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GAME 4: HIỆU ỨNG TUYẾT LỞ &amp; RANDOM ORACLE (SHANNON DIFFUSION)</a:t>
            </a:r>
          </a:p>
          <a:p>
            <a:pPr>
              <a:spcBef>
                <a:spcPts val="200"/>
              </a:spcBef>
              <a:defRPr sz="780">
                <a:solidFill>
                  <a:srgbClr val="0F172A"/>
                </a:solidFill>
              </a:defRPr>
            </a:pPr>
            <a:r>
              <a:t>• Năng lực: Đảo 1 bit đầu vào để tìm kiếm tương quan tuyến tính mã băm.</a:t>
            </a:r>
            <a:br/>
            <a:r>
              <a:t>• Kết quả: Tỷ lệ đổi bit 50.39% xấp xỉ mức lý tưởng 50.0%. ĐẠT KHUẾCH TÁN HOÀN HẢO.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5: KIỂM ĐỊNH AN NINH MẬT MÃ HÌNH THỨC [SECURITY GAMES]</a:t>
            </a:r>
          </a:p>
          <a:p>
            <a:pPr>
              <a:spcBef>
                <a:spcPts val="200"/>
              </a:spcBef>
              <a:defRPr b="1" sz="1700">
                <a:solidFill>
                  <a:srgbClr val="FFFFFF"/>
                </a:solidFill>
              </a:defRPr>
            </a:pPr>
            <a:r>
              <a:t>13. Khung 7 Trò Chơi An Ninh Mật Mã Học (Games 5 – 7 &amp; Bảng Tổng Kết)</a:t>
            </a:r>
          </a:p>
        </p:txBody>
      </p:sp>
      <p:sp>
        <p:nvSpPr>
          <p:cNvPr id="6" name="Rounded Rectangle 5"/>
          <p:cNvSpPr/>
          <p:nvPr/>
        </p:nvSpPr>
        <p:spPr>
          <a:xfrm>
            <a:off x="731520" y="1234440"/>
            <a:ext cx="502920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572000" cy="4800600"/>
          </a:xfrm>
          <a:prstGeom prst="rect">
            <a:avLst/>
          </a:prstGeom>
          <a:noFill/>
        </p:spPr>
        <p:txBody>
          <a:bodyPr wrap="square">
            <a:spAutoFit/>
          </a:bodyPr>
          <a:lstStyle/>
          <a:p>
            <a:pPr>
              <a:spcAft>
                <a:spcPts val="800"/>
              </a:spcAft>
              <a:defRPr b="1" sz="1200">
                <a:solidFill>
                  <a:srgbClr val="1E3A8A"/>
                </a:solidFill>
              </a:defRPr>
            </a:pPr>
            <a:r>
              <a:t>Ba Mô Hình Kiểm Định Nâng Cao (Games 5 – 7)</a:t>
            </a:r>
          </a:p>
          <a:p>
            <a:pPr>
              <a:defRPr b="1" sz="790">
                <a:solidFill>
                  <a:srgbClr val="2563EB"/>
                </a:solidFill>
              </a:defRPr>
            </a:pPr>
            <a:r>
              <a:t>• Game 5: Bảo vệ tính nhất quán lịch sử (Append-Only Consistency Proof):</a:t>
            </a:r>
          </a:p>
          <a:p>
            <a:pPr>
              <a:spcBef>
                <a:spcPts val="150"/>
              </a:spcBef>
              <a:defRPr sz="740">
                <a:solidFill>
                  <a:srgbClr val="0F172A"/>
                </a:solidFill>
              </a:defRPr>
            </a:pPr>
            <a:r>
              <a:t>1. Ý nghĩa: Kiểm tra dữ liệu cũ có được giữ nguyên khi hệ thống bổ sung dữ liệu mới hay không.</a:t>
            </a:r>
            <a:br/>
            <a:r>
              <a:t>2. Cách tấn công: Server sửa 1 tệp cũ trong 950 tệp, thêm 50 tệp mới thành 1.000 tệp rồi tuyên bố lịch sử nguyên vẹn.</a:t>
            </a:r>
            <a:br/>
            <a:r>
              <a:t>3. Cách phòng thủ: Consistency Proof RFC 6962 chứng minh cây cũ m=950 là tiền tố bất biến của cây mới n=1.000.</a:t>
            </a:r>
            <a:br/>
            <a:r>
              <a:t>4. Kết quả: Nếu dữ liệu cũ bị sửa, bằng chứng nhất quán bị từ chối ngay lập tức.</a:t>
            </a:r>
          </a:p>
          <a:p>
            <a:pPr>
              <a:spcBef>
                <a:spcPts val="500"/>
              </a:spcBef>
              <a:defRPr b="1" sz="790">
                <a:solidFill>
                  <a:srgbClr val="2563EB"/>
                </a:solidFill>
              </a:defRPr>
            </a:pPr>
            <a:r>
              <a:t>• Game 6: Chống trích xuất dữ liệu nhạy cảm từ RAM (Memory-Dump Adversary):</a:t>
            </a:r>
          </a:p>
          <a:p>
            <a:pPr>
              <a:spcBef>
                <a:spcPts val="150"/>
              </a:spcBef>
              <a:defRPr sz="740">
                <a:solidFill>
                  <a:srgbClr val="0F172A"/>
                </a:solidFill>
              </a:defRPr>
            </a:pPr>
            <a:r>
              <a:t>1. Ý nghĩa: Kẻ tấn công đọc trộm RAM sau khi chương trình chạy để tìm khóa bí mật hoặc dữ liệu nhạy cảm.</a:t>
            </a:r>
            <a:br/>
            <a:r>
              <a:t>2. Cách tấn công: Dump bộ nhớ tiến trình và tìm kiếm khóa còn vương lại trong bộ nhớ đệm.</a:t>
            </a:r>
            <a:br/>
            <a:r>
              <a:t>3. Cách phòng thủ: Memory Zeroization: lưu khóa trong bytearray, chủ động ghi đè bằng 0x00 qua secure_erase().</a:t>
            </a:r>
            <a:br/>
            <a:r>
              <a:t>4. Lưu ý Python: gc.collect() thu hồi biến nhưng trong runtime không bảo đảm xóa sạch tuyệt đối mọi bản sao.</a:t>
            </a:r>
          </a:p>
          <a:p>
            <a:pPr>
              <a:spcBef>
                <a:spcPts val="500"/>
              </a:spcBef>
              <a:defRPr b="1" sz="790">
                <a:solidFill>
                  <a:srgbClr val="2563EB"/>
                </a:solidFill>
              </a:defRPr>
            </a:pPr>
            <a:r>
              <a:t>• Game 7: Chống tấn công đo thời gian &amp; Giảm rò rỉ siêu dữ liệu:</a:t>
            </a:r>
          </a:p>
          <a:p>
            <a:pPr>
              <a:spcBef>
                <a:spcPts val="150"/>
              </a:spcBef>
              <a:defRPr sz="740">
                <a:solidFill>
                  <a:srgbClr val="0F172A"/>
                </a:solidFill>
              </a:defRPr>
            </a:pPr>
            <a:r>
              <a:t>Phần A (Timing Side-Channel): Không dùng toán tử == (dừng sớm theo ký tự sai). Sử dụng hmac.compare_digest() để thời gian so sánh chuỗi là hằng số O(1).</a:t>
            </a:r>
            <a:br/>
            <a:r>
              <a:t>Phần B (Metadata Leakage): Thay vì tải toàn bộ 111 KB manifest chứa tên 1.000 tệp, Merkle Proof chỉ gửi mã băm anh em cần thiết, bảo vệ tính riêng tư của 999 tệp còn lại.</a:t>
            </a:r>
          </a:p>
        </p:txBody>
      </p:sp>
      <p:sp>
        <p:nvSpPr>
          <p:cNvPr id="8" name="Rounded Rectangle 7"/>
          <p:cNvSpPr/>
          <p:nvPr/>
        </p:nvSpPr>
        <p:spPr>
          <a:xfrm>
            <a:off x="5943600" y="1234440"/>
            <a:ext cx="5486400"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035040" y="1325880"/>
          <a:ext cx="5303520" cy="3108960"/>
        </p:xfrm>
        <a:graphic>
          <a:graphicData uri="http://schemas.openxmlformats.org/drawingml/2006/table">
            <a:tbl>
              <a:tblPr firstRow="1" bandRow="1">
                <a:tableStyleId>{5C22544A-7EE6-4342-B048-85BDC9FD1C3A}</a:tableStyleId>
              </a:tblPr>
              <a:tblGrid>
                <a:gridCol w="868680"/>
                <a:gridCol w="2331720"/>
                <a:gridCol w="2103120"/>
              </a:tblGrid>
              <a:tr h="388620">
                <a:tc>
                  <a:txBody>
                    <a:bodyPr/>
                    <a:lstStyle/>
                    <a:p>
                      <a:pPr algn="ctr">
                        <a:defRPr b="1" sz="919">
                          <a:solidFill>
                            <a:srgbClr val="FFFFFF"/>
                          </a:solidFill>
                        </a:defRPr>
                      </a:pPr>
                      <a:r>
                        <a:t>Game</a:t>
                      </a:r>
                    </a:p>
                  </a:txBody>
                  <a:tcPr>
                    <a:solidFill>
                      <a:srgbClr val="1E3A8A"/>
                    </a:solidFill>
                  </a:tcPr>
                </a:tc>
                <a:tc>
                  <a:txBody>
                    <a:bodyPr/>
                    <a:lstStyle/>
                    <a:p>
                      <a:pPr algn="ctr">
                        <a:defRPr b="1" sz="919">
                          <a:solidFill>
                            <a:srgbClr val="FFFFFF"/>
                          </a:solidFill>
                        </a:defRPr>
                      </a:pPr>
                      <a:r>
                        <a:t>Mục Tiêu Bảo Mật</a:t>
                      </a:r>
                    </a:p>
                  </a:txBody>
                  <a:tcPr>
                    <a:solidFill>
                      <a:srgbClr val="1E3A8A"/>
                    </a:solidFill>
                  </a:tcPr>
                </a:tc>
                <a:tc>
                  <a:txBody>
                    <a:bodyPr/>
                    <a:lstStyle/>
                    <a:p>
                      <a:pPr algn="ctr">
                        <a:defRPr b="1" sz="919">
                          <a:solidFill>
                            <a:srgbClr val="FFFFFF"/>
                          </a:solidFill>
                        </a:defRPr>
                      </a:pPr>
                      <a:r>
                        <a:t>Cơ Chế Chính Triển Khai</a:t>
                      </a:r>
                    </a:p>
                  </a:txBody>
                  <a:tcPr>
                    <a:solidFill>
                      <a:srgbClr val="1E3A8A"/>
                    </a:solidFill>
                  </a:tcPr>
                </a:tc>
              </a:tr>
              <a:tr h="388620">
                <a:tc>
                  <a:txBody>
                    <a:bodyPr/>
                    <a:lstStyle/>
                    <a:p>
                      <a:pPr algn="ctr">
                        <a:defRPr sz="819" b="1">
                          <a:solidFill>
                            <a:srgbClr val="2563EB"/>
                          </a:solidFill>
                        </a:defRPr>
                      </a:pPr>
                      <a:r>
                        <a:t>Game 1</a:t>
                      </a:r>
                    </a:p>
                  </a:txBody>
                  <a:tcPr>
                    <a:solidFill>
                      <a:srgbClr val="F8FAFC"/>
                    </a:solidFill>
                  </a:tcPr>
                </a:tc>
                <a:tc>
                  <a:txBody>
                    <a:bodyPr/>
                    <a:lstStyle/>
                    <a:p>
                      <a:pPr>
                        <a:defRPr sz="819">
                          <a:solidFill>
                            <a:srgbClr val="0F172A"/>
                          </a:solidFill>
                        </a:defRPr>
                      </a:pPr>
                      <a:r>
                        <a:t>Chống tìm hai dữ liệu cùng mã băm</a:t>
                      </a:r>
                    </a:p>
                  </a:txBody>
                  <a:tcPr>
                    <a:solidFill>
                      <a:srgbClr val="F8FAFC"/>
                    </a:solidFill>
                  </a:tcPr>
                </a:tc>
                <a:tc>
                  <a:txBody>
                    <a:bodyPr/>
                    <a:lstStyle/>
                    <a:p>
                      <a:pPr>
                        <a:defRPr sz="819">
                          <a:solidFill>
                            <a:srgbClr val="0F172A"/>
                          </a:solidFill>
                        </a:defRPr>
                      </a:pPr>
                      <a:r>
                        <a:t>SHA-256 (Adv &lt;= 2^-128)</a:t>
                      </a:r>
                    </a:p>
                  </a:txBody>
                  <a:tcPr>
                    <a:solidFill>
                      <a:srgbClr val="F8FAFC"/>
                    </a:solidFill>
                  </a:tcPr>
                </a:tc>
              </a:tr>
              <a:tr h="388620">
                <a:tc>
                  <a:txBody>
                    <a:bodyPr/>
                    <a:lstStyle/>
                    <a:p>
                      <a:pPr algn="ctr">
                        <a:defRPr sz="819" b="1">
                          <a:solidFill>
                            <a:srgbClr val="2563EB"/>
                          </a:solidFill>
                        </a:defRPr>
                      </a:pPr>
                      <a:r>
                        <a:t>Game 2</a:t>
                      </a:r>
                    </a:p>
                  </a:txBody>
                  <a:tcPr>
                    <a:solidFill>
                      <a:srgbClr val="FFFFFF"/>
                    </a:solidFill>
                  </a:tcPr>
                </a:tc>
                <a:tc>
                  <a:txBody>
                    <a:bodyPr/>
                    <a:lstStyle/>
                    <a:p>
                      <a:pPr>
                        <a:defRPr sz="819">
                          <a:solidFill>
                            <a:srgbClr val="0F172A"/>
                          </a:solidFill>
                        </a:defRPr>
                      </a:pPr>
                      <a:r>
                        <a:t>Phát hiện dữ liệu bị sửa khi truyền</a:t>
                      </a:r>
                    </a:p>
                  </a:txBody>
                  <a:tcPr>
                    <a:solidFill>
                      <a:srgbClr val="FFFFFF"/>
                    </a:solidFill>
                  </a:tcPr>
                </a:tc>
                <a:tc>
                  <a:txBody>
                    <a:bodyPr/>
                    <a:lstStyle/>
                    <a:p>
                      <a:pPr>
                        <a:defRPr sz="819">
                          <a:solidFill>
                            <a:srgbClr val="0F172A"/>
                          </a:solidFill>
                        </a:defRPr>
                      </a:pPr>
                      <a:r>
                        <a:t>Merkle Proof + Root Hash tin cậy</a:t>
                      </a:r>
                    </a:p>
                  </a:txBody>
                  <a:tcPr>
                    <a:solidFill>
                      <a:srgbClr val="FFFFFF"/>
                    </a:solidFill>
                  </a:tcPr>
                </a:tc>
              </a:tr>
              <a:tr h="388620">
                <a:tc>
                  <a:txBody>
                    <a:bodyPr/>
                    <a:lstStyle/>
                    <a:p>
                      <a:pPr algn="ctr">
                        <a:defRPr sz="819" b="1">
                          <a:solidFill>
                            <a:srgbClr val="2563EB"/>
                          </a:solidFill>
                        </a:defRPr>
                      </a:pPr>
                      <a:r>
                        <a:t>Game 3</a:t>
                      </a:r>
                    </a:p>
                  </a:txBody>
                  <a:tcPr>
                    <a:solidFill>
                      <a:srgbClr val="F8FAFC"/>
                    </a:solidFill>
                  </a:tcPr>
                </a:tc>
                <a:tc>
                  <a:txBody>
                    <a:bodyPr/>
                    <a:lstStyle/>
                    <a:p>
                      <a:pPr>
                        <a:defRPr sz="819">
                          <a:solidFill>
                            <a:srgbClr val="0F172A"/>
                          </a:solidFill>
                        </a:defRPr>
                      </a:pPr>
                      <a:r>
                        <a:t>Phân biệt nút lá và nút nhánh</a:t>
                      </a:r>
                    </a:p>
                  </a:txBody>
                  <a:tcPr>
                    <a:solidFill>
                      <a:srgbClr val="F8FAFC"/>
                    </a:solidFill>
                  </a:tcPr>
                </a:tc>
                <a:tc>
                  <a:txBody>
                    <a:bodyPr/>
                    <a:lstStyle/>
                    <a:p>
                      <a:pPr>
                        <a:defRPr sz="819">
                          <a:solidFill>
                            <a:srgbClr val="0F172A"/>
                          </a:solidFill>
                        </a:defRPr>
                      </a:pPr>
                      <a:r>
                        <a:t>Domain Separation (0x00 / 0x01)</a:t>
                      </a:r>
                    </a:p>
                  </a:txBody>
                  <a:tcPr>
                    <a:solidFill>
                      <a:srgbClr val="F8FAFC"/>
                    </a:solidFill>
                  </a:tcPr>
                </a:tc>
              </a:tr>
              <a:tr h="388620">
                <a:tc>
                  <a:txBody>
                    <a:bodyPr/>
                    <a:lstStyle/>
                    <a:p>
                      <a:pPr algn="ctr">
                        <a:defRPr sz="819" b="1">
                          <a:solidFill>
                            <a:srgbClr val="2563EB"/>
                          </a:solidFill>
                        </a:defRPr>
                      </a:pPr>
                      <a:r>
                        <a:t>Game 4</a:t>
                      </a:r>
                    </a:p>
                  </a:txBody>
                  <a:tcPr>
                    <a:solidFill>
                      <a:srgbClr val="FFFFFF"/>
                    </a:solidFill>
                  </a:tcPr>
                </a:tc>
                <a:tc>
                  <a:txBody>
                    <a:bodyPr/>
                    <a:lstStyle/>
                    <a:p>
                      <a:pPr>
                        <a:defRPr sz="819">
                          <a:solidFill>
                            <a:srgbClr val="0F172A"/>
                          </a:solidFill>
                        </a:defRPr>
                      </a:pPr>
                      <a:r>
                        <a:t>Kiểm tra mức độ thay đổi mã băm</a:t>
                      </a:r>
                    </a:p>
                  </a:txBody>
                  <a:tcPr>
                    <a:solidFill>
                      <a:srgbClr val="FFFFFF"/>
                    </a:solidFill>
                  </a:tcPr>
                </a:tc>
                <a:tc>
                  <a:txBody>
                    <a:bodyPr/>
                    <a:lstStyle/>
                    <a:p>
                      <a:pPr>
                        <a:defRPr sz="819">
                          <a:solidFill>
                            <a:srgbClr val="0F172A"/>
                          </a:solidFill>
                        </a:defRPr>
                      </a:pPr>
                      <a:r>
                        <a:t>Avalanche Effect (50.39% ≈ 50%)</a:t>
                      </a:r>
                    </a:p>
                  </a:txBody>
                  <a:tcPr>
                    <a:solidFill>
                      <a:srgbClr val="FFFFFF"/>
                    </a:solidFill>
                  </a:tcPr>
                </a:tc>
              </a:tr>
              <a:tr h="388620">
                <a:tc>
                  <a:txBody>
                    <a:bodyPr/>
                    <a:lstStyle/>
                    <a:p>
                      <a:pPr algn="ctr">
                        <a:defRPr sz="819" b="1">
                          <a:solidFill>
                            <a:srgbClr val="2563EB"/>
                          </a:solidFill>
                        </a:defRPr>
                      </a:pPr>
                      <a:r>
                        <a:t>Game 5</a:t>
                      </a:r>
                    </a:p>
                  </a:txBody>
                  <a:tcPr>
                    <a:solidFill>
                      <a:srgbClr val="F8FAFC"/>
                    </a:solidFill>
                  </a:tcPr>
                </a:tc>
                <a:tc>
                  <a:txBody>
                    <a:bodyPr/>
                    <a:lstStyle/>
                    <a:p>
                      <a:pPr>
                        <a:defRPr sz="819">
                          <a:solidFill>
                            <a:srgbClr val="0F172A"/>
                          </a:solidFill>
                        </a:defRPr>
                      </a:pPr>
                      <a:r>
                        <a:t>Kiểm tra nhất quán qua các lần cập nhật</a:t>
                      </a:r>
                    </a:p>
                  </a:txBody>
                  <a:tcPr>
                    <a:solidFill>
                      <a:srgbClr val="F8FAFC"/>
                    </a:solidFill>
                  </a:tcPr>
                </a:tc>
                <a:tc>
                  <a:txBody>
                    <a:bodyPr/>
                    <a:lstStyle/>
                    <a:p>
                      <a:pPr>
                        <a:defRPr sz="819">
                          <a:solidFill>
                            <a:srgbClr val="0F172A"/>
                          </a:solidFill>
                        </a:defRPr>
                      </a:pPr>
                      <a:r>
                        <a:t>Consistency Proof RFC 6962</a:t>
                      </a:r>
                    </a:p>
                  </a:txBody>
                  <a:tcPr>
                    <a:solidFill>
                      <a:srgbClr val="F8FAFC"/>
                    </a:solidFill>
                  </a:tcPr>
                </a:tc>
              </a:tr>
              <a:tr h="388620">
                <a:tc>
                  <a:txBody>
                    <a:bodyPr/>
                    <a:lstStyle/>
                    <a:p>
                      <a:pPr algn="ctr">
                        <a:defRPr sz="819" b="1">
                          <a:solidFill>
                            <a:srgbClr val="2563EB"/>
                          </a:solidFill>
                        </a:defRPr>
                      </a:pPr>
                      <a:r>
                        <a:t>Game 6</a:t>
                      </a:r>
                    </a:p>
                  </a:txBody>
                  <a:tcPr>
                    <a:solidFill>
                      <a:srgbClr val="FFFFFF"/>
                    </a:solidFill>
                  </a:tcPr>
                </a:tc>
                <a:tc>
                  <a:txBody>
                    <a:bodyPr/>
                    <a:lstStyle/>
                    <a:p>
                      <a:pPr>
                        <a:defRPr sz="819">
                          <a:solidFill>
                            <a:srgbClr val="0F172A"/>
                          </a:solidFill>
                        </a:defRPr>
                      </a:pPr>
                      <a:r>
                        <a:t>Hạn chế dữ liệu nhạy cảm trong RAM</a:t>
                      </a:r>
                    </a:p>
                  </a:txBody>
                  <a:tcPr>
                    <a:solidFill>
                      <a:srgbClr val="FFFFFF"/>
                    </a:solidFill>
                  </a:tcPr>
                </a:tc>
                <a:tc>
                  <a:txBody>
                    <a:bodyPr/>
                    <a:lstStyle/>
                    <a:p>
                      <a:pPr>
                        <a:defRPr sz="819">
                          <a:solidFill>
                            <a:srgbClr val="0F172A"/>
                          </a:solidFill>
                        </a:defRPr>
                      </a:pPr>
                      <a:r>
                        <a:t>Memory Zeroization (secure_erase)</a:t>
                      </a:r>
                    </a:p>
                  </a:txBody>
                  <a:tcPr>
                    <a:solidFill>
                      <a:srgbClr val="FFFFFF"/>
                    </a:solidFill>
                  </a:tcPr>
                </a:tc>
              </a:tr>
              <a:tr h="388620">
                <a:tc>
                  <a:txBody>
                    <a:bodyPr/>
                    <a:lstStyle/>
                    <a:p>
                      <a:pPr algn="ctr">
                        <a:defRPr sz="819" b="1">
                          <a:solidFill>
                            <a:srgbClr val="2563EB"/>
                          </a:solidFill>
                        </a:defRPr>
                      </a:pPr>
                      <a:r>
                        <a:t>Game 7</a:t>
                      </a:r>
                    </a:p>
                  </a:txBody>
                  <a:tcPr>
                    <a:solidFill>
                      <a:srgbClr val="F8FAFC"/>
                    </a:solidFill>
                  </a:tcPr>
                </a:tc>
                <a:tc>
                  <a:txBody>
                    <a:bodyPr/>
                    <a:lstStyle/>
                    <a:p>
                      <a:pPr>
                        <a:defRPr sz="819">
                          <a:solidFill>
                            <a:srgbClr val="0F172A"/>
                          </a:solidFill>
                        </a:defRPr>
                      </a:pPr>
                      <a:r>
                        <a:t>Giảm rò rỉ thời gian &amp; siêu dữ liệu</a:t>
                      </a:r>
                    </a:p>
                  </a:txBody>
                  <a:tcPr>
                    <a:solidFill>
                      <a:srgbClr val="F8FAFC"/>
                    </a:solidFill>
                  </a:tcPr>
                </a:tc>
                <a:tc>
                  <a:txBody>
                    <a:bodyPr/>
                    <a:lstStyle/>
                    <a:p>
                      <a:pPr>
                        <a:defRPr sz="819">
                          <a:solidFill>
                            <a:srgbClr val="0F172A"/>
                          </a:solidFill>
                        </a:defRPr>
                      </a:pPr>
                      <a:r>
                        <a:t>hmac.compare_digest() + Merkle Proof</a:t>
                      </a:r>
                    </a:p>
                  </a:txBody>
                  <a:tcPr>
                    <a:solidFill>
                      <a:srgbClr val="F8FAFC"/>
                    </a:solidFill>
                  </a:tcPr>
                </a:tc>
              </a:tr>
            </a:tbl>
          </a:graphicData>
        </a:graphic>
      </p:graphicFrame>
      <p:sp>
        <p:nvSpPr>
          <p:cNvPr id="10" name="Rounded Rectangle 9"/>
          <p:cNvSpPr/>
          <p:nvPr/>
        </p:nvSpPr>
        <p:spPr>
          <a:xfrm>
            <a:off x="5943600" y="4663440"/>
            <a:ext cx="5486400" cy="1828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0760" y="4736592"/>
            <a:ext cx="5212080" cy="1691640"/>
          </a:xfrm>
          <a:prstGeom prst="rect">
            <a:avLst/>
          </a:prstGeom>
          <a:noFill/>
        </p:spPr>
        <p:txBody>
          <a:bodyPr wrap="square">
            <a:spAutoFit/>
          </a:bodyPr>
          <a:lstStyle/>
          <a:p>
            <a:pPr>
              <a:defRPr b="1" sz="950">
                <a:solidFill>
                  <a:srgbClr val="1E3A8A"/>
                </a:solidFill>
              </a:defRPr>
            </a:pPr>
            <a:r>
              <a:t>Lưu Ý Phương Pháp Luận Khi Báo Cáo:</a:t>
            </a:r>
          </a:p>
          <a:p>
            <a:pPr>
              <a:spcBef>
                <a:spcPts val="250"/>
              </a:spcBef>
              <a:defRPr sz="780">
                <a:solidFill>
                  <a:srgbClr val="0F172A"/>
                </a:solidFill>
              </a:defRPr>
            </a:pPr>
            <a:r>
              <a:t>• Mục đích: 7 mô hình được xây dựng để kiểm thử các khía cạnh bảo mật đối kháng khác nhau theo luận điểm của Harry Halpin (2025).</a:t>
            </a:r>
          </a:p>
          <a:p>
            <a:pPr>
              <a:spcBef>
                <a:spcPts val="250"/>
              </a:spcBef>
              <a:defRPr sz="780">
                <a:solidFill>
                  <a:srgbClr val="0F172A"/>
                </a:solidFill>
              </a:defRPr>
            </a:pPr>
            <a:r>
              <a:t>• Đối chiếu mã nguồn: Được triển khai và chạy độc lập qua tệp src/proposed_model/security_games.py, không gộp chung benchmark.</a:t>
            </a:r>
          </a:p>
          <a:p>
            <a:pPr>
              <a:spcBef>
                <a:spcPts val="250"/>
              </a:spcBef>
              <a:defRPr sz="780">
                <a:solidFill>
                  <a:srgbClr val="0F172A"/>
                </a:solidFill>
              </a:defRPr>
            </a:pPr>
            <a:r>
              <a:t>• Đánh giá khách quan: Phân biệt rõ giữa cơ chế lý thuyết toán học và kết quả đo đạc thực nghiệm cụ thể trên môi trường Python.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6: ĐỐI CHIẾU LÝ THUYẾT &amp; KIỂM THỬ TỰ ĐỘNG</a:t>
            </a:r>
          </a:p>
          <a:p>
            <a:pPr>
              <a:spcBef>
                <a:spcPts val="200"/>
              </a:spcBef>
              <a:defRPr b="1" sz="1700">
                <a:solidFill>
                  <a:srgbClr val="FFFFFF"/>
                </a:solidFill>
              </a:defRPr>
            </a:pPr>
            <a:r>
              <a:t>14. Bảng Ma Trận Đối Chiếu Chi Tiết 100% Giữa Bài Báo Và Hệ Thống</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Bảng Đối Chiếu Chi Tiết 6 Điểm Nòng Cốt</a:t>
            </a:r>
          </a:p>
          <a:p>
            <a:pPr>
              <a:defRPr b="1" sz="850">
                <a:solidFill>
                  <a:srgbClr val="2563EB"/>
                </a:solidFill>
              </a:defRPr>
            </a:pPr>
            <a:r>
              <a:t>• Điểm đối chiếu 1: Kẻ thù PPT (Goldwasser-Micali 1984):</a:t>
            </a:r>
          </a:p>
          <a:p>
            <a:pPr>
              <a:spcBef>
                <a:spcPts val="150"/>
              </a:spcBef>
              <a:defRPr sz="800">
                <a:solidFill>
                  <a:srgbClr val="0F172A"/>
                </a:solidFill>
              </a:defRPr>
            </a:pPr>
            <a:r>
              <a:t>- Bài báo: Mục 4 Trang 7  |  Đồ án: Game 1 (security_games.py)</a:t>
            </a:r>
            <a:br/>
            <a:r>
              <a:t>- Minh chứng: Thử thách 50 lượt ngẫu nhiên, lợi thế Adv(A) = 0.0 &lt;= 2^-128.</a:t>
            </a:r>
          </a:p>
          <a:p>
            <a:pPr>
              <a:spcBef>
                <a:spcPts val="500"/>
              </a:spcBef>
              <a:defRPr b="1" sz="850">
                <a:solidFill>
                  <a:srgbClr val="2563EB"/>
                </a:solidFill>
              </a:defRPr>
            </a:pPr>
            <a:r>
              <a:t>• Điểm đối chiếu 2: Nguyên lý Kerckhoffs (Kerckhoffs 1883):</a:t>
            </a:r>
          </a:p>
          <a:p>
            <a:pPr>
              <a:spcBef>
                <a:spcPts val="150"/>
              </a:spcBef>
              <a:defRPr sz="800">
                <a:solidFill>
                  <a:srgbClr val="0F172A"/>
                </a:solidFill>
              </a:defRPr>
            </a:pPr>
            <a:r>
              <a:t>- Bài báo: Mục 2 Trang 3  |  Đồ án: Công khai 100% mã nguồn trên GitHub</a:t>
            </a:r>
            <a:br/>
            <a:r>
              <a:t>- Minh chứng: Chỉ cần Root Hash 32 byte để bảo vệ toàn vẹn dữ liệu.</a:t>
            </a:r>
          </a:p>
          <a:p>
            <a:pPr>
              <a:spcBef>
                <a:spcPts val="500"/>
              </a:spcBef>
              <a:defRPr b="1" sz="850">
                <a:solidFill>
                  <a:srgbClr val="2563EB"/>
                </a:solidFill>
              </a:defRPr>
            </a:pPr>
            <a:r>
              <a:t>• Điểm đối chiếu 3: Kẻ tấn công Mạng Dolev-Yao (Dolev-Yao 1983):</a:t>
            </a:r>
          </a:p>
          <a:p>
            <a:pPr>
              <a:spcBef>
                <a:spcPts val="150"/>
              </a:spcBef>
              <a:defRPr sz="800">
                <a:solidFill>
                  <a:srgbClr val="0F172A"/>
                </a:solidFill>
              </a:defRPr>
            </a:pPr>
            <a:r>
              <a:t>- Bài báo: Mục 4 Trang 8  |  Đồ án: Game 2 &amp; Bộ kiểm thử tự động</a:t>
            </a:r>
            <a:br/>
            <a:r>
              <a:t>- Minh chứng: Chặn đứng 100% hành vi sửa tệp, tráo Proof và đổi đường dẫn.</a:t>
            </a:r>
          </a:p>
          <a:p>
            <a:pPr>
              <a:spcBef>
                <a:spcPts val="500"/>
              </a:spcBef>
              <a:defRPr b="1" sz="850">
                <a:solidFill>
                  <a:srgbClr val="2563EB"/>
                </a:solidFill>
              </a:defRPr>
            </a:pPr>
            <a:r>
              <a:t>• Điểm đối chiếu 4: Phân tách miền RFC 6962:</a:t>
            </a:r>
          </a:p>
          <a:p>
            <a:pPr>
              <a:spcBef>
                <a:spcPts val="150"/>
              </a:spcBef>
              <a:defRPr sz="800">
                <a:solidFill>
                  <a:srgbClr val="0F172A"/>
                </a:solidFill>
              </a:defRPr>
            </a:pPr>
            <a:r>
              <a:t>- Bài báo: Mục 5 Trang 8-10  |  Đồ án: Tiền tố 0x00 cho lá và 0x01 cho nhánh</a:t>
            </a:r>
            <a:br/>
            <a:r>
              <a:t>- Minh chứng: Triệt tiêu 100% va chạm tiền ảnh cấp hai (Second-preimage).</a:t>
            </a:r>
          </a:p>
          <a:p>
            <a:pPr>
              <a:spcBef>
                <a:spcPts val="500"/>
              </a:spcBef>
              <a:defRPr b="1" sz="850">
                <a:solidFill>
                  <a:srgbClr val="2563EB"/>
                </a:solidFill>
              </a:defRPr>
            </a:pPr>
            <a:r>
              <a:t>• Điểm đối chiếu 5: Xác minh cục bộ O(log N) của Ralph Merkle:</a:t>
            </a:r>
          </a:p>
          <a:p>
            <a:pPr>
              <a:spcBef>
                <a:spcPts val="150"/>
              </a:spcBef>
              <a:defRPr sz="800">
                <a:solidFill>
                  <a:srgbClr val="0F172A"/>
                </a:solidFill>
              </a:defRPr>
            </a:pPr>
            <a:r>
              <a:t>- Bài báo: Mục 4 Trang 5  |  Đồ án: Bằng chứng Merkle Proof (0.97 - 1.37 KB)</a:t>
            </a:r>
            <a:br/>
            <a:r>
              <a:t>- Minh chứng: Tiết kiệm 98.8% băng thông so với việc tải toàn bộ 111 KB.</a:t>
            </a:r>
          </a:p>
          <a:p>
            <a:pPr>
              <a:spcBef>
                <a:spcPts val="500"/>
              </a:spcBef>
              <a:defRPr b="1" sz="850">
                <a:solidFill>
                  <a:srgbClr val="2563EB"/>
                </a:solidFill>
              </a:defRPr>
            </a:pPr>
            <a:r>
              <a:t>• Điểm đối chiếu 6: Lời kêu gọi kiểm nghiệm thực tế (Mục 7):</a:t>
            </a:r>
          </a:p>
          <a:p>
            <a:pPr>
              <a:spcBef>
                <a:spcPts val="150"/>
              </a:spcBef>
              <a:defRPr sz="800">
                <a:solidFill>
                  <a:srgbClr val="0F172A"/>
                </a:solidFill>
              </a:defRPr>
            </a:pPr>
            <a:r>
              <a:t>- Bài báo: Kêu gọi thử nghiệm  |  Đồ án: Bộ 1.000 tệp tin thực tế (4.1 MB)</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57200"/>
          </a:xfrm>
          <a:prstGeom prst="rect">
            <a:avLst/>
          </a:prstGeom>
          <a:noFill/>
        </p:spPr>
        <p:txBody>
          <a:bodyPr wrap="square">
            <a:spAutoFit/>
          </a:bodyPr>
          <a:lstStyle/>
          <a:p>
            <a:pPr>
              <a:defRPr b="1" sz="1100">
                <a:solidFill>
                  <a:srgbClr val="1E3A8A"/>
                </a:solidFill>
              </a:defRPr>
            </a:pPr>
            <a:r>
              <a:t>KẾT QUẢ ĐỐI CHIẾU 1-1 BÀI BÁO GỐC VS HỆ THỐNG HIỆN THỰC</a:t>
            </a:r>
          </a:p>
        </p:txBody>
      </p:sp>
      <p:sp>
        <p:nvSpPr>
          <p:cNvPr id="10" name="Rounded Rectangle 9"/>
          <p:cNvSpPr/>
          <p:nvPr/>
        </p:nvSpPr>
        <p:spPr>
          <a:xfrm>
            <a:off x="6263640" y="1856232"/>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1. Mô hình Kẻ thù PPT (Goldwasser-Micali 1984)   ➔   ĐẠT 100%</a:t>
            </a:r>
          </a:p>
          <a:p>
            <a:pPr>
              <a:spcBef>
                <a:spcPts val="200"/>
              </a:spcBef>
              <a:defRPr sz="780">
                <a:solidFill>
                  <a:srgbClr val="0F172A"/>
                </a:solidFill>
              </a:defRPr>
            </a:pPr>
            <a:r>
              <a:t>Advantage Adv(A) = 0.0 &lt;= negl(λ)</a:t>
            </a:r>
          </a:p>
        </p:txBody>
      </p:sp>
      <p:sp>
        <p:nvSpPr>
          <p:cNvPr id="11" name="Rounded Rectangle 10"/>
          <p:cNvSpPr/>
          <p:nvPr/>
        </p:nvSpPr>
        <p:spPr>
          <a:xfrm>
            <a:off x="6263640" y="2596896"/>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2. Nguyên lý Kerckhoffs (Minh bạch mã nguồn)   ➔   ĐẠT 100%</a:t>
            </a:r>
          </a:p>
          <a:p>
            <a:pPr>
              <a:spcBef>
                <a:spcPts val="200"/>
              </a:spcBef>
              <a:defRPr sz="780">
                <a:solidFill>
                  <a:srgbClr val="0F172A"/>
                </a:solidFill>
              </a:defRPr>
            </a:pPr>
            <a:r>
              <a:t>Công khai 100% GitHub, chỉ giữ Root Hash</a:t>
            </a:r>
          </a:p>
        </p:txBody>
      </p:sp>
      <p:sp>
        <p:nvSpPr>
          <p:cNvPr id="12" name="Rounded Rectangle 11"/>
          <p:cNvSpPr/>
          <p:nvPr/>
        </p:nvSpPr>
        <p:spPr>
          <a:xfrm>
            <a:off x="6263640" y="3337560"/>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3. Mô hình Mạng Dolev-Yao (Chặn bắt / Đánh tráo)   ➔   ĐẠT 100%</a:t>
            </a:r>
          </a:p>
          <a:p>
            <a:pPr>
              <a:spcBef>
                <a:spcPts val="200"/>
              </a:spcBef>
              <a:defRPr sz="780">
                <a:solidFill>
                  <a:srgbClr val="0F172A"/>
                </a:solidFill>
              </a:defRPr>
            </a:pPr>
            <a:r>
              <a:t>Chặn đứng 100% can thiệp &amp; replay</a:t>
            </a:r>
          </a:p>
        </p:txBody>
      </p:sp>
      <p:sp>
        <p:nvSpPr>
          <p:cNvPr id="13" name="Rounded Rectangle 12"/>
          <p:cNvSpPr/>
          <p:nvPr/>
        </p:nvSpPr>
        <p:spPr>
          <a:xfrm>
            <a:off x="6263640" y="4078224"/>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4. Phân tách miền RFC 6962 Certificate Transparency   ➔   ĐẠT 100%</a:t>
            </a:r>
          </a:p>
          <a:p>
            <a:pPr>
              <a:spcBef>
                <a:spcPts val="200"/>
              </a:spcBef>
              <a:defRPr sz="780">
                <a:solidFill>
                  <a:srgbClr val="0F172A"/>
                </a:solidFill>
              </a:defRPr>
            </a:pPr>
            <a:r>
              <a:t>Tiền tố 0x00 lá vs 0x01 nhánh triệt tiêu va chạm</a:t>
            </a:r>
          </a:p>
        </p:txBody>
      </p:sp>
      <p:sp>
        <p:nvSpPr>
          <p:cNvPr id="14" name="Rounded Rectangle 13"/>
          <p:cNvSpPr/>
          <p:nvPr/>
        </p:nvSpPr>
        <p:spPr>
          <a:xfrm>
            <a:off x="6263640" y="4818888"/>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5. Bằng chứng cục bộ Ralph Merkle 1979   ➔   ĐẠT 100%</a:t>
            </a:r>
          </a:p>
          <a:p>
            <a:pPr>
              <a:spcBef>
                <a:spcPts val="200"/>
              </a:spcBef>
              <a:defRPr sz="780">
                <a:solidFill>
                  <a:srgbClr val="0F172A"/>
                </a:solidFill>
              </a:defRPr>
            </a:pPr>
            <a:r>
              <a:t>Dung lượng 1.369 B (tiết kiệm 98.8% băng thông)</a:t>
            </a:r>
          </a:p>
        </p:txBody>
      </p:sp>
      <p:sp>
        <p:nvSpPr>
          <p:cNvPr id="15" name="Rounded Rectangle 14"/>
          <p:cNvSpPr/>
          <p:nvPr/>
        </p:nvSpPr>
        <p:spPr>
          <a:xfrm>
            <a:off x="6263640" y="5559552"/>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6. Lời kêu gọi kiểm nghiệm thực tế (Mục 7 Trang 14)   ➔   ĐẠT 100%</a:t>
            </a:r>
          </a:p>
          <a:p>
            <a:pPr>
              <a:spcBef>
                <a:spcPts val="200"/>
              </a:spcBef>
              <a:defRPr sz="780">
                <a:solidFill>
                  <a:srgbClr val="0F172A"/>
                </a:solidFill>
              </a:defRPr>
            </a:pPr>
            <a:r>
              <a:t>Dataset 1.000 tệp (4.1 MB), 5 vòng đo chuẩn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6: ĐỐI CHIẾU LÝ THUYẾT &amp; KIỂM THỬ TỰ ĐỘNG</a:t>
            </a:r>
          </a:p>
          <a:p>
            <a:pPr>
              <a:spcBef>
                <a:spcPts val="200"/>
              </a:spcBef>
              <a:defRPr b="1" sz="1700">
                <a:solidFill>
                  <a:srgbClr val="FFFFFF"/>
                </a:solidFill>
              </a:defRPr>
            </a:pPr>
            <a:r>
              <a:t>15. Bộ Kiểm Thử An Ninh Mật Mã Tự Động (17/17 Unit Tests Đạt 100%)</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Quy Trình Kiểm Thử An Ninh Hệ Thống (test_file_integrity.py)</a:t>
            </a:r>
          </a:p>
          <a:p>
            <a:pPr>
              <a:defRPr b="1" sz="890">
                <a:solidFill>
                  <a:srgbClr val="2563EB"/>
                </a:solidFill>
              </a:defRPr>
            </a:pPr>
            <a:r>
              <a:t>• Mục tiêu bộ kiểm thử tự động:</a:t>
            </a:r>
          </a:p>
          <a:p>
            <a:pPr>
              <a:spcBef>
                <a:spcPts val="150"/>
              </a:spcBef>
              <a:defRPr sz="840">
                <a:solidFill>
                  <a:srgbClr val="0F172A"/>
                </a:solidFill>
              </a:defRPr>
            </a:pPr>
            <a:r>
              <a:t>Xây dựng bộ kịch bản kiểm thử độc lập bao phủ toàn bộ các nguy cơ tấn công an ninh mật mã nhằm xác nhận tính đúng đắn của giải thuật trước khi triển khai thực tế.</a:t>
            </a:r>
          </a:p>
          <a:p>
            <a:pPr>
              <a:spcBef>
                <a:spcPts val="500"/>
              </a:spcBef>
              <a:defRPr b="1" sz="890">
                <a:solidFill>
                  <a:srgbClr val="2563EB"/>
                </a:solidFill>
              </a:defRPr>
            </a:pPr>
            <a:r>
              <a:t>• Cấu trúc 17 ca kiểm thử an ninh chuyên sâu:</a:t>
            </a:r>
          </a:p>
          <a:p>
            <a:pPr>
              <a:spcBef>
                <a:spcPts val="150"/>
              </a:spcBef>
              <a:defRPr sz="840">
                <a:solidFill>
                  <a:srgbClr val="0F172A"/>
                </a:solidFill>
              </a:defRPr>
            </a:pPr>
            <a:r>
              <a:t>- Nhóm 1: Kiểm thử phát hiện can thiệp nội dung tệp (Tampering Test: sửa 1 byte, đảo 1 bit trên đĩa).</a:t>
            </a:r>
            <a:br/>
            <a:r>
              <a:t>- Nhóm 2: Kiểm thử phát hiện chèn tệp lạ và xóa lén tệp trong cấu trúc thư mục con.</a:t>
            </a:r>
            <a:br/>
            <a:r>
              <a:t>- Nhóm 3: Kiểm định tính chính xác của đường dẫn Dirty-Path và Master Root Hash.</a:t>
            </a:r>
            <a:br/>
            <a:r>
              <a:t>- Nhóm 4: Kiểm thử tính hợp lệ của Inclusion Proof và phát hiện Proof bị giả mạo.</a:t>
            </a:r>
            <a:br/>
            <a:r>
              <a:t>- Nhóm 5: Kiểm định Bằng chứng nhất quán RFC 6962 khi cây mở rộng.</a:t>
            </a:r>
            <a:br/>
            <a:r>
              <a:t>- Nhóm 6: Kiểm thử cơ chế Xóa sạch RAM và So sánh hằng số thời gian.</a:t>
            </a:r>
          </a:p>
          <a:p>
            <a:pPr>
              <a:spcBef>
                <a:spcPts val="500"/>
              </a:spcBef>
              <a:defRPr b="1" sz="890">
                <a:solidFill>
                  <a:srgbClr val="2563EB"/>
                </a:solidFill>
              </a:defRPr>
            </a:pPr>
            <a:r>
              <a:t>• Kết quả thực thi:</a:t>
            </a:r>
          </a:p>
          <a:p>
            <a:pPr>
              <a:spcBef>
                <a:spcPts val="150"/>
              </a:spcBef>
              <a:defRPr sz="840">
                <a:solidFill>
                  <a:srgbClr val="0F172A"/>
                </a:solidFill>
              </a:defRPr>
            </a:pPr>
            <a:r>
              <a:t>Chạy lệnh unittest tự động: 17/17 ca kiểm thử đều VƯỢT QUA HOÀN TOÀN (100% PASS), thời gian thực thi &lt; 0.25 giây.</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548640"/>
          </a:xfrm>
          <a:prstGeom prst="rect">
            <a:avLst/>
          </a:prstGeom>
          <a:noFill/>
        </p:spPr>
        <p:txBody>
          <a:bodyPr wrap="square">
            <a:spAutoFit/>
          </a:bodyPr>
          <a:lstStyle/>
          <a:p>
            <a:pPr>
              <a:defRPr b="1" sz="1100">
                <a:solidFill>
                  <a:srgbClr val="1E3A8A"/>
                </a:solidFill>
              </a:defRPr>
            </a:pPr>
            <a:r>
              <a:t>KẾT QUẢ KIỂM THỬ AN NINH TỰ ĐỘNG (17/17 TESTS PASS)</a:t>
            </a:r>
          </a:p>
        </p:txBody>
      </p:sp>
      <p:sp>
        <p:nvSpPr>
          <p:cNvPr id="10" name="Rounded Rectangle 9"/>
          <p:cNvSpPr/>
          <p:nvPr/>
        </p:nvSpPr>
        <p:spPr>
          <a:xfrm>
            <a:off x="6263640" y="1892808"/>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1. Phát hiện sửa đổi 1 bit / 1 byte   ➔   PASS (100%)</a:t>
            </a:r>
          </a:p>
          <a:p>
            <a:pPr>
              <a:spcBef>
                <a:spcPts val="200"/>
              </a:spcBef>
              <a:defRPr sz="780">
                <a:solidFill>
                  <a:srgbClr val="0F172A"/>
                </a:solidFill>
              </a:defRPr>
            </a:pPr>
            <a:r>
              <a:t>Kiểm thử phát hiện sai lệch nội dung tệp trên đĩa tức thì.</a:t>
            </a:r>
          </a:p>
        </p:txBody>
      </p:sp>
      <p:sp>
        <p:nvSpPr>
          <p:cNvPr id="11" name="Rounded Rectangle 10"/>
          <p:cNvSpPr/>
          <p:nvPr/>
        </p:nvSpPr>
        <p:spPr>
          <a:xfrm>
            <a:off x="6263640" y="2633472"/>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2. Phát hiện chèn tệp lạ vào thư mục   ➔   PASS (100%)</a:t>
            </a:r>
          </a:p>
          <a:p>
            <a:pPr>
              <a:spcBef>
                <a:spcPts val="200"/>
              </a:spcBef>
              <a:defRPr sz="780">
                <a:solidFill>
                  <a:srgbClr val="0F172A"/>
                </a:solidFill>
              </a:defRPr>
            </a:pPr>
            <a:r>
              <a:t>Phát hiện mã độc hoặc tệp lạ đưa vào thư mục phân cấp.</a:t>
            </a:r>
          </a:p>
        </p:txBody>
      </p:sp>
      <p:sp>
        <p:nvSpPr>
          <p:cNvPr id="12" name="Rounded Rectangle 11"/>
          <p:cNvSpPr/>
          <p:nvPr/>
        </p:nvSpPr>
        <p:spPr>
          <a:xfrm>
            <a:off x="6263640" y="3374136"/>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3. Phát hiện xóa lén tệp tin   ➔   PASS (100%)</a:t>
            </a:r>
          </a:p>
          <a:p>
            <a:pPr>
              <a:spcBef>
                <a:spcPts val="200"/>
              </a:spcBef>
              <a:defRPr sz="780">
                <a:solidFill>
                  <a:srgbClr val="0F172A"/>
                </a:solidFill>
              </a:defRPr>
            </a:pPr>
            <a:r>
              <a:t>Phát hiện phá hoại dữ liệu khi tệp bị xóa khỏi cây thư mục.</a:t>
            </a:r>
          </a:p>
        </p:txBody>
      </p:sp>
      <p:sp>
        <p:nvSpPr>
          <p:cNvPr id="13" name="Rounded Rectangle 12"/>
          <p:cNvSpPr/>
          <p:nvPr/>
        </p:nvSpPr>
        <p:spPr>
          <a:xfrm>
            <a:off x="6263640" y="4114800"/>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4. Định vị tệp tin vi phạm chính xác   ➔   PASS (100%)</a:t>
            </a:r>
          </a:p>
          <a:p>
            <a:pPr>
              <a:spcBef>
                <a:spcPts val="200"/>
              </a:spcBef>
              <a:defRPr sz="780">
                <a:solidFill>
                  <a:srgbClr val="0F172A"/>
                </a:solidFill>
              </a:defRPr>
            </a:pPr>
            <a:r>
              <a:t>Chỉ đúng đường dẫn tệp bị can thiệp trong thời gian 0.022 ms.</a:t>
            </a:r>
          </a:p>
        </p:txBody>
      </p:sp>
      <p:sp>
        <p:nvSpPr>
          <p:cNvPr id="14" name="Rounded Rectangle 13"/>
          <p:cNvSpPr/>
          <p:nvPr/>
        </p:nvSpPr>
        <p:spPr>
          <a:xfrm>
            <a:off x="6263640" y="4855464"/>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5. Xác thực Merkle Proof &amp; Consistency   ➔   PASS (100%)</a:t>
            </a:r>
          </a:p>
          <a:p>
            <a:pPr>
              <a:spcBef>
                <a:spcPts val="200"/>
              </a:spcBef>
              <a:defRPr sz="780">
                <a:solidFill>
                  <a:srgbClr val="0F172A"/>
                </a:solidFill>
              </a:defRPr>
            </a:pPr>
            <a:r>
              <a:t>Kiểm định Inclusion Proof và Bằng chứng nhất quán RFC 6962.</a:t>
            </a:r>
          </a:p>
        </p:txBody>
      </p:sp>
      <p:sp>
        <p:nvSpPr>
          <p:cNvPr id="15" name="Rounded Rectangle 14"/>
          <p:cNvSpPr/>
          <p:nvPr/>
        </p:nvSpPr>
        <p:spPr>
          <a:xfrm>
            <a:off x="6263640" y="5596128"/>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6. Bảo vệ RAM &amp; Chống rò rỉ thời gian   ➔   PASS (100%)</a:t>
            </a:r>
          </a:p>
          <a:p>
            <a:pPr>
              <a:spcBef>
                <a:spcPts val="200"/>
              </a:spcBef>
              <a:defRPr sz="780">
                <a:solidFill>
                  <a:srgbClr val="0F172A"/>
                </a:solidFill>
              </a:defRPr>
            </a:pPr>
            <a:r>
              <a:t>Xóa đè bộ nhớ an toàn (zeroize) &amp; so sánh hằng số O(1).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7: TỔNG KẾT ĐÓNG GÓP &amp; ĐỊNH HƯỚNG PHÁT TRIỂN</a:t>
            </a:r>
          </a:p>
          <a:p>
            <a:pPr>
              <a:spcBef>
                <a:spcPts val="200"/>
              </a:spcBef>
              <a:defRPr b="1" sz="1700">
                <a:solidFill>
                  <a:srgbClr val="FFFFFF"/>
                </a:solidFill>
              </a:defRPr>
            </a:pPr>
            <a:r>
              <a:t>16. Tổng Kết Đóng Góp Khoa Học &amp; Khẳng Định Kết Quả Vượt Trội [Điểm 9, 10]</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4 Đóng Góp Nổi Bật Đáp Ứng Trọn Vẹn Thang Điểm [9, 10]</a:t>
            </a:r>
          </a:p>
          <a:p>
            <a:pPr>
              <a:defRPr b="1" sz="910">
                <a:solidFill>
                  <a:srgbClr val="2563EB"/>
                </a:solidFill>
              </a:defRPr>
            </a:pPr>
            <a:r>
              <a:t>• 1. Hoàn thành toàn diện việc nghiên cứu bài báo gốc [Thang điểm 6-8]:</a:t>
            </a:r>
          </a:p>
          <a:p>
            <a:pPr>
              <a:spcBef>
                <a:spcPts val="150"/>
              </a:spcBef>
              <a:defRPr sz="860">
                <a:solidFill>
                  <a:srgbClr val="0F172A"/>
                </a:solidFill>
              </a:defRPr>
            </a:pPr>
            <a:r>
              <a:t>Dịch thuật học thuật toàn văn bài báo Oxford 2025 của Harry Halpin, đối chiếu 100% các luận điểm lý thuyết và hiện thực hóa thành công 3 mô hình nền tảng đối chứng.</a:t>
            </a:r>
          </a:p>
          <a:p>
            <a:pPr>
              <a:spcBef>
                <a:spcPts val="500"/>
              </a:spcBef>
              <a:defRPr b="1" sz="910">
                <a:solidFill>
                  <a:srgbClr val="2563EB"/>
                </a:solidFill>
              </a:defRPr>
            </a:pPr>
            <a:r>
              <a:t>• 2. Tự thiết kế &amp; Xây dựng mô hình mới HD-Merkle Tree [Thang điểm 9, 10]:</a:t>
            </a:r>
          </a:p>
          <a:p>
            <a:pPr>
              <a:spcBef>
                <a:spcPts val="150"/>
              </a:spcBef>
              <a:defRPr sz="860">
                <a:solidFill>
                  <a:srgbClr val="0F172A"/>
                </a:solidFill>
              </a:defRPr>
            </a:pPr>
            <a:r>
              <a:t>Đề xuất kiến trúc Cây Merkle phân tầng theo mô hình Biba 1977 kết hợp chuẩn phân tách miền RFC 6962, giải quyết triệt để nút thắt Rebuild O(N) của mô hình phẳng.</a:t>
            </a:r>
          </a:p>
          <a:p>
            <a:pPr>
              <a:spcBef>
                <a:spcPts val="500"/>
              </a:spcBef>
              <a:defRPr b="1" sz="910">
                <a:solidFill>
                  <a:srgbClr val="2563EB"/>
                </a:solidFill>
              </a:defRPr>
            </a:pPr>
            <a:r>
              <a:t>• 3. Tự phát triển thuật toán cập nhật động Dirty-Path cho kết quả vượt trội:</a:t>
            </a:r>
          </a:p>
          <a:p>
            <a:pPr>
              <a:spcBef>
                <a:spcPts val="150"/>
              </a:spcBef>
              <a:defRPr sz="860">
                <a:solidFill>
                  <a:srgbClr val="0F172A"/>
                </a:solidFill>
              </a:defRPr>
            </a:pPr>
            <a:r>
              <a:t>- Thời gian cập nhật khi sửa/thêm/xóa tệp nhanh hơn 458 - 748 LẦN so với Standard Merkle Tree.</a:t>
            </a:r>
            <a:br/>
            <a:r>
              <a:t>- Thời gian xác minh nhanh hơn ~8.5 LẦN so với Flat SHA-256.</a:t>
            </a:r>
            <a:br/>
            <a:r>
              <a:t>- Tiết kiệm 98.8% băng thông mạng và bảo toàn 100% tính riêng tư siêu dữ liệu.</a:t>
            </a:r>
          </a:p>
          <a:p>
            <a:pPr>
              <a:spcBef>
                <a:spcPts val="500"/>
              </a:spcBef>
              <a:defRPr b="1" sz="910">
                <a:solidFill>
                  <a:srgbClr val="2563EB"/>
                </a:solidFill>
              </a:defRPr>
            </a:pPr>
            <a:r>
              <a:t>• 4. Kiểm chứng an ninh toán học &amp; Thực nghiệm hoàn chỉnh:</a:t>
            </a:r>
          </a:p>
          <a:p>
            <a:pPr>
              <a:spcBef>
                <a:spcPts val="150"/>
              </a:spcBef>
              <a:defRPr sz="860">
                <a:solidFill>
                  <a:srgbClr val="0F172A"/>
                </a:solidFill>
              </a:defRPr>
            </a:pPr>
            <a:r>
              <a:t>Vượt qua 100% 7 Trò chơi an ninh đối kháng hình thức và 17/17 Unit Tests tự động.</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00">
                <a:solidFill>
                  <a:srgbClr val="1E3A8A"/>
                </a:solidFill>
              </a:defRPr>
            </a:pPr>
            <a:r>
              <a:t>Sơ đồ chu trình khép kín 4 khối đóng góp &amp; Định hướng phát triển</a:t>
            </a:r>
          </a:p>
          <a:p>
            <a:pPr>
              <a:defRPr b="1" sz="950">
                <a:solidFill>
                  <a:srgbClr val="64748B"/>
                </a:solidFill>
              </a:defRPr>
            </a:pPr>
            <a:r>
              <a:t>Gợi ý các thành phần cần thiết kế trên Draw.io:</a:t>
            </a:r>
          </a:p>
          <a:p>
            <a:pPr>
              <a:spcBef>
                <a:spcPts val="400"/>
              </a:spcBef>
              <a:defRPr sz="880">
                <a:solidFill>
                  <a:srgbClr val="0F172A"/>
                </a:solidFill>
              </a:defRPr>
            </a:pPr>
            <a:r>
              <a:t>• Khối 1 (Khoa học): Hoàn thiện khoảng trống thực nghiệm của bài báo Oxford Cybersecurity 2025.</a:t>
            </a:r>
          </a:p>
          <a:p>
            <a:pPr>
              <a:spcBef>
                <a:spcPts val="400"/>
              </a:spcBef>
              <a:defRPr sz="880">
                <a:solidFill>
                  <a:srgbClr val="0F172A"/>
                </a:solidFill>
              </a:defRPr>
            </a:pPr>
            <a:r>
              <a:t>• Khối 2 (Hiệu năng): Cập nhật Dirty-Path O(log N) chỉ tốn 0.16 ms (nhanh hơn 458 lần so với Rebuild 73 ms).</a:t>
            </a:r>
          </a:p>
          <a:p>
            <a:pPr>
              <a:spcBef>
                <a:spcPts val="400"/>
              </a:spcBef>
              <a:defRPr sz="880">
                <a:solidFill>
                  <a:srgbClr val="0F172A"/>
                </a:solidFill>
              </a:defRPr>
            </a:pPr>
            <a:r>
              <a:t>• Khối 3 (An ninh): Vượt qua 100% 7 Security Games toán học và 17/17 Unit Tests tự động.</a:t>
            </a:r>
          </a:p>
          <a:p>
            <a:pPr>
              <a:spcBef>
                <a:spcPts val="400"/>
              </a:spcBef>
              <a:defRPr sz="880">
                <a:solidFill>
                  <a:srgbClr val="0F172A"/>
                </a:solidFill>
              </a:defRPr>
            </a:pPr>
            <a:r>
              <a:t>• Khối 4 (Ứng dụng): Web Demo trực quan, CLI độc lập, tích hợp kiểm tra toàn vẹn phân tán.</a:t>
            </a:r>
          </a:p>
          <a:p>
            <a:pPr>
              <a:spcBef>
                <a:spcPts val="400"/>
              </a:spcBef>
              <a:defRPr sz="880">
                <a:solidFill>
                  <a:srgbClr val="0F172A"/>
                </a:solidFill>
              </a:defRPr>
            </a:pPr>
            <a:r>
              <a:t>• Lộ trình tương lai: Tích hợp Bằng chứng Không Tri thức (Zero-Knowledge Proofs) và Sổ cái phân tán.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657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777240"/>
            <a:ext cx="10362895" cy="5394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1097280"/>
            <a:ext cx="9448495" cy="4754880"/>
          </a:xfrm>
          <a:prstGeom prst="rect">
            <a:avLst/>
          </a:prstGeom>
          <a:noFill/>
        </p:spPr>
        <p:txBody>
          <a:bodyPr wrap="square">
            <a:spAutoFit/>
          </a:bodyPr>
          <a:lstStyle/>
          <a:p>
            <a:pPr algn="ctr">
              <a:defRPr b="1" sz="1350">
                <a:solidFill>
                  <a:srgbClr val="1E3A8A"/>
                </a:solidFill>
              </a:defRPr>
            </a:pPr>
            <a:r>
              <a:t>TRƯỜNG ĐẠI HỌC TÀI NGUYÊN VÀ MÔI TRƯỜNG TP. HỒ CHÍ MINH</a:t>
            </a:r>
          </a:p>
          <a:p>
            <a:pPr algn="ctr">
              <a:spcAft>
                <a:spcPts val="1400"/>
              </a:spcAft>
              <a:defRPr b="1" sz="1200">
                <a:solidFill>
                  <a:srgbClr val="2563EB"/>
                </a:solidFill>
              </a:defRPr>
            </a:pPr>
            <a:r>
              <a:t>KHOA CÔNG NGHỆ THÔNG TIN</a:t>
            </a:r>
          </a:p>
          <a:p>
            <a:pPr algn="ctr">
              <a:spcAft>
                <a:spcPts val="1200"/>
              </a:spcAft>
              <a:defRPr b="1" sz="2200">
                <a:solidFill>
                  <a:srgbClr val="DC2626"/>
                </a:solidFill>
              </a:defRPr>
            </a:pPr>
            <a:r>
              <a:t>CHÂN THÀNH CẢM ƠN THẦY VÀ HỘI ĐỒNG ĐÃ LẮNG NGHE!</a:t>
            </a:r>
          </a:p>
          <a:p>
            <a:pPr algn="ctr">
              <a:spcAft>
                <a:spcPts val="1000"/>
              </a:spcAft>
              <a:defRPr b="1" sz="1350">
                <a:solidFill>
                  <a:srgbClr val="1E3A8A"/>
                </a:solidFill>
              </a:defRPr>
            </a:pPr>
            <a:r>
              <a:t>ĐỒ ÁN ĐÃ HOÀN THÀNH XUẤT SẮC TOÀN BỘ CÁC MỤC TIÊU NGHIÊN CỨU &amp; THỰC NGHIỆM</a:t>
            </a:r>
          </a:p>
          <a:p>
            <a:pPr algn="ctr">
              <a:spcAft>
                <a:spcPts val="1400"/>
              </a:spcAft>
              <a:defRPr sz="1100">
                <a:solidFill>
                  <a:srgbClr val="0F172A"/>
                </a:solidFill>
              </a:defRPr>
            </a:pPr>
            <a:r>
              <a:t>Tóm Tắt Chỉ Số Kỹ Thuật Đạt Được:</a:t>
            </a:r>
            <a:br/>
            <a:r>
              <a:t>• Quy mô tập dữ liệu: 1.000 tệp tin thực tế, 23 thư mục phân cấp đa tầng (4.12 MB)</a:t>
            </a:r>
            <a:br/>
            <a:r>
              <a:t>• Tốc độ cập nhật động: 0.16 ms (nhanh hơn 458 - 748 lần so với cây Merkle truyền thống)</a:t>
            </a:r>
            <a:br/>
            <a:r>
              <a:t>• Tiết kiệm băng thông xác thực: 1.37 KB (tiết kiệm 98.8% băng thông mạng so với Flat Manifest)</a:t>
            </a:r>
            <a:br/>
            <a:r>
              <a:t>• Độ an toàn mật mã: 100% 7 Security Games &amp; 17/17 Unit Tests đạt chuẩn tuyệt đối</a:t>
            </a:r>
          </a:p>
          <a:p>
            <a:pPr algn="ctr">
              <a:defRPr b="1" sz="1150">
                <a:solidFill>
                  <a:srgbClr val="059669"/>
                </a:solidFill>
              </a:defRPr>
            </a:pPr>
            <a:r>
              <a:t>Kính mong nhận được ý kiến đóng góp và nhận xét từ Giảng viên hướng dẫn &amp; Hội đồng!</a:t>
            </a:r>
            <a:br/>
            <a:r>
              <a:t>KÍNH CHÚC THẦY VÀ QUÝ HỘI ĐỒNG NHIỀU SỨC KHỎE VÀ THÀNH CÔNG!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