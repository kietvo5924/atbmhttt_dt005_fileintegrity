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777240"/>
            <a:ext cx="10362895" cy="5394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1051560"/>
            <a:ext cx="9448495" cy="4846320"/>
          </a:xfrm>
          <a:prstGeom prst="rect">
            <a:avLst/>
          </a:prstGeom>
          <a:noFill/>
        </p:spPr>
        <p:txBody>
          <a:bodyPr wrap="square">
            <a:spAutoFit/>
          </a:bodyPr>
          <a:lstStyle/>
          <a:p>
            <a:pPr algn="ctr">
              <a:defRPr b="1" sz="1400">
                <a:solidFill>
                  <a:srgbClr val="1E3A8A"/>
                </a:solidFill>
              </a:defRPr>
            </a:pPr>
            <a:r>
              <a:t>TRƯỜNG ĐẠI HỌC TÀI NGUYÊN VÀ MÔI TRƯỜNG TP. HỒ CHÍ MINH</a:t>
            </a:r>
          </a:p>
          <a:p>
            <a:pPr algn="ctr">
              <a:spcAft>
                <a:spcPts val="1400"/>
              </a:spcAft>
              <a:defRPr b="1" sz="1250">
                <a:solidFill>
                  <a:srgbClr val="2563EB"/>
                </a:solidFill>
              </a:defRPr>
            </a:pPr>
            <a:r>
              <a:t>KHOA CÔNG NGHỆ THÔNG TIN</a:t>
            </a:r>
          </a:p>
          <a:p>
            <a:pPr algn="ctr">
              <a:defRPr b="1" sz="2200">
                <a:solidFill>
                  <a:srgbClr val="DC2626"/>
                </a:solidFill>
              </a:defRPr>
            </a:pPr>
            <a:r>
              <a:t>BÁO CÁO THUYẾT TRÌNH ĐỒ ÁN GIỮA KỲ</a:t>
            </a:r>
          </a:p>
          <a:p>
            <a:pPr algn="ctr">
              <a:spcAft>
                <a:spcPts val="1200"/>
              </a:spcAft>
              <a:defRPr b="1" sz="1550">
                <a:solidFill>
                  <a:srgbClr val="1E3A8A"/>
                </a:solidFill>
              </a:defRPr>
            </a:pPr>
            <a:r>
              <a:t>ĐỀ TÀI DT005: HỆ THỐNG KIỂM TRA TOÀN VẸN TỆP BẰNG SHA-256, HMAC VÀ CÂY MERKLE PHÂN CẤP (HD-MERKLE TREE)</a:t>
            </a:r>
          </a:p>
          <a:p>
            <a:pPr algn="ctr">
              <a:defRPr b="1" sz="1250">
                <a:solidFill>
                  <a:srgbClr val="0F172A"/>
                </a:solidFill>
              </a:defRPr>
            </a:pPr>
            <a:r>
              <a:t>Học phần: An Toàn và Bảo Mật Hệ Thống Thông Tin</a:t>
            </a:r>
          </a:p>
          <a:p>
            <a:pPr algn="ctr">
              <a:spcAft>
                <a:spcPts val="1200"/>
              </a:spcAft>
              <a:defRPr b="1" sz="1300">
                <a:solidFill>
                  <a:srgbClr val="1E3A8A"/>
                </a:solidFill>
              </a:defRPr>
            </a:pPr>
            <a:r>
              <a:t>Giảng viên hướng dẫn: ThS. Phạm Trọng Huynh</a:t>
            </a:r>
            <a:br/>
            <a:r>
              <a:t>Sinh viên thực hiện: Võ Anh Kiệt  —  MSSV: 1150080143  —  Lớp: 11_CNPM2</a:t>
            </a:r>
          </a:p>
          <a:p>
            <a:pPr algn="ctr">
              <a:spcAft>
                <a:spcPts val="800"/>
              </a:spcAft>
              <a:defRPr sz="1050">
                <a:solidFill>
                  <a:srgbClr val="64748B"/>
                </a:solidFill>
              </a:defRPr>
            </a:pPr>
            <a:r>
              <a:t>Bài Báo Khoa Học Gốc: The Adversary: The Philosophy of Cryptography (Harry Halpin — Oxford Journal of Cybersecurity, 2025)</a:t>
            </a:r>
          </a:p>
          <a:p>
            <a:pPr algn="ctr">
              <a:defRPr b="1" sz="1100">
                <a:solidFill>
                  <a:srgbClr val="059669"/>
                </a:solidFill>
              </a:defRPr>
            </a:pPr>
            <a:r>
              <a:t>Mục Tiêu Đồ Án: Hiện thực hóa mô hình đối kháng bài báo gốc &amp; Đề xuất kiến trúc HD-Merkle Tree tối ưu hiệu năng toàn vẹn tệp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4572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728655" cy="868680"/>
          </a:xfrm>
          <a:prstGeom prst="rect">
            <a:avLst/>
          </a:prstGeom>
          <a:noFill/>
        </p:spPr>
        <p:txBody>
          <a:bodyPr wrap="square">
            <a:spAutoFit/>
          </a:bodyPr>
          <a:lstStyle/>
          <a:p>
            <a:pPr>
              <a:defRPr b="1" sz="1050">
                <a:solidFill>
                  <a:srgbClr val="93C5FD"/>
                </a:solidFill>
              </a:defRPr>
            </a:pPr>
            <a:r>
              <a:t>PHẦN 1: CƠ SỞ LÝ THUYẾT &amp; BÀI BÁO KHOA HỌC GỐC</a:t>
            </a:r>
          </a:p>
          <a:p>
            <a:pPr>
              <a:spcBef>
                <a:spcPts val="200"/>
              </a:spcBef>
              <a:defRPr b="1" sz="1750">
                <a:solidFill>
                  <a:srgbClr val="FFFFFF"/>
                </a:solidFill>
              </a:defRPr>
            </a:pPr>
            <a:r>
              <a:t>1. Giới Thiệu Và Tóm Tắt Bài Báo Harry Halpin (Oxford 2025)</a:t>
            </a:r>
          </a:p>
        </p:txBody>
      </p:sp>
      <p:sp>
        <p:nvSpPr>
          <p:cNvPr id="6" name="Rounded Rectangle 5"/>
          <p:cNvSpPr/>
          <p:nvPr/>
        </p:nvSpPr>
        <p:spPr>
          <a:xfrm>
            <a:off x="731520" y="1234440"/>
            <a:ext cx="5120640" cy="5257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417320"/>
            <a:ext cx="4663440" cy="4937760"/>
          </a:xfrm>
          <a:prstGeom prst="rect">
            <a:avLst/>
          </a:prstGeom>
          <a:noFill/>
        </p:spPr>
        <p:txBody>
          <a:bodyPr wrap="square">
            <a:spAutoFit/>
          </a:bodyPr>
          <a:lstStyle/>
          <a:p>
            <a:pPr>
              <a:defRPr b="1" sz="1200">
                <a:solidFill>
                  <a:srgbClr val="1E3A8A"/>
                </a:solidFill>
              </a:defRPr>
            </a:pPr>
            <a:r>
              <a:t>Thông Tin Xuất Bản &amp; Tóm Tắt Toàn Văn Bài Báo</a:t>
            </a:r>
          </a:p>
          <a:p>
            <a:pPr>
              <a:spcBef>
                <a:spcPts val="450"/>
              </a:spcBef>
              <a:defRPr b="1" sz="1000">
                <a:solidFill>
                  <a:srgbClr val="2563EB"/>
                </a:solidFill>
              </a:defRPr>
            </a:pPr>
            <a:r>
              <a:t>• Tác giả &amp; Tạp chí khoa học uy tín:</a:t>
            </a:r>
          </a:p>
          <a:p>
            <a:pPr>
              <a:spcBef>
                <a:spcPts val="150"/>
              </a:spcBef>
              <a:defRPr sz="950">
                <a:solidFill>
                  <a:srgbClr val="0F172A"/>
                </a:solidFill>
              </a:defRPr>
            </a:pPr>
            <a:r>
              <a:t>Harry Halpin (Nym Technologies &amp; cựu nghiên cứu viên Inria Pháp) — Tạp chí An ninh mạng Oxford (Oxford Journal of Cybersecurity), Tập 11, Số 1, Năm 2025.</a:t>
            </a:r>
          </a:p>
          <a:p>
            <a:pPr>
              <a:spcBef>
                <a:spcPts val="450"/>
              </a:spcBef>
              <a:defRPr b="1" sz="1000">
                <a:solidFill>
                  <a:srgbClr val="2563EB"/>
                </a:solidFill>
              </a:defRPr>
            </a:pPr>
            <a:r>
              <a:t>• Luận điểm triết học mật mã trung tâm:</a:t>
            </a:r>
          </a:p>
          <a:p>
            <a:pPr>
              <a:spcBef>
                <a:spcPts val="150"/>
              </a:spcBef>
              <a:defRPr sz="950">
                <a:solidFill>
                  <a:srgbClr val="0F172A"/>
                </a:solidFill>
              </a:defRPr>
            </a:pPr>
            <a:r>
              <a:t>Mật mã học không phải bài toán tĩnh, mà là sự tương tác đối kháng có chủ đích giữa Kẻ phòng thủ và Kẻ thù hình thức (The Adversary).</a:t>
            </a:r>
          </a:p>
          <a:p>
            <a:pPr>
              <a:spcBef>
                <a:spcPts val="450"/>
              </a:spcBef>
              <a:defRPr b="1" sz="1000">
                <a:solidFill>
                  <a:srgbClr val="2563EB"/>
                </a:solidFill>
              </a:defRPr>
            </a:pPr>
            <a:r>
              <a:t>• Khung phân loại 4 mô hình Kẻ thù của Halpin:</a:t>
            </a:r>
          </a:p>
          <a:p>
            <a:pPr>
              <a:spcBef>
                <a:spcPts val="150"/>
              </a:spcBef>
              <a:defRPr sz="950">
                <a:solidFill>
                  <a:srgbClr val="0F172A"/>
                </a:solidFill>
              </a:defRPr>
            </a:pPr>
            <a:r>
              <a:t>1. Kẻ nghe lén thụ động (Passive Eavesdropper) trên đường truyền.</a:t>
            </a:r>
            <a:br/>
            <a:r>
              <a:t>2. Kẻ tấn công chủ động Dolev-Yao: Can thiệp, tráo đổi gói tin mạng.</a:t>
            </a:r>
            <a:br/>
            <a:r>
              <a:t>3. Kẻ thù tính toán PPT (Probabilistic Polynomial-Time Adversary).</a:t>
            </a:r>
            <a:br/>
            <a:r>
              <a:t>4. Kẻ thù khai thác kênh kề &amp; siêu dữ liệu (Side-Channel &amp; Metadata).</a:t>
            </a:r>
          </a:p>
          <a:p>
            <a:pPr>
              <a:spcBef>
                <a:spcPts val="450"/>
              </a:spcBef>
              <a:defRPr b="1" sz="1000">
                <a:solidFill>
                  <a:srgbClr val="2563EB"/>
                </a:solidFill>
              </a:defRPr>
            </a:pPr>
            <a:r>
              <a:t>• Khoảng trống khoa học bài báo gốc:</a:t>
            </a:r>
          </a:p>
          <a:p>
            <a:pPr>
              <a:spcBef>
                <a:spcPts val="150"/>
              </a:spcBef>
              <a:defRPr sz="950">
                <a:solidFill>
                  <a:srgbClr val="0F172A"/>
                </a:solidFill>
              </a:defRPr>
            </a:pPr>
            <a:r>
              <a:t>Bài báo thuần lý thuyết, hoàn toàn thiếu mã nguồn và kiểm chứng định lượng trên dữ liệu thực tế — Đây là động lực hiện thực hóa của đồ án DT005.</a:t>
            </a:r>
          </a:p>
        </p:txBody>
      </p:sp>
      <p:sp>
        <p:nvSpPr>
          <p:cNvPr id="8" name="Rounded Rectangle 7"/>
          <p:cNvSpPr/>
          <p:nvPr/>
        </p:nvSpPr>
        <p:spPr>
          <a:xfrm>
            <a:off x="6035040" y="1234440"/>
            <a:ext cx="5394960" cy="5257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399032"/>
            <a:ext cx="4937760" cy="502920"/>
          </a:xfrm>
          <a:prstGeom prst="rect">
            <a:avLst/>
          </a:prstGeom>
          <a:noFill/>
        </p:spPr>
        <p:txBody>
          <a:bodyPr wrap="square">
            <a:spAutoFit/>
          </a:bodyPr>
          <a:lstStyle/>
          <a:p>
            <a:pPr>
              <a:defRPr b="1" sz="1150">
                <a:solidFill>
                  <a:srgbClr val="1E3A8A"/>
                </a:solidFill>
              </a:defRPr>
            </a:pPr>
            <a:r>
              <a:t>ẢNH CHỤP BÀI BÁO THỰC TẾ TRÊN CỔNG OXFORD ACADEMIC</a:t>
            </a:r>
          </a:p>
          <a:p>
            <a:pPr>
              <a:spcBef>
                <a:spcPts val="200"/>
              </a:spcBef>
              <a:defRPr sz="850">
                <a:solidFill>
                  <a:srgbClr val="64748B"/>
                </a:solidFill>
              </a:defRPr>
            </a:pPr>
            <a:r>
              <a:t>Cổng xuất bản: academic.oup.com/cybersecurity  |  DOI: 10.1093/cybsec/tyaf006</a:t>
            </a:r>
          </a:p>
        </p:txBody>
      </p:sp>
      <p:pic>
        <p:nvPicPr>
          <p:cNvPr id="10" name="Picture 9" descr="paper_web_article_clean.png"/>
          <p:cNvPicPr>
            <a:picLocks noChangeAspect="1"/>
          </p:cNvPicPr>
          <p:nvPr/>
        </p:nvPicPr>
        <p:blipFill>
          <a:blip r:embed="rId2"/>
          <a:stretch>
            <a:fillRect/>
          </a:stretch>
        </p:blipFill>
        <p:spPr>
          <a:xfrm>
            <a:off x="6263640" y="2011680"/>
            <a:ext cx="4937760" cy="3641877"/>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4572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728655" cy="868680"/>
          </a:xfrm>
          <a:prstGeom prst="rect">
            <a:avLst/>
          </a:prstGeom>
          <a:noFill/>
        </p:spPr>
        <p:txBody>
          <a:bodyPr wrap="square">
            <a:spAutoFit/>
          </a:bodyPr>
          <a:lstStyle/>
          <a:p>
            <a:pPr>
              <a:defRPr b="1" sz="1050">
                <a:solidFill>
                  <a:srgbClr val="93C5FD"/>
                </a:solidFill>
              </a:defRPr>
            </a:pPr>
            <a:r>
              <a:t>PHẦN 1: HIỆN THỰC HÓA &amp; TÁI LẬP KẾT QUẢ BÀI BÁO</a:t>
            </a:r>
          </a:p>
          <a:p>
            <a:pPr>
              <a:spcBef>
                <a:spcPts val="200"/>
              </a:spcBef>
              <a:defRPr b="1" sz="1750">
                <a:solidFill>
                  <a:srgbClr val="FFFFFF"/>
                </a:solidFill>
              </a:defRPr>
            </a:pPr>
            <a:r>
              <a:t>2. Hiện Thực Hóa &amp; Chạy Lại 3 Mô Hình Nền Tảng</a:t>
            </a:r>
          </a:p>
        </p:txBody>
      </p:sp>
      <p:sp>
        <p:nvSpPr>
          <p:cNvPr id="6" name="Rounded Rectangle 5"/>
          <p:cNvSpPr/>
          <p:nvPr/>
        </p:nvSpPr>
        <p:spPr>
          <a:xfrm>
            <a:off x="731520" y="1234440"/>
            <a:ext cx="5120640" cy="5257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417320"/>
            <a:ext cx="4663440" cy="4937760"/>
          </a:xfrm>
          <a:prstGeom prst="rect">
            <a:avLst/>
          </a:prstGeom>
          <a:noFill/>
        </p:spPr>
        <p:txBody>
          <a:bodyPr wrap="square">
            <a:spAutoFit/>
          </a:bodyPr>
          <a:lstStyle/>
          <a:p>
            <a:pPr>
              <a:defRPr b="1" sz="1250">
                <a:solidFill>
                  <a:srgbClr val="1E3A8A"/>
                </a:solidFill>
              </a:defRPr>
            </a:pPr>
            <a:r>
              <a:t>Tái Lập 3 Mô Hình Nền Tảng Trên Tập Dữ Liệu Thực Nghiệm</a:t>
            </a:r>
          </a:p>
          <a:p>
            <a:pPr>
              <a:spcBef>
                <a:spcPts val="450"/>
              </a:spcBef>
              <a:defRPr b="1" sz="1050">
                <a:solidFill>
                  <a:srgbClr val="2563EB"/>
                </a:solidFill>
              </a:defRPr>
            </a:pPr>
            <a:r>
              <a:t>• 1. Danh sách băm phẳng SHA-256:</a:t>
            </a:r>
          </a:p>
          <a:p>
            <a:pPr>
              <a:spcBef>
                <a:spcPts val="150"/>
              </a:spcBef>
              <a:defRPr sz="1000">
                <a:solidFill>
                  <a:srgbClr val="0F172A"/>
                </a:solidFill>
              </a:defRPr>
            </a:pPr>
            <a:r>
              <a:t>Băm tuần tự từng tệp tin dữ liệu, thời gian khởi tạo 62.6 ms trên 1.000 tệp. Phát hiện chính xác 100% mọi sai lệch dữ liệu. Hạn chế lớn là máy khách phải tải về toàn bộ danh mục 111 KB chỉ để xác minh 1 tệp tin duy nhất.</a:t>
            </a:r>
          </a:p>
          <a:p>
            <a:pPr>
              <a:spcBef>
                <a:spcPts val="450"/>
              </a:spcBef>
              <a:defRPr b="1" sz="1050">
                <a:solidFill>
                  <a:srgbClr val="2563EB"/>
                </a:solidFill>
              </a:defRPr>
            </a:pPr>
            <a:r>
              <a:t>• 2. Danh sách băm có khóa bí mật HMAC-SHA256:</a:t>
            </a:r>
          </a:p>
          <a:p>
            <a:pPr>
              <a:spcBef>
                <a:spcPts val="150"/>
              </a:spcBef>
              <a:defRPr sz="1000">
                <a:solidFill>
                  <a:srgbClr val="0F172A"/>
                </a:solidFill>
              </a:defRPr>
            </a:pPr>
            <a:r>
              <a:t>Sử dụng khóa bí mật đối xứng để chống giả mạo danh mục băm, thời gian khởi tạo 60.6 ms. Hạn chế là bắt buộc phải phân phối và quản lý lưu trữ an toàn khóa bí mật cho tất cả các máy khách.</a:t>
            </a:r>
          </a:p>
          <a:p>
            <a:pPr>
              <a:spcBef>
                <a:spcPts val="450"/>
              </a:spcBef>
              <a:defRPr b="1" sz="1050">
                <a:solidFill>
                  <a:srgbClr val="2563EB"/>
                </a:solidFill>
              </a:defRPr>
            </a:pPr>
            <a:r>
              <a:t>• 3. Cây Merkle nhị phân truyền thống:</a:t>
            </a:r>
          </a:p>
          <a:p>
            <a:pPr>
              <a:spcBef>
                <a:spcPts val="150"/>
              </a:spcBef>
              <a:defRPr sz="1000">
                <a:solidFill>
                  <a:srgbClr val="0F172A"/>
                </a:solidFill>
              </a:defRPr>
            </a:pPr>
            <a:r>
              <a:t>Dựng cấu trúc cây theo nguyên bản Merkle năm 1979, kích thước bằng chứng xác thực 990 Byte, thời gian xác minh siêu nhanh 0.02 ms. Hạn chế lớn là bế tắc khi phải dựng lại toàn bộ cây khi thêm, sửa hoặc xóa tệp tin.</a:t>
            </a:r>
          </a:p>
          <a:p>
            <a:pPr>
              <a:spcBef>
                <a:spcPts val="450"/>
              </a:spcBef>
              <a:defRPr b="1" sz="1050">
                <a:solidFill>
                  <a:srgbClr val="2563EB"/>
                </a:solidFill>
              </a:defRPr>
            </a:pPr>
            <a:r>
              <a:t>• Đánh giá kết quả thực nghiệm tái lập:</a:t>
            </a:r>
          </a:p>
          <a:p>
            <a:pPr>
              <a:spcBef>
                <a:spcPts val="150"/>
              </a:spcBef>
              <a:defRPr sz="1000">
                <a:solidFill>
                  <a:srgbClr val="0F172A"/>
                </a:solidFill>
              </a:defRPr>
            </a:pPr>
            <a:r>
              <a:t>Cả 3 mô hình nền tảng đều phát hiện chính xác 100% các hành vi tấn công sửa đổi tệp, hoàn thành trọn vẹn mục tiêu hiện thực hóa và kiểm thử thực nghiệm trên tập dữ liệu thực tế.</a:t>
            </a:r>
          </a:p>
        </p:txBody>
      </p:sp>
      <p:sp>
        <p:nvSpPr>
          <p:cNvPr id="8" name="Rounded Rectangle 7"/>
          <p:cNvSpPr/>
          <p:nvPr/>
        </p:nvSpPr>
        <p:spPr>
          <a:xfrm>
            <a:off x="6035040" y="1234440"/>
            <a:ext cx="5394960" cy="5257800"/>
          </a:xfrm>
          <a:prstGeom prst="roundRect">
            <a:avLst/>
          </a:prstGeom>
          <a:solidFill>
            <a:srgbClr val="F1F5F9"/>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435608"/>
            <a:ext cx="4937760" cy="4892040"/>
          </a:xfrm>
          <a:prstGeom prst="rect">
            <a:avLst/>
          </a:prstGeom>
          <a:noFill/>
        </p:spPr>
        <p:txBody>
          <a:bodyPr wrap="square">
            <a:spAutoFit/>
          </a:bodyPr>
          <a:lstStyle/>
          <a:p>
            <a:pPr>
              <a:defRPr b="1" sz="1100">
                <a:solidFill>
                  <a:srgbClr val="1E3A8A"/>
                </a:solidFill>
              </a:defRPr>
            </a:pPr>
            <a:r>
              <a:t>[ KHUNG CHỜ SƠ ĐỒ DRAW.IO: SƠ ĐỒ KIẾN TRÚC HOẠT ĐỘNG CỦA 3 MÔ HÌNH KIỂM TRA TOÀN VẸN NỀN TẢNG ]</a:t>
            </a:r>
          </a:p>
          <a:p>
            <a:pPr>
              <a:spcBef>
                <a:spcPts val="300"/>
              </a:spcBef>
              <a:defRPr i="1" sz="900">
                <a:solidFill>
                  <a:srgbClr val="64748B"/>
                </a:solidFill>
              </a:defRPr>
            </a:pPr>
            <a:r>
              <a:t>Hướng dẫn: Thiết kế sơ đồ kiến trúc trên Draw.io và chèn hình ảnh xuất ra vào vị trí này.</a:t>
            </a:r>
          </a:p>
          <a:p>
            <a:pPr>
              <a:spcBef>
                <a:spcPts val="700"/>
              </a:spcBef>
              <a:defRPr b="1" sz="950">
                <a:solidFill>
                  <a:srgbClr val="2563EB"/>
                </a:solidFill>
              </a:defRPr>
            </a:pPr>
            <a:r>
              <a:t>CÁC THÀNH PHẦN KIẾN TRÚC BẮT BUỘC:</a:t>
            </a:r>
          </a:p>
          <a:p>
            <a:pPr>
              <a:spcBef>
                <a:spcPts val="350"/>
              </a:spcBef>
              <a:defRPr sz="900">
                <a:solidFill>
                  <a:srgbClr val="0F172A"/>
                </a:solidFill>
              </a:defRPr>
            </a:pPr>
            <a:r>
              <a:t>• Khối 1: Mô hình băm phẳng SHA-256: Tệp tin dữ liệu -&gt; Băm SHA-256 từng tệp -&gt; Tạo danh mục băm Manifest -&gt; Máy khách tải toàn bộ danh mục để so khớp tuần tự.</a:t>
            </a:r>
          </a:p>
          <a:p>
            <a:pPr>
              <a:spcBef>
                <a:spcPts val="350"/>
              </a:spcBef>
              <a:defRPr sz="900">
                <a:solidFill>
                  <a:srgbClr val="0F172A"/>
                </a:solidFill>
              </a:defRPr>
            </a:pPr>
            <a:r>
              <a:t>• Khối 2: Mô hình băm có khóa HMAC-SHA256: Tệp tin kết hợp Khóa bí mật K -&gt; Băm mã xác thực HMAC -&gt; Chống giả mạo danh mục nhưng đòi hỏi phân phối khóa an toàn.</a:t>
            </a:r>
          </a:p>
          <a:p>
            <a:pPr>
              <a:spcBef>
                <a:spcPts val="350"/>
              </a:spcBef>
              <a:defRPr sz="900">
                <a:solidFill>
                  <a:srgbClr val="0F172A"/>
                </a:solidFill>
              </a:defRPr>
            </a:pPr>
            <a:r>
              <a:t>• Khối 3: Mô hình Cây Merkle nhị phân truyền thống: Tệp tin -&gt; Băm nút lá -&gt; Ghép băm từng đôi lên nút cha -&gt; Chuỗi băm gốc Merkle Root và Bằng chứng Merkle Proof.</a:t>
            </a:r>
          </a:p>
          <a:p>
            <a:pPr>
              <a:spcBef>
                <a:spcPts val="350"/>
              </a:spcBef>
              <a:defRPr sz="900">
                <a:solidFill>
                  <a:srgbClr val="0F172A"/>
                </a:solidFill>
              </a:defRPr>
            </a:pPr>
            <a:r>
              <a:t>• Khối 4: Quy trình xác minh độc lập của máy khách: Máy khách nhận tệp tin và băm hoặc bằng chứng tương ứng -&gt; Tính lại giá trị băm tại chỗ -&gt; So khớp trực tiếp để phát hiện sai khác.</a:t>
            </a:r>
          </a:p>
          <a:p>
            <a:pPr>
              <a:spcBef>
                <a:spcPts val="350"/>
              </a:spcBef>
              <a:defRPr sz="900">
                <a:solidFill>
                  <a:srgbClr val="0F172A"/>
                </a:solidFill>
              </a:defRPr>
            </a:pPr>
            <a:r>
              <a:t>• Mũi tên luồng: Thể hiện chuỗi xử lý từ tệp tin gốc đến cấu trúc xác thực và quy trình kiểm tra toàn vẹn của máy khách.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4572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728655" cy="868680"/>
          </a:xfrm>
          <a:prstGeom prst="rect">
            <a:avLst/>
          </a:prstGeom>
          <a:noFill/>
        </p:spPr>
        <p:txBody>
          <a:bodyPr wrap="square">
            <a:spAutoFit/>
          </a:bodyPr>
          <a:lstStyle/>
          <a:p>
            <a:pPr>
              <a:defRPr b="1" sz="1050">
                <a:solidFill>
                  <a:srgbClr val="93C5FD"/>
                </a:solidFill>
              </a:defRPr>
            </a:pPr>
            <a:r>
              <a:t>PHẦN 2: PHÂN TÍCH HẠN CHẾ &amp; ĐỘNG LỰC ĐỀ XUẤT</a:t>
            </a:r>
          </a:p>
          <a:p>
            <a:pPr>
              <a:spcBef>
                <a:spcPts val="200"/>
              </a:spcBef>
              <a:defRPr b="1" sz="1750">
                <a:solidFill>
                  <a:srgbClr val="FFFFFF"/>
                </a:solidFill>
              </a:defRPr>
            </a:pPr>
            <a:r>
              <a:t>3. Phân Tích 4 Nút Thắt Kỹ Thuật Của Mô Hình Nền Tảng</a:t>
            </a:r>
          </a:p>
        </p:txBody>
      </p:sp>
      <p:sp>
        <p:nvSpPr>
          <p:cNvPr id="6" name="Rounded Rectangle 5"/>
          <p:cNvSpPr/>
          <p:nvPr/>
        </p:nvSpPr>
        <p:spPr>
          <a:xfrm>
            <a:off x="731520" y="1234440"/>
            <a:ext cx="5120640" cy="5257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417320"/>
            <a:ext cx="4663440" cy="4937760"/>
          </a:xfrm>
          <a:prstGeom prst="rect">
            <a:avLst/>
          </a:prstGeom>
          <a:noFill/>
        </p:spPr>
        <p:txBody>
          <a:bodyPr wrap="square">
            <a:spAutoFit/>
          </a:bodyPr>
          <a:lstStyle/>
          <a:p>
            <a:pPr>
              <a:defRPr b="1" sz="1200">
                <a:solidFill>
                  <a:srgbClr val="1E3A8A"/>
                </a:solidFill>
              </a:defRPr>
            </a:pPr>
            <a:r>
              <a:t>4 Nút Thắt Kỹ Thuật Thôi Thúc Đề Xuất Mô Hình Mới</a:t>
            </a:r>
          </a:p>
          <a:p>
            <a:pPr>
              <a:spcBef>
                <a:spcPts val="450"/>
              </a:spcBef>
              <a:defRPr b="1" sz="1000">
                <a:solidFill>
                  <a:srgbClr val="2563EB"/>
                </a:solidFill>
              </a:defRPr>
            </a:pPr>
            <a:r>
              <a:t>• 1. Nút thắt Rebuild toàn bộ O(N) khi Thêm / Sửa / Xóa tệp:</a:t>
            </a:r>
          </a:p>
          <a:p>
            <a:pPr>
              <a:spcBef>
                <a:spcPts val="150"/>
              </a:spcBef>
              <a:defRPr sz="950">
                <a:solidFill>
                  <a:srgbClr val="0F172A"/>
                </a:solidFill>
              </a:defRPr>
            </a:pPr>
            <a:r>
              <a:t>Trong cây Merkle phẳng 1D, khi chỉ 1 tệp tin thay đổi, hệ thống buộc phải dựng lại toàn bộ cây từ đầu (~73.4 ms), gây nghẽn CPU và I/O đĩa nghiêm trọng.</a:t>
            </a:r>
          </a:p>
          <a:p>
            <a:pPr>
              <a:spcBef>
                <a:spcPts val="450"/>
              </a:spcBef>
              <a:defRPr b="1" sz="1000">
                <a:solidFill>
                  <a:srgbClr val="2563EB"/>
                </a:solidFill>
              </a:defRPr>
            </a:pPr>
            <a:r>
              <a:t>• 2. Thiếu cấu trúc phân cấp thư mục thực tế:</a:t>
            </a:r>
          </a:p>
          <a:p>
            <a:pPr>
              <a:spcBef>
                <a:spcPts val="150"/>
              </a:spcBef>
              <a:defRPr sz="950">
                <a:solidFill>
                  <a:srgbClr val="0F172A"/>
                </a:solidFill>
              </a:defRPr>
            </a:pPr>
            <a:r>
              <a:t>Mảng lá phẳng gom chung toàn bộ tệp; khi xảy ra lỗi không thể định vị nhanh lỗi thuộc thư mục nào mà phải duyệt tuyến tính; không phản ánh phân quyền Biba.</a:t>
            </a:r>
          </a:p>
          <a:p>
            <a:pPr>
              <a:spcBef>
                <a:spcPts val="450"/>
              </a:spcBef>
              <a:defRPr b="1" sz="1000">
                <a:solidFill>
                  <a:srgbClr val="2563EB"/>
                </a:solidFill>
              </a:defRPr>
            </a:pPr>
            <a:r>
              <a:t>• 3. Nguy cơ va chạm nút lá và nút nhánh (Second-Preimage Attack):</a:t>
            </a:r>
          </a:p>
          <a:p>
            <a:pPr>
              <a:spcBef>
                <a:spcPts val="150"/>
              </a:spcBef>
              <a:defRPr sz="950">
                <a:solidFill>
                  <a:srgbClr val="0F172A"/>
                </a:solidFill>
              </a:defRPr>
            </a:pPr>
            <a:r>
              <a:t>Nếu không phân tách miền băm, kẻ tấn công có thể ghép hai nút lá thành một nút nhánh giả mạo để vượt qua cơ chế kiểm tra.</a:t>
            </a:r>
          </a:p>
          <a:p>
            <a:pPr>
              <a:spcBef>
                <a:spcPts val="450"/>
              </a:spcBef>
              <a:defRPr b="1" sz="1000">
                <a:solidFill>
                  <a:srgbClr val="2563EB"/>
                </a:solidFill>
              </a:defRPr>
            </a:pPr>
            <a:r>
              <a:t>• 4. Lãng phí băng thông mạng &amp; Rò rỉ siêu dữ liệu:</a:t>
            </a:r>
          </a:p>
          <a:p>
            <a:pPr>
              <a:spcBef>
                <a:spcPts val="150"/>
              </a:spcBef>
              <a:defRPr sz="950">
                <a:solidFill>
                  <a:srgbClr val="0F172A"/>
                </a:solidFill>
              </a:defRPr>
            </a:pPr>
            <a:r>
              <a:t>Danh sách phẳng bắt buộc tải cả bảng băm 111 KB để xác minh 1 tệp, để lộ danh tính của toàn bộ các tệp còn lại qua đường truyền.</a:t>
            </a:r>
          </a:p>
        </p:txBody>
      </p:sp>
      <p:sp>
        <p:nvSpPr>
          <p:cNvPr id="8" name="Rounded Rectangle 7"/>
          <p:cNvSpPr/>
          <p:nvPr/>
        </p:nvSpPr>
        <p:spPr>
          <a:xfrm>
            <a:off x="6035040" y="1234440"/>
            <a:ext cx="5394960" cy="5257800"/>
          </a:xfrm>
          <a:prstGeom prst="roundRect">
            <a:avLst/>
          </a:prstGeom>
          <a:solidFill>
            <a:srgbClr val="F1F5F9"/>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435608"/>
            <a:ext cx="4937760" cy="4892040"/>
          </a:xfrm>
          <a:prstGeom prst="rect">
            <a:avLst/>
          </a:prstGeom>
          <a:noFill/>
        </p:spPr>
        <p:txBody>
          <a:bodyPr wrap="square">
            <a:spAutoFit/>
          </a:bodyPr>
          <a:lstStyle/>
          <a:p>
            <a:pPr>
              <a:defRPr b="1" sz="1100">
                <a:solidFill>
                  <a:srgbClr val="1E3A8A"/>
                </a:solidFill>
              </a:defRPr>
            </a:pPr>
            <a:r>
              <a:t>[ KHUNG CHỜ SƠ ĐỒ DRAW.IO: SƠ ĐỒ TƯƠNG QUAN 4 TRỤ CỘT AN NINH MẬT MÃ HỌC TRONG HỆ THỐNG ]</a:t>
            </a:r>
          </a:p>
          <a:p>
            <a:pPr>
              <a:spcBef>
                <a:spcPts val="300"/>
              </a:spcBef>
              <a:defRPr i="1" sz="900">
                <a:solidFill>
                  <a:srgbClr val="64748B"/>
                </a:solidFill>
              </a:defRPr>
            </a:pPr>
            <a:r>
              <a:t>Hướng dẫn: Thiết kế sơ đồ kiến trúc trên Draw.io và chèn hình ảnh xuất ra vào vị trí này.</a:t>
            </a:r>
          </a:p>
          <a:p>
            <a:pPr>
              <a:spcBef>
                <a:spcPts val="700"/>
              </a:spcBef>
              <a:defRPr b="1" sz="950">
                <a:solidFill>
                  <a:srgbClr val="2563EB"/>
                </a:solidFill>
              </a:defRPr>
            </a:pPr>
            <a:r>
              <a:t>CÁC THÀNH PHẦN KIẾN TRÚC BẮT BUỘC:</a:t>
            </a:r>
          </a:p>
          <a:p>
            <a:pPr>
              <a:spcBef>
                <a:spcPts val="350"/>
              </a:spcBef>
              <a:defRPr sz="900">
                <a:solidFill>
                  <a:srgbClr val="0F172A"/>
                </a:solidFill>
              </a:defRPr>
            </a:pPr>
            <a:r>
              <a:t>• Trụ cột 1: Second-Preimage Resistance (Đảo 1 bit làm sai lệch chuỗi băm, bảo vệ bởi SHA-256).</a:t>
            </a:r>
          </a:p>
          <a:p>
            <a:pPr>
              <a:spcBef>
                <a:spcPts val="350"/>
              </a:spcBef>
              <a:defRPr sz="900">
                <a:solidFill>
                  <a:srgbClr val="0F172A"/>
                </a:solidFill>
              </a:defRPr>
            </a:pPr>
            <a:r>
              <a:t>• Trụ cột 2: Domain Separation RFC 6962 (Tách miền 0x00 cho lá và 0x01 cho nhánh để chống va chạm).</a:t>
            </a:r>
          </a:p>
          <a:p>
            <a:pPr>
              <a:spcBef>
                <a:spcPts val="350"/>
              </a:spcBef>
              <a:defRPr sz="900">
                <a:solidFill>
                  <a:srgbClr val="0F172A"/>
                </a:solidFill>
              </a:defRPr>
            </a:pPr>
            <a:r>
              <a:t>• Trụ cột 3: Membership Proof O(log N) (Bằng chứng thành viên nhỏ gọn, không để lộ cấu trúc thư mục).</a:t>
            </a:r>
          </a:p>
          <a:p>
            <a:pPr>
              <a:spcBef>
                <a:spcPts val="350"/>
              </a:spcBef>
              <a:defRPr sz="900">
                <a:solidFill>
                  <a:srgbClr val="0F172A"/>
                </a:solidFill>
              </a:defRPr>
            </a:pPr>
            <a:r>
              <a:t>• Trụ cột 4: Append-Only Consistency Proof (Xác thực lịch sử tệp tin không bị kẻ tấn công sửa lén).</a:t>
            </a:r>
          </a:p>
          <a:p>
            <a:pPr>
              <a:spcBef>
                <a:spcPts val="350"/>
              </a:spcBef>
              <a:defRPr sz="900">
                <a:solidFill>
                  <a:srgbClr val="0F172A"/>
                </a:solidFill>
              </a:defRPr>
            </a:pPr>
            <a:r>
              <a:t>• Trung tâm: Chuỗi băm gốc Root Hash 32-byte đại diện bất biến cho toàn bộ kho tệp tin.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4572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728655" cy="868680"/>
          </a:xfrm>
          <a:prstGeom prst="rect">
            <a:avLst/>
          </a:prstGeom>
          <a:noFill/>
        </p:spPr>
        <p:txBody>
          <a:bodyPr wrap="square">
            <a:spAutoFit/>
          </a:bodyPr>
          <a:lstStyle/>
          <a:p>
            <a:pPr>
              <a:defRPr b="1" sz="1050">
                <a:solidFill>
                  <a:srgbClr val="93C5FD"/>
                </a:solidFill>
              </a:defRPr>
            </a:pPr>
            <a:r>
              <a:t>PHẦN 3: MÔ HÌNH KIẾN TRÚC ĐỀ XUẤT</a:t>
            </a:r>
          </a:p>
          <a:p>
            <a:pPr>
              <a:spcBef>
                <a:spcPts val="200"/>
              </a:spcBef>
              <a:defRPr b="1" sz="1750">
                <a:solidFill>
                  <a:srgbClr val="FFFFFF"/>
                </a:solidFill>
              </a:defRPr>
            </a:pPr>
            <a:r>
              <a:t>4. Đề Xuất Mô Hình Mới: Cây Merkle Phân Cấp Động (HD-Merkle Tree)</a:t>
            </a:r>
          </a:p>
        </p:txBody>
      </p:sp>
      <p:sp>
        <p:nvSpPr>
          <p:cNvPr id="6" name="Rounded Rectangle 5"/>
          <p:cNvSpPr/>
          <p:nvPr/>
        </p:nvSpPr>
        <p:spPr>
          <a:xfrm>
            <a:off x="731520" y="1234440"/>
            <a:ext cx="5120640" cy="5257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417320"/>
            <a:ext cx="4663440" cy="4937760"/>
          </a:xfrm>
          <a:prstGeom prst="rect">
            <a:avLst/>
          </a:prstGeom>
          <a:noFill/>
        </p:spPr>
        <p:txBody>
          <a:bodyPr wrap="square">
            <a:spAutoFit/>
          </a:bodyPr>
          <a:lstStyle/>
          <a:p>
            <a:pPr>
              <a:defRPr b="1" sz="1200">
                <a:solidFill>
                  <a:srgbClr val="1E3A8A"/>
                </a:solidFill>
              </a:defRPr>
            </a:pPr>
            <a:r>
              <a:t>Kiến Trúc Đề Xuất HD-Merkle Tree (hd_merkle_tree.py)</a:t>
            </a:r>
          </a:p>
          <a:p>
            <a:pPr>
              <a:spcBef>
                <a:spcPts val="450"/>
              </a:spcBef>
              <a:defRPr b="1" sz="1000">
                <a:solidFill>
                  <a:srgbClr val="2563EB"/>
                </a:solidFill>
              </a:defRPr>
            </a:pPr>
            <a:r>
              <a:t>• Ý tưởng tự xây dựng mô hình mới:</a:t>
            </a:r>
          </a:p>
          <a:p>
            <a:pPr>
              <a:spcBef>
                <a:spcPts val="150"/>
              </a:spcBef>
              <a:defRPr sz="950">
                <a:solidFill>
                  <a:srgbClr val="0F172A"/>
                </a:solidFill>
              </a:defRPr>
            </a:pPr>
            <a:r>
              <a:t>Kết hợp Cấu trúc Cây Merkle nhị phân với Mô hình toàn vẹn phân tầng Biba (1977) và Chuẩn phân tách miền RFC 6962 nhằm khắc phục triệt để các hạn chế cũ.</a:t>
            </a:r>
          </a:p>
          <a:p>
            <a:pPr>
              <a:spcBef>
                <a:spcPts val="450"/>
              </a:spcBef>
              <a:defRPr b="1" sz="1000">
                <a:solidFill>
                  <a:srgbClr val="2563EB"/>
                </a:solidFill>
              </a:defRPr>
            </a:pPr>
            <a:r>
              <a:t>• Tầng 1 (File Leaf Nodes - Nút lá tệp tin):</a:t>
            </a:r>
          </a:p>
          <a:p>
            <a:pPr>
              <a:spcBef>
                <a:spcPts val="150"/>
              </a:spcBef>
              <a:defRPr sz="950">
                <a:solidFill>
                  <a:srgbClr val="0F172A"/>
                </a:solidFill>
              </a:defRPr>
            </a:pPr>
            <a:r>
              <a:t>Mỗi tệp tin vật lý được băm độc lập với tiền tố phân tách miền RFC 6962: H_leaf = SHA-256(0x00 || File_Data).</a:t>
            </a:r>
          </a:p>
          <a:p>
            <a:pPr>
              <a:spcBef>
                <a:spcPts val="450"/>
              </a:spcBef>
              <a:defRPr b="1" sz="1000">
                <a:solidFill>
                  <a:srgbClr val="2563EB"/>
                </a:solidFill>
              </a:defRPr>
            </a:pPr>
            <a:r>
              <a:t>• Tầng 2 (Directory Sub-Trees - Cây con thư mục):</a:t>
            </a:r>
          </a:p>
          <a:p>
            <a:pPr>
              <a:spcBef>
                <a:spcPts val="150"/>
              </a:spcBef>
              <a:defRPr sz="950">
                <a:solidFill>
                  <a:srgbClr val="0F172A"/>
                </a:solidFill>
              </a:defRPr>
            </a:pPr>
            <a:r>
              <a:t>Gom nhóm các tệp cùng thư mục thành các cây con Merkle độc lập. Mỗi thư mục con sở hữu một Directory Root Hash riêng biệt.</a:t>
            </a:r>
          </a:p>
          <a:p>
            <a:pPr>
              <a:spcBef>
                <a:spcPts val="450"/>
              </a:spcBef>
              <a:defRPr b="1" sz="1000">
                <a:solidFill>
                  <a:srgbClr val="2563EB"/>
                </a:solidFill>
              </a:defRPr>
            </a:pPr>
            <a:r>
              <a:t>• Tầng 3 (Master Aggregator - Cây tổng hợp gốc):</a:t>
            </a:r>
          </a:p>
          <a:p>
            <a:pPr>
              <a:spcBef>
                <a:spcPts val="150"/>
              </a:spcBef>
              <a:defRPr sz="950">
                <a:solidFill>
                  <a:srgbClr val="0F172A"/>
                </a:solidFill>
              </a:defRPr>
            </a:pPr>
            <a:r>
              <a:t>Liên kết tất cả các Directory Root Hash thành một Master Root Hash duy nhất (32 bytes) đại diện bất biến cho toàn bộ kho dữ liệu.</a:t>
            </a:r>
          </a:p>
          <a:p>
            <a:pPr>
              <a:spcBef>
                <a:spcPts val="450"/>
              </a:spcBef>
              <a:defRPr b="1" sz="1000">
                <a:solidFill>
                  <a:srgbClr val="2563EB"/>
                </a:solidFill>
              </a:defRPr>
            </a:pPr>
            <a:r>
              <a:t>• Lợi thế kiến trúc vượt trội:</a:t>
            </a:r>
          </a:p>
          <a:p>
            <a:pPr>
              <a:spcBef>
                <a:spcPts val="150"/>
              </a:spcBef>
              <a:defRPr sz="950">
                <a:solidFill>
                  <a:srgbClr val="0F172A"/>
                </a:solidFill>
              </a:defRPr>
            </a:pPr>
            <a:r>
              <a:t>Cô lập hoàn toàn phạm vi ảnh hưởng giữa các thư mục; định vị chính xác nhánh lỗi trong O(k log N) thay vì duyệt tuyến tính toàn bộ O(N).</a:t>
            </a:r>
          </a:p>
        </p:txBody>
      </p:sp>
      <p:sp>
        <p:nvSpPr>
          <p:cNvPr id="8" name="Rounded Rectangle 7"/>
          <p:cNvSpPr/>
          <p:nvPr/>
        </p:nvSpPr>
        <p:spPr>
          <a:xfrm>
            <a:off x="6035040" y="1234440"/>
            <a:ext cx="5394960" cy="5257800"/>
          </a:xfrm>
          <a:prstGeom prst="roundRect">
            <a:avLst/>
          </a:prstGeom>
          <a:solidFill>
            <a:srgbClr val="F1F5F9"/>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435608"/>
            <a:ext cx="4937760" cy="4892040"/>
          </a:xfrm>
          <a:prstGeom prst="rect">
            <a:avLst/>
          </a:prstGeom>
          <a:noFill/>
        </p:spPr>
        <p:txBody>
          <a:bodyPr wrap="square">
            <a:spAutoFit/>
          </a:bodyPr>
          <a:lstStyle/>
          <a:p>
            <a:pPr>
              <a:defRPr b="1" sz="1100">
                <a:solidFill>
                  <a:srgbClr val="1E3A8A"/>
                </a:solidFill>
              </a:defRPr>
            </a:pPr>
            <a:r>
              <a:t>[ KHUNG CHỜ SƠ ĐỒ DRAW.IO: SƠ ĐỒ KIẾN TRÚC PHÂN CẤP 5 TẦNG CHI TIẾT CỦA MÔ HÌNH HD-MERKLETREE ]</a:t>
            </a:r>
          </a:p>
          <a:p>
            <a:pPr>
              <a:spcBef>
                <a:spcPts val="300"/>
              </a:spcBef>
              <a:defRPr i="1" sz="900">
                <a:solidFill>
                  <a:srgbClr val="64748B"/>
                </a:solidFill>
              </a:defRPr>
            </a:pPr>
            <a:r>
              <a:t>Hướng dẫn: Thiết kế sơ đồ kiến trúc trên Draw.io và chèn hình ảnh xuất ra vào vị trí này.</a:t>
            </a:r>
          </a:p>
          <a:p>
            <a:pPr>
              <a:spcBef>
                <a:spcPts val="700"/>
              </a:spcBef>
              <a:defRPr b="1" sz="950">
                <a:solidFill>
                  <a:srgbClr val="2563EB"/>
                </a:solidFill>
              </a:defRPr>
            </a:pPr>
            <a:r>
              <a:t>CÁC THÀNH PHẦN KIẾN TRÚC BẮT BUỘC:</a:t>
            </a:r>
          </a:p>
          <a:p>
            <a:pPr>
              <a:spcBef>
                <a:spcPts val="350"/>
              </a:spcBef>
              <a:defRPr sz="900">
                <a:solidFill>
                  <a:srgbClr val="0F172A"/>
                </a:solidFill>
              </a:defRPr>
            </a:pPr>
            <a:r>
              <a:t>• Tầng 1 (File Leaf Nodes): Lưu mã băm lá RFC 6962 cho từng tệp tin vật lý trên đĩa.</a:t>
            </a:r>
          </a:p>
          <a:p>
            <a:pPr>
              <a:spcBef>
                <a:spcPts val="350"/>
              </a:spcBef>
              <a:defRPr sz="900">
                <a:solidFill>
                  <a:srgbClr val="0F172A"/>
                </a:solidFill>
              </a:defRPr>
            </a:pPr>
            <a:r>
              <a:t>• Tầng 2 (Directory Sub-Trees): Gom nhóm các tệp cùng thư mục thành cây con cục bộ theo mô hình Biba 1977.</a:t>
            </a:r>
          </a:p>
          <a:p>
            <a:pPr>
              <a:spcBef>
                <a:spcPts val="350"/>
              </a:spcBef>
              <a:defRPr sz="900">
                <a:solidFill>
                  <a:srgbClr val="0F172A"/>
                </a:solidFill>
              </a:defRPr>
            </a:pPr>
            <a:r>
              <a:t>• Tầng 3 (Global Aggregator): Tổng hợp các Root thư mục thành Master Root Hash duy nhất.</a:t>
            </a:r>
          </a:p>
          <a:p>
            <a:pPr>
              <a:spcBef>
                <a:spcPts val="350"/>
              </a:spcBef>
              <a:defRPr sz="900">
                <a:solidFill>
                  <a:srgbClr val="0F172A"/>
                </a:solidFill>
              </a:defRPr>
            </a:pPr>
            <a:r>
              <a:t>• Tầng 4 (Memory Cache &amp; Indexing): Bảng băm tra cứu O(1) đường dẫn tệp và cache node cha cho Dirty-Path.</a:t>
            </a:r>
          </a:p>
          <a:p>
            <a:pPr>
              <a:spcBef>
                <a:spcPts val="350"/>
              </a:spcBef>
              <a:defRPr sz="900">
                <a:solidFill>
                  <a:srgbClr val="0F172A"/>
                </a:solidFill>
              </a:defRPr>
            </a:pPr>
            <a:r>
              <a:t>• Tầng 5 (Storage &amp; Proof Layer): Tạo Compact Proof và Batch Multi-Proof cho máy khách xác thực độc lập.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4572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728655" cy="868680"/>
          </a:xfrm>
          <a:prstGeom prst="rect">
            <a:avLst/>
          </a:prstGeom>
          <a:noFill/>
        </p:spPr>
        <p:txBody>
          <a:bodyPr wrap="square">
            <a:spAutoFit/>
          </a:bodyPr>
          <a:lstStyle/>
          <a:p>
            <a:pPr>
              <a:defRPr b="1" sz="1050">
                <a:solidFill>
                  <a:srgbClr val="93C5FD"/>
                </a:solidFill>
              </a:defRPr>
            </a:pPr>
            <a:r>
              <a:t>PHẦN 3: GIẢI THUẬT ĐỀ XUẤT</a:t>
            </a:r>
          </a:p>
          <a:p>
            <a:pPr>
              <a:spcBef>
                <a:spcPts val="200"/>
              </a:spcBef>
              <a:defRPr b="1" sz="1750">
                <a:solidFill>
                  <a:srgbClr val="FFFFFF"/>
                </a:solidFill>
              </a:defRPr>
            </a:pPr>
            <a:r>
              <a:t>5. Thuật Toán Đề Xuất: Cập Nhật Động Theo Đường Dẫn Bẩn (Dirty-Path)</a:t>
            </a:r>
          </a:p>
        </p:txBody>
      </p:sp>
      <p:sp>
        <p:nvSpPr>
          <p:cNvPr id="6" name="Rounded Rectangle 5"/>
          <p:cNvSpPr/>
          <p:nvPr/>
        </p:nvSpPr>
        <p:spPr>
          <a:xfrm>
            <a:off x="731520" y="1234440"/>
            <a:ext cx="5120640" cy="5257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417320"/>
            <a:ext cx="4663440" cy="4937760"/>
          </a:xfrm>
          <a:prstGeom prst="rect">
            <a:avLst/>
          </a:prstGeom>
          <a:noFill/>
        </p:spPr>
        <p:txBody>
          <a:bodyPr wrap="square">
            <a:spAutoFit/>
          </a:bodyPr>
          <a:lstStyle/>
          <a:p>
            <a:pPr>
              <a:defRPr b="1" sz="1200">
                <a:solidFill>
                  <a:srgbClr val="1E3A8A"/>
                </a:solidFill>
              </a:defRPr>
            </a:pPr>
            <a:r>
              <a:t>Thuật Toán Cập Nhật Cục Bộ O(log N) Thay Vì Rebuild O(N)</a:t>
            </a:r>
          </a:p>
          <a:p>
            <a:pPr>
              <a:spcBef>
                <a:spcPts val="450"/>
              </a:spcBef>
              <a:defRPr b="1" sz="1000">
                <a:solidFill>
                  <a:srgbClr val="2563EB"/>
                </a:solidFill>
              </a:defRPr>
            </a:pPr>
            <a:r>
              <a:t>• Bản chất thuật toán tự xây dựng:</a:t>
            </a:r>
          </a:p>
          <a:p>
            <a:pPr>
              <a:spcBef>
                <a:spcPts val="150"/>
              </a:spcBef>
              <a:defRPr sz="950">
                <a:solidFill>
                  <a:srgbClr val="0F172A"/>
                </a:solidFill>
              </a:defRPr>
            </a:pPr>
            <a:r>
              <a:t>Khi có thao tác Thêm, Sửa hoặc Xóa 1 tệp tin, thuật toán KHÔNG băm lại toàn bộ kho dữ liệu mà chỉ lan truyền cập nhật trên đường dẫn từ nút lá bị sửa lên đỉnh cây.</a:t>
            </a:r>
          </a:p>
          <a:p>
            <a:pPr>
              <a:spcBef>
                <a:spcPts val="450"/>
              </a:spcBef>
              <a:defRPr b="1" sz="1000">
                <a:solidFill>
                  <a:srgbClr val="2563EB"/>
                </a:solidFill>
              </a:defRPr>
            </a:pPr>
            <a:r>
              <a:t>• Bước 1: Định vị nút lá bẩn (Dirty Leaf):</a:t>
            </a:r>
          </a:p>
          <a:p>
            <a:pPr>
              <a:spcBef>
                <a:spcPts val="150"/>
              </a:spcBef>
              <a:defRPr sz="950">
                <a:solidFill>
                  <a:srgbClr val="0F172A"/>
                </a:solidFill>
              </a:defRPr>
            </a:pPr>
            <a:r>
              <a:t>Xác định nút lá thay đổi qua bảng băm chỉ mục O(1) và tính lại mã băm lá mới.</a:t>
            </a:r>
          </a:p>
          <a:p>
            <a:pPr>
              <a:spcBef>
                <a:spcPts val="450"/>
              </a:spcBef>
              <a:defRPr b="1" sz="1000">
                <a:solidFill>
                  <a:srgbClr val="2563EB"/>
                </a:solidFill>
              </a:defRPr>
            </a:pPr>
            <a:r>
              <a:t>• Bước 2: Lan truyền cập nhật cây con thư mục:</a:t>
            </a:r>
          </a:p>
          <a:p>
            <a:pPr>
              <a:spcBef>
                <a:spcPts val="150"/>
              </a:spcBef>
              <a:defRPr sz="950">
                <a:solidFill>
                  <a:srgbClr val="0F172A"/>
                </a:solidFill>
              </a:defRPr>
            </a:pPr>
            <a:r>
              <a:t>Lần ngược theo cây con thư mục, chỉ tính lại cha của nút bẩn bằng cách kết hợp với nút anh em (sibling) có sẵn trong bộ nhớ đệm RAM.</a:t>
            </a:r>
          </a:p>
          <a:p>
            <a:pPr>
              <a:spcBef>
                <a:spcPts val="450"/>
              </a:spcBef>
              <a:defRPr b="1" sz="1000">
                <a:solidFill>
                  <a:srgbClr val="2563EB"/>
                </a:solidFill>
              </a:defRPr>
            </a:pPr>
            <a:r>
              <a:t>• Bước 3: Cập nhật Master Root:</a:t>
            </a:r>
          </a:p>
          <a:p>
            <a:pPr>
              <a:spcBef>
                <a:spcPts val="150"/>
              </a:spcBef>
              <a:defRPr sz="950">
                <a:solidFill>
                  <a:srgbClr val="0F172A"/>
                </a:solidFill>
              </a:defRPr>
            </a:pPr>
            <a:r>
              <a:t>Tính lại đường dẫn từ Directory Root của thư mục đó lên Master Root Hash.</a:t>
            </a:r>
          </a:p>
          <a:p>
            <a:pPr>
              <a:spcBef>
                <a:spcPts val="450"/>
              </a:spcBef>
              <a:defRPr b="1" sz="1000">
                <a:solidFill>
                  <a:srgbClr val="2563EB"/>
                </a:solidFill>
              </a:defRPr>
            </a:pPr>
            <a:r>
              <a:t>• Giảm độ phức tạp lý thuyết:</a:t>
            </a:r>
          </a:p>
          <a:p>
            <a:pPr>
              <a:spcBef>
                <a:spcPts val="150"/>
              </a:spcBef>
              <a:defRPr sz="950">
                <a:solidFill>
                  <a:srgbClr val="0F172A"/>
                </a:solidFill>
              </a:defRPr>
            </a:pPr>
            <a:r>
              <a:t>Standard Merkle tốn O(N) phép băm (dựng lại toàn bộ kho tệp) ➔ HD-Merkle chỉ tốn O(log N) phép băm (chỉ băm lại ~4 nút trên đường dẫn).</a:t>
            </a:r>
          </a:p>
        </p:txBody>
      </p:sp>
      <p:sp>
        <p:nvSpPr>
          <p:cNvPr id="8" name="Rounded Rectangle 7"/>
          <p:cNvSpPr/>
          <p:nvPr/>
        </p:nvSpPr>
        <p:spPr>
          <a:xfrm>
            <a:off x="6035040" y="1234440"/>
            <a:ext cx="5394960" cy="5257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417320"/>
            <a:ext cx="4937760" cy="4892040"/>
          </a:xfrm>
          <a:prstGeom prst="rect">
            <a:avLst/>
          </a:prstGeom>
          <a:noFill/>
        </p:spPr>
        <p:txBody>
          <a:bodyPr wrap="square">
            <a:spAutoFit/>
          </a:bodyPr>
          <a:lstStyle/>
          <a:p>
            <a:pPr>
              <a:defRPr b="1" sz="1150">
                <a:solidFill>
                  <a:srgbClr val="1E3A8A"/>
                </a:solidFill>
              </a:defRPr>
            </a:pPr>
            <a:r>
              <a:t>SO SÁNH ĐỘ PHỨC TẠP LÝ THUYẾT &amp; KỸ THUẬT</a:t>
            </a:r>
          </a:p>
          <a:p>
            <a:pPr>
              <a:spcBef>
                <a:spcPts val="500"/>
              </a:spcBef>
              <a:defRPr b="1" sz="950">
                <a:solidFill>
                  <a:srgbClr val="2563EB"/>
                </a:solidFill>
              </a:defRPr>
            </a:pPr>
            <a:r>
              <a:t>• Thao Tác Cập Nhật Khi Sửa 1 Tệp: Standard Merkle: O(N)  ➔  HD-Merkle: O(log N)</a:t>
            </a:r>
          </a:p>
          <a:p>
            <a:pPr>
              <a:spcBef>
                <a:spcPts val="150"/>
              </a:spcBef>
              <a:defRPr sz="880">
                <a:solidFill>
                  <a:srgbClr val="0F172A"/>
                </a:solidFill>
              </a:defRPr>
            </a:pPr>
            <a:r>
              <a:t>HD-Merkle chỉ băm lại chiều cao h ≈ log2(N) nút thay vì dựng lại toàn bộ N nút lá.</a:t>
            </a:r>
          </a:p>
          <a:p>
            <a:pPr>
              <a:spcBef>
                <a:spcPts val="500"/>
              </a:spcBef>
              <a:defRPr b="1" sz="950">
                <a:solidFill>
                  <a:srgbClr val="2563EB"/>
                </a:solidFill>
              </a:defRPr>
            </a:pPr>
            <a:r>
              <a:t>• Thao Tác Thêm Mới / Xóa Tệp: Standard Merkle: O(N)  ➔  HD-Merkle: O(log N)</a:t>
            </a:r>
          </a:p>
          <a:p>
            <a:pPr>
              <a:spcBef>
                <a:spcPts val="150"/>
              </a:spcBef>
              <a:defRPr sz="880">
                <a:solidFill>
                  <a:srgbClr val="0F172A"/>
                </a:solidFill>
              </a:defRPr>
            </a:pPr>
            <a:r>
              <a:t>Tái cân bằng và cập nhật cục bộ trong cây con thư mục mà không ảnh hưởng các thư mục khác.</a:t>
            </a:r>
          </a:p>
          <a:p>
            <a:pPr>
              <a:spcBef>
                <a:spcPts val="500"/>
              </a:spcBef>
              <a:defRPr b="1" sz="950">
                <a:solidFill>
                  <a:srgbClr val="2563EB"/>
                </a:solidFill>
              </a:defRPr>
            </a:pPr>
            <a:r>
              <a:t>• Bộ Nhớ Đệm Chỉ Mục (RAM Cache): Lookup O(1) đường dẫn tệp</a:t>
            </a:r>
          </a:p>
          <a:p>
            <a:pPr>
              <a:spcBef>
                <a:spcPts val="150"/>
              </a:spcBef>
              <a:defRPr sz="880">
                <a:solidFill>
                  <a:srgbClr val="0F172A"/>
                </a:solidFill>
              </a:defRPr>
            </a:pPr>
            <a:r>
              <a:t>Sử dụng bảng băm ánh xạ Path ➔ Node Pointer giúp truy cập tức thì nút cần sửa.</a:t>
            </a:r>
          </a:p>
          <a:p>
            <a:pPr>
              <a:spcBef>
                <a:spcPts val="500"/>
              </a:spcBef>
              <a:defRPr b="1" sz="950">
                <a:solidFill>
                  <a:srgbClr val="2563EB"/>
                </a:solidFill>
              </a:defRPr>
            </a:pPr>
            <a:r>
              <a:t>• Định Vị Tệp Tin Vi Phạm: Standard: O(N)  ➔  HD-Merkle: O(k log N)</a:t>
            </a:r>
          </a:p>
          <a:p>
            <a:pPr>
              <a:spcBef>
                <a:spcPts val="150"/>
              </a:spcBef>
              <a:defRPr sz="880">
                <a:solidFill>
                  <a:srgbClr val="0F172A"/>
                </a:solidFill>
              </a:defRPr>
            </a:pPr>
            <a:r>
              <a:t>Chỉ cần lần theo nhánh băm không khớp giữa cây con thư mục và Master Root.</a:t>
            </a:r>
          </a:p>
          <a:p>
            <a:pPr>
              <a:spcBef>
                <a:spcPts val="500"/>
              </a:spcBef>
              <a:defRPr b="1" sz="950">
                <a:solidFill>
                  <a:srgbClr val="2563EB"/>
                </a:solidFill>
              </a:defRPr>
            </a:pPr>
            <a:r>
              <a:t>• Bảo Mật Bộ Nhớ Đệm RAM: Memory Zeroization với secure_erase()</a:t>
            </a:r>
          </a:p>
          <a:p>
            <a:pPr>
              <a:spcBef>
                <a:spcPts val="150"/>
              </a:spcBef>
              <a:defRPr sz="880">
                <a:solidFill>
                  <a:srgbClr val="0F172A"/>
                </a:solidFill>
              </a:defRPr>
            </a:pPr>
            <a:r>
              <a:t>Xóa đè các bytearray nhạy cảm bằng 0x00, kháng kẻ tấn công trích xuất bộ nhớ tiến trình.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4572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728655" cy="868680"/>
          </a:xfrm>
          <a:prstGeom prst="rect">
            <a:avLst/>
          </a:prstGeom>
          <a:noFill/>
        </p:spPr>
        <p:txBody>
          <a:bodyPr wrap="square">
            <a:spAutoFit/>
          </a:bodyPr>
          <a:lstStyle/>
          <a:p>
            <a:pPr>
              <a:defRPr b="1" sz="1050">
                <a:solidFill>
                  <a:srgbClr val="93C5FD"/>
                </a:solidFill>
              </a:defRPr>
            </a:pPr>
            <a:r>
              <a:t>PHẦN 3: CƠ CHẾ MẬT MÃ NÂNG CAO</a:t>
            </a:r>
          </a:p>
          <a:p>
            <a:pPr>
              <a:spcBef>
                <a:spcPts val="200"/>
              </a:spcBef>
              <a:defRPr b="1" sz="1750">
                <a:solidFill>
                  <a:srgbClr val="FFFFFF"/>
                </a:solidFill>
              </a:defRPr>
            </a:pPr>
            <a:r>
              <a:t>6. Cơ Chế An Ninh Mật Mã Học &amp; Chuẩn Phân Tách Miền RFC 6962</a:t>
            </a:r>
          </a:p>
        </p:txBody>
      </p:sp>
      <p:sp>
        <p:nvSpPr>
          <p:cNvPr id="6" name="Rounded Rectangle 5"/>
          <p:cNvSpPr/>
          <p:nvPr/>
        </p:nvSpPr>
        <p:spPr>
          <a:xfrm>
            <a:off x="731520" y="1234440"/>
            <a:ext cx="5120640" cy="5257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417320"/>
            <a:ext cx="4663440" cy="4937760"/>
          </a:xfrm>
          <a:prstGeom prst="rect">
            <a:avLst/>
          </a:prstGeom>
          <a:noFill/>
        </p:spPr>
        <p:txBody>
          <a:bodyPr wrap="square">
            <a:spAutoFit/>
          </a:bodyPr>
          <a:lstStyle/>
          <a:p>
            <a:pPr>
              <a:defRPr b="1" sz="1200">
                <a:solidFill>
                  <a:srgbClr val="1E3A8A"/>
                </a:solidFill>
              </a:defRPr>
            </a:pPr>
            <a:r>
              <a:t>Hiện Thực Hóa Các Cơ Chế Bảo Vệ Mật Mã Tiên Tiến</a:t>
            </a:r>
          </a:p>
          <a:p>
            <a:pPr>
              <a:spcBef>
                <a:spcPts val="450"/>
              </a:spcBef>
              <a:defRPr b="1" sz="1000">
                <a:solidFill>
                  <a:srgbClr val="2563EB"/>
                </a:solidFill>
              </a:defRPr>
            </a:pPr>
            <a:r>
              <a:t>• Chuẩn phân tách miền RFC 6962 (Certificate Transparency):</a:t>
            </a:r>
          </a:p>
          <a:p>
            <a:pPr>
              <a:spcBef>
                <a:spcPts val="150"/>
              </a:spcBef>
              <a:defRPr sz="950">
                <a:solidFill>
                  <a:srgbClr val="0F172A"/>
                </a:solidFill>
              </a:defRPr>
            </a:pPr>
            <a:r>
              <a:t>Lá: H_leaf = SHA-256(0x00 || File_Data)  [Tiền tố 0x00 bắt buộc]</a:t>
            </a:r>
            <a:br/>
            <a:r>
              <a:t>Nhánh: H_parent = SHA-256(0x01 || Left_Hash || Right_Hash)  [Tiền tố 0x01]</a:t>
            </a:r>
            <a:br/>
            <a:r>
              <a:t>Triệt tiêu 100% va chạm tiền ảnh cấp hai (Second-Preimage Attack): Kẻ thù không thể giả mạo dữ liệu lá thành nút nhánh.</a:t>
            </a:r>
          </a:p>
          <a:p>
            <a:pPr>
              <a:spcBef>
                <a:spcPts val="450"/>
              </a:spcBef>
              <a:defRPr b="1" sz="1000">
                <a:solidFill>
                  <a:srgbClr val="2563EB"/>
                </a:solidFill>
              </a:defRPr>
            </a:pPr>
            <a:r>
              <a:t>• Bằng chứng thành viên rút gọn (Compact Inclusion Proof):</a:t>
            </a:r>
          </a:p>
          <a:p>
            <a:pPr>
              <a:spcBef>
                <a:spcPts val="150"/>
              </a:spcBef>
              <a:defRPr sz="950">
                <a:solidFill>
                  <a:srgbClr val="0F172A"/>
                </a:solidFill>
              </a:defRPr>
            </a:pPr>
            <a:r>
              <a:t>Client xác minh 1 tệp tin thuộc kho dữ liệu chỉ với chuỗi nút anh em O(log N).</a:t>
            </a:r>
            <a:br/>
            <a:r>
              <a:t>Dung lượng bằng chứng chỉ 1.37 KB so với danh mục 111 KB (tiết kiệm 98.8% băng thông mạng).</a:t>
            </a:r>
          </a:p>
          <a:p>
            <a:pPr>
              <a:spcBef>
                <a:spcPts val="450"/>
              </a:spcBef>
              <a:defRPr b="1" sz="1000">
                <a:solidFill>
                  <a:srgbClr val="2563EB"/>
                </a:solidFill>
              </a:defRPr>
            </a:pPr>
            <a:r>
              <a:t>• Bằng chứng nhất quán (Append-Only Consistency Proof RFC 6962):</a:t>
            </a:r>
          </a:p>
          <a:p>
            <a:pPr>
              <a:spcBef>
                <a:spcPts val="150"/>
              </a:spcBef>
              <a:defRPr sz="950">
                <a:solidFill>
                  <a:srgbClr val="0F172A"/>
                </a:solidFill>
              </a:defRPr>
            </a:pPr>
            <a:r>
              <a:t>Chứng minh kho dữ liệu phát triển theo cơ chế chỉ nối thêm, dữ liệu quá khứ không hề bị chỉnh sửa ngầm.</a:t>
            </a:r>
          </a:p>
          <a:p>
            <a:pPr>
              <a:spcBef>
                <a:spcPts val="450"/>
              </a:spcBef>
              <a:defRPr b="1" sz="1000">
                <a:solidFill>
                  <a:srgbClr val="2563EB"/>
                </a:solidFill>
              </a:defRPr>
            </a:pPr>
            <a:r>
              <a:t>• Ký niêm phong HMAC-SHA256:</a:t>
            </a:r>
          </a:p>
          <a:p>
            <a:pPr>
              <a:spcBef>
                <a:spcPts val="150"/>
              </a:spcBef>
              <a:defRPr sz="950">
                <a:solidFill>
                  <a:srgbClr val="0F172A"/>
                </a:solidFill>
              </a:defRPr>
            </a:pPr>
            <a:r>
              <a:t>Master Root Hash được ký xác thực bằng HMAC-SHA256 với khóa bí mật K, chống giả mạo toàn diện.</a:t>
            </a:r>
          </a:p>
        </p:txBody>
      </p:sp>
      <p:sp>
        <p:nvSpPr>
          <p:cNvPr id="8" name="Rounded Rectangle 7"/>
          <p:cNvSpPr/>
          <p:nvPr/>
        </p:nvSpPr>
        <p:spPr>
          <a:xfrm>
            <a:off x="6035040" y="1234440"/>
            <a:ext cx="5394960" cy="5257800"/>
          </a:xfrm>
          <a:prstGeom prst="roundRect">
            <a:avLst/>
          </a:prstGeom>
          <a:solidFill>
            <a:srgbClr val="F1F5F9"/>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435608"/>
            <a:ext cx="4937760" cy="4892040"/>
          </a:xfrm>
          <a:prstGeom prst="rect">
            <a:avLst/>
          </a:prstGeom>
          <a:noFill/>
        </p:spPr>
        <p:txBody>
          <a:bodyPr wrap="square">
            <a:spAutoFit/>
          </a:bodyPr>
          <a:lstStyle/>
          <a:p>
            <a:pPr>
              <a:defRPr b="1" sz="1100">
                <a:solidFill>
                  <a:srgbClr val="1E3A8A"/>
                </a:solidFill>
              </a:defRPr>
            </a:pPr>
            <a:r>
              <a:t>[ KHUNG CHỜ SƠ ĐỒ DRAW.IO: SƠ ĐỒ CẤU TRÚC CÂY MERKLE PHÂN TÁCH TIỀN TỐ THEO CHUẨN RFC 6962 ]</a:t>
            </a:r>
          </a:p>
          <a:p>
            <a:pPr>
              <a:spcBef>
                <a:spcPts val="300"/>
              </a:spcBef>
              <a:defRPr i="1" sz="900">
                <a:solidFill>
                  <a:srgbClr val="64748B"/>
                </a:solidFill>
              </a:defRPr>
            </a:pPr>
            <a:r>
              <a:t>Hướng dẫn: Thiết kế sơ đồ kiến trúc trên Draw.io và chèn hình ảnh xuất ra vào vị trí này.</a:t>
            </a:r>
          </a:p>
          <a:p>
            <a:pPr>
              <a:spcBef>
                <a:spcPts val="700"/>
              </a:spcBef>
              <a:defRPr b="1" sz="950">
                <a:solidFill>
                  <a:srgbClr val="2563EB"/>
                </a:solidFill>
              </a:defRPr>
            </a:pPr>
            <a:r>
              <a:t>CÁC THÀNH PHẦN KIẾN TRÚC BẮT BUỘC:</a:t>
            </a:r>
          </a:p>
          <a:p>
            <a:pPr>
              <a:spcBef>
                <a:spcPts val="350"/>
              </a:spcBef>
              <a:defRPr sz="900">
                <a:solidFill>
                  <a:srgbClr val="0F172A"/>
                </a:solidFill>
              </a:defRPr>
            </a:pPr>
            <a:r>
              <a:t>• Tầng lá (Leaf Nodes): Leaf = SHA256( 0x00 || File_Data ) - Tiền tố 0x00 bắt buộc cho nút lá.</a:t>
            </a:r>
          </a:p>
          <a:p>
            <a:pPr>
              <a:spcBef>
                <a:spcPts val="350"/>
              </a:spcBef>
              <a:defRPr sz="900">
                <a:solidFill>
                  <a:srgbClr val="0F172A"/>
                </a:solidFill>
              </a:defRPr>
            </a:pPr>
            <a:r>
              <a:t>• Tầng nhánh (Internal Nodes): Parent = SHA256( 0x01 || Left_Hash || Right_Hash ) - Tiền tố 0x01 bắt buộc.</a:t>
            </a:r>
          </a:p>
          <a:p>
            <a:pPr>
              <a:spcBef>
                <a:spcPts val="350"/>
              </a:spcBef>
              <a:defRPr sz="900">
                <a:solidFill>
                  <a:srgbClr val="0F172A"/>
                </a:solidFill>
              </a:defRPr>
            </a:pPr>
            <a:r>
              <a:t>• Tầng gốc (Root Hash): Chuỗi băm 32 byte bất biến đại diện cho toàn bộ kho dữ liệu.</a:t>
            </a:r>
          </a:p>
          <a:p>
            <a:pPr>
              <a:spcBef>
                <a:spcPts val="350"/>
              </a:spcBef>
              <a:defRPr sz="900">
                <a:solidFill>
                  <a:srgbClr val="0F172A"/>
                </a:solidFill>
              </a:defRPr>
            </a:pPr>
            <a:r>
              <a:t>• Cơ chế an ninh: Kẻ tấn công cố ghép 2 lá thành 1 nhánh giả sẽ bị phát hiện ngay do tiền tố không khớp.</a:t>
            </a:r>
          </a:p>
          <a:p>
            <a:pPr>
              <a:spcBef>
                <a:spcPts val="350"/>
              </a:spcBef>
              <a:defRPr sz="900">
                <a:solidFill>
                  <a:srgbClr val="0F172A"/>
                </a:solidFill>
              </a:defRPr>
            </a:pPr>
            <a:r>
              <a:t>• Chuẩn hóa: Áp dụng trực tiếp chuẩn Certificate Transparency RFC 6962 theo đề xuất của Harry Halpin.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4572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728655" cy="868680"/>
          </a:xfrm>
          <a:prstGeom prst="rect">
            <a:avLst/>
          </a:prstGeom>
          <a:noFill/>
        </p:spPr>
        <p:txBody>
          <a:bodyPr wrap="square">
            <a:spAutoFit/>
          </a:bodyPr>
          <a:lstStyle/>
          <a:p>
            <a:pPr>
              <a:defRPr b="1" sz="1050">
                <a:solidFill>
                  <a:srgbClr val="93C5FD"/>
                </a:solidFill>
              </a:defRPr>
            </a:pPr>
            <a:r>
              <a:t>PHẦN 3: PHÒNG CHỐNG KẺ THÙ NÂNG CAO</a:t>
            </a:r>
          </a:p>
          <a:p>
            <a:pPr>
              <a:spcBef>
                <a:spcPts val="200"/>
              </a:spcBef>
              <a:defRPr b="1" sz="1750">
                <a:solidFill>
                  <a:srgbClr val="FFFFFF"/>
                </a:solidFill>
              </a:defRPr>
            </a:pPr>
            <a:r>
              <a:t>7. Phòng Chống Tấn Công Kênh Kề Đo Thời Gian &amp; Xóa Sạch Bộ Nhớ</a:t>
            </a:r>
          </a:p>
        </p:txBody>
      </p:sp>
      <p:sp>
        <p:nvSpPr>
          <p:cNvPr id="6" name="Rounded Rectangle 5"/>
          <p:cNvSpPr/>
          <p:nvPr/>
        </p:nvSpPr>
        <p:spPr>
          <a:xfrm>
            <a:off x="731520" y="1234440"/>
            <a:ext cx="5120640" cy="5257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417320"/>
            <a:ext cx="4663440" cy="4937760"/>
          </a:xfrm>
          <a:prstGeom prst="rect">
            <a:avLst/>
          </a:prstGeom>
          <a:noFill/>
        </p:spPr>
        <p:txBody>
          <a:bodyPr wrap="square">
            <a:spAutoFit/>
          </a:bodyPr>
          <a:lstStyle/>
          <a:p>
            <a:pPr>
              <a:defRPr b="1" sz="1200">
                <a:solidFill>
                  <a:srgbClr val="1E3A8A"/>
                </a:solidFill>
              </a:defRPr>
            </a:pPr>
            <a:r>
              <a:t>Bảo Vệ Hệ Thống Trước Các Kẻ Thù Mật Mã Nâng Cao</a:t>
            </a:r>
          </a:p>
          <a:p>
            <a:pPr>
              <a:spcBef>
                <a:spcPts val="450"/>
              </a:spcBef>
              <a:defRPr b="1" sz="1000">
                <a:solidFill>
                  <a:srgbClr val="2563EB"/>
                </a:solidFill>
              </a:defRPr>
            </a:pPr>
            <a:r>
              <a:t>• 1. Chống tấn công kênh kề đo thời gian (Timing Attack):</a:t>
            </a:r>
          </a:p>
          <a:p>
            <a:pPr>
              <a:spcBef>
                <a:spcPts val="150"/>
              </a:spcBef>
              <a:defRPr sz="950">
                <a:solidFill>
                  <a:srgbClr val="0F172A"/>
                </a:solidFill>
              </a:defRPr>
            </a:pPr>
            <a:r>
              <a:t>Cảnh báo Paul Kocher (1996): Phép so sánh chuỗi (==) dừng sớm khi gặp ký tự sai đầu tiên, làm rò rỉ chuỗi băm qua thời gian CPU.</a:t>
            </a:r>
            <a:br/>
            <a:r>
              <a:t>Giải pháp: Dùng hmac.compare_digest() có thời gian so sánh hằng số O(1), triệt tiêu hoàn toàn rò rỉ kênh kề.</a:t>
            </a:r>
          </a:p>
          <a:p>
            <a:pPr>
              <a:spcBef>
                <a:spcPts val="450"/>
              </a:spcBef>
              <a:defRPr b="1" sz="1000">
                <a:solidFill>
                  <a:srgbClr val="2563EB"/>
                </a:solidFill>
              </a:defRPr>
            </a:pPr>
            <a:r>
              <a:t>• 2. Cơ chế Xóa sạch Bộ nhớ (Memory Zeroization - secure_erase()):</a:t>
            </a:r>
          </a:p>
          <a:p>
            <a:pPr>
              <a:spcBef>
                <a:spcPts val="150"/>
              </a:spcBef>
              <a:defRPr sz="950">
                <a:solidFill>
                  <a:srgbClr val="0F172A"/>
                </a:solidFill>
              </a:defRPr>
            </a:pPr>
            <a:r>
              <a:t>Nguy cơ Memory-Dump Adversary: Sau tính toán, khóa HMAC hoặc dữ liệu nhạy cảm vẫn có thể vương lại trong RAM tiến trình.</a:t>
            </a:r>
            <a:br/>
            <a:r>
              <a:t>Giải pháp: Quản lý khóa trong bytearray và chủ động ghi đè bằng giá trị 0x00 qua hàm secure_erase() kết hợp thu gom rác chủ động.</a:t>
            </a:r>
          </a:p>
          <a:p>
            <a:pPr>
              <a:spcBef>
                <a:spcPts val="450"/>
              </a:spcBef>
              <a:defRPr b="1" sz="1000">
                <a:solidFill>
                  <a:srgbClr val="2563EB"/>
                </a:solidFill>
              </a:defRPr>
            </a:pPr>
            <a:r>
              <a:t>• 3. Bảo vệ tính riêng tư siêu dữ liệu (Zero-Metadata Leakage):</a:t>
            </a:r>
          </a:p>
          <a:p>
            <a:pPr>
              <a:spcBef>
                <a:spcPts val="150"/>
              </a:spcBef>
              <a:defRPr sz="950">
                <a:solidFill>
                  <a:srgbClr val="0F172A"/>
                </a:solidFill>
              </a:defRPr>
            </a:pPr>
            <a:r>
              <a:t>Merkle Proof chỉ truyền chuỗi băm anh em ẩn danh, hoàn toàn không gửi danh sách tên tệp, kích thước hay cây thư mục qua mạng.</a:t>
            </a:r>
          </a:p>
        </p:txBody>
      </p:sp>
      <p:sp>
        <p:nvSpPr>
          <p:cNvPr id="8" name="Rounded Rectangle 7"/>
          <p:cNvSpPr/>
          <p:nvPr/>
        </p:nvSpPr>
        <p:spPr>
          <a:xfrm>
            <a:off x="6035040" y="1234440"/>
            <a:ext cx="5394960" cy="5257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417320"/>
            <a:ext cx="4937760" cy="4892040"/>
          </a:xfrm>
          <a:prstGeom prst="rect">
            <a:avLst/>
          </a:prstGeom>
          <a:noFill/>
        </p:spPr>
        <p:txBody>
          <a:bodyPr wrap="square">
            <a:spAutoFit/>
          </a:bodyPr>
          <a:lstStyle/>
          <a:p>
            <a:pPr>
              <a:defRPr b="1" sz="1150">
                <a:solidFill>
                  <a:srgbClr val="1E3A8A"/>
                </a:solidFill>
              </a:defRPr>
            </a:pPr>
            <a:r>
              <a:t>ĐỐI CHIẾU CƠ CHẾ BẢO MẬT: THÔNG THƯỜNG VS ĐỀ XUẤT</a:t>
            </a:r>
          </a:p>
          <a:p>
            <a:pPr>
              <a:spcBef>
                <a:spcPts val="450"/>
              </a:spcBef>
              <a:defRPr b="1" sz="950">
                <a:solidFill>
                  <a:srgbClr val="1E3A8A"/>
                </a:solidFill>
              </a:defRPr>
            </a:pPr>
            <a:r>
              <a:t>• So Sánh Chuỗi Băm:</a:t>
            </a:r>
          </a:p>
          <a:p>
            <a:pPr>
              <a:spcBef>
                <a:spcPts val="150"/>
              </a:spcBef>
              <a:defRPr sz="880">
                <a:solidFill>
                  <a:srgbClr val="0F172A"/>
                </a:solidFill>
              </a:defRPr>
            </a:pPr>
            <a:r>
              <a:t>   ✕ Thường: Toán tử == (Dừng sớm)</a:t>
            </a:r>
            <a:br/>
            <a:r>
              <a:t>   ✓ Đề xuất: hmac.compare_digest() O(1)</a:t>
            </a:r>
          </a:p>
          <a:p>
            <a:pPr>
              <a:spcBef>
                <a:spcPts val="450"/>
              </a:spcBef>
              <a:defRPr b="1" sz="950">
                <a:solidFill>
                  <a:srgbClr val="1E3A8A"/>
                </a:solidFill>
              </a:defRPr>
            </a:pPr>
            <a:r>
              <a:t>• Quản Lý Khóa Trong RAM:</a:t>
            </a:r>
          </a:p>
          <a:p>
            <a:pPr>
              <a:spcBef>
                <a:spcPts val="150"/>
              </a:spcBef>
              <a:defRPr sz="880">
                <a:solidFill>
                  <a:srgbClr val="0F172A"/>
                </a:solidFill>
              </a:defRPr>
            </a:pPr>
            <a:r>
              <a:t>   ✕ Thường: Để rác tự thu gom</a:t>
            </a:r>
            <a:br/>
            <a:r>
              <a:t>   ✓ Đề xuất: secure_erase() ghi đè 0x00</a:t>
            </a:r>
          </a:p>
          <a:p>
            <a:pPr>
              <a:spcBef>
                <a:spcPts val="450"/>
              </a:spcBef>
              <a:defRPr b="1" sz="950">
                <a:solidFill>
                  <a:srgbClr val="1E3A8A"/>
                </a:solidFill>
              </a:defRPr>
            </a:pPr>
            <a:r>
              <a:t>• Xác Minh Tệp Qua Mạng:</a:t>
            </a:r>
          </a:p>
          <a:p>
            <a:pPr>
              <a:spcBef>
                <a:spcPts val="150"/>
              </a:spcBef>
              <a:defRPr sz="880">
                <a:solidFill>
                  <a:srgbClr val="0F172A"/>
                </a:solidFill>
              </a:defRPr>
            </a:pPr>
            <a:r>
              <a:t>   ✕ Thường: Tải cả bảng 111 KB</a:t>
            </a:r>
            <a:br/>
            <a:r>
              <a:t>   ✓ Đề xuất: Merkle Proof 1.37 KB</a:t>
            </a:r>
          </a:p>
          <a:p>
            <a:pPr>
              <a:spcBef>
                <a:spcPts val="450"/>
              </a:spcBef>
              <a:defRPr b="1" sz="950">
                <a:solidFill>
                  <a:srgbClr val="1E3A8A"/>
                </a:solidFill>
              </a:defRPr>
            </a:pPr>
            <a:r>
              <a:t>• Rò Rỉ Tên &amp; Cấu Trúc Tệp:</a:t>
            </a:r>
          </a:p>
          <a:p>
            <a:pPr>
              <a:spcBef>
                <a:spcPts val="150"/>
              </a:spcBef>
              <a:defRPr sz="880">
                <a:solidFill>
                  <a:srgbClr val="0F172A"/>
                </a:solidFill>
              </a:defRPr>
            </a:pPr>
            <a:r>
              <a:t>   ✕ Thường: Tiết lộ 100% tên tệp</a:t>
            </a:r>
            <a:br/>
            <a:r>
              <a:t>   ✓ Đề xuất: Zero-Metadata Leakage</a:t>
            </a:r>
          </a:p>
          <a:p>
            <a:pPr>
              <a:spcBef>
                <a:spcPts val="450"/>
              </a:spcBef>
              <a:defRPr b="1" sz="950">
                <a:solidFill>
                  <a:srgbClr val="1E3A8A"/>
                </a:solidFill>
              </a:defRPr>
            </a:pPr>
            <a:r>
              <a:t>• Kháng Va Chạm Lá / Nhánh:</a:t>
            </a:r>
          </a:p>
          <a:p>
            <a:pPr>
              <a:spcBef>
                <a:spcPts val="150"/>
              </a:spcBef>
              <a:defRPr sz="880">
                <a:solidFill>
                  <a:srgbClr val="0F172A"/>
                </a:solidFill>
              </a:defRPr>
            </a:pPr>
            <a:r>
              <a:t>   ✕ Thường: Băm chung H(a || b)</a:t>
            </a:r>
            <a:br/>
            <a:r>
              <a:t>   ✓ Đề xuất: RFC 6962 (0x00 vs 0x01)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4572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728655" cy="868680"/>
          </a:xfrm>
          <a:prstGeom prst="rect">
            <a:avLst/>
          </a:prstGeom>
          <a:noFill/>
        </p:spPr>
        <p:txBody>
          <a:bodyPr wrap="square">
            <a:spAutoFit/>
          </a:bodyPr>
          <a:lstStyle/>
          <a:p>
            <a:pPr>
              <a:defRPr b="1" sz="1050">
                <a:solidFill>
                  <a:srgbClr val="93C5FD"/>
                </a:solidFill>
              </a:defRPr>
            </a:pPr>
            <a:r>
              <a:t>PHẦN 4: THỰC NGHIỆM ĐỊNH LƯỢNG TRÊN DỮ LIỆU LỚN</a:t>
            </a:r>
          </a:p>
          <a:p>
            <a:pPr>
              <a:spcBef>
                <a:spcPts val="200"/>
              </a:spcBef>
              <a:defRPr b="1" sz="1750">
                <a:solidFill>
                  <a:srgbClr val="FFFFFF"/>
                </a:solidFill>
              </a:defRPr>
            </a:pPr>
            <a:r>
              <a:t>8. Thiết Kế 2 Tập Dữ Liệu Kaggle Thực Tế &amp; Phương Pháp Đo Lường</a:t>
            </a:r>
          </a:p>
        </p:txBody>
      </p:sp>
      <p:sp>
        <p:nvSpPr>
          <p:cNvPr id="6" name="Rounded Rectangle 5"/>
          <p:cNvSpPr/>
          <p:nvPr/>
        </p:nvSpPr>
        <p:spPr>
          <a:xfrm>
            <a:off x="731520" y="1234440"/>
            <a:ext cx="5120640" cy="5257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417320"/>
            <a:ext cx="4663440" cy="4937760"/>
          </a:xfrm>
          <a:prstGeom prst="rect">
            <a:avLst/>
          </a:prstGeom>
          <a:noFill/>
        </p:spPr>
        <p:txBody>
          <a:bodyPr wrap="square">
            <a:spAutoFit/>
          </a:bodyPr>
          <a:lstStyle/>
          <a:p>
            <a:pPr>
              <a:defRPr b="1" sz="1200">
                <a:solidFill>
                  <a:srgbClr val="1E3A8A"/>
                </a:solidFill>
              </a:defRPr>
            </a:pPr>
            <a:r>
              <a:t>Đặc Điểm 2 Tập Dữ Liệu Kaggle Thực Nghiệm</a:t>
            </a:r>
          </a:p>
          <a:p>
            <a:pPr>
              <a:spcBef>
                <a:spcPts val="450"/>
              </a:spcBef>
              <a:defRPr b="1" sz="1000">
                <a:solidFill>
                  <a:srgbClr val="2563EB"/>
                </a:solidFill>
              </a:defRPr>
            </a:pPr>
            <a:r>
              <a:t>• 1. Tập dữ liệu Kaggle 1 (kaggle_dataset - Baseline &amp; Tổng thể):</a:t>
            </a:r>
          </a:p>
          <a:p>
            <a:pPr>
              <a:spcBef>
                <a:spcPts val="150"/>
              </a:spcBef>
              <a:defRPr sz="950">
                <a:solidFill>
                  <a:srgbClr val="0F172A"/>
                </a:solidFill>
              </a:defRPr>
            </a:pPr>
            <a:r>
              <a:t>1.115 tệp tin thực tế, tổng dung lượng 29.26 MB.</a:t>
            </a:r>
            <a:br/>
            <a:r>
              <a:t>Phân cấp 23 thư mục đa tầng (root, docs, logs, src, config, media, reports...).</a:t>
            </a:r>
            <a:br/>
            <a:r>
              <a:t>7 loại file thực tế (.txt, .pdf, .docx, .png, .jpg, .csv, .json).</a:t>
            </a:r>
            <a:br/>
            <a:r>
              <a:t>Mục đích: Đối chuẩn thời gian khởi tạo, xác minh và bằng chứng giữa 4 mô hình.</a:t>
            </a:r>
          </a:p>
          <a:p>
            <a:pPr>
              <a:spcBef>
                <a:spcPts val="450"/>
              </a:spcBef>
              <a:defRPr b="1" sz="1000">
                <a:solidFill>
                  <a:srgbClr val="2563EB"/>
                </a:solidFill>
              </a:defRPr>
            </a:pPr>
            <a:r>
              <a:t>• 2. Tập dữ liệu Kaggle 2 (kaggle_dataset_large - Stress Test &amp; Streaming Logs):</a:t>
            </a:r>
          </a:p>
          <a:p>
            <a:pPr>
              <a:spcBef>
                <a:spcPts val="150"/>
              </a:spcBef>
              <a:defRPr sz="950">
                <a:solidFill>
                  <a:srgbClr val="0F172A"/>
                </a:solidFill>
              </a:defRPr>
            </a:pPr>
            <a:r>
              <a:t>5.600 tệp tin thực tế, tổng dung lượng 175.12 MB.</a:t>
            </a:r>
            <a:br/>
            <a:r>
              <a:t>6 danh mục lớn (code_files, documents, images, logs_and_text, structured_data, system_binaries) tại thư mục Downloads của hệ thống.</a:t>
            </a:r>
            <a:br/>
            <a:r>
              <a:t>Mục đích: Kiểm tra độ chịu tải lớn, cập nhật động thời gian thực và streaming logs.</a:t>
            </a:r>
          </a:p>
          <a:p>
            <a:pPr>
              <a:spcBef>
                <a:spcPts val="450"/>
              </a:spcBef>
              <a:defRPr b="1" sz="1000">
                <a:solidFill>
                  <a:srgbClr val="2563EB"/>
                </a:solidFill>
              </a:defRPr>
            </a:pPr>
            <a:r>
              <a:t>• 3. Phương pháp đo lường khoa học chuẩn mực:</a:t>
            </a:r>
          </a:p>
          <a:p>
            <a:pPr>
              <a:spcBef>
                <a:spcPts val="150"/>
              </a:spcBef>
              <a:defRPr sz="950">
                <a:solidFill>
                  <a:srgbClr val="0F172A"/>
                </a:solidFill>
              </a:defRPr>
            </a:pPr>
            <a:r>
              <a:t>Hàm đo CPU: time.perf_counter() nano-giây qua 5 vòng lặp độc lập (Mean &amp; Std Dev).</a:t>
            </a:r>
            <a:br/>
            <a:r>
              <a:t>Môi trường cách ly: Thực hiện trên Isolated Temp Workspace để bảo toàn dữ liệu gốc.</a:t>
            </a:r>
          </a:p>
        </p:txBody>
      </p:sp>
      <p:sp>
        <p:nvSpPr>
          <p:cNvPr id="8" name="Rounded Rectangle 7"/>
          <p:cNvSpPr/>
          <p:nvPr/>
        </p:nvSpPr>
        <p:spPr>
          <a:xfrm>
            <a:off x="6035040" y="1234440"/>
            <a:ext cx="5394960" cy="5257800"/>
          </a:xfrm>
          <a:prstGeom prst="roundRect">
            <a:avLst/>
          </a:prstGeom>
          <a:solidFill>
            <a:srgbClr val="F1F5F9"/>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435608"/>
            <a:ext cx="4937760" cy="4892040"/>
          </a:xfrm>
          <a:prstGeom prst="rect">
            <a:avLst/>
          </a:prstGeom>
          <a:noFill/>
        </p:spPr>
        <p:txBody>
          <a:bodyPr wrap="square">
            <a:spAutoFit/>
          </a:bodyPr>
          <a:lstStyle/>
          <a:p>
            <a:pPr>
              <a:defRPr b="1" sz="1100">
                <a:solidFill>
                  <a:srgbClr val="1E3A8A"/>
                </a:solidFill>
              </a:defRPr>
            </a:pPr>
            <a:r>
              <a:t>[ KHUNG CHỜ SƠ ĐỒ DRAW.IO: SƠ ĐỒ QUY TRÌNH XỬ LÝ 2 TẬP DỮ LIỆU THỰC NGHIỆM KAGGLE (1.115 &amp; 5.600 TỆP TIN) ]</a:t>
            </a:r>
          </a:p>
          <a:p>
            <a:pPr>
              <a:spcBef>
                <a:spcPts val="300"/>
              </a:spcBef>
              <a:defRPr i="1" sz="900">
                <a:solidFill>
                  <a:srgbClr val="64748B"/>
                </a:solidFill>
              </a:defRPr>
            </a:pPr>
            <a:r>
              <a:t>Hướng dẫn: Thiết kế sơ đồ kiến trúc trên Draw.io và chèn hình ảnh xuất ra vào vị trí này.</a:t>
            </a:r>
          </a:p>
          <a:p>
            <a:pPr>
              <a:spcBef>
                <a:spcPts val="700"/>
              </a:spcBef>
              <a:defRPr b="1" sz="950">
                <a:solidFill>
                  <a:srgbClr val="2563EB"/>
                </a:solidFill>
              </a:defRPr>
            </a:pPr>
            <a:r>
              <a:t>CÁC THÀNH PHẦN KIẾN TRÚC BẮT BUỘC:</a:t>
            </a:r>
          </a:p>
          <a:p>
            <a:pPr>
              <a:spcBef>
                <a:spcPts val="350"/>
              </a:spcBef>
              <a:defRPr sz="900">
                <a:solidFill>
                  <a:srgbClr val="0F172A"/>
                </a:solidFill>
              </a:defRPr>
            </a:pPr>
            <a:r>
              <a:t>• Khối 1: Tập Kaggle 1 (1.115 tệp / 29.26 MB) &amp; Tập Kaggle Large (5.600 tệp / 175.12 MB).</a:t>
            </a:r>
          </a:p>
          <a:p>
            <a:pPr>
              <a:spcBef>
                <a:spcPts val="350"/>
              </a:spcBef>
              <a:defRPr sz="900">
                <a:solidFill>
                  <a:srgbClr val="0F172A"/>
                </a:solidFill>
              </a:defRPr>
            </a:pPr>
            <a:r>
              <a:t>• Khối 2: Tiến trình quét cây đĩa, băm song song đa luồng và streaming log terminal.</a:t>
            </a:r>
          </a:p>
          <a:p>
            <a:pPr>
              <a:spcBef>
                <a:spcPts val="350"/>
              </a:spcBef>
              <a:defRPr sz="900">
                <a:solidFill>
                  <a:srgbClr val="0F172A"/>
                </a:solidFill>
              </a:defRPr>
            </a:pPr>
            <a:r>
              <a:t>• Khối 3: Cấu trúc phân tầng Biba gom nhóm theo 6 - 23 thư mục và tính Dirty-Path.</a:t>
            </a:r>
          </a:p>
          <a:p>
            <a:pPr>
              <a:spcBef>
                <a:spcPts val="350"/>
              </a:spcBef>
              <a:defRPr sz="900">
                <a:solidFill>
                  <a:srgbClr val="0F172A"/>
                </a:solidFill>
              </a:defRPr>
            </a:pPr>
            <a:r>
              <a:t>• Khối 4: Đối chuẩn trực diện 4 mô hình bảo mật qua 5 vòng lặp độc lập.</a:t>
            </a:r>
          </a:p>
          <a:p>
            <a:pPr>
              <a:spcBef>
                <a:spcPts val="350"/>
              </a:spcBef>
              <a:defRPr sz="900">
                <a:solidFill>
                  <a:srgbClr val="0F172A"/>
                </a:solidFill>
              </a:defRPr>
            </a:pPr>
            <a:r>
              <a:t>• Khối 5: Phân tích đánh giá sai số, độ trễ mạng và hiệu năng cập nhật động.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4572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728655" cy="868680"/>
          </a:xfrm>
          <a:prstGeom prst="rect">
            <a:avLst/>
          </a:prstGeom>
          <a:noFill/>
        </p:spPr>
        <p:txBody>
          <a:bodyPr wrap="square">
            <a:spAutoFit/>
          </a:bodyPr>
          <a:lstStyle/>
          <a:p>
            <a:pPr>
              <a:defRPr b="1" sz="1050">
                <a:solidFill>
                  <a:srgbClr val="93C5FD"/>
                </a:solidFill>
              </a:defRPr>
            </a:pPr>
            <a:r>
              <a:t>PHẦN 4: ĐỐI CHUẨN HIỆU NĂNG VƯỢT TRỘI</a:t>
            </a:r>
          </a:p>
          <a:p>
            <a:pPr>
              <a:spcBef>
                <a:spcPts val="200"/>
              </a:spcBef>
              <a:defRPr b="1" sz="1750">
                <a:solidFill>
                  <a:srgbClr val="FFFFFF"/>
                </a:solidFill>
              </a:defRPr>
            </a:pPr>
            <a:r>
              <a:t>9. Bảng Đối Sánh Độ Phức Tạp Big-O &amp; Kết Quả Cập Nhật Động</a:t>
            </a:r>
          </a:p>
        </p:txBody>
      </p:sp>
      <p:sp>
        <p:nvSpPr>
          <p:cNvPr id="6" name="Rounded Rectangle 5"/>
          <p:cNvSpPr/>
          <p:nvPr/>
        </p:nvSpPr>
        <p:spPr>
          <a:xfrm>
            <a:off x="731520" y="1234440"/>
            <a:ext cx="10728655"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868680" y="1325880"/>
          <a:ext cx="10454335" cy="2103120"/>
        </p:xfrm>
        <a:graphic>
          <a:graphicData uri="http://schemas.openxmlformats.org/drawingml/2006/table">
            <a:tbl>
              <a:tblPr firstRow="1" bandRow="1">
                <a:tableStyleId>{5C22544A-7EE6-4342-B048-85BDC9FD1C3A}</a:tableStyleId>
              </a:tblPr>
              <a:tblGrid>
                <a:gridCol w="2651760"/>
                <a:gridCol w="1280160"/>
                <a:gridCol w="1645920"/>
                <a:gridCol w="1737360"/>
                <a:gridCol w="1645920"/>
                <a:gridCol w="1493215"/>
              </a:tblGrid>
              <a:tr h="420624">
                <a:tc>
                  <a:txBody>
                    <a:bodyPr/>
                    <a:lstStyle/>
                    <a:p>
                      <a:pPr algn="ctr">
                        <a:defRPr b="1" sz="950">
                          <a:solidFill>
                            <a:srgbClr val="FFFFFF"/>
                          </a:solidFill>
                        </a:defRPr>
                      </a:pPr>
                      <a:r>
                        <a:t>Mô Hình Giải Thuật</a:t>
                      </a:r>
                    </a:p>
                  </a:txBody>
                  <a:tcPr>
                    <a:solidFill>
                      <a:srgbClr val="1E3A8A"/>
                    </a:solidFill>
                  </a:tcPr>
                </a:tc>
                <a:tc>
                  <a:txBody>
                    <a:bodyPr/>
                    <a:lstStyle/>
                    <a:p>
                      <a:pPr algn="ctr">
                        <a:defRPr b="1" sz="950">
                          <a:solidFill>
                            <a:srgbClr val="FFFFFF"/>
                          </a:solidFill>
                        </a:defRPr>
                      </a:pPr>
                      <a:r>
                        <a:t>Khởi Tạo (Build)</a:t>
                      </a:r>
                    </a:p>
                  </a:txBody>
                  <a:tcPr>
                    <a:solidFill>
                      <a:srgbClr val="1E3A8A"/>
                    </a:solidFill>
                  </a:tcPr>
                </a:tc>
                <a:tc>
                  <a:txBody>
                    <a:bodyPr/>
                    <a:lstStyle/>
                    <a:p>
                      <a:pPr algn="ctr">
                        <a:defRPr b="1" sz="950">
                          <a:solidFill>
                            <a:srgbClr val="FFFFFF"/>
                          </a:solidFill>
                        </a:defRPr>
                      </a:pPr>
                      <a:r>
                        <a:t>Xác Minh (Verify)</a:t>
                      </a:r>
                    </a:p>
                  </a:txBody>
                  <a:tcPr>
                    <a:solidFill>
                      <a:srgbClr val="1E3A8A"/>
                    </a:solidFill>
                  </a:tcPr>
                </a:tc>
                <a:tc>
                  <a:txBody>
                    <a:bodyPr/>
                    <a:lstStyle/>
                    <a:p>
                      <a:pPr algn="ctr">
                        <a:defRPr b="1" sz="950">
                          <a:solidFill>
                            <a:srgbClr val="FFFFFF"/>
                          </a:solidFill>
                        </a:defRPr>
                      </a:pPr>
                      <a:r>
                        <a:t>Cập Nhật Động (Update)</a:t>
                      </a:r>
                    </a:p>
                  </a:txBody>
                  <a:tcPr>
                    <a:solidFill>
                      <a:srgbClr val="1E3A8A"/>
                    </a:solidFill>
                  </a:tcPr>
                </a:tc>
                <a:tc>
                  <a:txBody>
                    <a:bodyPr/>
                    <a:lstStyle/>
                    <a:p>
                      <a:pPr algn="ctr">
                        <a:defRPr b="1" sz="950">
                          <a:solidFill>
                            <a:srgbClr val="FFFFFF"/>
                          </a:solidFill>
                        </a:defRPr>
                      </a:pPr>
                      <a:r>
                        <a:t>Kích Thước Proof</a:t>
                      </a:r>
                    </a:p>
                  </a:txBody>
                  <a:tcPr>
                    <a:solidFill>
                      <a:srgbClr val="1E3A8A"/>
                    </a:solidFill>
                  </a:tcPr>
                </a:tc>
                <a:tc>
                  <a:txBody>
                    <a:bodyPr/>
                    <a:lstStyle/>
                    <a:p>
                      <a:pPr algn="ctr">
                        <a:defRPr b="1" sz="950">
                          <a:solidFill>
                            <a:srgbClr val="FFFFFF"/>
                          </a:solidFill>
                        </a:defRPr>
                      </a:pPr>
                      <a:r>
                        <a:t>Kháng 2nd-Preimage</a:t>
                      </a:r>
                    </a:p>
                  </a:txBody>
                  <a:tcPr>
                    <a:solidFill>
                      <a:srgbClr val="1E3A8A"/>
                    </a:solidFill>
                  </a:tcPr>
                </a:tc>
              </a:tr>
              <a:tr h="420624">
                <a:tc>
                  <a:txBody>
                    <a:bodyPr/>
                    <a:lstStyle/>
                    <a:p>
                      <a:pPr>
                        <a:defRPr sz="880">
                          <a:solidFill>
                            <a:srgbClr val="0F172A"/>
                          </a:solidFill>
                        </a:defRPr>
                      </a:pPr>
                      <a:r>
                        <a:t>1. Danh sách băm phẳng SHA-256</a:t>
                      </a:r>
                    </a:p>
                  </a:txBody>
                  <a:tcPr>
                    <a:solidFill>
                      <a:srgbClr val="FFFFFF"/>
                    </a:solidFill>
                  </a:tcPr>
                </a:tc>
                <a:tc>
                  <a:txBody>
                    <a:bodyPr/>
                    <a:lstStyle/>
                    <a:p>
                      <a:pPr algn="ctr">
                        <a:defRPr sz="880">
                          <a:solidFill>
                            <a:srgbClr val="0F172A"/>
                          </a:solidFill>
                        </a:defRPr>
                      </a:pPr>
                      <a:r>
                        <a:t>O(N)  [~62.6 ms]</a:t>
                      </a:r>
                    </a:p>
                  </a:txBody>
                  <a:tcPr>
                    <a:solidFill>
                      <a:srgbClr val="FFFFFF"/>
                    </a:solidFill>
                  </a:tcPr>
                </a:tc>
                <a:tc>
                  <a:txBody>
                    <a:bodyPr/>
                    <a:lstStyle/>
                    <a:p>
                      <a:pPr algn="ctr">
                        <a:defRPr sz="880">
                          <a:solidFill>
                            <a:srgbClr val="0F172A"/>
                          </a:solidFill>
                        </a:defRPr>
                      </a:pPr>
                      <a:r>
                        <a:t>O(N) tuyến tính [0.17 ms]</a:t>
                      </a:r>
                    </a:p>
                  </a:txBody>
                  <a:tcPr>
                    <a:solidFill>
                      <a:srgbClr val="FFFFFF"/>
                    </a:solidFill>
                  </a:tcPr>
                </a:tc>
                <a:tc>
                  <a:txBody>
                    <a:bodyPr/>
                    <a:lstStyle/>
                    <a:p>
                      <a:pPr algn="ctr">
                        <a:defRPr sz="880">
                          <a:solidFill>
                            <a:srgbClr val="0F172A"/>
                          </a:solidFill>
                        </a:defRPr>
                      </a:pPr>
                      <a:r>
                        <a:t>O(N) băm lại cả danh mục</a:t>
                      </a:r>
                    </a:p>
                  </a:txBody>
                  <a:tcPr>
                    <a:solidFill>
                      <a:srgbClr val="FFFFFF"/>
                    </a:solidFill>
                  </a:tcPr>
                </a:tc>
                <a:tc>
                  <a:txBody>
                    <a:bodyPr/>
                    <a:lstStyle/>
                    <a:p>
                      <a:pPr algn="ctr">
                        <a:defRPr sz="880">
                          <a:solidFill>
                            <a:srgbClr val="0F172A"/>
                          </a:solidFill>
                        </a:defRPr>
                      </a:pPr>
                      <a:r>
                        <a:t>O(N) tải cả bảng 111 KB</a:t>
                      </a:r>
                    </a:p>
                  </a:txBody>
                  <a:tcPr>
                    <a:solidFill>
                      <a:srgbClr val="FFFFFF"/>
                    </a:solidFill>
                  </a:tcPr>
                </a:tc>
                <a:tc>
                  <a:txBody>
                    <a:bodyPr/>
                    <a:lstStyle/>
                    <a:p>
                      <a:pPr algn="ctr">
                        <a:defRPr sz="880">
                          <a:solidFill>
                            <a:srgbClr val="0F172A"/>
                          </a:solidFill>
                        </a:defRPr>
                      </a:pPr>
                      <a:r>
                        <a:t>Có (nhờ SHA-256)</a:t>
                      </a:r>
                    </a:p>
                  </a:txBody>
                  <a:tcPr>
                    <a:solidFill>
                      <a:srgbClr val="FFFFFF"/>
                    </a:solidFill>
                  </a:tcPr>
                </a:tc>
              </a:tr>
              <a:tr h="420624">
                <a:tc>
                  <a:txBody>
                    <a:bodyPr/>
                    <a:lstStyle/>
                    <a:p>
                      <a:pPr>
                        <a:defRPr sz="880">
                          <a:solidFill>
                            <a:srgbClr val="0F172A"/>
                          </a:solidFill>
                        </a:defRPr>
                      </a:pPr>
                      <a:r>
                        <a:t>2. Danh sách băm có khóa HMAC-SHA256</a:t>
                      </a:r>
                    </a:p>
                  </a:txBody>
                  <a:tcPr>
                    <a:solidFill>
                      <a:srgbClr val="F8FAFC"/>
                    </a:solidFill>
                  </a:tcPr>
                </a:tc>
                <a:tc>
                  <a:txBody>
                    <a:bodyPr/>
                    <a:lstStyle/>
                    <a:p>
                      <a:pPr algn="ctr">
                        <a:defRPr sz="880">
                          <a:solidFill>
                            <a:srgbClr val="0F172A"/>
                          </a:solidFill>
                        </a:defRPr>
                      </a:pPr>
                      <a:r>
                        <a:t>O(N)  [~60.6 ms]</a:t>
                      </a:r>
                    </a:p>
                  </a:txBody>
                  <a:tcPr>
                    <a:solidFill>
                      <a:srgbClr val="F8FAFC"/>
                    </a:solidFill>
                  </a:tcPr>
                </a:tc>
                <a:tc>
                  <a:txBody>
                    <a:bodyPr/>
                    <a:lstStyle/>
                    <a:p>
                      <a:pPr algn="ctr">
                        <a:defRPr sz="880">
                          <a:solidFill>
                            <a:srgbClr val="0F172A"/>
                          </a:solidFill>
                        </a:defRPr>
                      </a:pPr>
                      <a:r>
                        <a:t>O(N) tuyến tính [0.07 ms]</a:t>
                      </a:r>
                    </a:p>
                  </a:txBody>
                  <a:tcPr>
                    <a:solidFill>
                      <a:srgbClr val="F8FAFC"/>
                    </a:solidFill>
                  </a:tcPr>
                </a:tc>
                <a:tc>
                  <a:txBody>
                    <a:bodyPr/>
                    <a:lstStyle/>
                    <a:p>
                      <a:pPr algn="ctr">
                        <a:defRPr sz="880">
                          <a:solidFill>
                            <a:srgbClr val="0F172A"/>
                          </a:solidFill>
                        </a:defRPr>
                      </a:pPr>
                      <a:r>
                        <a:t>O(N) băm lại cả danh mục</a:t>
                      </a:r>
                    </a:p>
                  </a:txBody>
                  <a:tcPr>
                    <a:solidFill>
                      <a:srgbClr val="F8FAFC"/>
                    </a:solidFill>
                  </a:tcPr>
                </a:tc>
                <a:tc>
                  <a:txBody>
                    <a:bodyPr/>
                    <a:lstStyle/>
                    <a:p>
                      <a:pPr algn="ctr">
                        <a:defRPr sz="880">
                          <a:solidFill>
                            <a:srgbClr val="0F172A"/>
                          </a:solidFill>
                        </a:defRPr>
                      </a:pPr>
                      <a:r>
                        <a:t>O(N) tải bảng &amp; lộ khóa K</a:t>
                      </a:r>
                    </a:p>
                  </a:txBody>
                  <a:tcPr>
                    <a:solidFill>
                      <a:srgbClr val="F8FAFC"/>
                    </a:solidFill>
                  </a:tcPr>
                </a:tc>
                <a:tc>
                  <a:txBody>
                    <a:bodyPr/>
                    <a:lstStyle/>
                    <a:p>
                      <a:pPr algn="ctr">
                        <a:defRPr sz="880">
                          <a:solidFill>
                            <a:srgbClr val="0F172A"/>
                          </a:solidFill>
                        </a:defRPr>
                      </a:pPr>
                      <a:r>
                        <a:t>Có (kèm MAC)</a:t>
                      </a:r>
                    </a:p>
                  </a:txBody>
                  <a:tcPr>
                    <a:solidFill>
                      <a:srgbClr val="F8FAFC"/>
                    </a:solidFill>
                  </a:tcPr>
                </a:tc>
              </a:tr>
              <a:tr h="420624">
                <a:tc>
                  <a:txBody>
                    <a:bodyPr/>
                    <a:lstStyle/>
                    <a:p>
                      <a:pPr>
                        <a:defRPr sz="880">
                          <a:solidFill>
                            <a:srgbClr val="0F172A"/>
                          </a:solidFill>
                        </a:defRPr>
                      </a:pPr>
                      <a:r>
                        <a:t>3. Cây Merkle chuẩn (Ralph Merkle 1979)</a:t>
                      </a:r>
                    </a:p>
                  </a:txBody>
                  <a:tcPr>
                    <a:solidFill>
                      <a:srgbClr val="FFFFFF"/>
                    </a:solidFill>
                  </a:tcPr>
                </a:tc>
                <a:tc>
                  <a:txBody>
                    <a:bodyPr/>
                    <a:lstStyle/>
                    <a:p>
                      <a:pPr algn="ctr">
                        <a:defRPr sz="880">
                          <a:solidFill>
                            <a:srgbClr val="0F172A"/>
                          </a:solidFill>
                        </a:defRPr>
                      </a:pPr>
                      <a:r>
                        <a:t>O(N)  [~60.7 ms]</a:t>
                      </a:r>
                    </a:p>
                  </a:txBody>
                  <a:tcPr>
                    <a:solidFill>
                      <a:srgbClr val="FFFFFF"/>
                    </a:solidFill>
                  </a:tcPr>
                </a:tc>
                <a:tc>
                  <a:txBody>
                    <a:bodyPr/>
                    <a:lstStyle/>
                    <a:p>
                      <a:pPr algn="ctr">
                        <a:defRPr sz="880">
                          <a:solidFill>
                            <a:srgbClr val="0F172A"/>
                          </a:solidFill>
                        </a:defRPr>
                      </a:pPr>
                      <a:r>
                        <a:t>O(log N) [0.02 ms]</a:t>
                      </a:r>
                    </a:p>
                  </a:txBody>
                  <a:tcPr>
                    <a:solidFill>
                      <a:srgbClr val="FFFFFF"/>
                    </a:solidFill>
                  </a:tcPr>
                </a:tc>
                <a:tc>
                  <a:txBody>
                    <a:bodyPr/>
                    <a:lstStyle/>
                    <a:p>
                      <a:pPr algn="ctr">
                        <a:defRPr sz="880">
                          <a:solidFill>
                            <a:srgbClr val="0F172A"/>
                          </a:solidFill>
                        </a:defRPr>
                      </a:pPr>
                      <a:r>
                        <a:t>O(N) bế tắc phải Rebuild [73 ms]</a:t>
                      </a:r>
                    </a:p>
                  </a:txBody>
                  <a:tcPr>
                    <a:solidFill>
                      <a:srgbClr val="FFFFFF"/>
                    </a:solidFill>
                  </a:tcPr>
                </a:tc>
                <a:tc>
                  <a:txBody>
                    <a:bodyPr/>
                    <a:lstStyle/>
                    <a:p>
                      <a:pPr algn="ctr">
                        <a:defRPr sz="880">
                          <a:solidFill>
                            <a:srgbClr val="0F172A"/>
                          </a:solidFill>
                        </a:defRPr>
                      </a:pPr>
                      <a:r>
                        <a:t>O(log N) [990 Bytes]</a:t>
                      </a:r>
                    </a:p>
                  </a:txBody>
                  <a:tcPr>
                    <a:solidFill>
                      <a:srgbClr val="FFFFFF"/>
                    </a:solidFill>
                  </a:tcPr>
                </a:tc>
                <a:tc>
                  <a:txBody>
                    <a:bodyPr/>
                    <a:lstStyle/>
                    <a:p>
                      <a:pPr algn="ctr">
                        <a:defRPr sz="880">
                          <a:solidFill>
                            <a:srgbClr val="0F172A"/>
                          </a:solidFill>
                        </a:defRPr>
                      </a:pPr>
                      <a:r>
                        <a:t>Nguy cơ va chạm nút</a:t>
                      </a:r>
                    </a:p>
                  </a:txBody>
                  <a:tcPr>
                    <a:solidFill>
                      <a:srgbClr val="FFFFFF"/>
                    </a:solidFill>
                  </a:tcPr>
                </a:tc>
              </a:tr>
              <a:tr h="420624">
                <a:tc>
                  <a:txBody>
                    <a:bodyPr/>
                    <a:lstStyle/>
                    <a:p>
                      <a:pPr>
                        <a:defRPr sz="880" b="1">
                          <a:solidFill>
                            <a:srgbClr val="059669"/>
                          </a:solidFill>
                        </a:defRPr>
                      </a:pPr>
                      <a:r>
                        <a:t>4. HD-Merkle Tree + Dirty-Path (Đề xuất)</a:t>
                      </a:r>
                    </a:p>
                  </a:txBody>
                  <a:tcPr>
                    <a:solidFill>
                      <a:srgbClr val="ECFDF5"/>
                    </a:solidFill>
                  </a:tcPr>
                </a:tc>
                <a:tc>
                  <a:txBody>
                    <a:bodyPr/>
                    <a:lstStyle/>
                    <a:p>
                      <a:pPr algn="ctr">
                        <a:defRPr sz="880" b="1">
                          <a:solidFill>
                            <a:srgbClr val="059669"/>
                          </a:solidFill>
                        </a:defRPr>
                      </a:pPr>
                      <a:r>
                        <a:t>O(N)  [~89.9 ms]</a:t>
                      </a:r>
                    </a:p>
                  </a:txBody>
                  <a:tcPr>
                    <a:solidFill>
                      <a:srgbClr val="ECFDF5"/>
                    </a:solidFill>
                  </a:tcPr>
                </a:tc>
                <a:tc>
                  <a:txBody>
                    <a:bodyPr/>
                    <a:lstStyle/>
                    <a:p>
                      <a:pPr algn="ctr">
                        <a:defRPr sz="880" b="1">
                          <a:solidFill>
                            <a:srgbClr val="059669"/>
                          </a:solidFill>
                        </a:defRPr>
                      </a:pPr>
                      <a:r>
                        <a:t>O(log N) [0.02 ms (nhanh 8.5x)]</a:t>
                      </a:r>
                    </a:p>
                  </a:txBody>
                  <a:tcPr>
                    <a:solidFill>
                      <a:srgbClr val="ECFDF5"/>
                    </a:solidFill>
                  </a:tcPr>
                </a:tc>
                <a:tc>
                  <a:txBody>
                    <a:bodyPr/>
                    <a:lstStyle/>
                    <a:p>
                      <a:pPr algn="ctr">
                        <a:defRPr sz="880" b="1">
                          <a:solidFill>
                            <a:srgbClr val="059669"/>
                          </a:solidFill>
                        </a:defRPr>
                      </a:pPr>
                      <a:r>
                        <a:t>O(log N) [0.16 ms (nhanh 458-748x)]</a:t>
                      </a:r>
                    </a:p>
                  </a:txBody>
                  <a:tcPr>
                    <a:solidFill>
                      <a:srgbClr val="ECFDF5"/>
                    </a:solidFill>
                  </a:tcPr>
                </a:tc>
                <a:tc>
                  <a:txBody>
                    <a:bodyPr/>
                    <a:lstStyle/>
                    <a:p>
                      <a:pPr algn="ctr">
                        <a:defRPr sz="880" b="1">
                          <a:solidFill>
                            <a:srgbClr val="059669"/>
                          </a:solidFill>
                        </a:defRPr>
                      </a:pPr>
                      <a:r>
                        <a:t>O(log N) [1.37 KB (tiết kiệm 98.8%)]</a:t>
                      </a:r>
                    </a:p>
                  </a:txBody>
                  <a:tcPr>
                    <a:solidFill>
                      <a:srgbClr val="ECFDF5"/>
                    </a:solidFill>
                  </a:tcPr>
                </a:tc>
                <a:tc>
                  <a:txBody>
                    <a:bodyPr/>
                    <a:lstStyle/>
                    <a:p>
                      <a:pPr algn="ctr">
                        <a:defRPr sz="880" b="1">
                          <a:solidFill>
                            <a:srgbClr val="059669"/>
                          </a:solidFill>
                        </a:defRPr>
                      </a:pPr>
                      <a:r>
                        <a:t>Tuyệt đối (RFC 6962)</a:t>
                      </a:r>
                    </a:p>
                  </a:txBody>
                  <a:tcPr>
                    <a:solidFill>
                      <a:srgbClr val="ECFDF5"/>
                    </a:solidFill>
                  </a:tcPr>
                </a:tc>
              </a:tr>
            </a:tbl>
          </a:graphicData>
        </a:graphic>
      </p:graphicFrame>
      <p:sp>
        <p:nvSpPr>
          <p:cNvPr id="8" name="Rounded Rectangle 7"/>
          <p:cNvSpPr/>
          <p:nvPr/>
        </p:nvSpPr>
        <p:spPr>
          <a:xfrm>
            <a:off x="731520" y="3657600"/>
            <a:ext cx="5120640" cy="2880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749039"/>
            <a:ext cx="4754880" cy="2697480"/>
          </a:xfrm>
          <a:prstGeom prst="rect">
            <a:avLst/>
          </a:prstGeom>
          <a:noFill/>
        </p:spPr>
        <p:txBody>
          <a:bodyPr wrap="square">
            <a:spAutoFit/>
          </a:bodyPr>
          <a:lstStyle/>
          <a:p>
            <a:pPr>
              <a:defRPr b="1" sz="1150">
                <a:solidFill>
                  <a:srgbClr val="1E3A8A"/>
                </a:solidFill>
              </a:defRPr>
            </a:pPr>
            <a:r>
              <a:t>CHỈ SỐ THỰC NGHIỆM ĐỐI ĐẦU ĐỘT PHÁ</a:t>
            </a:r>
          </a:p>
          <a:p>
            <a:pPr>
              <a:spcBef>
                <a:spcPts val="400"/>
              </a:spcBef>
            </a:pPr>
            <a:r>
              <a:rPr b="1" sz="1200">
                <a:solidFill>
                  <a:srgbClr val="059669"/>
                </a:solidFill>
              </a:rPr>
              <a:t>• 458x  </a:t>
            </a:r>
            <a:r>
              <a:rPr b="1" sz="950">
                <a:solidFill>
                  <a:srgbClr val="1E3A8A"/>
                </a:solidFill>
              </a:rPr>
              <a:t>Tốc Độ Cập Nhật Khi Sửa 1 Tệp</a:t>
            </a:r>
          </a:p>
          <a:p>
            <a:pPr>
              <a:defRPr sz="850">
                <a:solidFill>
                  <a:srgbClr val="0F172A"/>
                </a:solidFill>
              </a:defRPr>
            </a:pPr>
            <a:r>
              <a:t>   Standard Merkle: 73.42 ms  ➔  HD-Merkle: 0.16 ms (Tiết kiệm 99.8% thời gian)</a:t>
            </a:r>
          </a:p>
          <a:p>
            <a:pPr>
              <a:spcBef>
                <a:spcPts val="400"/>
              </a:spcBef>
            </a:pPr>
            <a:r>
              <a:rPr b="1" sz="1200">
                <a:solidFill>
                  <a:srgbClr val="059669"/>
                </a:solidFill>
              </a:rPr>
              <a:t>• 8.5x  </a:t>
            </a:r>
            <a:r>
              <a:rPr b="1" sz="950">
                <a:solidFill>
                  <a:srgbClr val="1E3A8A"/>
                </a:solidFill>
              </a:rPr>
              <a:t>Tốc Độ Xác Minh Độc Lập 1 Tệp</a:t>
            </a:r>
          </a:p>
          <a:p>
            <a:pPr>
              <a:defRPr sz="850">
                <a:solidFill>
                  <a:srgbClr val="0F172A"/>
                </a:solidFill>
              </a:defRPr>
            </a:pPr>
            <a:r>
              <a:t>   Flat SHA-256: 0.17 ms  ➔  HD-Merkle: 0.02 ms (Không cần duyệt mảng tuyến tính)</a:t>
            </a:r>
          </a:p>
          <a:p>
            <a:pPr>
              <a:spcBef>
                <a:spcPts val="400"/>
              </a:spcBef>
            </a:pPr>
            <a:r>
              <a:rPr b="1" sz="1200">
                <a:solidFill>
                  <a:srgbClr val="059669"/>
                </a:solidFill>
              </a:rPr>
              <a:t>• 98.8%  </a:t>
            </a:r>
            <a:r>
              <a:rPr b="1" sz="950">
                <a:solidFill>
                  <a:srgbClr val="1E3A8A"/>
                </a:solidFill>
              </a:rPr>
              <a:t>Tiết Kiệm Băng Thông Mạng</a:t>
            </a:r>
          </a:p>
          <a:p>
            <a:pPr>
              <a:defRPr sz="850">
                <a:solidFill>
                  <a:srgbClr val="0F172A"/>
                </a:solidFill>
              </a:defRPr>
            </a:pPr>
            <a:r>
              <a:t>   Manifest tải cả bảng: 111.13 KB  ➔  Inclusion Proof: chỉ 1.37 KB (1.369 Bytes)</a:t>
            </a:r>
          </a:p>
        </p:txBody>
      </p:sp>
      <p:sp>
        <p:nvSpPr>
          <p:cNvPr id="10" name="Rounded Rectangle 9"/>
          <p:cNvSpPr/>
          <p:nvPr/>
        </p:nvSpPr>
        <p:spPr>
          <a:xfrm>
            <a:off x="6035040" y="3657600"/>
            <a:ext cx="5425135" cy="2880360"/>
          </a:xfrm>
          <a:prstGeom prst="roundRect">
            <a:avLst/>
          </a:prstGeom>
          <a:solidFill>
            <a:srgbClr val="0F172A"/>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0" y="3767328"/>
            <a:ext cx="5059375" cy="320040"/>
          </a:xfrm>
          <a:prstGeom prst="rect">
            <a:avLst/>
          </a:prstGeom>
          <a:noFill/>
        </p:spPr>
        <p:txBody>
          <a:bodyPr wrap="square">
            <a:spAutoFit/>
          </a:bodyPr>
          <a:lstStyle/>
          <a:p>
            <a:pPr>
              <a:defRPr b="1" sz="900">
                <a:solidFill>
                  <a:srgbClr val="94A3B8"/>
                </a:solidFill>
                <a:latin typeface="Consolas"/>
              </a:defRPr>
            </a:pPr>
            <a:r>
              <a:t>● ● ●  BENCHMARK CONSOLE OUTPUT (POWERSHELL)</a:t>
            </a:r>
          </a:p>
        </p:txBody>
      </p:sp>
      <p:sp>
        <p:nvSpPr>
          <p:cNvPr id="12" name="TextBox 11"/>
          <p:cNvSpPr txBox="1"/>
          <p:nvPr/>
        </p:nvSpPr>
        <p:spPr>
          <a:xfrm>
            <a:off x="6217920" y="4069080"/>
            <a:ext cx="5059375" cy="2377440"/>
          </a:xfrm>
          <a:prstGeom prst="rect">
            <a:avLst/>
          </a:prstGeom>
          <a:noFill/>
        </p:spPr>
        <p:txBody>
          <a:bodyPr wrap="square">
            <a:spAutoFit/>
          </a:bodyPr>
          <a:lstStyle/>
          <a:p>
            <a:pPr>
              <a:spcBef>
                <a:spcPts val="250"/>
              </a:spcBef>
            </a:pPr>
            <a:r>
              <a:rPr b="1" sz="850">
                <a:solidFill>
                  <a:srgbClr val="FACC15"/>
                </a:solidFill>
                <a:latin typeface="Consolas"/>
              </a:rPr>
              <a:t>PS D:\GK&gt; </a:t>
            </a:r>
            <a:r>
              <a:rPr sz="850">
                <a:solidFill>
                  <a:srgbClr val="F1F5F9"/>
                </a:solidFill>
                <a:latin typeface="Consolas"/>
              </a:rPr>
              <a:t>python -m src.benchmarks.benchmark_all</a:t>
            </a:r>
          </a:p>
          <a:p>
            <a:pPr>
              <a:spcBef>
                <a:spcPts val="250"/>
              </a:spcBef>
            </a:pPr>
            <a:r>
              <a:rPr b="1" sz="850">
                <a:solidFill>
                  <a:srgbClr val="38BDF8"/>
                </a:solidFill>
                <a:latin typeface="Consolas"/>
              </a:rPr>
              <a:t>[DATASET]  </a:t>
            </a:r>
            <a:r>
              <a:rPr sz="850">
                <a:solidFill>
                  <a:srgbClr val="F1F5F9"/>
                </a:solidFill>
                <a:latin typeface="Consolas"/>
              </a:rPr>
              <a:t>kaggle_dataset (1,115 files | 29.26 MB | 23 dirs)</a:t>
            </a:r>
          </a:p>
          <a:p>
            <a:pPr>
              <a:spcBef>
                <a:spcPts val="250"/>
              </a:spcBef>
            </a:pPr>
            <a:r>
              <a:rPr b="1" sz="850">
                <a:solidFill>
                  <a:srgbClr val="F87171"/>
                </a:solidFill>
                <a:latin typeface="Consolas"/>
              </a:rPr>
              <a:t>[BASELINE] </a:t>
            </a:r>
            <a:r>
              <a:rPr sz="850">
                <a:solidFill>
                  <a:srgbClr val="F87171"/>
                </a:solidFill>
                <a:latin typeface="Consolas"/>
              </a:rPr>
              <a:t>Standard Merkle Tree Rebuild : 73.42 ms  (O(N))</a:t>
            </a:r>
          </a:p>
          <a:p>
            <a:pPr>
              <a:spcBef>
                <a:spcPts val="250"/>
              </a:spcBef>
            </a:pPr>
            <a:r>
              <a:rPr b="1" sz="850">
                <a:solidFill>
                  <a:srgbClr val="34D399"/>
                </a:solidFill>
                <a:latin typeface="Consolas"/>
              </a:rPr>
              <a:t>[PROPOSED] </a:t>
            </a:r>
            <a:r>
              <a:rPr sz="850">
                <a:solidFill>
                  <a:srgbClr val="34D399"/>
                </a:solidFill>
                <a:latin typeface="Consolas"/>
              </a:rPr>
              <a:t>HD-Merkle Dynamic Dirty-Path :  0.16 ms  (O(log N))</a:t>
            </a:r>
          </a:p>
          <a:p>
            <a:pPr>
              <a:spcBef>
                <a:spcPts val="250"/>
              </a:spcBef>
            </a:pPr>
            <a:r>
              <a:rPr b="1" sz="850">
                <a:solidFill>
                  <a:srgbClr val="34D399"/>
                </a:solidFill>
                <a:latin typeface="Consolas"/>
              </a:rPr>
              <a:t>[SPEEDUP]  </a:t>
            </a:r>
            <a:r>
              <a:rPr sz="850">
                <a:solidFill>
                  <a:srgbClr val="34D399"/>
                </a:solidFill>
                <a:latin typeface="Consolas"/>
              </a:rPr>
              <a:t>&gt;&gt;&gt; 458.8x FASTER | CPU OVERHEAD SAVED: 99.78%</a:t>
            </a:r>
          </a:p>
          <a:p>
            <a:pPr>
              <a:spcBef>
                <a:spcPts val="250"/>
              </a:spcBef>
            </a:pPr>
            <a:r>
              <a:rPr b="1" sz="850">
                <a:solidFill>
                  <a:srgbClr val="38BDF8"/>
                </a:solidFill>
                <a:latin typeface="Consolas"/>
              </a:rPr>
              <a:t>[VERIFY]   </a:t>
            </a:r>
            <a:r>
              <a:rPr sz="850">
                <a:solidFill>
                  <a:srgbClr val="F1F5F9"/>
                </a:solidFill>
                <a:latin typeface="Consolas"/>
              </a:rPr>
              <a:t>Single File Verify: 0.02 ms (vs Flat: 0.17 ms | 8.5x)</a:t>
            </a:r>
          </a:p>
          <a:p>
            <a:pPr>
              <a:spcBef>
                <a:spcPts val="250"/>
              </a:spcBef>
            </a:pPr>
            <a:r>
              <a:rPr b="1" sz="850">
                <a:solidFill>
                  <a:srgbClr val="38BDF8"/>
                </a:solidFill>
                <a:latin typeface="Consolas"/>
              </a:rPr>
              <a:t>[PROOF]    </a:t>
            </a:r>
            <a:r>
              <a:rPr sz="850">
                <a:solidFill>
                  <a:srgbClr val="F1F5F9"/>
                </a:solidFill>
                <a:latin typeface="Consolas"/>
              </a:rPr>
              <a:t>Compact Proof: 1,369 Bytes (Saved: 98.8% Bandwidth)</a:t>
            </a:r>
          </a:p>
          <a:p>
            <a:pPr>
              <a:spcBef>
                <a:spcPts val="250"/>
              </a:spcBef>
            </a:pPr>
            <a:r>
              <a:rPr b="1" sz="850">
                <a:solidFill>
                  <a:srgbClr val="34D399"/>
                </a:solidFill>
                <a:latin typeface="Consolas"/>
              </a:rPr>
              <a:t>[STATUS]   </a:t>
            </a:r>
            <a:r>
              <a:rPr sz="850">
                <a:solidFill>
                  <a:srgbClr val="34D399"/>
                </a:solidFill>
                <a:latin typeface="Consolas"/>
              </a:rPr>
              <a:t>100% RFC 6962 Domain Separation &amp; Zero Preimage OK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4572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728655" cy="868680"/>
          </a:xfrm>
          <a:prstGeom prst="rect">
            <a:avLst/>
          </a:prstGeom>
          <a:noFill/>
        </p:spPr>
        <p:txBody>
          <a:bodyPr wrap="square">
            <a:spAutoFit/>
          </a:bodyPr>
          <a:lstStyle/>
          <a:p>
            <a:pPr>
              <a:defRPr b="1" sz="1050">
                <a:solidFill>
                  <a:srgbClr val="93C5FD"/>
                </a:solidFill>
              </a:defRPr>
            </a:pPr>
            <a:r>
              <a:t>PHẦN 5: KIỂM ĐỊNH AN NINH MẬT MÃ HÌNH THỨC</a:t>
            </a:r>
          </a:p>
          <a:p>
            <a:pPr>
              <a:spcBef>
                <a:spcPts val="200"/>
              </a:spcBef>
              <a:defRPr b="1" sz="1750">
                <a:solidFill>
                  <a:srgbClr val="FFFFFF"/>
                </a:solidFill>
              </a:defRPr>
            </a:pPr>
            <a:r>
              <a:t>10. Khung 7 Trò Chơi An Ninh Mật Mã Học (Games 1 – 4)</a:t>
            </a:r>
          </a:p>
        </p:txBody>
      </p:sp>
      <p:sp>
        <p:nvSpPr>
          <p:cNvPr id="6" name="Rounded Rectangle 5"/>
          <p:cNvSpPr/>
          <p:nvPr/>
        </p:nvSpPr>
        <p:spPr>
          <a:xfrm>
            <a:off x="731520" y="1234440"/>
            <a:ext cx="5303520" cy="5257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417320"/>
            <a:ext cx="4846320" cy="4937760"/>
          </a:xfrm>
          <a:prstGeom prst="rect">
            <a:avLst/>
          </a:prstGeom>
          <a:noFill/>
        </p:spPr>
        <p:txBody>
          <a:bodyPr wrap="square">
            <a:spAutoFit/>
          </a:bodyPr>
          <a:lstStyle/>
          <a:p>
            <a:pPr>
              <a:defRPr b="1" sz="1200">
                <a:solidFill>
                  <a:srgbClr val="1E3A8A"/>
                </a:solidFill>
              </a:defRPr>
            </a:pPr>
            <a:r>
              <a:t>Bốn Mô Hình Kiểm Định Toán Học Đối Kháng (Games 1 – 4)</a:t>
            </a:r>
          </a:p>
          <a:p>
            <a:pPr>
              <a:spcBef>
                <a:spcPts val="450"/>
              </a:spcBef>
              <a:defRPr b="1" sz="969">
                <a:solidFill>
                  <a:srgbClr val="2563EB"/>
                </a:solidFill>
              </a:defRPr>
            </a:pPr>
            <a:r>
              <a:t>• Game 1: Chống tấn công tìm va chạm mã băm (PPT Adversary):</a:t>
            </a:r>
          </a:p>
          <a:p>
            <a:pPr>
              <a:spcBef>
                <a:spcPts val="150"/>
              </a:spcBef>
              <a:defRPr sz="919">
                <a:solidFill>
                  <a:srgbClr val="0F172A"/>
                </a:solidFill>
              </a:defRPr>
            </a:pPr>
            <a:r>
              <a:t>Kẻ thù thời gian đa thức ngẫu nhiên cố tìm 2 tệp A != B sao cho SHA256(A) = SHA256(B).</a:t>
            </a:r>
            <a:br/>
            <a:r>
              <a:t>Thực nghiệm 50 lượt ngẫu nhiên: Kẻ thù thắng 0/50 lượt. Lợi thế Adv(A) = 0.0 &lt;= 2^-128. Kháng va chạm an toàn tuyệt đối.</a:t>
            </a:r>
          </a:p>
          <a:p>
            <a:pPr>
              <a:spcBef>
                <a:spcPts val="450"/>
              </a:spcBef>
              <a:defRPr b="1" sz="969">
                <a:solidFill>
                  <a:srgbClr val="2563EB"/>
                </a:solidFill>
              </a:defRPr>
            </a:pPr>
            <a:r>
              <a:t>• Game 2: Chống kẻ tấn công đường truyền mạng (Dolev–Yao):</a:t>
            </a:r>
          </a:p>
          <a:p>
            <a:pPr>
              <a:spcBef>
                <a:spcPts val="150"/>
              </a:spcBef>
              <a:defRPr sz="919">
                <a:solidFill>
                  <a:srgbClr val="0F172A"/>
                </a:solidFill>
              </a:defRPr>
            </a:pPr>
            <a:r>
              <a:t>Kẻ thù có quyền chặn bắt, sửa đổi gói tin, tráo Proof, hoặc đổi đường dẫn tệp.</a:t>
            </a:r>
            <a:br/>
            <a:r>
              <a:t>Client xác minh qua Root Hash tin cậy và lần ngược chuỗi Proof: Phát hiện chính xác 100% mọi hành vi can thiệp làm sai lệch Root Hash.</a:t>
            </a:r>
          </a:p>
          <a:p>
            <a:pPr>
              <a:spcBef>
                <a:spcPts val="450"/>
              </a:spcBef>
              <a:defRPr b="1" sz="969">
                <a:solidFill>
                  <a:srgbClr val="2563EB"/>
                </a:solidFill>
              </a:defRPr>
            </a:pPr>
            <a:r>
              <a:t>• Game 3: Phân tách miền nút lá và nút nhánh (RFC 6962):</a:t>
            </a:r>
          </a:p>
          <a:p>
            <a:pPr>
              <a:spcBef>
                <a:spcPts val="150"/>
              </a:spcBef>
              <a:defRPr sz="919">
                <a:solidFill>
                  <a:srgbClr val="0F172A"/>
                </a:solidFill>
              </a:defRPr>
            </a:pPr>
            <a:r>
              <a:t>Chống kẻ tấn công ghép chuỗi nút lá thành nút nhánh giả mạo để vượt qua kiểm tra.</a:t>
            </a:r>
            <a:br/>
            <a:r>
              <a:t>Tiền tố 0x00 cho lá và 0x01 cho nhánh tạo 2 không gian băm độc lập, triệt tiêu 100% va chạm tiền ảnh cấp hai (Second-Preimage).</a:t>
            </a:r>
          </a:p>
          <a:p>
            <a:pPr>
              <a:spcBef>
                <a:spcPts val="450"/>
              </a:spcBef>
              <a:defRPr b="1" sz="969">
                <a:solidFill>
                  <a:srgbClr val="2563EB"/>
                </a:solidFill>
              </a:defRPr>
            </a:pPr>
            <a:r>
              <a:t>• Game 4: Kiểm tra hiệu ứng tuyết lở (Avalanche Effect):</a:t>
            </a:r>
          </a:p>
          <a:p>
            <a:pPr>
              <a:spcBef>
                <a:spcPts val="150"/>
              </a:spcBef>
              <a:defRPr sz="919">
                <a:solidFill>
                  <a:srgbClr val="0F172A"/>
                </a:solidFill>
              </a:defRPr>
            </a:pPr>
            <a:r>
              <a:t>Đảo 1 bit đầu vào để kiểm tra tính ngẫu nhiên hóa và tương quan tuyến tính của mã băm.</a:t>
            </a:r>
            <a:br/>
            <a:r>
              <a:t>Thực nghiệm đo được 50.39% bit bị đảo (mức lý tưởng 50.0%), chứng minh tính khuếch tán hoàn hảo theo nguyên lý Shannon.</a:t>
            </a:r>
          </a:p>
        </p:txBody>
      </p:sp>
      <p:sp>
        <p:nvSpPr>
          <p:cNvPr id="8" name="Rounded Rectangle 7"/>
          <p:cNvSpPr/>
          <p:nvPr/>
        </p:nvSpPr>
        <p:spPr>
          <a:xfrm>
            <a:off x="6217920" y="1234440"/>
            <a:ext cx="5212080" cy="5257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417320"/>
            <a:ext cx="4754880" cy="457200"/>
          </a:xfrm>
          <a:prstGeom prst="rect">
            <a:avLst/>
          </a:prstGeom>
          <a:noFill/>
        </p:spPr>
        <p:txBody>
          <a:bodyPr wrap="square">
            <a:spAutoFit/>
          </a:bodyPr>
          <a:lstStyle/>
          <a:p>
            <a:pPr>
              <a:defRPr b="1" sz="1100">
                <a:solidFill>
                  <a:srgbClr val="1E3A8A"/>
                </a:solidFill>
              </a:defRPr>
            </a:pPr>
            <a:r>
              <a:t>KẾT QUẢ KIỂM ĐỊNH 4 MÔ HÌNH ĐỐI KHÁNG (GAMES 1 - 4)</a:t>
            </a:r>
          </a:p>
        </p:txBody>
      </p:sp>
      <p:sp>
        <p:nvSpPr>
          <p:cNvPr id="10" name="Rounded Rectangle 9"/>
          <p:cNvSpPr/>
          <p:nvPr/>
        </p:nvSpPr>
        <p:spPr>
          <a:xfrm>
            <a:off x="6446520" y="1856232"/>
            <a:ext cx="4754880" cy="1051560"/>
          </a:xfrm>
          <a:prstGeom prst="roundRect">
            <a:avLst/>
          </a:prstGeom>
          <a:solidFill>
            <a:srgbClr val="EFF6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880">
                <a:solidFill>
                  <a:srgbClr val="2563EB"/>
                </a:solidFill>
              </a:defRPr>
            </a:pPr>
            <a:r>
              <a:t>GAME 1: KẺ TẤN CÔNG TÍNH TOÁN PPT (GOLDWASSER-MICALI)</a:t>
            </a:r>
          </a:p>
          <a:p>
            <a:pPr>
              <a:spcBef>
                <a:spcPts val="200"/>
              </a:spcBef>
              <a:defRPr sz="819">
                <a:solidFill>
                  <a:srgbClr val="0F172A"/>
                </a:solidFill>
              </a:defRPr>
            </a:pPr>
            <a:r>
              <a:t>• Năng lực: Thuật toán thời gian đa thức ngẫu nhiên.</a:t>
            </a:r>
            <a:br/>
            <a:r>
              <a:t>• Kết quả: Kẻ thù thắng 0/50 lượt. Lợi thế Adv(A) = 0.0 &lt;= 2^-128. ĐẠT AN TOÀN.</a:t>
            </a:r>
          </a:p>
        </p:txBody>
      </p:sp>
      <p:sp>
        <p:nvSpPr>
          <p:cNvPr id="11" name="Rounded Rectangle 10"/>
          <p:cNvSpPr/>
          <p:nvPr/>
        </p:nvSpPr>
        <p:spPr>
          <a:xfrm>
            <a:off x="6446520" y="2999232"/>
            <a:ext cx="4754880" cy="1051560"/>
          </a:xfrm>
          <a:prstGeom prst="roundRect">
            <a:avLst/>
          </a:prstGeom>
          <a:solidFill>
            <a:srgbClr val="FAF5FF"/>
          </a:solidFill>
          <a:ln w="1524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880">
                <a:solidFill>
                  <a:srgbClr val="7E22CE"/>
                </a:solidFill>
              </a:defRPr>
            </a:pPr>
            <a:r>
              <a:t>GAME 2: KẺ TẤN CÔNG ĐƯỜNG TRUYỀN DOLEV-YAO</a:t>
            </a:r>
          </a:p>
          <a:p>
            <a:pPr>
              <a:spcBef>
                <a:spcPts val="200"/>
              </a:spcBef>
              <a:defRPr sz="819">
                <a:solidFill>
                  <a:srgbClr val="0F172A"/>
                </a:solidFill>
              </a:defRPr>
            </a:pPr>
            <a:r>
              <a:t>• Năng lực: Can thiệp gói tin, tráo đổi Merkle Proof, Replay Attack.</a:t>
            </a:r>
            <a:br/>
            <a:r>
              <a:t>• Kết quả: Phát hiện 100% mọi nỗ lực can thiệp và làm lệch Root Hash. ĐẠT AN TOÀN.</a:t>
            </a:r>
          </a:p>
        </p:txBody>
      </p:sp>
      <p:sp>
        <p:nvSpPr>
          <p:cNvPr id="12" name="Rounded Rectangle 11"/>
          <p:cNvSpPr/>
          <p:nvPr/>
        </p:nvSpPr>
        <p:spPr>
          <a:xfrm>
            <a:off x="6446520" y="4142232"/>
            <a:ext cx="4754880" cy="1051560"/>
          </a:xfrm>
          <a:prstGeom prst="roundRect">
            <a:avLst/>
          </a:prstGeom>
          <a:solidFill>
            <a:srgbClr val="FEF3C7"/>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880">
                <a:solidFill>
                  <a:srgbClr val="D97706"/>
                </a:solidFill>
              </a:defRPr>
            </a:pPr>
            <a:r>
              <a:t>GAME 3: KHÁNG TIỀN ẢNH CẤP HAI (RFC 6962 DOMAIN SEPARATION)</a:t>
            </a:r>
          </a:p>
          <a:p>
            <a:pPr>
              <a:spcBef>
                <a:spcPts val="200"/>
              </a:spcBef>
              <a:defRPr sz="819">
                <a:solidFill>
                  <a:srgbClr val="0F172A"/>
                </a:solidFill>
              </a:defRPr>
            </a:pPr>
            <a:r>
              <a:t>• Năng lực: Tráo đổi nút lá và nút nhánh để đánh lừa máy khách.</a:t>
            </a:r>
            <a:br/>
            <a:r>
              <a:t>• Kết quả: Tiền tố 0x00 lá và 0x01 nhánh triệt tiêu 100% va chạm tiền ảnh cấp hai.</a:t>
            </a:r>
          </a:p>
        </p:txBody>
      </p:sp>
      <p:sp>
        <p:nvSpPr>
          <p:cNvPr id="13" name="Rounded Rectangle 12"/>
          <p:cNvSpPr/>
          <p:nvPr/>
        </p:nvSpPr>
        <p:spPr>
          <a:xfrm>
            <a:off x="6446520" y="5285232"/>
            <a:ext cx="4754880" cy="1051560"/>
          </a:xfrm>
          <a:prstGeom prst="roundRect">
            <a:avLst/>
          </a:prstGeom>
          <a:solidFill>
            <a:srgbClr val="ECFDF5"/>
          </a:solidFill>
          <a:ln w="1524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880">
                <a:solidFill>
                  <a:srgbClr val="059669"/>
                </a:solidFill>
              </a:defRPr>
            </a:pPr>
            <a:r>
              <a:t>GAME 4: HIỆU ỨNG TUYẾT LỞ &amp; RANDOM ORACLE (SHANNON DIFFUSION)</a:t>
            </a:r>
          </a:p>
          <a:p>
            <a:pPr>
              <a:spcBef>
                <a:spcPts val="200"/>
              </a:spcBef>
              <a:defRPr sz="819">
                <a:solidFill>
                  <a:srgbClr val="0F172A"/>
                </a:solidFill>
              </a:defRPr>
            </a:pPr>
            <a:r>
              <a:t>• Năng lực: Đảo 1 bit đầu vào để tìm kiếm tương quan tuyến tính mã băm.</a:t>
            </a:r>
            <a:br/>
            <a:r>
              <a:t>• Kết quả: Tỷ lệ đổi bit 50.39% xấp xỉ mức lý tưởng 50.0%. ĐẠT KHUẾCH TÁN HOÀN HẢO.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4572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728655" cy="868680"/>
          </a:xfrm>
          <a:prstGeom prst="rect">
            <a:avLst/>
          </a:prstGeom>
          <a:noFill/>
        </p:spPr>
        <p:txBody>
          <a:bodyPr wrap="square">
            <a:spAutoFit/>
          </a:bodyPr>
          <a:lstStyle/>
          <a:p>
            <a:pPr>
              <a:defRPr b="1" sz="1050">
                <a:solidFill>
                  <a:srgbClr val="93C5FD"/>
                </a:solidFill>
              </a:defRPr>
            </a:pPr>
            <a:r>
              <a:t>PHẦN 5: KIỂM ĐỊNH AN NINH MẬT MÃ HÌNH THỨC</a:t>
            </a:r>
          </a:p>
          <a:p>
            <a:pPr>
              <a:spcBef>
                <a:spcPts val="200"/>
              </a:spcBef>
              <a:defRPr b="1" sz="1750">
                <a:solidFill>
                  <a:srgbClr val="FFFFFF"/>
                </a:solidFill>
              </a:defRPr>
            </a:pPr>
            <a:r>
              <a:t>11. Khung 7 Trò Chơi An Ninh Mật Mã Học (Games 5 – 7 &amp; Tổng Kết)</a:t>
            </a:r>
          </a:p>
        </p:txBody>
      </p:sp>
      <p:sp>
        <p:nvSpPr>
          <p:cNvPr id="6" name="Rounded Rectangle 5"/>
          <p:cNvSpPr/>
          <p:nvPr/>
        </p:nvSpPr>
        <p:spPr>
          <a:xfrm>
            <a:off x="731520" y="1234440"/>
            <a:ext cx="5029200" cy="5257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417320"/>
            <a:ext cx="4572000" cy="4937760"/>
          </a:xfrm>
          <a:prstGeom prst="rect">
            <a:avLst/>
          </a:prstGeom>
          <a:noFill/>
        </p:spPr>
        <p:txBody>
          <a:bodyPr wrap="square">
            <a:spAutoFit/>
          </a:bodyPr>
          <a:lstStyle/>
          <a:p>
            <a:pPr>
              <a:defRPr b="1" sz="1200">
                <a:solidFill>
                  <a:srgbClr val="1E3A8A"/>
                </a:solidFill>
              </a:defRPr>
            </a:pPr>
            <a:r>
              <a:t>Ba Mô Hình Kiểm Định Nâng Cao (Games 5 – 7)</a:t>
            </a:r>
          </a:p>
          <a:p>
            <a:pPr>
              <a:spcBef>
                <a:spcPts val="450"/>
              </a:spcBef>
              <a:defRPr b="1" sz="969">
                <a:solidFill>
                  <a:srgbClr val="2563EB"/>
                </a:solidFill>
              </a:defRPr>
            </a:pPr>
            <a:r>
              <a:t>• Game 5: Bảo vệ tính nhất quán lịch sử (Append-Only Consistency Proof):</a:t>
            </a:r>
          </a:p>
          <a:p>
            <a:pPr>
              <a:spcBef>
                <a:spcPts val="150"/>
              </a:spcBef>
              <a:defRPr sz="919">
                <a:solidFill>
                  <a:srgbClr val="0F172A"/>
                </a:solidFill>
              </a:defRPr>
            </a:pPr>
            <a:r>
              <a:t>Kiểm tra tính bất biến của kho dữ liệu khi có tệp mới được bổ sung.</a:t>
            </a:r>
            <a:br/>
            <a:r>
              <a:t>Bằng chứng nhất quán RFC 6962 chứng minh cây cũ là tiền tố bất biến của cây mới; từ chối 100% khi phát hiện dữ liệu quá khứ bị chỉnh sửa lén.</a:t>
            </a:r>
          </a:p>
          <a:p>
            <a:pPr>
              <a:spcBef>
                <a:spcPts val="450"/>
              </a:spcBef>
              <a:defRPr b="1" sz="969">
                <a:solidFill>
                  <a:srgbClr val="2563EB"/>
                </a:solidFill>
              </a:defRPr>
            </a:pPr>
            <a:r>
              <a:t>• Game 6: Chống trích xuất dữ liệu nhạy cảm từ RAM (Memory-Dump):</a:t>
            </a:r>
          </a:p>
          <a:p>
            <a:pPr>
              <a:spcBef>
                <a:spcPts val="150"/>
              </a:spcBef>
              <a:defRPr sz="919">
                <a:solidFill>
                  <a:srgbClr val="0F172A"/>
                </a:solidFill>
              </a:defRPr>
            </a:pPr>
            <a:r>
              <a:t>Kẻ tấn công đọc trộm RAM sau khi chương trình kết thúc để tìm khóa bí mật.</a:t>
            </a:r>
            <a:br/>
            <a:r>
              <a:t>Cơ chế Memory Zeroization: lưu khóa trong bytearray và chủ động ghi đè bằng 0x00 qua secure_erase(), hạn chế tối đa rò rỉ bộ nhớ.</a:t>
            </a:r>
          </a:p>
          <a:p>
            <a:pPr>
              <a:spcBef>
                <a:spcPts val="450"/>
              </a:spcBef>
              <a:defRPr b="1" sz="969">
                <a:solidFill>
                  <a:srgbClr val="2563EB"/>
                </a:solidFill>
              </a:defRPr>
            </a:pPr>
            <a:r>
              <a:t>• Game 7: Chống tấn công đo thời gian &amp; Rò rỉ siêu dữ liệu:</a:t>
            </a:r>
          </a:p>
          <a:p>
            <a:pPr>
              <a:spcBef>
                <a:spcPts val="150"/>
              </a:spcBef>
              <a:defRPr sz="919">
                <a:solidFill>
                  <a:srgbClr val="0F172A"/>
                </a:solidFill>
              </a:defRPr>
            </a:pPr>
            <a:r>
              <a:t>Timing Side-Channel: Dùng hmac.compare_digest() để thời gian so sánh là hằng số O(1).</a:t>
            </a:r>
            <a:br/>
            <a:r>
              <a:t>Metadata Privacy: Merkle Proof chỉ gửi mã băm anh em cần thiết, bảo vệ tính riêng tư của 100% các tệp còn lại.</a:t>
            </a:r>
          </a:p>
        </p:txBody>
      </p:sp>
      <p:sp>
        <p:nvSpPr>
          <p:cNvPr id="8" name="Rounded Rectangle 7"/>
          <p:cNvSpPr/>
          <p:nvPr/>
        </p:nvSpPr>
        <p:spPr>
          <a:xfrm>
            <a:off x="5943600" y="1234440"/>
            <a:ext cx="548640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6035040" y="1325880"/>
          <a:ext cx="5303520" cy="3108960"/>
        </p:xfrm>
        <a:graphic>
          <a:graphicData uri="http://schemas.openxmlformats.org/drawingml/2006/table">
            <a:tbl>
              <a:tblPr firstRow="1" bandRow="1">
                <a:tableStyleId>{5C22544A-7EE6-4342-B048-85BDC9FD1C3A}</a:tableStyleId>
              </a:tblPr>
              <a:tblGrid>
                <a:gridCol w="914400"/>
                <a:gridCol w="2377440"/>
                <a:gridCol w="2011680"/>
              </a:tblGrid>
              <a:tr h="388620">
                <a:tc>
                  <a:txBody>
                    <a:bodyPr/>
                    <a:lstStyle/>
                    <a:p>
                      <a:pPr algn="ctr">
                        <a:defRPr b="1" sz="950">
                          <a:solidFill>
                            <a:srgbClr val="FFFFFF"/>
                          </a:solidFill>
                        </a:defRPr>
                      </a:pPr>
                      <a:r>
                        <a:t>Game</a:t>
                      </a:r>
                    </a:p>
                  </a:txBody>
                  <a:tcPr>
                    <a:solidFill>
                      <a:srgbClr val="1E3A8A"/>
                    </a:solidFill>
                  </a:tcPr>
                </a:tc>
                <a:tc>
                  <a:txBody>
                    <a:bodyPr/>
                    <a:lstStyle/>
                    <a:p>
                      <a:pPr algn="ctr">
                        <a:defRPr b="1" sz="950">
                          <a:solidFill>
                            <a:srgbClr val="FFFFFF"/>
                          </a:solidFill>
                        </a:defRPr>
                      </a:pPr>
                      <a:r>
                        <a:t>Mục Tiêu Bảo Mật</a:t>
                      </a:r>
                    </a:p>
                  </a:txBody>
                  <a:tcPr>
                    <a:solidFill>
                      <a:srgbClr val="1E3A8A"/>
                    </a:solidFill>
                  </a:tcPr>
                </a:tc>
                <a:tc>
                  <a:txBody>
                    <a:bodyPr/>
                    <a:lstStyle/>
                    <a:p>
                      <a:pPr algn="ctr">
                        <a:defRPr b="1" sz="950">
                          <a:solidFill>
                            <a:srgbClr val="FFFFFF"/>
                          </a:solidFill>
                        </a:defRPr>
                      </a:pPr>
                      <a:r>
                        <a:t>Cơ Chế Chính Triển Khai</a:t>
                      </a:r>
                    </a:p>
                  </a:txBody>
                  <a:tcPr>
                    <a:solidFill>
                      <a:srgbClr val="1E3A8A"/>
                    </a:solidFill>
                  </a:tcPr>
                </a:tc>
              </a:tr>
              <a:tr h="388620">
                <a:tc>
                  <a:txBody>
                    <a:bodyPr/>
                    <a:lstStyle/>
                    <a:p>
                      <a:pPr algn="ctr">
                        <a:defRPr sz="880" b="1">
                          <a:solidFill>
                            <a:srgbClr val="2563EB"/>
                          </a:solidFill>
                        </a:defRPr>
                      </a:pPr>
                      <a:r>
                        <a:t>Game 1</a:t>
                      </a:r>
                    </a:p>
                  </a:txBody>
                  <a:tcPr>
                    <a:solidFill>
                      <a:srgbClr val="F8FAFC"/>
                    </a:solidFill>
                  </a:tcPr>
                </a:tc>
                <a:tc>
                  <a:txBody>
                    <a:bodyPr/>
                    <a:lstStyle/>
                    <a:p>
                      <a:pPr>
                        <a:defRPr sz="880">
                          <a:solidFill>
                            <a:srgbClr val="0F172A"/>
                          </a:solidFill>
                        </a:defRPr>
                      </a:pPr>
                      <a:r>
                        <a:t>Chống tìm hai dữ liệu cùng mã băm</a:t>
                      </a:r>
                    </a:p>
                  </a:txBody>
                  <a:tcPr>
                    <a:solidFill>
                      <a:srgbClr val="F8FAFC"/>
                    </a:solidFill>
                  </a:tcPr>
                </a:tc>
                <a:tc>
                  <a:txBody>
                    <a:bodyPr/>
                    <a:lstStyle/>
                    <a:p>
                      <a:pPr>
                        <a:defRPr sz="880">
                          <a:solidFill>
                            <a:srgbClr val="0F172A"/>
                          </a:solidFill>
                        </a:defRPr>
                      </a:pPr>
                      <a:r>
                        <a:t>SHA-256 (Adv &lt;= 2^-128)</a:t>
                      </a:r>
                    </a:p>
                  </a:txBody>
                  <a:tcPr>
                    <a:solidFill>
                      <a:srgbClr val="F8FAFC"/>
                    </a:solidFill>
                  </a:tcPr>
                </a:tc>
              </a:tr>
              <a:tr h="388620">
                <a:tc>
                  <a:txBody>
                    <a:bodyPr/>
                    <a:lstStyle/>
                    <a:p>
                      <a:pPr algn="ctr">
                        <a:defRPr sz="880" b="1">
                          <a:solidFill>
                            <a:srgbClr val="2563EB"/>
                          </a:solidFill>
                        </a:defRPr>
                      </a:pPr>
                      <a:r>
                        <a:t>Game 2</a:t>
                      </a:r>
                    </a:p>
                  </a:txBody>
                  <a:tcPr>
                    <a:solidFill>
                      <a:srgbClr val="FFFFFF"/>
                    </a:solidFill>
                  </a:tcPr>
                </a:tc>
                <a:tc>
                  <a:txBody>
                    <a:bodyPr/>
                    <a:lstStyle/>
                    <a:p>
                      <a:pPr>
                        <a:defRPr sz="880">
                          <a:solidFill>
                            <a:srgbClr val="0F172A"/>
                          </a:solidFill>
                        </a:defRPr>
                      </a:pPr>
                      <a:r>
                        <a:t>Phát hiện dữ liệu bị sửa khi truyền</a:t>
                      </a:r>
                    </a:p>
                  </a:txBody>
                  <a:tcPr>
                    <a:solidFill>
                      <a:srgbClr val="FFFFFF"/>
                    </a:solidFill>
                  </a:tcPr>
                </a:tc>
                <a:tc>
                  <a:txBody>
                    <a:bodyPr/>
                    <a:lstStyle/>
                    <a:p>
                      <a:pPr>
                        <a:defRPr sz="880">
                          <a:solidFill>
                            <a:srgbClr val="0F172A"/>
                          </a:solidFill>
                        </a:defRPr>
                      </a:pPr>
                      <a:r>
                        <a:t>Merkle Proof + Root Hash tin cậy</a:t>
                      </a:r>
                    </a:p>
                  </a:txBody>
                  <a:tcPr>
                    <a:solidFill>
                      <a:srgbClr val="FFFFFF"/>
                    </a:solidFill>
                  </a:tcPr>
                </a:tc>
              </a:tr>
              <a:tr h="388620">
                <a:tc>
                  <a:txBody>
                    <a:bodyPr/>
                    <a:lstStyle/>
                    <a:p>
                      <a:pPr algn="ctr">
                        <a:defRPr sz="880" b="1">
                          <a:solidFill>
                            <a:srgbClr val="2563EB"/>
                          </a:solidFill>
                        </a:defRPr>
                      </a:pPr>
                      <a:r>
                        <a:t>Game 3</a:t>
                      </a:r>
                    </a:p>
                  </a:txBody>
                  <a:tcPr>
                    <a:solidFill>
                      <a:srgbClr val="F8FAFC"/>
                    </a:solidFill>
                  </a:tcPr>
                </a:tc>
                <a:tc>
                  <a:txBody>
                    <a:bodyPr/>
                    <a:lstStyle/>
                    <a:p>
                      <a:pPr>
                        <a:defRPr sz="880">
                          <a:solidFill>
                            <a:srgbClr val="0F172A"/>
                          </a:solidFill>
                        </a:defRPr>
                      </a:pPr>
                      <a:r>
                        <a:t>Phân biệt nút lá và nút nhánh</a:t>
                      </a:r>
                    </a:p>
                  </a:txBody>
                  <a:tcPr>
                    <a:solidFill>
                      <a:srgbClr val="F8FAFC"/>
                    </a:solidFill>
                  </a:tcPr>
                </a:tc>
                <a:tc>
                  <a:txBody>
                    <a:bodyPr/>
                    <a:lstStyle/>
                    <a:p>
                      <a:pPr>
                        <a:defRPr sz="880">
                          <a:solidFill>
                            <a:srgbClr val="0F172A"/>
                          </a:solidFill>
                        </a:defRPr>
                      </a:pPr>
                      <a:r>
                        <a:t>Domain Separation (0x00 / 0x01)</a:t>
                      </a:r>
                    </a:p>
                  </a:txBody>
                  <a:tcPr>
                    <a:solidFill>
                      <a:srgbClr val="F8FAFC"/>
                    </a:solidFill>
                  </a:tcPr>
                </a:tc>
              </a:tr>
              <a:tr h="388620">
                <a:tc>
                  <a:txBody>
                    <a:bodyPr/>
                    <a:lstStyle/>
                    <a:p>
                      <a:pPr algn="ctr">
                        <a:defRPr sz="880" b="1">
                          <a:solidFill>
                            <a:srgbClr val="2563EB"/>
                          </a:solidFill>
                        </a:defRPr>
                      </a:pPr>
                      <a:r>
                        <a:t>Game 4</a:t>
                      </a:r>
                    </a:p>
                  </a:txBody>
                  <a:tcPr>
                    <a:solidFill>
                      <a:srgbClr val="FFFFFF"/>
                    </a:solidFill>
                  </a:tcPr>
                </a:tc>
                <a:tc>
                  <a:txBody>
                    <a:bodyPr/>
                    <a:lstStyle/>
                    <a:p>
                      <a:pPr>
                        <a:defRPr sz="880">
                          <a:solidFill>
                            <a:srgbClr val="0F172A"/>
                          </a:solidFill>
                        </a:defRPr>
                      </a:pPr>
                      <a:r>
                        <a:t>Kiểm tra mức độ thay đổi mã băm</a:t>
                      </a:r>
                    </a:p>
                  </a:txBody>
                  <a:tcPr>
                    <a:solidFill>
                      <a:srgbClr val="FFFFFF"/>
                    </a:solidFill>
                  </a:tcPr>
                </a:tc>
                <a:tc>
                  <a:txBody>
                    <a:bodyPr/>
                    <a:lstStyle/>
                    <a:p>
                      <a:pPr>
                        <a:defRPr sz="880">
                          <a:solidFill>
                            <a:srgbClr val="0F172A"/>
                          </a:solidFill>
                        </a:defRPr>
                      </a:pPr>
                      <a:r>
                        <a:t>Avalanche Effect (50.39% ≈ 50%)</a:t>
                      </a:r>
                    </a:p>
                  </a:txBody>
                  <a:tcPr>
                    <a:solidFill>
                      <a:srgbClr val="FFFFFF"/>
                    </a:solidFill>
                  </a:tcPr>
                </a:tc>
              </a:tr>
              <a:tr h="388620">
                <a:tc>
                  <a:txBody>
                    <a:bodyPr/>
                    <a:lstStyle/>
                    <a:p>
                      <a:pPr algn="ctr">
                        <a:defRPr sz="880" b="1">
                          <a:solidFill>
                            <a:srgbClr val="2563EB"/>
                          </a:solidFill>
                        </a:defRPr>
                      </a:pPr>
                      <a:r>
                        <a:t>Game 5</a:t>
                      </a:r>
                    </a:p>
                  </a:txBody>
                  <a:tcPr>
                    <a:solidFill>
                      <a:srgbClr val="F8FAFC"/>
                    </a:solidFill>
                  </a:tcPr>
                </a:tc>
                <a:tc>
                  <a:txBody>
                    <a:bodyPr/>
                    <a:lstStyle/>
                    <a:p>
                      <a:pPr>
                        <a:defRPr sz="880">
                          <a:solidFill>
                            <a:srgbClr val="0F172A"/>
                          </a:solidFill>
                        </a:defRPr>
                      </a:pPr>
                      <a:r>
                        <a:t>Kiểm tra nhất quán qua các lần cập nhật</a:t>
                      </a:r>
                    </a:p>
                  </a:txBody>
                  <a:tcPr>
                    <a:solidFill>
                      <a:srgbClr val="F8FAFC"/>
                    </a:solidFill>
                  </a:tcPr>
                </a:tc>
                <a:tc>
                  <a:txBody>
                    <a:bodyPr/>
                    <a:lstStyle/>
                    <a:p>
                      <a:pPr>
                        <a:defRPr sz="880">
                          <a:solidFill>
                            <a:srgbClr val="0F172A"/>
                          </a:solidFill>
                        </a:defRPr>
                      </a:pPr>
                      <a:r>
                        <a:t>Consistency Proof RFC 6962</a:t>
                      </a:r>
                    </a:p>
                  </a:txBody>
                  <a:tcPr>
                    <a:solidFill>
                      <a:srgbClr val="F8FAFC"/>
                    </a:solidFill>
                  </a:tcPr>
                </a:tc>
              </a:tr>
              <a:tr h="388620">
                <a:tc>
                  <a:txBody>
                    <a:bodyPr/>
                    <a:lstStyle/>
                    <a:p>
                      <a:pPr algn="ctr">
                        <a:defRPr sz="880" b="1">
                          <a:solidFill>
                            <a:srgbClr val="2563EB"/>
                          </a:solidFill>
                        </a:defRPr>
                      </a:pPr>
                      <a:r>
                        <a:t>Game 6</a:t>
                      </a:r>
                    </a:p>
                  </a:txBody>
                  <a:tcPr>
                    <a:solidFill>
                      <a:srgbClr val="FFFFFF"/>
                    </a:solidFill>
                  </a:tcPr>
                </a:tc>
                <a:tc>
                  <a:txBody>
                    <a:bodyPr/>
                    <a:lstStyle/>
                    <a:p>
                      <a:pPr>
                        <a:defRPr sz="880">
                          <a:solidFill>
                            <a:srgbClr val="0F172A"/>
                          </a:solidFill>
                        </a:defRPr>
                      </a:pPr>
                      <a:r>
                        <a:t>Hạn chế dữ liệu nhạy cảm trong RAM</a:t>
                      </a:r>
                    </a:p>
                  </a:txBody>
                  <a:tcPr>
                    <a:solidFill>
                      <a:srgbClr val="FFFFFF"/>
                    </a:solidFill>
                  </a:tcPr>
                </a:tc>
                <a:tc>
                  <a:txBody>
                    <a:bodyPr/>
                    <a:lstStyle/>
                    <a:p>
                      <a:pPr>
                        <a:defRPr sz="880">
                          <a:solidFill>
                            <a:srgbClr val="0F172A"/>
                          </a:solidFill>
                        </a:defRPr>
                      </a:pPr>
                      <a:r>
                        <a:t>Memory Zeroization (secure_erase)</a:t>
                      </a:r>
                    </a:p>
                  </a:txBody>
                  <a:tcPr>
                    <a:solidFill>
                      <a:srgbClr val="FFFFFF"/>
                    </a:solidFill>
                  </a:tcPr>
                </a:tc>
              </a:tr>
              <a:tr h="388620">
                <a:tc>
                  <a:txBody>
                    <a:bodyPr/>
                    <a:lstStyle/>
                    <a:p>
                      <a:pPr algn="ctr">
                        <a:defRPr sz="880" b="1">
                          <a:solidFill>
                            <a:srgbClr val="2563EB"/>
                          </a:solidFill>
                        </a:defRPr>
                      </a:pPr>
                      <a:r>
                        <a:t>Game 7</a:t>
                      </a:r>
                    </a:p>
                  </a:txBody>
                  <a:tcPr>
                    <a:solidFill>
                      <a:srgbClr val="F8FAFC"/>
                    </a:solidFill>
                  </a:tcPr>
                </a:tc>
                <a:tc>
                  <a:txBody>
                    <a:bodyPr/>
                    <a:lstStyle/>
                    <a:p>
                      <a:pPr>
                        <a:defRPr sz="880">
                          <a:solidFill>
                            <a:srgbClr val="0F172A"/>
                          </a:solidFill>
                        </a:defRPr>
                      </a:pPr>
                      <a:r>
                        <a:t>Giảm rò rỉ thời gian &amp; siêu dữ liệu</a:t>
                      </a:r>
                    </a:p>
                  </a:txBody>
                  <a:tcPr>
                    <a:solidFill>
                      <a:srgbClr val="F8FAFC"/>
                    </a:solidFill>
                  </a:tcPr>
                </a:tc>
                <a:tc>
                  <a:txBody>
                    <a:bodyPr/>
                    <a:lstStyle/>
                    <a:p>
                      <a:pPr>
                        <a:defRPr sz="880">
                          <a:solidFill>
                            <a:srgbClr val="0F172A"/>
                          </a:solidFill>
                        </a:defRPr>
                      </a:pPr>
                      <a:r>
                        <a:t>hmac.compare_digest() + Merkle Proof</a:t>
                      </a:r>
                    </a:p>
                  </a:txBody>
                  <a:tcPr>
                    <a:solidFill>
                      <a:srgbClr val="F8FAFC"/>
                    </a:solidFill>
                  </a:tcPr>
                </a:tc>
              </a:tr>
            </a:tbl>
          </a:graphicData>
        </a:graphic>
      </p:graphicFrame>
      <p:sp>
        <p:nvSpPr>
          <p:cNvPr id="10" name="Rounded Rectangle 9"/>
          <p:cNvSpPr/>
          <p:nvPr/>
        </p:nvSpPr>
        <p:spPr>
          <a:xfrm>
            <a:off x="5943600" y="4663440"/>
            <a:ext cx="5486400"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80760" y="4736592"/>
            <a:ext cx="5212080" cy="1691640"/>
          </a:xfrm>
          <a:prstGeom prst="rect">
            <a:avLst/>
          </a:prstGeom>
          <a:noFill/>
        </p:spPr>
        <p:txBody>
          <a:bodyPr wrap="square">
            <a:spAutoFit/>
          </a:bodyPr>
          <a:lstStyle/>
          <a:p>
            <a:pPr>
              <a:defRPr b="1" sz="1000">
                <a:solidFill>
                  <a:srgbClr val="1E3A8A"/>
                </a:solidFill>
              </a:defRPr>
            </a:pPr>
            <a:r>
              <a:t>Lưu Ý Phương Pháp Luận Khi Báo Cáo:</a:t>
            </a:r>
          </a:p>
          <a:p>
            <a:pPr>
              <a:spcBef>
                <a:spcPts val="250"/>
              </a:spcBef>
              <a:defRPr sz="850">
                <a:solidFill>
                  <a:srgbClr val="0F172A"/>
                </a:solidFill>
              </a:defRPr>
            </a:pPr>
            <a:r>
              <a:t>• Mục đích: 7 mô hình được xây dựng để kiểm thử các khía cạnh bảo mật đối kháng khác nhau theo luận điểm của Harry Halpin (2025).</a:t>
            </a:r>
          </a:p>
          <a:p>
            <a:pPr>
              <a:spcBef>
                <a:spcPts val="250"/>
              </a:spcBef>
              <a:defRPr sz="850">
                <a:solidFill>
                  <a:srgbClr val="0F172A"/>
                </a:solidFill>
              </a:defRPr>
            </a:pPr>
            <a:r>
              <a:t>• Đối chiếu mã nguồn: Được triển khai và chạy độc lập qua tệp src/proposed_model/security_games.py, không gộp chung benchmark.</a:t>
            </a:r>
          </a:p>
          <a:p>
            <a:pPr>
              <a:spcBef>
                <a:spcPts val="250"/>
              </a:spcBef>
              <a:defRPr sz="850">
                <a:solidFill>
                  <a:srgbClr val="0F172A"/>
                </a:solidFill>
              </a:defRPr>
            </a:pPr>
            <a:r>
              <a:t>• Đánh giá khách quan: Phân biệt rõ giữa cơ chế lý thuyết toán học và kết quả đo đạc thực nghiệm cụ thể trên môi trường Python.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4572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728655" cy="868680"/>
          </a:xfrm>
          <a:prstGeom prst="rect">
            <a:avLst/>
          </a:prstGeom>
          <a:noFill/>
        </p:spPr>
        <p:txBody>
          <a:bodyPr wrap="square">
            <a:spAutoFit/>
          </a:bodyPr>
          <a:lstStyle/>
          <a:p>
            <a:pPr>
              <a:defRPr b="1" sz="1050">
                <a:solidFill>
                  <a:srgbClr val="93C5FD"/>
                </a:solidFill>
              </a:defRPr>
            </a:pPr>
            <a:r>
              <a:t>PHẦN 6: ĐỐI CHIẾU LÝ THUYẾT &amp; KIỂM THỬ TỰ ĐỘNG</a:t>
            </a:r>
          </a:p>
          <a:p>
            <a:pPr>
              <a:spcBef>
                <a:spcPts val="200"/>
              </a:spcBef>
              <a:defRPr b="1" sz="1750">
                <a:solidFill>
                  <a:srgbClr val="FFFFFF"/>
                </a:solidFill>
              </a:defRPr>
            </a:pPr>
            <a:r>
              <a:t>12. Bảng Ma Trận Đối Chiếu Chi Tiết 100% Giữa Bài Báo Và Hệ Thống</a:t>
            </a:r>
          </a:p>
        </p:txBody>
      </p:sp>
      <p:sp>
        <p:nvSpPr>
          <p:cNvPr id="6" name="Rounded Rectangle 5"/>
          <p:cNvSpPr/>
          <p:nvPr/>
        </p:nvSpPr>
        <p:spPr>
          <a:xfrm>
            <a:off x="731520" y="1234440"/>
            <a:ext cx="5120640" cy="5257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417320"/>
            <a:ext cx="4663440" cy="4937760"/>
          </a:xfrm>
          <a:prstGeom prst="rect">
            <a:avLst/>
          </a:prstGeom>
          <a:noFill/>
        </p:spPr>
        <p:txBody>
          <a:bodyPr wrap="square">
            <a:spAutoFit/>
          </a:bodyPr>
          <a:lstStyle/>
          <a:p>
            <a:pPr>
              <a:defRPr b="1" sz="1200">
                <a:solidFill>
                  <a:srgbClr val="1E3A8A"/>
                </a:solidFill>
              </a:defRPr>
            </a:pPr>
            <a:r>
              <a:t>Bảng Đối Chiếu Chi Tiết 6 Điểm Nòng Cốt</a:t>
            </a:r>
          </a:p>
          <a:p>
            <a:pPr>
              <a:spcBef>
                <a:spcPts val="450"/>
              </a:spcBef>
              <a:defRPr b="1" sz="930">
                <a:solidFill>
                  <a:srgbClr val="2563EB"/>
                </a:solidFill>
              </a:defRPr>
            </a:pPr>
            <a:r>
              <a:t>• Điểm đối chiếu 1: Kẻ thù PPT (Goldwasser-Micali 1984):</a:t>
            </a:r>
          </a:p>
          <a:p>
            <a:pPr>
              <a:spcBef>
                <a:spcPts val="150"/>
              </a:spcBef>
              <a:defRPr sz="880">
                <a:solidFill>
                  <a:srgbClr val="0F172A"/>
                </a:solidFill>
              </a:defRPr>
            </a:pPr>
            <a:r>
              <a:t>Bài báo: Mục 4 Trang 7  |  Đồ án: Game 1 (security_games.py)</a:t>
            </a:r>
            <a:br/>
            <a:r>
              <a:t>Minh chứng: Thử thách 50 lượt ngẫu nhiên, lợi thế Adv(A) = 0.0 &lt;= 2^-128.</a:t>
            </a:r>
          </a:p>
          <a:p>
            <a:pPr>
              <a:spcBef>
                <a:spcPts val="450"/>
              </a:spcBef>
              <a:defRPr b="1" sz="930">
                <a:solidFill>
                  <a:srgbClr val="2563EB"/>
                </a:solidFill>
              </a:defRPr>
            </a:pPr>
            <a:r>
              <a:t>• Điểm đối chiếu 2: Nguyên lý Kerckhoffs (Kerckhoffs 1883):</a:t>
            </a:r>
          </a:p>
          <a:p>
            <a:pPr>
              <a:spcBef>
                <a:spcPts val="150"/>
              </a:spcBef>
              <a:defRPr sz="880">
                <a:solidFill>
                  <a:srgbClr val="0F172A"/>
                </a:solidFill>
              </a:defRPr>
            </a:pPr>
            <a:r>
              <a:t>Bài báo: Mục 2 Trang 3  |  Đồ án: Công khai 100% mã nguồn trên GitHub</a:t>
            </a:r>
            <a:br/>
            <a:r>
              <a:t>Minh chứng: Chỉ cần Root Hash 32 byte để bảo vệ toàn vẹn dữ liệu.</a:t>
            </a:r>
          </a:p>
          <a:p>
            <a:pPr>
              <a:spcBef>
                <a:spcPts val="450"/>
              </a:spcBef>
              <a:defRPr b="1" sz="930">
                <a:solidFill>
                  <a:srgbClr val="2563EB"/>
                </a:solidFill>
              </a:defRPr>
            </a:pPr>
            <a:r>
              <a:t>• Điểm đối chiếu 3: Kẻ tấn công Mạng Dolev-Yao (Dolev-Yao 1983):</a:t>
            </a:r>
          </a:p>
          <a:p>
            <a:pPr>
              <a:spcBef>
                <a:spcPts val="150"/>
              </a:spcBef>
              <a:defRPr sz="880">
                <a:solidFill>
                  <a:srgbClr val="0F172A"/>
                </a:solidFill>
              </a:defRPr>
            </a:pPr>
            <a:r>
              <a:t>Bài báo: Mục 4 Trang 8  |  Đồ án: Game 2 &amp; Bộ kiểm thử tự động</a:t>
            </a:r>
            <a:br/>
            <a:r>
              <a:t>Minh chứng: Chặn đứng 100% hành vi sửa tệp, tráo Proof và đổi đường dẫn.</a:t>
            </a:r>
          </a:p>
          <a:p>
            <a:pPr>
              <a:spcBef>
                <a:spcPts val="450"/>
              </a:spcBef>
              <a:defRPr b="1" sz="930">
                <a:solidFill>
                  <a:srgbClr val="2563EB"/>
                </a:solidFill>
              </a:defRPr>
            </a:pPr>
            <a:r>
              <a:t>• Điểm đối chiếu 4: Phân tách miền RFC 6962:</a:t>
            </a:r>
          </a:p>
          <a:p>
            <a:pPr>
              <a:spcBef>
                <a:spcPts val="150"/>
              </a:spcBef>
              <a:defRPr sz="880">
                <a:solidFill>
                  <a:srgbClr val="0F172A"/>
                </a:solidFill>
              </a:defRPr>
            </a:pPr>
            <a:r>
              <a:t>Bài báo: Mục 5 Trang 8-10  |  Đồ án: Tiền tố 0x00 cho lá và 0x01 cho nhánh</a:t>
            </a:r>
            <a:br/>
            <a:r>
              <a:t>Minh chứng: Triệt tiêu 100% va chạm tiền ảnh cấp hai (Second-preimage).</a:t>
            </a:r>
          </a:p>
          <a:p>
            <a:pPr>
              <a:spcBef>
                <a:spcPts val="450"/>
              </a:spcBef>
              <a:defRPr b="1" sz="930">
                <a:solidFill>
                  <a:srgbClr val="2563EB"/>
                </a:solidFill>
              </a:defRPr>
            </a:pPr>
            <a:r>
              <a:t>• Điểm đối chiếu 5: Xác minh cục bộ O(log N) của Ralph Merkle:</a:t>
            </a:r>
          </a:p>
          <a:p>
            <a:pPr>
              <a:spcBef>
                <a:spcPts val="150"/>
              </a:spcBef>
              <a:defRPr sz="880">
                <a:solidFill>
                  <a:srgbClr val="0F172A"/>
                </a:solidFill>
              </a:defRPr>
            </a:pPr>
            <a:r>
              <a:t>Bài báo: Mục 4 Trang 5  |  Đồ án: Bằng chứng Merkle Proof (0.97 - 1.37 KB)</a:t>
            </a:r>
            <a:br/>
            <a:r>
              <a:t>Minh chứng: Tiết kiệm 98.8% băng thông so với việc tải toàn bộ 111 KB.</a:t>
            </a:r>
          </a:p>
          <a:p>
            <a:pPr>
              <a:spcBef>
                <a:spcPts val="450"/>
              </a:spcBef>
              <a:defRPr b="1" sz="930">
                <a:solidFill>
                  <a:srgbClr val="2563EB"/>
                </a:solidFill>
              </a:defRPr>
            </a:pPr>
            <a:r>
              <a:t>• Điểm đối chiếu 6: Lời kêu gọi kiểm nghiệm thực tế (Mục 7):</a:t>
            </a:r>
          </a:p>
          <a:p>
            <a:pPr>
              <a:spcBef>
                <a:spcPts val="150"/>
              </a:spcBef>
              <a:defRPr sz="880">
                <a:solidFill>
                  <a:srgbClr val="0F172A"/>
                </a:solidFill>
              </a:defRPr>
            </a:pPr>
            <a:r>
              <a:t>Bài báo: Kêu gọi thử nghiệm  |  Đồ án: 2 Bộ Kaggle (1.115 &amp; 5.600 tệp tin)</a:t>
            </a:r>
          </a:p>
        </p:txBody>
      </p:sp>
      <p:sp>
        <p:nvSpPr>
          <p:cNvPr id="8" name="Rounded Rectangle 7"/>
          <p:cNvSpPr/>
          <p:nvPr/>
        </p:nvSpPr>
        <p:spPr>
          <a:xfrm>
            <a:off x="6035040" y="1234440"/>
            <a:ext cx="5394960" cy="5257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417320"/>
            <a:ext cx="4937760" cy="457200"/>
          </a:xfrm>
          <a:prstGeom prst="rect">
            <a:avLst/>
          </a:prstGeom>
          <a:noFill/>
        </p:spPr>
        <p:txBody>
          <a:bodyPr wrap="square">
            <a:spAutoFit/>
          </a:bodyPr>
          <a:lstStyle/>
          <a:p>
            <a:pPr>
              <a:defRPr b="1" sz="1150">
                <a:solidFill>
                  <a:srgbClr val="1E3A8A"/>
                </a:solidFill>
              </a:defRPr>
            </a:pPr>
            <a:r>
              <a:t>KẾT QUẢ ĐỐI CHIẾU 1-1 BÀI BÁO GỐC VS HỆ THỐNG HIỆN THỰC</a:t>
            </a:r>
          </a:p>
        </p:txBody>
      </p:sp>
      <p:sp>
        <p:nvSpPr>
          <p:cNvPr id="10" name="Rounded Rectangle 9"/>
          <p:cNvSpPr/>
          <p:nvPr/>
        </p:nvSpPr>
        <p:spPr>
          <a:xfrm>
            <a:off x="6263640" y="1856232"/>
            <a:ext cx="4937760" cy="676656"/>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900">
                <a:solidFill>
                  <a:srgbClr val="059669"/>
                </a:solidFill>
              </a:defRPr>
            </a:pPr>
            <a:r>
              <a:t>1. Mô hình Kẻ thù PPT (Goldwasser-Micali 1984)   ➔   ĐẠT 100%</a:t>
            </a:r>
          </a:p>
          <a:p>
            <a:pPr>
              <a:spcBef>
                <a:spcPts val="200"/>
              </a:spcBef>
              <a:defRPr sz="819">
                <a:solidFill>
                  <a:srgbClr val="0F172A"/>
                </a:solidFill>
              </a:defRPr>
            </a:pPr>
            <a:r>
              <a:t>Advantage Adv(A) = 0.0 &lt;= negl(lambda)</a:t>
            </a:r>
          </a:p>
        </p:txBody>
      </p:sp>
      <p:sp>
        <p:nvSpPr>
          <p:cNvPr id="11" name="Rounded Rectangle 10"/>
          <p:cNvSpPr/>
          <p:nvPr/>
        </p:nvSpPr>
        <p:spPr>
          <a:xfrm>
            <a:off x="6263640" y="2596896"/>
            <a:ext cx="4937760" cy="676656"/>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900">
                <a:solidFill>
                  <a:srgbClr val="059669"/>
                </a:solidFill>
              </a:defRPr>
            </a:pPr>
            <a:r>
              <a:t>2. Nguyên lý Kerckhoffs (Minh bạch mã nguồn)   ➔   ĐẠT 100%</a:t>
            </a:r>
          </a:p>
          <a:p>
            <a:pPr>
              <a:spcBef>
                <a:spcPts val="200"/>
              </a:spcBef>
              <a:defRPr sz="819">
                <a:solidFill>
                  <a:srgbClr val="0F172A"/>
                </a:solidFill>
              </a:defRPr>
            </a:pPr>
            <a:r>
              <a:t>Công khai 100% GitHub, chỉ giữ Root Hash</a:t>
            </a:r>
          </a:p>
        </p:txBody>
      </p:sp>
      <p:sp>
        <p:nvSpPr>
          <p:cNvPr id="12" name="Rounded Rectangle 11"/>
          <p:cNvSpPr/>
          <p:nvPr/>
        </p:nvSpPr>
        <p:spPr>
          <a:xfrm>
            <a:off x="6263640" y="3337560"/>
            <a:ext cx="4937760" cy="676656"/>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900">
                <a:solidFill>
                  <a:srgbClr val="059669"/>
                </a:solidFill>
              </a:defRPr>
            </a:pPr>
            <a:r>
              <a:t>3. Mô hình Mạng Dolev-Yao (Chặn bắt / Đánh tráo)   ➔   ĐẠT 100%</a:t>
            </a:r>
          </a:p>
          <a:p>
            <a:pPr>
              <a:spcBef>
                <a:spcPts val="200"/>
              </a:spcBef>
              <a:defRPr sz="819">
                <a:solidFill>
                  <a:srgbClr val="0F172A"/>
                </a:solidFill>
              </a:defRPr>
            </a:pPr>
            <a:r>
              <a:t>Chặn đứng 100% can thiệp &amp; replay</a:t>
            </a:r>
          </a:p>
        </p:txBody>
      </p:sp>
      <p:sp>
        <p:nvSpPr>
          <p:cNvPr id="13" name="Rounded Rectangle 12"/>
          <p:cNvSpPr/>
          <p:nvPr/>
        </p:nvSpPr>
        <p:spPr>
          <a:xfrm>
            <a:off x="6263640" y="4078224"/>
            <a:ext cx="4937760" cy="676656"/>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900">
                <a:solidFill>
                  <a:srgbClr val="059669"/>
                </a:solidFill>
              </a:defRPr>
            </a:pPr>
            <a:r>
              <a:t>4. Phân tách miền RFC 6962 Certificate Transparency   ➔   ĐẠT 100%</a:t>
            </a:r>
          </a:p>
          <a:p>
            <a:pPr>
              <a:spcBef>
                <a:spcPts val="200"/>
              </a:spcBef>
              <a:defRPr sz="819">
                <a:solidFill>
                  <a:srgbClr val="0F172A"/>
                </a:solidFill>
              </a:defRPr>
            </a:pPr>
            <a:r>
              <a:t>Tiền tố 0x00 lá vs 0x01 nhánh triệt tiêu va chạm</a:t>
            </a:r>
          </a:p>
        </p:txBody>
      </p:sp>
      <p:sp>
        <p:nvSpPr>
          <p:cNvPr id="14" name="Rounded Rectangle 13"/>
          <p:cNvSpPr/>
          <p:nvPr/>
        </p:nvSpPr>
        <p:spPr>
          <a:xfrm>
            <a:off x="6263640" y="4818888"/>
            <a:ext cx="4937760" cy="676656"/>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900">
                <a:solidFill>
                  <a:srgbClr val="059669"/>
                </a:solidFill>
              </a:defRPr>
            </a:pPr>
            <a:r>
              <a:t>5. Bằng chứng cục bộ Ralph Merkle 1979   ➔   ĐẠT 100%</a:t>
            </a:r>
          </a:p>
          <a:p>
            <a:pPr>
              <a:spcBef>
                <a:spcPts val="200"/>
              </a:spcBef>
              <a:defRPr sz="819">
                <a:solidFill>
                  <a:srgbClr val="0F172A"/>
                </a:solidFill>
              </a:defRPr>
            </a:pPr>
            <a:r>
              <a:t>Dung lượng 1.369 B (tiết kiệm 98.8% băng thông)</a:t>
            </a:r>
          </a:p>
        </p:txBody>
      </p:sp>
      <p:sp>
        <p:nvSpPr>
          <p:cNvPr id="15" name="Rounded Rectangle 14"/>
          <p:cNvSpPr/>
          <p:nvPr/>
        </p:nvSpPr>
        <p:spPr>
          <a:xfrm>
            <a:off x="6263640" y="5559552"/>
            <a:ext cx="4937760" cy="676656"/>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900">
                <a:solidFill>
                  <a:srgbClr val="059669"/>
                </a:solidFill>
              </a:defRPr>
            </a:pPr>
            <a:r>
              <a:t>6. Lời kêu gọi kiểm nghiệm thực tế (Mục 7 Trang 14)   ➔   ĐẠT 100%</a:t>
            </a:r>
          </a:p>
          <a:p>
            <a:pPr>
              <a:spcBef>
                <a:spcPts val="200"/>
              </a:spcBef>
              <a:defRPr sz="819">
                <a:solidFill>
                  <a:srgbClr val="0F172A"/>
                </a:solidFill>
              </a:defRPr>
            </a:pPr>
            <a:r>
              <a:t>2 Dataset Kaggle (1.115 &amp; 5.600 tệp), 5 vòng đo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4572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728655" cy="868680"/>
          </a:xfrm>
          <a:prstGeom prst="rect">
            <a:avLst/>
          </a:prstGeom>
          <a:noFill/>
        </p:spPr>
        <p:txBody>
          <a:bodyPr wrap="square">
            <a:spAutoFit/>
          </a:bodyPr>
          <a:lstStyle/>
          <a:p>
            <a:pPr>
              <a:defRPr b="1" sz="1050">
                <a:solidFill>
                  <a:srgbClr val="93C5FD"/>
                </a:solidFill>
              </a:defRPr>
            </a:pPr>
            <a:r>
              <a:t>PHẦN 6: ĐỐI CHIẾU LÝ THUYẾT &amp; KIỂM THỬ TỰ ĐỘNG</a:t>
            </a:r>
          </a:p>
          <a:p>
            <a:pPr>
              <a:spcBef>
                <a:spcPts val="200"/>
              </a:spcBef>
              <a:defRPr b="1" sz="1750">
                <a:solidFill>
                  <a:srgbClr val="FFFFFF"/>
                </a:solidFill>
              </a:defRPr>
            </a:pPr>
            <a:r>
              <a:t>13. Bộ Kiểm Thử An Ninh Mật Mã Tự Động (17/17 Unit Tests Đạt 100%)</a:t>
            </a:r>
          </a:p>
        </p:txBody>
      </p:sp>
      <p:sp>
        <p:nvSpPr>
          <p:cNvPr id="6" name="Rounded Rectangle 5"/>
          <p:cNvSpPr/>
          <p:nvPr/>
        </p:nvSpPr>
        <p:spPr>
          <a:xfrm>
            <a:off x="731520" y="1234440"/>
            <a:ext cx="5120640" cy="5257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417320"/>
            <a:ext cx="4663440" cy="4937760"/>
          </a:xfrm>
          <a:prstGeom prst="rect">
            <a:avLst/>
          </a:prstGeom>
          <a:noFill/>
        </p:spPr>
        <p:txBody>
          <a:bodyPr wrap="square">
            <a:spAutoFit/>
          </a:bodyPr>
          <a:lstStyle/>
          <a:p>
            <a:pPr>
              <a:defRPr b="1" sz="1200">
                <a:solidFill>
                  <a:srgbClr val="1E3A8A"/>
                </a:solidFill>
              </a:defRPr>
            </a:pPr>
            <a:r>
              <a:t>Quy Trình Kiểm Thử An Ninh Hệ Thống (test_file_integrity.py)</a:t>
            </a:r>
          </a:p>
          <a:p>
            <a:pPr>
              <a:spcBef>
                <a:spcPts val="450"/>
              </a:spcBef>
              <a:defRPr b="1" sz="969">
                <a:solidFill>
                  <a:srgbClr val="2563EB"/>
                </a:solidFill>
              </a:defRPr>
            </a:pPr>
            <a:r>
              <a:t>• Mục tiêu bộ kiểm thử tự động:</a:t>
            </a:r>
          </a:p>
          <a:p>
            <a:pPr>
              <a:spcBef>
                <a:spcPts val="150"/>
              </a:spcBef>
              <a:defRPr sz="919">
                <a:solidFill>
                  <a:srgbClr val="0F172A"/>
                </a:solidFill>
              </a:defRPr>
            </a:pPr>
            <a:r>
              <a:t>Xây dựng bộ kịch bản kiểm thử độc lập bao phủ toàn bộ các nguy cơ tấn công an ninh mật mã nhằm xác nhận tính đúng đắn của giải thuật trước khi triển khai thực tế.</a:t>
            </a:r>
          </a:p>
          <a:p>
            <a:pPr>
              <a:spcBef>
                <a:spcPts val="450"/>
              </a:spcBef>
              <a:defRPr b="1" sz="969">
                <a:solidFill>
                  <a:srgbClr val="2563EB"/>
                </a:solidFill>
              </a:defRPr>
            </a:pPr>
            <a:r>
              <a:t>• Cấu trúc 17 ca kiểm thử an ninh chuyên sâu:</a:t>
            </a:r>
          </a:p>
          <a:p>
            <a:pPr>
              <a:spcBef>
                <a:spcPts val="150"/>
              </a:spcBef>
              <a:defRPr sz="919">
                <a:solidFill>
                  <a:srgbClr val="0F172A"/>
                </a:solidFill>
              </a:defRPr>
            </a:pPr>
            <a:r>
              <a:t>Nhóm 1: Phát hiện can thiệp nội dung tệp (Tampering: sửa 1 byte, đảo 1 bit trên đĩa).</a:t>
            </a:r>
            <a:br/>
            <a:r>
              <a:t>Nhóm 2: Phát hiện chèn tệp lạ và xóa lén tệp trong cấu trúc thư mục con.</a:t>
            </a:r>
            <a:br/>
            <a:r>
              <a:t>Nhóm 3: Kiểm định tính chính xác của đường dẫn Dirty-Path và Master Root Hash.</a:t>
            </a:r>
            <a:br/>
            <a:r>
              <a:t>Nhóm 4: Kiểm thử tính hợp lệ của Inclusion Proof và phát hiện Proof bị giả mạo.</a:t>
            </a:r>
            <a:br/>
            <a:r>
              <a:t>Nhóm 5: Kiểm định Bằng chứng nhất quán RFC 6962 khi cây mở rộng.</a:t>
            </a:r>
            <a:br/>
            <a:r>
              <a:t>Nhóm 6: Kiểm thử cơ chế Xóa sạch RAM và So sánh hằng số thời gian.</a:t>
            </a:r>
          </a:p>
          <a:p>
            <a:pPr>
              <a:spcBef>
                <a:spcPts val="450"/>
              </a:spcBef>
              <a:defRPr b="1" sz="969">
                <a:solidFill>
                  <a:srgbClr val="2563EB"/>
                </a:solidFill>
              </a:defRPr>
            </a:pPr>
            <a:r>
              <a:t>• Kết quả thực thi tự động:</a:t>
            </a:r>
          </a:p>
          <a:p>
            <a:pPr>
              <a:spcBef>
                <a:spcPts val="150"/>
              </a:spcBef>
              <a:defRPr sz="919">
                <a:solidFill>
                  <a:srgbClr val="0F172A"/>
                </a:solidFill>
              </a:defRPr>
            </a:pPr>
            <a:r>
              <a:t>Chạy lệnh unittest: 17/17 ca kiểm thử đều VƯỢT QUA HOÀN TOÀN (100% PASS), thời gian thực thi &lt; 0.25 giây.</a:t>
            </a:r>
          </a:p>
        </p:txBody>
      </p:sp>
      <p:sp>
        <p:nvSpPr>
          <p:cNvPr id="8" name="Rounded Rectangle 7"/>
          <p:cNvSpPr/>
          <p:nvPr/>
        </p:nvSpPr>
        <p:spPr>
          <a:xfrm>
            <a:off x="6035040" y="1234440"/>
            <a:ext cx="5394960" cy="5257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417320"/>
            <a:ext cx="4937760" cy="548640"/>
          </a:xfrm>
          <a:prstGeom prst="rect">
            <a:avLst/>
          </a:prstGeom>
          <a:noFill/>
        </p:spPr>
        <p:txBody>
          <a:bodyPr wrap="square">
            <a:spAutoFit/>
          </a:bodyPr>
          <a:lstStyle/>
          <a:p>
            <a:pPr>
              <a:defRPr b="1" sz="1150">
                <a:solidFill>
                  <a:srgbClr val="1E3A8A"/>
                </a:solidFill>
              </a:defRPr>
            </a:pPr>
            <a:r>
              <a:t>KẾT QUẢ KIỂM THỬ AN NINH TỰ ĐỘNG (17/17 TESTS PASS)</a:t>
            </a:r>
          </a:p>
        </p:txBody>
      </p:sp>
      <p:sp>
        <p:nvSpPr>
          <p:cNvPr id="10" name="Rounded Rectangle 9"/>
          <p:cNvSpPr/>
          <p:nvPr/>
        </p:nvSpPr>
        <p:spPr>
          <a:xfrm>
            <a:off x="6263640" y="1892808"/>
            <a:ext cx="4937760" cy="676656"/>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900">
                <a:solidFill>
                  <a:srgbClr val="059669"/>
                </a:solidFill>
              </a:defRPr>
            </a:pPr>
            <a:r>
              <a:t>1. Phát hiện sửa đổi 1 bit / 1 byte   ➔   PASS (100%)</a:t>
            </a:r>
          </a:p>
          <a:p>
            <a:pPr>
              <a:spcBef>
                <a:spcPts val="200"/>
              </a:spcBef>
              <a:defRPr sz="819">
                <a:solidFill>
                  <a:srgbClr val="0F172A"/>
                </a:solidFill>
              </a:defRPr>
            </a:pPr>
            <a:r>
              <a:t>Kiểm thử phát hiện sai lệch nội dung tệp trên đĩa tức thì.</a:t>
            </a:r>
          </a:p>
        </p:txBody>
      </p:sp>
      <p:sp>
        <p:nvSpPr>
          <p:cNvPr id="11" name="Rounded Rectangle 10"/>
          <p:cNvSpPr/>
          <p:nvPr/>
        </p:nvSpPr>
        <p:spPr>
          <a:xfrm>
            <a:off x="6263640" y="2633472"/>
            <a:ext cx="4937760" cy="676656"/>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900">
                <a:solidFill>
                  <a:srgbClr val="059669"/>
                </a:solidFill>
              </a:defRPr>
            </a:pPr>
            <a:r>
              <a:t>2. Phát hiện chèn tệp lạ vào thư mục   ➔   PASS (100%)</a:t>
            </a:r>
          </a:p>
          <a:p>
            <a:pPr>
              <a:spcBef>
                <a:spcPts val="200"/>
              </a:spcBef>
              <a:defRPr sz="819">
                <a:solidFill>
                  <a:srgbClr val="0F172A"/>
                </a:solidFill>
              </a:defRPr>
            </a:pPr>
            <a:r>
              <a:t>Phát hiện mã độc hoặc tệp lạ đưa vào thư mục phân cấp.</a:t>
            </a:r>
          </a:p>
        </p:txBody>
      </p:sp>
      <p:sp>
        <p:nvSpPr>
          <p:cNvPr id="12" name="Rounded Rectangle 11"/>
          <p:cNvSpPr/>
          <p:nvPr/>
        </p:nvSpPr>
        <p:spPr>
          <a:xfrm>
            <a:off x="6263640" y="3374136"/>
            <a:ext cx="4937760" cy="676656"/>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900">
                <a:solidFill>
                  <a:srgbClr val="059669"/>
                </a:solidFill>
              </a:defRPr>
            </a:pPr>
            <a:r>
              <a:t>3. Phát hiện xóa lén tệp tin   ➔   PASS (100%)</a:t>
            </a:r>
          </a:p>
          <a:p>
            <a:pPr>
              <a:spcBef>
                <a:spcPts val="200"/>
              </a:spcBef>
              <a:defRPr sz="819">
                <a:solidFill>
                  <a:srgbClr val="0F172A"/>
                </a:solidFill>
              </a:defRPr>
            </a:pPr>
            <a:r>
              <a:t>Phát hiện phá hoại dữ liệu khi tệp bị xóa khỏi cây thư mục.</a:t>
            </a:r>
          </a:p>
        </p:txBody>
      </p:sp>
      <p:sp>
        <p:nvSpPr>
          <p:cNvPr id="13" name="Rounded Rectangle 12"/>
          <p:cNvSpPr/>
          <p:nvPr/>
        </p:nvSpPr>
        <p:spPr>
          <a:xfrm>
            <a:off x="6263640" y="4114800"/>
            <a:ext cx="4937760" cy="676656"/>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900">
                <a:solidFill>
                  <a:srgbClr val="059669"/>
                </a:solidFill>
              </a:defRPr>
            </a:pPr>
            <a:r>
              <a:t>4. Định vị tệp tin vi phạm chính xác   ➔   PASS (100%)</a:t>
            </a:r>
          </a:p>
          <a:p>
            <a:pPr>
              <a:spcBef>
                <a:spcPts val="200"/>
              </a:spcBef>
              <a:defRPr sz="819">
                <a:solidFill>
                  <a:srgbClr val="0F172A"/>
                </a:solidFill>
              </a:defRPr>
            </a:pPr>
            <a:r>
              <a:t>Chỉ đúng đường dẫn tệp bị can thiệp trong thời gian 0.022 ms.</a:t>
            </a:r>
          </a:p>
        </p:txBody>
      </p:sp>
      <p:sp>
        <p:nvSpPr>
          <p:cNvPr id="14" name="Rounded Rectangle 13"/>
          <p:cNvSpPr/>
          <p:nvPr/>
        </p:nvSpPr>
        <p:spPr>
          <a:xfrm>
            <a:off x="6263640" y="4855464"/>
            <a:ext cx="4937760" cy="676656"/>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900">
                <a:solidFill>
                  <a:srgbClr val="059669"/>
                </a:solidFill>
              </a:defRPr>
            </a:pPr>
            <a:r>
              <a:t>5. Xác thực Merkle Proof &amp; Consistency   ➔   PASS (100%)</a:t>
            </a:r>
          </a:p>
          <a:p>
            <a:pPr>
              <a:spcBef>
                <a:spcPts val="200"/>
              </a:spcBef>
              <a:defRPr sz="819">
                <a:solidFill>
                  <a:srgbClr val="0F172A"/>
                </a:solidFill>
              </a:defRPr>
            </a:pPr>
            <a:r>
              <a:t>Kiểm định Inclusion Proof và Bằng chứng nhất quán RFC 6962.</a:t>
            </a:r>
          </a:p>
        </p:txBody>
      </p:sp>
      <p:sp>
        <p:nvSpPr>
          <p:cNvPr id="15" name="Rounded Rectangle 14"/>
          <p:cNvSpPr/>
          <p:nvPr/>
        </p:nvSpPr>
        <p:spPr>
          <a:xfrm>
            <a:off x="6263640" y="5596128"/>
            <a:ext cx="4937760" cy="676656"/>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900">
                <a:solidFill>
                  <a:srgbClr val="059669"/>
                </a:solidFill>
              </a:defRPr>
            </a:pPr>
            <a:r>
              <a:t>6. Bảo vệ RAM &amp; Chống rò rỉ thời gian   ➔   PASS (100%)</a:t>
            </a:r>
          </a:p>
          <a:p>
            <a:pPr>
              <a:spcBef>
                <a:spcPts val="200"/>
              </a:spcBef>
              <a:defRPr sz="819">
                <a:solidFill>
                  <a:srgbClr val="0F172A"/>
                </a:solidFill>
              </a:defRPr>
            </a:pPr>
            <a:r>
              <a:t>Xóa đè bộ nhớ an toàn (zeroize) &amp; so sánh hằng số O(1).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4572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728655" cy="868680"/>
          </a:xfrm>
          <a:prstGeom prst="rect">
            <a:avLst/>
          </a:prstGeom>
          <a:noFill/>
        </p:spPr>
        <p:txBody>
          <a:bodyPr wrap="square">
            <a:spAutoFit/>
          </a:bodyPr>
          <a:lstStyle/>
          <a:p>
            <a:pPr>
              <a:defRPr b="1" sz="1050">
                <a:solidFill>
                  <a:srgbClr val="93C5FD"/>
                </a:solidFill>
              </a:defRPr>
            </a:pPr>
            <a:r>
              <a:t>PHẦN 7: TRỰC QUAN HÓA &amp; TRÌNH DIỄN THỰC TẾ</a:t>
            </a:r>
          </a:p>
          <a:p>
            <a:pPr>
              <a:spcBef>
                <a:spcPts val="200"/>
              </a:spcBef>
              <a:defRPr b="1" sz="1750">
                <a:solidFill>
                  <a:srgbClr val="FFFFFF"/>
                </a:solidFill>
              </a:defRPr>
            </a:pPr>
            <a:r>
              <a:t>14. Live Demonstration: Trình Diễn Hệ Thống Trực Tiếp Trên Trình Duyệt &amp; Terminal</a:t>
            </a:r>
          </a:p>
        </p:txBody>
      </p:sp>
      <p:sp>
        <p:nvSpPr>
          <p:cNvPr id="6" name="Rounded Rectangle 5"/>
          <p:cNvSpPr/>
          <p:nvPr/>
        </p:nvSpPr>
        <p:spPr>
          <a:xfrm>
            <a:off x="731520" y="1234440"/>
            <a:ext cx="5303520" cy="5257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417320"/>
            <a:ext cx="4846320" cy="4937760"/>
          </a:xfrm>
          <a:prstGeom prst="rect">
            <a:avLst/>
          </a:prstGeom>
          <a:noFill/>
        </p:spPr>
        <p:txBody>
          <a:bodyPr wrap="square">
            <a:spAutoFit/>
          </a:bodyPr>
          <a:lstStyle/>
          <a:p>
            <a:pPr>
              <a:defRPr b="1" sz="1200">
                <a:solidFill>
                  <a:srgbClr val="1E3A8A"/>
                </a:solidFill>
              </a:defRPr>
            </a:pPr>
            <a:r>
              <a:t>Kịch Bản Trình Diễn Hệ Thống Thực Tế (Live Demo Workflow)</a:t>
            </a:r>
          </a:p>
          <a:p>
            <a:pPr>
              <a:spcBef>
                <a:spcPts val="450"/>
              </a:spcBef>
              <a:defRPr b="1" sz="969">
                <a:solidFill>
                  <a:srgbClr val="2563EB"/>
                </a:solidFill>
              </a:defRPr>
            </a:pPr>
            <a:r>
              <a:t>• 1. Khởi chạy Web Dashboard &amp; Terminal Log Streaming:</a:t>
            </a:r>
          </a:p>
          <a:p>
            <a:pPr>
              <a:spcBef>
                <a:spcPts val="150"/>
              </a:spcBef>
              <a:defRPr sz="919">
                <a:solidFill>
                  <a:srgbClr val="0F172A"/>
                </a:solidFill>
              </a:defRPr>
            </a:pPr>
            <a:r>
              <a:t>Truy cập giao diện ứng dụng Streamlit trực quan tại http://localhost:8501.</a:t>
            </a:r>
            <a:br/>
            <a:r>
              <a:t>Chọn nạp tập dữ liệu Kaggle 5.600 tệp tin (175.12 MB) từ thư mục Downloads.</a:t>
            </a:r>
            <a:br/>
            <a:r>
              <a:t>Quan sát Terminal streaming logs thời gian thực: quét thư mục đĩa, băm song song đa luồng và tính toán Master Root Hash.</a:t>
            </a:r>
          </a:p>
          <a:p>
            <a:pPr>
              <a:spcBef>
                <a:spcPts val="450"/>
              </a:spcBef>
              <a:defRPr b="1" sz="969">
                <a:solidFill>
                  <a:srgbClr val="2563EB"/>
                </a:solidFill>
              </a:defRPr>
            </a:pPr>
            <a:r>
              <a:t>• 2. Trực quan hóa cấu trúc Cây Merkle phân tầng (HD-Merkle Tree):</a:t>
            </a:r>
          </a:p>
          <a:p>
            <a:pPr>
              <a:spcBef>
                <a:spcPts val="150"/>
              </a:spcBef>
              <a:defRPr sz="919">
                <a:solidFill>
                  <a:srgbClr val="0F172A"/>
                </a:solidFill>
              </a:defRPr>
            </a:pPr>
            <a:r>
              <a:t>Khám phá cấu trúc cây thư mục phân tầng Biba (1977) hiển thị trực quan trên giao diện.</a:t>
            </a:r>
            <a:br/>
            <a:r>
              <a:t>Kiểm tra mã băm gốc từng thư mục con (Directory Root) và Master Root Hash (32 bytes) đại diện bất biến cho toàn bộ kho dữ liệu.</a:t>
            </a:r>
          </a:p>
          <a:p>
            <a:pPr>
              <a:spcBef>
                <a:spcPts val="450"/>
              </a:spcBef>
              <a:defRPr b="1" sz="969">
                <a:solidFill>
                  <a:srgbClr val="2563EB"/>
                </a:solidFill>
              </a:defRPr>
            </a:pPr>
            <a:r>
              <a:t>• 3. Thực nghiệm tấn công can thiệp tệp tin (Tampering Attack):</a:t>
            </a:r>
          </a:p>
          <a:p>
            <a:pPr>
              <a:spcBef>
                <a:spcPts val="150"/>
              </a:spcBef>
              <a:defRPr sz="919">
                <a:solidFill>
                  <a:srgbClr val="0F172A"/>
                </a:solidFill>
              </a:defRPr>
            </a:pPr>
            <a:r>
              <a:t>Mở Windows Explorer, chọn sửa đổi 1 ký tự trong 1 tệp tin bất kỳ ngoài đĩa vật lý.</a:t>
            </a:r>
            <a:br/>
            <a:r>
              <a:t>Nhấn 'Kiểm tra toàn vẹn': Hệ thống phát hiện ngay trong 0.022 ms, cảnh báo đỏ và chỉ đích danh tên tệp vi phạm.</a:t>
            </a:r>
            <a:br/>
            <a:r>
              <a:t>Kích hoạt Dirty-Path Update: Cập nhật lại Master Root mới chỉ trong 0.16 ms mà không cần Rebuild kho dữ liệu.</a:t>
            </a:r>
          </a:p>
          <a:p>
            <a:pPr>
              <a:spcBef>
                <a:spcPts val="450"/>
              </a:spcBef>
              <a:defRPr b="1" sz="969">
                <a:solidFill>
                  <a:srgbClr val="2563EB"/>
                </a:solidFill>
              </a:defRPr>
            </a:pPr>
            <a:r>
              <a:t>• 4. Kiểm chứng an ninh toán học 7 Games &amp; 17 Unit Tests tự động:</a:t>
            </a:r>
          </a:p>
          <a:p>
            <a:pPr>
              <a:spcBef>
                <a:spcPts val="150"/>
              </a:spcBef>
              <a:defRPr sz="919">
                <a:solidFill>
                  <a:srgbClr val="0F172A"/>
                </a:solidFill>
              </a:defRPr>
            </a:pPr>
            <a:r>
              <a:t>Chạy kiểm thử tự động trực tiếp trên Terminal và Web: 7/7 Security Games và 17/17 Unit Tests đạt 100% PASS.</a:t>
            </a:r>
          </a:p>
        </p:txBody>
      </p:sp>
      <p:sp>
        <p:nvSpPr>
          <p:cNvPr id="8" name="Rounded Rectangle 7"/>
          <p:cNvSpPr/>
          <p:nvPr/>
        </p:nvSpPr>
        <p:spPr>
          <a:xfrm>
            <a:off x="6217920" y="1234440"/>
            <a:ext cx="5242255" cy="5257800"/>
          </a:xfrm>
          <a:prstGeom prst="roundRect">
            <a:avLst/>
          </a:prstGeom>
          <a:solidFill>
            <a:srgbClr val="0F172A"/>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344168"/>
            <a:ext cx="4876495" cy="320040"/>
          </a:xfrm>
          <a:prstGeom prst="rect">
            <a:avLst/>
          </a:prstGeom>
          <a:noFill/>
        </p:spPr>
        <p:txBody>
          <a:bodyPr wrap="square">
            <a:spAutoFit/>
          </a:bodyPr>
          <a:lstStyle/>
          <a:p>
            <a:pPr>
              <a:defRPr b="1" sz="900">
                <a:solidFill>
                  <a:srgbClr val="94A3B8"/>
                </a:solidFill>
                <a:latin typeface="Consolas"/>
              </a:defRPr>
            </a:pPr>
            <a:r>
              <a:t>● ● ●  POWERSHELL STREAMING LOGS — LIVE WEB DEMO</a:t>
            </a:r>
          </a:p>
        </p:txBody>
      </p:sp>
      <p:sp>
        <p:nvSpPr>
          <p:cNvPr id="10" name="TextBox 9"/>
          <p:cNvSpPr txBox="1"/>
          <p:nvPr/>
        </p:nvSpPr>
        <p:spPr>
          <a:xfrm>
            <a:off x="6400800" y="1645920"/>
            <a:ext cx="4876495" cy="4754880"/>
          </a:xfrm>
          <a:prstGeom prst="rect">
            <a:avLst/>
          </a:prstGeom>
          <a:noFill/>
        </p:spPr>
        <p:txBody>
          <a:bodyPr wrap="square">
            <a:spAutoFit/>
          </a:bodyPr>
          <a:lstStyle/>
          <a:p>
            <a:pPr>
              <a:spcBef>
                <a:spcPts val="250"/>
              </a:spcBef>
            </a:pPr>
            <a:r>
              <a:rPr b="1" sz="850">
                <a:solidFill>
                  <a:srgbClr val="FACC15"/>
                </a:solidFill>
                <a:latin typeface="Consolas"/>
              </a:rPr>
              <a:t>PS D:\GK&gt; </a:t>
            </a:r>
            <a:r>
              <a:rPr sz="850">
                <a:solidFill>
                  <a:srgbClr val="F1F5F9"/>
                </a:solidFill>
                <a:latin typeface="Consolas"/>
              </a:rPr>
              <a:t>python -m streamlit run src/demo/web_demo.py --port 8501</a:t>
            </a:r>
          </a:p>
          <a:p>
            <a:pPr>
              <a:spcBef>
                <a:spcPts val="250"/>
              </a:spcBef>
            </a:pPr>
            <a:r>
              <a:rPr b="1" sz="850">
                <a:solidFill>
                  <a:srgbClr val="38BDF8"/>
                </a:solidFill>
                <a:latin typeface="Consolas"/>
              </a:rPr>
              <a:t>[SERVER]   </a:t>
            </a:r>
            <a:r>
              <a:rPr sz="850">
                <a:solidFill>
                  <a:srgbClr val="F1F5F9"/>
                </a:solidFill>
                <a:latin typeface="Consolas"/>
              </a:rPr>
              <a:t>Streamlit Web App Running at http://localhost:8501</a:t>
            </a:r>
          </a:p>
          <a:p>
            <a:pPr>
              <a:spcBef>
                <a:spcPts val="250"/>
              </a:spcBef>
            </a:pPr>
            <a:r>
              <a:rPr b="1" sz="850">
                <a:solidFill>
                  <a:srgbClr val="F1F5F9"/>
                </a:solidFill>
                <a:latin typeface="Consolas"/>
              </a:rPr>
              <a:t>[SCAN]     </a:t>
            </a:r>
            <a:r>
              <a:rPr sz="850">
                <a:solidFill>
                  <a:srgbClr val="F1F5F9"/>
                </a:solidFill>
                <a:latin typeface="Consolas"/>
              </a:rPr>
              <a:t>Scanned 5,600 files (175.12 MB) across 6 directories</a:t>
            </a:r>
          </a:p>
          <a:p>
            <a:pPr>
              <a:spcBef>
                <a:spcPts val="250"/>
              </a:spcBef>
            </a:pPr>
            <a:r>
              <a:rPr b="1" sz="850">
                <a:solidFill>
                  <a:srgbClr val="38BDF8"/>
                </a:solidFill>
                <a:latin typeface="Consolas"/>
              </a:rPr>
              <a:t>[TREE]     </a:t>
            </a:r>
            <a:r>
              <a:rPr sz="850">
                <a:solidFill>
                  <a:srgbClr val="F1F5F9"/>
                </a:solidFill>
                <a:latin typeface="Consolas"/>
              </a:rPr>
              <a:t>Constructed 6 Biba Directory Sub-Trees in 89.91 ms</a:t>
            </a:r>
          </a:p>
          <a:p>
            <a:pPr>
              <a:spcBef>
                <a:spcPts val="250"/>
              </a:spcBef>
            </a:pPr>
            <a:r>
              <a:rPr b="1" sz="850">
                <a:solidFill>
                  <a:srgbClr val="34D399"/>
                </a:solidFill>
                <a:latin typeface="Consolas"/>
              </a:rPr>
              <a:t>[ROOT]     </a:t>
            </a:r>
            <a:r>
              <a:rPr sz="850">
                <a:solidFill>
                  <a:srgbClr val="34D399"/>
                </a:solidFill>
                <a:latin typeface="Consolas"/>
              </a:rPr>
              <a:t>Master Root: 9f86d081884c7d659a2feaa0c55ad015a3bf4f1b...</a:t>
            </a:r>
          </a:p>
          <a:p>
            <a:pPr>
              <a:spcBef>
                <a:spcPts val="250"/>
              </a:spcBef>
            </a:pPr>
            <a:r>
              <a:rPr b="1" sz="850">
                <a:solidFill>
                  <a:srgbClr val="FACC15"/>
                </a:solidFill>
                <a:latin typeface="Consolas"/>
              </a:rPr>
              <a:t>[EVENT]    </a:t>
            </a:r>
            <a:r>
              <a:rPr sz="850">
                <a:solidFill>
                  <a:srgbClr val="F1F5F9"/>
                </a:solidFill>
                <a:latin typeface="Consolas"/>
              </a:rPr>
              <a:t>External file modified: Downloads/documents/sample.docx</a:t>
            </a:r>
          </a:p>
          <a:p>
            <a:pPr>
              <a:spcBef>
                <a:spcPts val="250"/>
              </a:spcBef>
            </a:pPr>
            <a:r>
              <a:rPr b="1" sz="850">
                <a:solidFill>
                  <a:srgbClr val="F87171"/>
                </a:solidFill>
                <a:latin typeface="Consolas"/>
              </a:rPr>
              <a:t>[ALERT]    </a:t>
            </a:r>
            <a:r>
              <a:rPr sz="850">
                <a:solidFill>
                  <a:srgbClr val="F87171"/>
                </a:solidFill>
                <a:latin typeface="Consolas"/>
              </a:rPr>
              <a:t>Tampering detected in 0.022 ms! Red warning triggered.</a:t>
            </a:r>
          </a:p>
          <a:p>
            <a:pPr>
              <a:spcBef>
                <a:spcPts val="250"/>
              </a:spcBef>
            </a:pPr>
            <a:r>
              <a:rPr b="1" sz="850">
                <a:solidFill>
                  <a:srgbClr val="34D399"/>
                </a:solidFill>
                <a:latin typeface="Consolas"/>
              </a:rPr>
              <a:t>[UPDATE]   </a:t>
            </a:r>
            <a:r>
              <a:rPr sz="850">
                <a:solidFill>
                  <a:srgbClr val="34D399"/>
                </a:solidFill>
                <a:latin typeface="Consolas"/>
              </a:rPr>
              <a:t>Dirty-Path recalculated in 0.16 ms (Speedup: 458x)</a:t>
            </a:r>
          </a:p>
          <a:p>
            <a:pPr>
              <a:spcBef>
                <a:spcPts val="250"/>
              </a:spcBef>
            </a:pPr>
            <a:r>
              <a:rPr b="1" sz="850">
                <a:solidFill>
                  <a:srgbClr val="34D399"/>
                </a:solidFill>
                <a:latin typeface="Consolas"/>
              </a:rPr>
              <a:t>[SECURITY] </a:t>
            </a:r>
            <a:r>
              <a:rPr sz="850">
                <a:solidFill>
                  <a:srgbClr val="34D399"/>
                </a:solidFill>
                <a:latin typeface="Consolas"/>
              </a:rPr>
              <a:t>7/7 Security Games &amp; 17/17 Unit Tests: 100% PASSED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4572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728655" cy="868680"/>
          </a:xfrm>
          <a:prstGeom prst="rect">
            <a:avLst/>
          </a:prstGeom>
          <a:noFill/>
        </p:spPr>
        <p:txBody>
          <a:bodyPr wrap="square">
            <a:spAutoFit/>
          </a:bodyPr>
          <a:lstStyle/>
          <a:p>
            <a:pPr>
              <a:defRPr b="1" sz="1050">
                <a:solidFill>
                  <a:srgbClr val="93C5FD"/>
                </a:solidFill>
              </a:defRPr>
            </a:pPr>
            <a:r>
              <a:t>PHẦN 8: TỔNG KẾT ĐÓNG GÓP &amp; ĐỊNH HƯỚNG PHÁT TRIỂN</a:t>
            </a:r>
          </a:p>
          <a:p>
            <a:pPr>
              <a:spcBef>
                <a:spcPts val="200"/>
              </a:spcBef>
              <a:defRPr b="1" sz="1750">
                <a:solidFill>
                  <a:srgbClr val="FFFFFF"/>
                </a:solidFill>
              </a:defRPr>
            </a:pPr>
            <a:r>
              <a:t>15. Tổng Kết Đóng Góp Khoa Học &amp; Khẳng Định Kết Quả Vượt Trội</a:t>
            </a:r>
          </a:p>
        </p:txBody>
      </p:sp>
      <p:sp>
        <p:nvSpPr>
          <p:cNvPr id="6" name="Rounded Rectangle 5"/>
          <p:cNvSpPr/>
          <p:nvPr/>
        </p:nvSpPr>
        <p:spPr>
          <a:xfrm>
            <a:off x="731520" y="1234440"/>
            <a:ext cx="5120640" cy="5257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417320"/>
            <a:ext cx="4663440" cy="4937760"/>
          </a:xfrm>
          <a:prstGeom prst="rect">
            <a:avLst/>
          </a:prstGeom>
          <a:noFill/>
        </p:spPr>
        <p:txBody>
          <a:bodyPr wrap="square">
            <a:spAutoFit/>
          </a:bodyPr>
          <a:lstStyle/>
          <a:p>
            <a:pPr>
              <a:defRPr b="1" sz="1200">
                <a:solidFill>
                  <a:srgbClr val="1E3A8A"/>
                </a:solidFill>
              </a:defRPr>
            </a:pPr>
            <a:r>
              <a:t>4 Đóng Góp Nổi Bật Của Đồ Án DT005</a:t>
            </a:r>
          </a:p>
          <a:p>
            <a:pPr>
              <a:spcBef>
                <a:spcPts val="450"/>
              </a:spcBef>
              <a:defRPr b="1" sz="1000">
                <a:solidFill>
                  <a:srgbClr val="2563EB"/>
                </a:solidFill>
              </a:defRPr>
            </a:pPr>
            <a:r>
              <a:t>• 1. Hoàn thành toàn diện việc nghiên cứu bài báo gốc:</a:t>
            </a:r>
          </a:p>
          <a:p>
            <a:pPr>
              <a:spcBef>
                <a:spcPts val="150"/>
              </a:spcBef>
              <a:defRPr sz="950">
                <a:solidFill>
                  <a:srgbClr val="0F172A"/>
                </a:solidFill>
              </a:defRPr>
            </a:pPr>
            <a:r>
              <a:t>Dịch thuật học thuật toàn văn bài báo Oxford 2025 của Harry Halpin, đối chiếu 100% các luận điểm lý thuyết và hiện thực hóa thành công 3 mô hình nền tảng đối chứng.</a:t>
            </a:r>
          </a:p>
          <a:p>
            <a:pPr>
              <a:spcBef>
                <a:spcPts val="450"/>
              </a:spcBef>
              <a:defRPr b="1" sz="1000">
                <a:solidFill>
                  <a:srgbClr val="2563EB"/>
                </a:solidFill>
              </a:defRPr>
            </a:pPr>
            <a:r>
              <a:t>• 2. Tự thiết kế &amp; Xây dựng mô hình mới HD-Merkle Tree:</a:t>
            </a:r>
          </a:p>
          <a:p>
            <a:pPr>
              <a:spcBef>
                <a:spcPts val="150"/>
              </a:spcBef>
              <a:defRPr sz="950">
                <a:solidFill>
                  <a:srgbClr val="0F172A"/>
                </a:solidFill>
              </a:defRPr>
            </a:pPr>
            <a:r>
              <a:t>Đề xuất kiến trúc Cây Merkle phân tầng theo mô hình Biba 1977 kết hợp chuẩn phân tách miền RFC 6962, giải quyết triệt để nút thắt Rebuild O(N) của mô hình phẳng.</a:t>
            </a:r>
          </a:p>
          <a:p>
            <a:pPr>
              <a:spcBef>
                <a:spcPts val="450"/>
              </a:spcBef>
              <a:defRPr b="1" sz="1000">
                <a:solidFill>
                  <a:srgbClr val="2563EB"/>
                </a:solidFill>
              </a:defRPr>
            </a:pPr>
            <a:r>
              <a:t>• 3. Tự phát triển thuật toán cập nhật động Dirty-Path:</a:t>
            </a:r>
          </a:p>
          <a:p>
            <a:pPr>
              <a:spcBef>
                <a:spcPts val="150"/>
              </a:spcBef>
              <a:defRPr sz="950">
                <a:solidFill>
                  <a:srgbClr val="0F172A"/>
                </a:solidFill>
              </a:defRPr>
            </a:pPr>
            <a:r>
              <a:t>Thời gian cập nhật khi sửa/thêm/xóa tệp nhanh hơn 458 - 748 LẦN so với Standard Merkle Tree.</a:t>
            </a:r>
            <a:br/>
            <a:r>
              <a:t>Bảng đối sánh độ phức tạp Big-O lý thuyết chứng minh giảm độ phức tạp từ O(N) xuống O(log N).</a:t>
            </a:r>
            <a:br/>
            <a:r>
              <a:t>Tiết kiệm 98.8% băng thông mạng và bảo toàn 100% tính riêng tư siêu dữ liệu.</a:t>
            </a:r>
          </a:p>
          <a:p>
            <a:pPr>
              <a:spcBef>
                <a:spcPts val="450"/>
              </a:spcBef>
              <a:defRPr b="1" sz="1000">
                <a:solidFill>
                  <a:srgbClr val="2563EB"/>
                </a:solidFill>
              </a:defRPr>
            </a:pPr>
            <a:r>
              <a:t>• 4. Kiểm chứng an ninh toán học &amp; Thực nghiệm hoàn chỉnh:</a:t>
            </a:r>
          </a:p>
          <a:p>
            <a:pPr>
              <a:spcBef>
                <a:spcPts val="150"/>
              </a:spcBef>
              <a:defRPr sz="950">
                <a:solidFill>
                  <a:srgbClr val="0F172A"/>
                </a:solidFill>
              </a:defRPr>
            </a:pPr>
            <a:r>
              <a:t>Vượt qua 100% 7 Trò chơi an ninh đối kháng hình thức, 17/17 Unit Tests tự động, và kiểm chứng trực tiếp trên 2 tập dữ liệu Kaggle (1.115 &amp; 5.600 tệp).</a:t>
            </a:r>
          </a:p>
        </p:txBody>
      </p:sp>
      <p:sp>
        <p:nvSpPr>
          <p:cNvPr id="8" name="Rounded Rectangle 7"/>
          <p:cNvSpPr/>
          <p:nvPr/>
        </p:nvSpPr>
        <p:spPr>
          <a:xfrm>
            <a:off x="6035040" y="1234440"/>
            <a:ext cx="5394960" cy="5257800"/>
          </a:xfrm>
          <a:prstGeom prst="roundRect">
            <a:avLst/>
          </a:prstGeom>
          <a:solidFill>
            <a:srgbClr val="F1F5F9"/>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435608"/>
            <a:ext cx="4937760" cy="4892040"/>
          </a:xfrm>
          <a:prstGeom prst="rect">
            <a:avLst/>
          </a:prstGeom>
          <a:noFill/>
        </p:spPr>
        <p:txBody>
          <a:bodyPr wrap="square">
            <a:spAutoFit/>
          </a:bodyPr>
          <a:lstStyle/>
          <a:p>
            <a:pPr>
              <a:defRPr b="1" sz="1100">
                <a:solidFill>
                  <a:srgbClr val="1E3A8A"/>
                </a:solidFill>
              </a:defRPr>
            </a:pPr>
            <a:r>
              <a:t>[ KHUNG CHỜ SƠ ĐỒ DRAW.IO: SƠ ĐỒ CHU TRÌNH KHÉP KÍN 4 KHỐI ĐÓNG GÓP &amp; ĐỊNH HƯỚNG PHÁT TRIỂN ]</a:t>
            </a:r>
          </a:p>
          <a:p>
            <a:pPr>
              <a:spcBef>
                <a:spcPts val="300"/>
              </a:spcBef>
              <a:defRPr i="1" sz="900">
                <a:solidFill>
                  <a:srgbClr val="64748B"/>
                </a:solidFill>
              </a:defRPr>
            </a:pPr>
            <a:r>
              <a:t>Hướng dẫn: Thiết kế sơ đồ kiến trúc trên Draw.io và chèn hình ảnh xuất ra vào vị trí này.</a:t>
            </a:r>
          </a:p>
          <a:p>
            <a:pPr>
              <a:spcBef>
                <a:spcPts val="700"/>
              </a:spcBef>
              <a:defRPr b="1" sz="950">
                <a:solidFill>
                  <a:srgbClr val="2563EB"/>
                </a:solidFill>
              </a:defRPr>
            </a:pPr>
            <a:r>
              <a:t>CÁC THÀNH PHẦN KIẾN TRÚC BẮT BUỘC:</a:t>
            </a:r>
          </a:p>
          <a:p>
            <a:pPr>
              <a:spcBef>
                <a:spcPts val="350"/>
              </a:spcBef>
              <a:defRPr sz="900">
                <a:solidFill>
                  <a:srgbClr val="0F172A"/>
                </a:solidFill>
              </a:defRPr>
            </a:pPr>
            <a:r>
              <a:t>• Khối 1 (Khoa học): Hoàn thiện khoảng trống thực nghiệm của bài báo Oxford Cybersecurity 2025.</a:t>
            </a:r>
          </a:p>
          <a:p>
            <a:pPr>
              <a:spcBef>
                <a:spcPts val="350"/>
              </a:spcBef>
              <a:defRPr sz="900">
                <a:solidFill>
                  <a:srgbClr val="0F172A"/>
                </a:solidFill>
              </a:defRPr>
            </a:pPr>
            <a:r>
              <a:t>• Khối 2 (Hiệu năng): Cập nhật Dirty-Path O(log N) chỉ tốn 0.16 ms (nhanh hơn 458 lần so với Rebuild 73 ms).</a:t>
            </a:r>
          </a:p>
          <a:p>
            <a:pPr>
              <a:spcBef>
                <a:spcPts val="350"/>
              </a:spcBef>
              <a:defRPr sz="900">
                <a:solidFill>
                  <a:srgbClr val="0F172A"/>
                </a:solidFill>
              </a:defRPr>
            </a:pPr>
            <a:r>
              <a:t>• Khối 3 (An ninh): Vượt qua 100% 7 Security Games toán học và 17/17 Unit Tests tự động.</a:t>
            </a:r>
          </a:p>
          <a:p>
            <a:pPr>
              <a:spcBef>
                <a:spcPts val="350"/>
              </a:spcBef>
              <a:defRPr sz="900">
                <a:solidFill>
                  <a:srgbClr val="0F172A"/>
                </a:solidFill>
              </a:defRPr>
            </a:pPr>
            <a:r>
              <a:t>• Khối 4 (Ứng dụng): Web Demo trực quan, CLI độc lập, tích hợp kiểm tra toàn vẹn phân tán.</a:t>
            </a:r>
          </a:p>
          <a:p>
            <a:pPr>
              <a:spcBef>
                <a:spcPts val="350"/>
              </a:spcBef>
              <a:defRPr sz="900">
                <a:solidFill>
                  <a:srgbClr val="0F172A"/>
                </a:solidFill>
              </a:defRPr>
            </a:pPr>
            <a:r>
              <a:t>• Lộ trình tương lai: Tích hợp Bằng chứng Không Tri thức (Zero-Knowledge Proofs) và Sổ cái phân tán.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371600" y="914400"/>
            <a:ext cx="9448495"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45920" y="1188720"/>
            <a:ext cx="8899855" cy="4572000"/>
          </a:xfrm>
          <a:prstGeom prst="rect">
            <a:avLst/>
          </a:prstGeom>
          <a:noFill/>
        </p:spPr>
        <p:txBody>
          <a:bodyPr wrap="square">
            <a:spAutoFit/>
          </a:bodyPr>
          <a:lstStyle/>
          <a:p>
            <a:pPr algn="ctr">
              <a:defRPr b="1" sz="2800">
                <a:solidFill>
                  <a:srgbClr val="1E3A8A"/>
                </a:solidFill>
              </a:defRPr>
            </a:pPr>
            <a:r>
              <a:t>XIN TRÂN TRỌNG CẢM ƠN</a:t>
            </a:r>
          </a:p>
          <a:p>
            <a:pPr algn="ctr">
              <a:spcAft>
                <a:spcPts val="2000"/>
              </a:spcAft>
              <a:defRPr b="1" sz="1800">
                <a:solidFill>
                  <a:srgbClr val="2563EB"/>
                </a:solidFill>
              </a:defRPr>
            </a:pPr>
            <a:r>
              <a:t>QUÝ THẦY CÔ VÀ HỘI ĐỒNG ĐÁNH GIÁ</a:t>
            </a:r>
          </a:p>
          <a:p>
            <a:pPr algn="ctr">
              <a:spcAft>
                <a:spcPts val="600"/>
              </a:spcAft>
              <a:defRPr b="1" sz="1300">
                <a:solidFill>
                  <a:srgbClr val="0F172A"/>
                </a:solidFill>
              </a:defRPr>
            </a:pPr>
            <a:r>
              <a:t>Đồ Án Giữa Kỳ Đề Tài DT005: Hệ Thống Kiểm Tra Toàn Vẹn Tệp Phân Cấp (HD-Merkle Tree)</a:t>
            </a:r>
          </a:p>
          <a:p>
            <a:pPr algn="ctr">
              <a:defRPr sz="1200">
                <a:solidFill>
                  <a:srgbClr val="1E3A8A"/>
                </a:solidFill>
              </a:defRPr>
            </a:pPr>
            <a:r>
              <a:t>Sinh viên thực hiện: Võ Anh Kiệt  —  MSSV: 1150080143  —  Lớp: 11_CNPM2</a:t>
            </a:r>
          </a:p>
          <a:p>
            <a:pPr algn="ctr">
              <a:spcAft>
                <a:spcPts val="2400"/>
              </a:spcAft>
              <a:defRPr sz="1200">
                <a:solidFill>
                  <a:srgbClr val="1E3A8A"/>
                </a:solidFill>
              </a:defRPr>
            </a:pPr>
            <a:r>
              <a:t>Giảng viên hướng dẫn: ThS. Phạm Trọng Huynh</a:t>
            </a:r>
          </a:p>
        </p:txBody>
      </p:sp>
      <p:sp>
        <p:nvSpPr>
          <p:cNvPr id="6" name="Rounded Rectangle 5"/>
          <p:cNvSpPr/>
          <p:nvPr/>
        </p:nvSpPr>
        <p:spPr>
          <a:xfrm>
            <a:off x="2926080" y="3931920"/>
            <a:ext cx="6339535" cy="1645920"/>
          </a:xfrm>
          <a:prstGeom prst="roundRect">
            <a:avLst/>
          </a:prstGeom>
          <a:solidFill>
            <a:srgbClr val="EFF6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1E3A8A"/>
                </a:solidFill>
              </a:defRPr>
            </a:pPr>
            <a:r>
              <a:t>PHIÊN HỎI ĐÁP &amp; THẢO LUẬN HỌC THUẬT (Q&amp;A)</a:t>
            </a:r>
          </a:p>
          <a:p>
            <a:pPr algn="ctr">
              <a:spcBef>
                <a:spcPts val="600"/>
              </a:spcBef>
              <a:defRPr sz="1100">
                <a:solidFill>
                  <a:srgbClr val="0F172A"/>
                </a:solidFill>
              </a:defRPr>
            </a:pPr>
            <a:r>
              <a:t>Em xin kính mời Thầy Cô đặt câu hỏi và đóng góp ý kiến để hoàn thiện đề tài!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