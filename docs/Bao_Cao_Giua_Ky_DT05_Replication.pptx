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51560"/>
            <a:ext cx="9966960" cy="4754880"/>
          </a:xfrm>
          <a:prstGeom prst="rect">
            <a:avLst/>
          </a:prstGeom>
          <a:noFill/>
        </p:spPr>
        <p:txBody>
          <a:bodyPr wrap="square">
            <a:spAutoFit/>
          </a:bodyPr>
          <a:lstStyle/>
          <a:p>
            <a:pPr>
              <a:spcAft>
                <a:spcPts val="1600"/>
              </a:spcAft>
              <a:defRPr sz="1200" b="1">
                <a:solidFill>
                  <a:srgbClr val="64748B"/>
                </a:solidFill>
              </a:defRPr>
            </a:pPr>
            <a:r>
              <a:t>TRƯỜNG ĐẠI HỌC TÀI NGUYÊN VÀ MÔI TRƯỜNG TP. HỒ CHÍ MINH</a:t>
            </a:r>
            <a:br/>
            <a:r>
              <a:t>KHOA CÔNG NGHỆ THÔNG TIN</a:t>
            </a:r>
          </a:p>
          <a:p>
            <a:pPr>
              <a:spcAft>
                <a:spcPts val="800"/>
              </a:spcAft>
              <a:defRPr sz="1400" b="1">
                <a:solidFill>
                  <a:srgbClr val="2563EB"/>
                </a:solidFill>
              </a:defRPr>
            </a:pPr>
            <a:r>
              <a:t>BÁO CÁO TIẾN ĐỘ ĐỒ ÁN GIỮA KỲ — HỌC PHẦN ATBMHTTT</a:t>
            </a:r>
          </a:p>
          <a:p>
            <a:pPr>
              <a:spcAft>
                <a:spcPts val="1400"/>
              </a:spcAft>
              <a:defRPr sz="2300" b="1">
                <a:solidFill>
                  <a:srgbClr val="0F172A"/>
                </a:solidFill>
              </a:defRPr>
            </a:pPr>
            <a:r>
              <a:t>KIỂM TOÁN LÝ THUYẾT BÀI BÁO HARRY HALPIN (2025)</a:t>
            </a:r>
            <a:br/>
            <a:r>
              <a:t>VÀ HIỆN THỰC HÓA THỰC NGHIỆM MINH HỌA TOÀN VẸN TỆP</a:t>
            </a:r>
          </a:p>
          <a:p>
            <a:pPr>
              <a:spcAft>
                <a:spcPts val="2400"/>
              </a:spcAft>
              <a:defRPr sz="1150" b="1">
                <a:solidFill>
                  <a:srgbClr val="0D9488"/>
                </a:solidFill>
              </a:defRPr>
            </a:pPr>
            <a:r>
              <a:t>Bài báo nghiên cứu gốc: “The adversary: the philosophy of cryptography” — Harry Halpin</a:t>
            </a:r>
            <a:br/>
            <a:r>
              <a:t>Công bố trên Oxford Journal of Cybersecurity, Vol. 11(1), 2025  |  DOI: 10.1093/cybsec/tyaf006</a:t>
            </a:r>
          </a:p>
          <a:p>
            <a:pPr>
              <a:defRPr sz="1250">
                <a:solidFill>
                  <a:srgbClr val="1E293B"/>
                </a:solidFill>
              </a:defRPr>
            </a:pPr>
            <a:r>
              <a:t>Mã đề tài: DT005  |  Hệ thống kiểm tra toàn vẹn tệp bằng SHA-256, HMAC và Cây Merkle</a:t>
            </a:r>
            <a:br/>
            <a:r>
              <a:t>Sinh viên thực hiện: Võ Anh Kiệt   —   MSSV: 1150080143   —   Lớp: 11_CNPM2</a:t>
            </a:r>
            <a:br/>
            <a:r>
              <a:t>Giảng viên hướng dẫn: ThS. Phạm Trọng Huynh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BỐI CẢNH BÀI BÁO (SEC 1 - TR. 1-2)</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Bối cảnh nghiên cứu: Khoảng cách giữa Chứng minh Toán học và Thực tế</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2/14</a:t>
            </a:r>
          </a:p>
        </p:txBody>
      </p:sp>
      <p:sp>
        <p:nvSpPr>
          <p:cNvPr id="7" name="Rounded Rectangle 6"/>
          <p:cNvSpPr/>
          <p:nvPr/>
        </p:nvSpPr>
        <p:spPr>
          <a:xfrm>
            <a:off x="7315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51755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4846320" cy="4434840"/>
          </a:xfrm>
          <a:prstGeom prst="rect">
            <a:avLst/>
          </a:prstGeom>
          <a:noFill/>
        </p:spPr>
        <p:txBody>
          <a:bodyPr wrap="square">
            <a:spAutoFit/>
          </a:bodyPr>
          <a:lstStyle/>
          <a:p>
            <a:pPr>
              <a:spcAft>
                <a:spcPts val="800"/>
              </a:spcAft>
              <a:defRPr sz="1350" b="1">
                <a:solidFill>
                  <a:srgbClr val="0F172A"/>
                </a:solidFill>
              </a:defRPr>
            </a:pPr>
            <a:r>
              <a:t>Sự chuyển dịch của Mật mã học (Sec 1, tr. 1)</a:t>
            </a:r>
          </a:p>
          <a:p>
            <a:pPr>
              <a:spcAft>
                <a:spcPts val="600"/>
              </a:spcAft>
            </a:pPr>
            <a:r>
              <a:rPr b="1" sz="1100">
                <a:solidFill>
                  <a:srgbClr val="2563EB"/>
                </a:solidFill>
              </a:rPr>
              <a:t>Từ nghệ thuật sang khoa học: </a:t>
            </a:r>
            <a:r>
              <a:rPr sz="1050">
                <a:solidFill>
                  <a:srgbClr val="1E293B"/>
                </a:solidFill>
              </a:rPr>
              <a:t>Trước thập niên 1970, mật mã học được xem là 'nghệ thuật mang tính hoang tưởng' (paranoid art), phụ thuộc vào kinh nghiệm bí mật quân sự.</a:t>
            </a:r>
          </a:p>
          <a:p>
            <a:pPr>
              <a:spcAft>
                <a:spcPts val="600"/>
              </a:spcAft>
            </a:pPr>
            <a:r>
              <a:rPr b="1" sz="1100">
                <a:solidFill>
                  <a:srgbClr val="2563EB"/>
                </a:solidFill>
              </a:rPr>
              <a:t>Động lực hình thức hóa: </a:t>
            </a:r>
            <a:r>
              <a:rPr sz="1050">
                <a:solidFill>
                  <a:srgbClr val="1E293B"/>
                </a:solidFill>
              </a:rPr>
              <a:t>Nhu cầu bảo vệ hệ thống máy tính đa người dùng (Multics) thúc đẩy toán học hóa an ninh thông qua định nghĩa hình thức về 'Kẻ đối đầu' (The Adversary).</a:t>
            </a:r>
          </a:p>
          <a:p>
            <a:pPr>
              <a:spcAft>
                <a:spcPts val="600"/>
              </a:spcAft>
            </a:pPr>
            <a:r>
              <a:rPr b="1" sz="1100">
                <a:solidFill>
                  <a:srgbClr val="2563EB"/>
                </a:solidFill>
              </a:rPr>
              <a:t>Ảo tưởng về sự an toàn tuyệt đối: </a:t>
            </a:r>
            <a:r>
              <a:rPr sz="1050">
                <a:solidFill>
                  <a:srgbClr val="1E293B"/>
                </a:solidFill>
              </a:rPr>
              <a:t>Các phương pháp chứng minh tự động (Isabelle, CSP/FDR) từng chứng minh thành công giao thức TLS an toàn, tạo niềm tin rằng an ninh có thể quy về bài toán chứng minh định lý toán học.</a:t>
            </a:r>
          </a:p>
        </p:txBody>
      </p:sp>
      <p:sp>
        <p:nvSpPr>
          <p:cNvPr id="10" name="Rounded Rectangle 9"/>
          <p:cNvSpPr/>
          <p:nvPr/>
        </p:nvSpPr>
        <p:spPr>
          <a:xfrm>
            <a:off x="62179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572768"/>
            <a:ext cx="5175504"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19072"/>
            <a:ext cx="4846320" cy="4434840"/>
          </a:xfrm>
          <a:prstGeom prst="rect">
            <a:avLst/>
          </a:prstGeom>
          <a:noFill/>
        </p:spPr>
        <p:txBody>
          <a:bodyPr wrap="square">
            <a:spAutoFit/>
          </a:bodyPr>
          <a:lstStyle/>
          <a:p>
            <a:pPr>
              <a:spcAft>
                <a:spcPts val="800"/>
              </a:spcAft>
              <a:defRPr sz="1350" b="1">
                <a:solidFill>
                  <a:srgbClr val="0F172A"/>
                </a:solidFill>
              </a:defRPr>
            </a:pPr>
            <a:r>
              <a:t>Nghịch lý Thế giới thực (Sec 1 &amp; 5, tr. 1, 8-10)</a:t>
            </a:r>
          </a:p>
          <a:p>
            <a:pPr>
              <a:spcAft>
                <a:spcPts val="600"/>
              </a:spcAft>
            </a:pPr>
            <a:r>
              <a:rPr b="1" sz="1100">
                <a:solidFill>
                  <a:srgbClr val="E11D48"/>
                </a:solidFill>
              </a:rPr>
              <a:t>Hệ thống vẫn sụp đổ: </a:t>
            </a:r>
            <a:r>
              <a:rPr sz="1050">
                <a:solidFill>
                  <a:srgbClr val="1E293B"/>
                </a:solidFill>
              </a:rPr>
              <a:t>Mặc dù các thuật toán nền tảng (RSA, AES) không bị bẻ gãy về mặt toán học, các hệ sinh thái bảo mật thực tế vẫn liên tục bị xâm nhập.</a:t>
            </a:r>
          </a:p>
          <a:p>
            <a:pPr>
              <a:spcAft>
                <a:spcPts val="600"/>
              </a:spcAft>
            </a:pPr>
            <a:r>
              <a:rPr b="1" sz="1100">
                <a:solidFill>
                  <a:srgbClr val="E11D48"/>
                </a:solidFill>
              </a:rPr>
              <a:t>Hồ sơ rò rỉ Snowden (2013): </a:t>
            </a:r>
            <a:r>
              <a:rPr sz="1050">
                <a:solidFill>
                  <a:srgbClr val="1E293B"/>
                </a:solidFill>
              </a:rPr>
              <a:t>Phơi bày sự thật lịch sử: Kẻ đối đầu thực tế mạnh nhất thế giới (NSA) không giải các bài toán NP-hard, mà tấn công vào tiêu chuẩn, phần mềm, chuỗi cung ứng và siêu dữ liệu.</a:t>
            </a:r>
          </a:p>
          <a:p>
            <a:pPr>
              <a:spcAft>
                <a:spcPts val="600"/>
              </a:spcAft>
            </a:pPr>
            <a:r>
              <a:rPr b="1" sz="1100">
                <a:solidFill>
                  <a:srgbClr val="E11D48"/>
                </a:solidFill>
              </a:rPr>
              <a:t>Luận điểm Ross Anderson (1993): </a:t>
            </a:r>
            <a:r>
              <a:rPr sz="1050">
                <a:solidFill>
                  <a:srgbClr val="1E293B"/>
                </a:solidFill>
              </a:rPr>
              <a:t>'Why Cryptosystems Fail': Hệ thống thất bại vì lỗi triển khai phần mềm, cấu hình vận hành và yếu tố con người, chứ không phải do công thức toán học bị phá vỡ.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MỤC TIÊU HỌC THUẬT (SEC 1-2 - TR. 1-3)</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Mục tiêu nghiên cứu &amp; Ba câu hỏi cốt lõi của Harry Halpin</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3/14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Câu hỏi 1: Bản thể luận Bí mật</a:t>
            </a:r>
          </a:p>
          <a:p>
            <a:pPr>
              <a:spcAft>
                <a:spcPts val="600"/>
              </a:spcAft>
            </a:pPr>
            <a:r>
              <a:rPr b="1" sz="1100">
                <a:solidFill>
                  <a:srgbClr val="2563EB"/>
                </a:solidFill>
              </a:rPr>
              <a:t>Bản chất của thông tin bí mật là gì?: </a:t>
            </a:r>
            <a:r>
              <a:rPr sz="1050">
                <a:solidFill>
                  <a:srgbClr val="1E293B"/>
                </a:solidFill>
              </a:rPr>
              <a:t>Bí mật có phải là thuộc tính nội tại gắn liền với thông điệp không?</a:t>
            </a:r>
          </a:p>
          <a:p>
            <a:pPr>
              <a:spcAft>
                <a:spcPts val="600"/>
              </a:spcAft>
            </a:pPr>
            <a:r>
              <a:rPr b="1" sz="1100">
                <a:solidFill>
                  <a:srgbClr val="2563EB"/>
                </a:solidFill>
              </a:rPr>
              <a:t>Quan hệ tương đối (Sec 3): </a:t>
            </a:r>
            <a:r>
              <a:rPr sz="1050">
                <a:solidFill>
                  <a:srgbClr val="1E293B"/>
                </a:solidFill>
              </a:rPr>
              <a:t>Bí mật không tồn tại độc lập mà là quan hệ tương đối theo thời gian giữa người giữ bí mật, kẻ đối đầu và thế giới bên ngoài.</a:t>
            </a:r>
          </a:p>
          <a:p>
            <a:pPr>
              <a:spcAft>
                <a:spcPts val="600"/>
              </a:spcAft>
            </a:pPr>
            <a:r>
              <a:rPr b="1" sz="1100">
                <a:solidFill>
                  <a:srgbClr val="2563EB"/>
                </a:solidFill>
              </a:rPr>
              <a:t>Tính hữu hạn (tr. 3): </a:t>
            </a:r>
            <a:r>
              <a:rPr sz="1050">
                <a:solidFill>
                  <a:srgbClr val="1E293B"/>
                </a:solidFill>
              </a:rPr>
              <a:t>Không có bí mật vĩnh cửu (No secrets are eternal); mọi bí mật chỉ tồn tại trong một khoảng thời gian nhất định.</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Câu hỏi 2: Giới hạn Hình thức hóa</a:t>
            </a:r>
          </a:p>
          <a:p>
            <a:pPr>
              <a:spcAft>
                <a:spcPts val="600"/>
              </a:spcAft>
            </a:pPr>
            <a:r>
              <a:rPr b="1" sz="1100">
                <a:solidFill>
                  <a:srgbClr val="D97706"/>
                </a:solidFill>
              </a:rPr>
              <a:t>Mô hình hình thức có bảo đảm an ninh?: </a:t>
            </a:r>
            <a:r>
              <a:rPr sz="1050">
                <a:solidFill>
                  <a:srgbClr val="1E293B"/>
                </a:solidFill>
              </a:rPr>
              <a:t>Tại sao việc chứng minh an toàn trong mô hình toán học lại thất bại trước kẻ tấn công thực tế?</a:t>
            </a:r>
          </a:p>
          <a:p>
            <a:pPr>
              <a:spcAft>
                <a:spcPts val="600"/>
              </a:spcAft>
            </a:pPr>
            <a:r>
              <a:rPr b="1" sz="1100">
                <a:solidFill>
                  <a:srgbClr val="D97706"/>
                </a:solidFill>
              </a:rPr>
              <a:t>Phê phán trừu tượng hóa (Sec 5): </a:t>
            </a:r>
            <a:r>
              <a:rPr sz="1050">
                <a:solidFill>
                  <a:srgbClr val="1E293B"/>
                </a:solidFill>
              </a:rPr>
              <a:t>Dựa trên Brian Cantwell Smith: Quá trình trừu tượng hóa luôn cắt bỏ các chi tiết vật lý, nhưng kẻ tấn công lại khai thác chính các chi tiết bị bỏ rơi.</a:t>
            </a:r>
          </a:p>
          <a:p>
            <a:pPr>
              <a:spcAft>
                <a:spcPts val="600"/>
              </a:spcAft>
            </a:pPr>
            <a:r>
              <a:rPr b="1" sz="1100">
                <a:solidFill>
                  <a:srgbClr val="D97706"/>
                </a:solidFill>
              </a:rPr>
              <a:t>Hậu quả thực tế (tr. 8-10): </a:t>
            </a:r>
            <a:r>
              <a:rPr sz="1050">
                <a:solidFill>
                  <a:srgbClr val="1E293B"/>
                </a:solidFill>
              </a:rPr>
              <a:t>Tấn công kênh kề đo thời gian (Kocher) và rò rỉ độ dài bản mã (CRIME/BREACH trên TLS).</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Câu hỏi 3: Tái định nghĩa Đối thủ</a:t>
            </a:r>
          </a:p>
          <a:p>
            <a:pPr>
              <a:spcAft>
                <a:spcPts val="600"/>
              </a:spcAft>
            </a:pPr>
            <a:r>
              <a:rPr b="1" sz="1100">
                <a:solidFill>
                  <a:srgbClr val="9333EA"/>
                </a:solidFill>
              </a:rPr>
              <a:t>Kẻ đối đầu thực tế hoạt động ra sao?: </a:t>
            </a:r>
            <a:r>
              <a:rPr sz="1050">
                <a:solidFill>
                  <a:srgbClr val="1E293B"/>
                </a:solidFill>
              </a:rPr>
              <a:t>Cần mô hình hóa đối thủ như thế nào sau bài học Edward Snowden &amp; NSA?</a:t>
            </a:r>
          </a:p>
          <a:p>
            <a:pPr>
              <a:spcAft>
                <a:spcPts val="600"/>
              </a:spcAft>
            </a:pPr>
            <a:r>
              <a:rPr b="1" sz="1100">
                <a:solidFill>
                  <a:srgbClr val="9333EA"/>
                </a:solidFill>
              </a:rPr>
              <a:t>Đối thủ thể chế (Sec 6): </a:t>
            </a:r>
            <a:r>
              <a:rPr sz="1050">
                <a:solidFill>
                  <a:srgbClr val="1E293B"/>
                </a:solidFill>
              </a:rPr>
              <a:t>Kẻ đối đầu không phải là một thuật toán Turing trừu tượng mà là một tổ chức chính trị - xã hội có ngân sách và mục tiêu chiến lược.</a:t>
            </a:r>
          </a:p>
          <a:p>
            <a:pPr>
              <a:spcAft>
                <a:spcPts val="600"/>
              </a:spcAft>
            </a:pPr>
            <a:r>
              <a:rPr b="1" sz="1100">
                <a:solidFill>
                  <a:srgbClr val="9333EA"/>
                </a:solidFill>
              </a:rPr>
              <a:t>Chương trình nghiên cứu mới (Sec 7): </a:t>
            </a:r>
            <a:r>
              <a:rPr sz="1050">
                <a:solidFill>
                  <a:srgbClr val="1E293B"/>
                </a:solidFill>
              </a:rPr>
              <a:t>Chuyển từ mật mã học điểm-điểm sang mạng xã hội - kỹ thuật không đồng nhất và bảo vệ siêu dữ liệu.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NỀN TẢNG LÝ THUYẾT (SEC 2-3 - TR. 2-5)</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Cơ sở Triết học: Dretske, Thuyết Thông tin &amp; Khái niệm Bí mật</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4/14</a:t>
            </a:r>
          </a:p>
        </p:txBody>
      </p:sp>
      <p:sp>
        <p:nvSpPr>
          <p:cNvPr id="7" name="Rounded Rectangle 6"/>
          <p:cNvSpPr/>
          <p:nvPr/>
        </p:nvSpPr>
        <p:spPr>
          <a:xfrm>
            <a:off x="7315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51755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4846320" cy="4434840"/>
          </a:xfrm>
          <a:prstGeom prst="rect">
            <a:avLst/>
          </a:prstGeom>
          <a:noFill/>
        </p:spPr>
        <p:txBody>
          <a:bodyPr wrap="square">
            <a:spAutoFit/>
          </a:bodyPr>
          <a:lstStyle/>
          <a:p>
            <a:pPr>
              <a:spcAft>
                <a:spcPts val="800"/>
              </a:spcAft>
              <a:defRPr sz="1350" b="1">
                <a:solidFill>
                  <a:srgbClr val="0F172A"/>
                </a:solidFill>
              </a:defRPr>
            </a:pPr>
            <a:r>
              <a:t>Bản thể luận Thông tin Dretske &amp; Cantwell Smith (Sec 2, tr. 2-3)</a:t>
            </a:r>
          </a:p>
          <a:p>
            <a:pPr>
              <a:spcAft>
                <a:spcPts val="600"/>
              </a:spcAft>
            </a:pPr>
            <a:r>
              <a:rPr b="1" sz="1100">
                <a:solidFill>
                  <a:srgbClr val="2563EB"/>
                </a:solidFill>
              </a:rPr>
              <a:t>Dòng chảy siêu hình nguyên thủy: </a:t>
            </a:r>
            <a:r>
              <a:rPr sz="1050">
                <a:solidFill>
                  <a:srgbClr val="1E293B"/>
                </a:solidFill>
              </a:rPr>
              <a:t>Thế giới là dòng biến chuyển vật lý liên tục; việc phân chia hệ thống thành các thực thể độc lập luôn mang tính tương đối.</a:t>
            </a:r>
          </a:p>
          <a:p>
            <a:pPr>
              <a:spcAft>
                <a:spcPts val="600"/>
              </a:spcAft>
            </a:pPr>
            <a:r>
              <a:rPr b="1" sz="1100">
                <a:solidFill>
                  <a:srgbClr val="2563EB"/>
                </a:solidFill>
              </a:rPr>
              <a:t>Tương tác nhân quả gần và xa: </a:t>
            </a:r>
            <a:r>
              <a:rPr sz="1050">
                <a:solidFill>
                  <a:srgbClr val="1E293B"/>
                </a:solidFill>
              </a:rPr>
              <a:t>Phân biệt tương tác trực tiếp (proximal causal interaction) và tương tác gián tiếp (distal interaction) qua thông điệp mang thông tin.</a:t>
            </a:r>
          </a:p>
          <a:p>
            <a:pPr>
              <a:spcAft>
                <a:spcPts val="600"/>
              </a:spcAft>
            </a:pPr>
            <a:r>
              <a:rPr b="1" sz="1100">
                <a:solidFill>
                  <a:srgbClr val="2563EB"/>
                </a:solidFill>
              </a:rPr>
              <a:t>Tác nhân có chủ đích (Intentional Agents): </a:t>
            </a:r>
            <a:r>
              <a:rPr sz="1050">
                <a:solidFill>
                  <a:srgbClr val="1E293B"/>
                </a:solidFill>
              </a:rPr>
              <a:t>Con người khác nhiệt kế hay DNA ở chỗ có niềm tin, kế hoạch và hành động chủ đích để bảo vệ trạng thái nội bộ.</a:t>
            </a:r>
          </a:p>
          <a:p>
            <a:pPr>
              <a:spcAft>
                <a:spcPts val="600"/>
              </a:spcAft>
            </a:pPr>
            <a:r>
              <a:rPr b="1" sz="1100">
                <a:solidFill>
                  <a:srgbClr val="2563EB"/>
                </a:solidFill>
              </a:rPr>
              <a:t>Thông tin là tính quy luật: </a:t>
            </a:r>
            <a:r>
              <a:rPr sz="1050">
                <a:solidFill>
                  <a:srgbClr val="1E293B"/>
                </a:solidFill>
              </a:rPr>
              <a:t>Theo Fred Dretske (1981), thông tin là các mối quan hệ có quy luật giữa trạng thái các sự vật cho phép tác nhân hành động.</a:t>
            </a:r>
          </a:p>
        </p:txBody>
      </p:sp>
      <p:sp>
        <p:nvSpPr>
          <p:cNvPr id="10" name="Rounded Rectangle 9"/>
          <p:cNvSpPr/>
          <p:nvPr/>
        </p:nvSpPr>
        <p:spPr>
          <a:xfrm>
            <a:off x="62179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572768"/>
            <a:ext cx="51755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19072"/>
            <a:ext cx="4846320" cy="4434840"/>
          </a:xfrm>
          <a:prstGeom prst="rect">
            <a:avLst/>
          </a:prstGeom>
          <a:noFill/>
        </p:spPr>
        <p:txBody>
          <a:bodyPr wrap="square">
            <a:spAutoFit/>
          </a:bodyPr>
          <a:lstStyle/>
          <a:p>
            <a:pPr>
              <a:spcAft>
                <a:spcPts val="800"/>
              </a:spcAft>
              <a:defRPr sz="1350" b="1">
                <a:solidFill>
                  <a:srgbClr val="0F172A"/>
                </a:solidFill>
              </a:defRPr>
            </a:pPr>
            <a:r>
              <a:t>Bản chất của Bí mật &amp; Tri thức (Sec 3, tr. 3-4)</a:t>
            </a:r>
          </a:p>
          <a:p>
            <a:pPr>
              <a:spcAft>
                <a:spcPts val="600"/>
              </a:spcAft>
            </a:pPr>
            <a:r>
              <a:rPr b="1" sz="1100">
                <a:solidFill>
                  <a:srgbClr val="0D9488"/>
                </a:solidFill>
              </a:rPr>
              <a:t>Bí mật không phải là tuyệt đối: </a:t>
            </a:r>
            <a:r>
              <a:rPr sz="1050">
                <a:solidFill>
                  <a:srgbClr val="1E293B"/>
                </a:solidFill>
              </a:rPr>
              <a:t>Một bức điện tín mật (như hồ sơ ngoại giao Mỹ bị Wikileaks công bố) không còn là bí mật trên thực tế (de facto) dù vẫn là bí mật pháp lý (de jure).</a:t>
            </a:r>
          </a:p>
          <a:p>
            <a:pPr>
              <a:spcAft>
                <a:spcPts val="600"/>
              </a:spcAft>
            </a:pPr>
            <a:r>
              <a:rPr b="1" sz="1100">
                <a:solidFill>
                  <a:srgbClr val="0D9488"/>
                </a:solidFill>
              </a:rPr>
              <a:t>Tri thức công cộng vs Tri thức phổ thông: </a:t>
            </a:r>
            <a:r>
              <a:rPr sz="1050">
                <a:solidFill>
                  <a:srgbClr val="1E293B"/>
                </a:solidFill>
              </a:rPr>
              <a:t>David Lewis định nghĩa Common Knowledge là mọi người đều biết và biết người khác biết. Halpin dùng khái niệm yếu hơn: Public Knowledge là thông tin ai cũng có thể tiếp cận.</a:t>
            </a:r>
          </a:p>
          <a:p>
            <a:pPr>
              <a:spcAft>
                <a:spcPts val="600"/>
              </a:spcAft>
            </a:pPr>
            <a:r>
              <a:rPr b="1" sz="1100">
                <a:solidFill>
                  <a:srgbClr val="0D9488"/>
                </a:solidFill>
              </a:rPr>
              <a:t>Đối lập của bí mật là công khai: </a:t>
            </a:r>
            <a:r>
              <a:rPr sz="1050">
                <a:solidFill>
                  <a:srgbClr val="1E293B"/>
                </a:solidFill>
              </a:rPr>
              <a:t>Publicity là sự đối lập trực tiếp của Secrecy. Bí mật đòi hỏi sự duy trì chủ động của nhóm người giữ bí mật (Secret Keepers).</a:t>
            </a:r>
          </a:p>
          <a:p>
            <a:pPr>
              <a:spcAft>
                <a:spcPts val="600"/>
              </a:spcAft>
            </a:pPr>
            <a:r>
              <a:rPr b="1" sz="1100">
                <a:solidFill>
                  <a:srgbClr val="0D9488"/>
                </a:solidFill>
              </a:rPr>
              <a:t>Nguyên lý Kerckhoffs (1883): </a:t>
            </a:r>
            <a:r>
              <a:rPr sz="1050">
                <a:solidFill>
                  <a:srgbClr val="1E293B"/>
                </a:solidFill>
              </a:rPr>
              <a:t>Độ an toàn của hệ mật không phụ thuộc vào việc giấu thuật toán; kẻ đối đầu biết mọi thứ trừ khóa bí mật.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LỊCH SỬ HÌNH THỨC HÓA (SEC 3-4 - TR. 3-7)</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Tiến trình Mô hình hóa Đối thủ (1): Từ Shannon đến Khóa Công khai</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5/14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1. Kẻ nghe lén Shannon (1949)</a:t>
            </a:r>
          </a:p>
          <a:p>
            <a:pPr>
              <a:spcAft>
                <a:spcPts val="600"/>
              </a:spcAft>
            </a:pPr>
            <a:r>
              <a:rPr b="1" sz="1100">
                <a:solidFill>
                  <a:srgbClr val="2563EB"/>
                </a:solidFill>
              </a:rPr>
              <a:t>Bối cảnh chiến tranh (tr. 3-4): </a:t>
            </a:r>
            <a:r>
              <a:rPr sz="1050">
                <a:solidFill>
                  <a:srgbClr val="1E293B"/>
                </a:solidFill>
              </a:rPr>
              <a:t>Claude Shannon công bố lý thuyết mật mã dựa trên nghiên cứu mật mã bảo vệ điện thoại xuyên Đại Tây Dương.</a:t>
            </a:r>
          </a:p>
          <a:p>
            <a:pPr>
              <a:spcAft>
                <a:spcPts val="600"/>
              </a:spcAft>
            </a:pPr>
            <a:r>
              <a:rPr b="1" sz="1100">
                <a:solidFill>
                  <a:srgbClr val="2563EB"/>
                </a:solidFill>
              </a:rPr>
              <a:t>Mô hình kẻ đối đầu: </a:t>
            </a:r>
            <a:r>
              <a:rPr sz="1050">
                <a:solidFill>
                  <a:srgbClr val="1E293B"/>
                </a:solidFill>
              </a:rPr>
              <a:t>Kẻ nghe lén thụ động (passive eavesdropper) chặn bắt kênh truyền có nhiễu.</a:t>
            </a:r>
          </a:p>
          <a:p>
            <a:pPr>
              <a:spcAft>
                <a:spcPts val="600"/>
              </a:spcAft>
            </a:pPr>
            <a:r>
              <a:rPr b="1" sz="1100">
                <a:solidFill>
                  <a:srgbClr val="2563EB"/>
                </a:solidFill>
              </a:rPr>
              <a:t>Bí mật hoàn hảo (Perfect Secrecy): </a:t>
            </a:r>
            <a:r>
              <a:rPr sz="1050">
                <a:solidFill>
                  <a:srgbClr val="1E293B"/>
                </a:solidFill>
              </a:rPr>
              <a:t>Đạt được với One-Time Pad khi entropy khóa bằng entropy thông điệp. Không phụ thuộc năng lực tính toán.</a:t>
            </a:r>
          </a:p>
          <a:p>
            <a:pPr>
              <a:spcAft>
                <a:spcPts val="600"/>
              </a:spcAft>
            </a:pPr>
            <a:r>
              <a:rPr b="1" sz="1100">
                <a:solidFill>
                  <a:srgbClr val="2563EB"/>
                </a:solidFill>
              </a:rPr>
              <a:t>Điểm yếu cốt tử: </a:t>
            </a:r>
            <a:r>
              <a:rPr sz="1050">
                <a:solidFill>
                  <a:srgbClr val="1E293B"/>
                </a:solidFill>
              </a:rPr>
              <a:t>Đòi hỏi phân phối trước khóa bí mật có độ dài bằng thông điệp; không khả thi cho mạng máy tính diện rộng.</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2. Kiểm soát Truy cập &amp; Toàn vẹn</a:t>
            </a:r>
          </a:p>
          <a:p>
            <a:pPr>
              <a:spcAft>
                <a:spcPts val="600"/>
              </a:spcAft>
            </a:pPr>
            <a:r>
              <a:rPr b="1" sz="1100">
                <a:solidFill>
                  <a:srgbClr val="0D9488"/>
                </a:solidFill>
              </a:rPr>
              <a:t>Hệ thống Multics (tr. 5): </a:t>
            </a:r>
            <a:r>
              <a:rPr sz="1050">
                <a:solidFill>
                  <a:srgbClr val="1E293B"/>
                </a:solidFill>
              </a:rPr>
              <a:t>Khi nhiều người dùng dùng chung máy tính, vấn đề bảo mật nội bộ và quyền truy xuất xuất hiện.</a:t>
            </a:r>
          </a:p>
          <a:p>
            <a:pPr>
              <a:spcAft>
                <a:spcPts val="600"/>
              </a:spcAft>
            </a:pPr>
            <a:r>
              <a:rPr b="1" sz="1100">
                <a:solidFill>
                  <a:srgbClr val="0D9488"/>
                </a:solidFill>
              </a:rPr>
              <a:t>Mô hình Bell-LaPadula (1973): </a:t>
            </a:r>
            <a:r>
              <a:rPr sz="1050">
                <a:solidFill>
                  <a:srgbClr val="1E293B"/>
                </a:solidFill>
              </a:rPr>
              <a:t>Bảo vệ tính bảo mật phân cấp (No Read-Up, No Write-Down).</a:t>
            </a:r>
          </a:p>
          <a:p>
            <a:pPr>
              <a:spcAft>
                <a:spcPts val="600"/>
              </a:spcAft>
            </a:pPr>
            <a:r>
              <a:rPr b="1" sz="1100">
                <a:solidFill>
                  <a:srgbClr val="0D9488"/>
                </a:solidFill>
              </a:rPr>
              <a:t>Mô hình toàn vẹn Biba (1977): </a:t>
            </a:r>
            <a:r>
              <a:rPr sz="1050">
                <a:solidFill>
                  <a:srgbClr val="1E293B"/>
                </a:solidFill>
              </a:rPr>
              <a:t>Bảo vệ tính toàn vẹn (No Write-Up, No Read-Down): Ngăn đối tượng mức thấp làm sai lệch trạng thái mức cao.</a:t>
            </a:r>
          </a:p>
          <a:p>
            <a:pPr>
              <a:spcAft>
                <a:spcPts val="600"/>
              </a:spcAft>
            </a:pPr>
            <a:r>
              <a:rPr b="1" sz="1100">
                <a:solidFill>
                  <a:srgbClr val="0D9488"/>
                </a:solidFill>
              </a:rPr>
              <a:t>Thuộc tính nền tảng (tr. 5): </a:t>
            </a:r>
            <a:r>
              <a:rPr sz="1050">
                <a:solidFill>
                  <a:srgbClr val="1E293B"/>
                </a:solidFill>
              </a:rPr>
              <a:t>Bảo mật (Confidentiality), Toàn vẹn (Integrity), Xác thực (Authentication), Chống chối bỏ (Non-repudiation).</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3. Cách mạng Khóa Công khai</a:t>
            </a:r>
          </a:p>
          <a:p>
            <a:pPr>
              <a:spcAft>
                <a:spcPts val="600"/>
              </a:spcAft>
            </a:pPr>
            <a:r>
              <a:rPr b="1" sz="1100">
                <a:solidFill>
                  <a:srgbClr val="9333EA"/>
                </a:solidFill>
              </a:rPr>
              <a:t>Diffie-Hellman &amp; Merkle (1976-78): </a:t>
            </a:r>
            <a:r>
              <a:rPr sz="1050">
                <a:solidFill>
                  <a:srgbClr val="1E293B"/>
                </a:solidFill>
              </a:rPr>
              <a:t>Giải quyết bài toán phân phối khóa mà không cần kênh vật lý bí mật trước (tr. 5-6).</a:t>
            </a:r>
          </a:p>
          <a:p>
            <a:pPr>
              <a:spcAft>
                <a:spcPts val="600"/>
              </a:spcAft>
            </a:pPr>
            <a:r>
              <a:rPr b="1" sz="1100">
                <a:solidFill>
                  <a:srgbClr val="9333EA"/>
                </a:solidFill>
              </a:rPr>
              <a:t>Độ phức tạp tính toán (tr. 6-7): </a:t>
            </a:r>
            <a:r>
              <a:rPr sz="1050">
                <a:solidFill>
                  <a:srgbClr val="1E293B"/>
                </a:solidFill>
              </a:rPr>
              <a:t>Chuyển từ giới hạn thông tin lý thuyết của Shannon sang giới hạn độ phức tạp (bài toán logarit rời rạc, phân tích số nguyên).</a:t>
            </a:r>
          </a:p>
          <a:p>
            <a:pPr>
              <a:spcAft>
                <a:spcPts val="600"/>
              </a:spcAft>
            </a:pPr>
            <a:r>
              <a:rPr b="1" sz="1100">
                <a:solidFill>
                  <a:srgbClr val="9333EA"/>
                </a:solidFill>
              </a:rPr>
              <a:t>Đối thủ PPT (tr. 7): </a:t>
            </a:r>
            <a:r>
              <a:rPr sz="1050">
                <a:solidFill>
                  <a:srgbClr val="1E293B"/>
                </a:solidFill>
              </a:rPr>
              <a:t>Kẻ đối đầu bị giới hạn trong thời gian đa thức xác suất (Probabilistic Polynomial-Time Adversary).</a:t>
            </a:r>
          </a:p>
          <a:p>
            <a:pPr>
              <a:spcAft>
                <a:spcPts val="600"/>
              </a:spcAft>
            </a:pPr>
            <a:r>
              <a:rPr b="1" sz="1100">
                <a:solidFill>
                  <a:srgbClr val="9333EA"/>
                </a:solidFill>
              </a:rPr>
              <a:t>Giả định bài toán khó: </a:t>
            </a:r>
            <a:r>
              <a:rPr sz="1050">
                <a:solidFill>
                  <a:srgbClr val="1E293B"/>
                </a:solidFill>
              </a:rPr>
              <a:t>An toàn dựa trên giả định rằng bài toán toán học không thể giải được trong thời gian thực tế.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LỊCH SỬ HÌNH THỨC HÓA (SEC 4 - TR. 7-8)</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Tiến trình Mô hình hóa Đối thủ (2): Security Games &amp; Mô hình Dolev-Yao</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6/14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Trò chơi An ninh &amp; Quy giảm</a:t>
            </a:r>
          </a:p>
          <a:p>
            <a:pPr>
              <a:spcAft>
                <a:spcPts val="600"/>
              </a:spcAft>
            </a:pPr>
            <a:r>
              <a:rPr b="1" sz="1100">
                <a:solidFill>
                  <a:srgbClr val="2563EB"/>
                </a:solidFill>
              </a:rPr>
              <a:t>Goldwasser-Micali (1984, tr. 7): </a:t>
            </a:r>
            <a:r>
              <a:rPr sz="1050">
                <a:solidFill>
                  <a:srgbClr val="1E293B"/>
                </a:solidFill>
              </a:rPr>
              <a:t>Định nghĩa an ninh ngữ nghĩa (Semantic Security / IND-CPA) qua trò chơi thách đấu giữa Challenger và Adversary.</a:t>
            </a:r>
          </a:p>
          <a:p>
            <a:pPr>
              <a:spcAft>
                <a:spcPts val="600"/>
              </a:spcAft>
            </a:pPr>
            <a:r>
              <a:rPr b="1" sz="1100">
                <a:solidFill>
                  <a:srgbClr val="2563EB"/>
                </a:solidFill>
              </a:rPr>
              <a:t>Khái niệm Lợi thế (Advantage): </a:t>
            </a:r>
            <a:r>
              <a:rPr sz="1050">
                <a:solidFill>
                  <a:srgbClr val="1E293B"/>
                </a:solidFill>
              </a:rPr>
              <a:t>Lợi thế của kẻ tấn công phải nhỏ hơn một hàm không đáng kể: Adv(A) &lt;= negl(lambda).</a:t>
            </a:r>
          </a:p>
          <a:p>
            <a:pPr>
              <a:spcAft>
                <a:spcPts val="600"/>
              </a:spcAft>
            </a:pPr>
            <a:r>
              <a:rPr b="1" sz="1100">
                <a:solidFill>
                  <a:srgbClr val="2563EB"/>
                </a:solidFill>
              </a:rPr>
              <a:t>Chứng minh bằng quy giảm: </a:t>
            </a:r>
            <a:r>
              <a:rPr sz="1050">
                <a:solidFill>
                  <a:srgbClr val="1E293B"/>
                </a:solidFill>
              </a:rPr>
              <a:t>Nếu kẻ đối đầu phá được hệ mật, kẻ đó có thể dùng nó để giải một bài toán NP-hard.</a:t>
            </a:r>
          </a:p>
          <a:p>
            <a:pPr>
              <a:spcAft>
                <a:spcPts val="600"/>
              </a:spcAft>
            </a:pPr>
            <a:r>
              <a:rPr b="1" sz="1100">
                <a:solidFill>
                  <a:srgbClr val="2563EB"/>
                </a:solidFill>
              </a:rPr>
              <a:t>Tính chuẩn mực toán học: </a:t>
            </a:r>
            <a:r>
              <a:rPr sz="1050">
                <a:solidFill>
                  <a:srgbClr val="1E293B"/>
                </a:solidFill>
              </a:rPr>
              <a:t>Biến an ninh mật mã thành chứng minh toán học nghiêm ngặt.</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Kẻ đối đầu mạng Dolev-Yao</a:t>
            </a:r>
          </a:p>
          <a:p>
            <a:pPr>
              <a:spcAft>
                <a:spcPts val="600"/>
              </a:spcAft>
            </a:pPr>
            <a:r>
              <a:rPr b="1" sz="1100">
                <a:solidFill>
                  <a:srgbClr val="D97706"/>
                </a:solidFill>
              </a:rPr>
              <a:t>Dolev &amp; Yao (1983, tr. 7-8): </a:t>
            </a:r>
            <a:r>
              <a:rPr sz="1050">
                <a:solidFill>
                  <a:srgbClr val="1E293B"/>
                </a:solidFill>
              </a:rPr>
              <a:t>Mô hình hóa kẻ tấn công mạng: 'Kẻ đối đầu chính là đường truyền' (The adversary is the wire).</a:t>
            </a:r>
          </a:p>
          <a:p>
            <a:pPr>
              <a:spcAft>
                <a:spcPts val="600"/>
              </a:spcAft>
            </a:pPr>
            <a:r>
              <a:rPr b="1" sz="1100">
                <a:solidFill>
                  <a:srgbClr val="D97706"/>
                </a:solidFill>
              </a:rPr>
              <a:t>Năng lực Dolev-Yao: </a:t>
            </a:r>
            <a:r>
              <a:rPr sz="1050">
                <a:solidFill>
                  <a:srgbClr val="1E293B"/>
                </a:solidFill>
              </a:rPr>
              <a:t>Có thể nghe lén, chặn bắt, chỉnh sửa, tráo đổi, tạo thông điệp mới và phát lại gói tin tùy ý.</a:t>
            </a:r>
          </a:p>
          <a:p>
            <a:pPr>
              <a:spcAft>
                <a:spcPts val="600"/>
              </a:spcAft>
            </a:pPr>
            <a:r>
              <a:rPr b="1" sz="1100">
                <a:solidFill>
                  <a:srgbClr val="D97706"/>
                </a:solidFill>
              </a:rPr>
              <a:t>Giả định Mật mã học Hoàn hảo: </a:t>
            </a:r>
            <a:r>
              <a:rPr sz="1050">
                <a:solidFill>
                  <a:srgbClr val="1E293B"/>
                </a:solidFill>
              </a:rPr>
              <a:t>Coi các hàm mã hóa/băm như các hộp đen tượng trưng (symbolic black boxes); chỉ giải mã được khi có đúng khóa.</a:t>
            </a:r>
          </a:p>
          <a:p>
            <a:pPr>
              <a:spcAft>
                <a:spcPts val="600"/>
              </a:spcAft>
            </a:pPr>
            <a:r>
              <a:rPr b="1" sz="1100">
                <a:solidFill>
                  <a:srgbClr val="D97706"/>
                </a:solidFill>
              </a:rPr>
              <a:t>Kiểm chứng giao thức tự động: </a:t>
            </a:r>
            <a:r>
              <a:rPr sz="1050">
                <a:solidFill>
                  <a:srgbClr val="1E293B"/>
                </a:solidFill>
              </a:rPr>
              <a:t>Mở đường cho Logic BAN (1989), CSP/FDR (Lowe 1996), và định lý chứng minh tự động Isabelle (Paulson 1999).</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Tiên tri Ngẫu nhiên (ROM)</a:t>
            </a:r>
          </a:p>
          <a:p>
            <a:pPr>
              <a:spcAft>
                <a:spcPts val="600"/>
              </a:spcAft>
            </a:pPr>
            <a:r>
              <a:rPr b="1" sz="1100">
                <a:solidFill>
                  <a:srgbClr val="0D9488"/>
                </a:solidFill>
              </a:rPr>
              <a:t>Bellare &amp; Rogaway (1993, tr. 8): </a:t>
            </a:r>
            <a:r>
              <a:rPr sz="1050">
                <a:solidFill>
                  <a:srgbClr val="1E293B"/>
                </a:solidFill>
              </a:rPr>
              <a:t>Khởi xướng hướng an ninh chứng minh được hướng thực hành (practice-oriented provable security).</a:t>
            </a:r>
          </a:p>
          <a:p>
            <a:pPr>
              <a:spcAft>
                <a:spcPts val="600"/>
              </a:spcAft>
            </a:pPr>
            <a:r>
              <a:rPr b="1" sz="1100">
                <a:solidFill>
                  <a:srgbClr val="0D9488"/>
                </a:solidFill>
              </a:rPr>
              <a:t>Mô hình Random Oracle (ROM): </a:t>
            </a:r>
            <a:r>
              <a:rPr sz="1050">
                <a:solidFill>
                  <a:srgbClr val="1E293B"/>
                </a:solidFill>
              </a:rPr>
              <a:t>Giả định hàm băm lý tưởng hoạt động như một bảng tiên tri ngẫu nhiên vô hạn.</a:t>
            </a:r>
          </a:p>
          <a:p>
            <a:pPr>
              <a:spcAft>
                <a:spcPts val="600"/>
              </a:spcAft>
            </a:pPr>
            <a:r>
              <a:rPr b="1" sz="1100">
                <a:solidFill>
                  <a:srgbClr val="0D9488"/>
                </a:solidFill>
              </a:rPr>
              <a:t>Xấp xỉ hàm băm thực tế: </a:t>
            </a:r>
            <a:r>
              <a:rPr sz="1050">
                <a:solidFill>
                  <a:srgbClr val="1E293B"/>
                </a:solidFill>
              </a:rPr>
              <a:t>Các hàm băm thực tế (MD5, SHA-1, SHA-256) chỉ là sự xấp xỉ hữu hạn của ROM.</a:t>
            </a:r>
          </a:p>
          <a:p>
            <a:pPr>
              <a:spcAft>
                <a:spcPts val="600"/>
              </a:spcAft>
            </a:pPr>
            <a:r>
              <a:rPr b="1" sz="1100">
                <a:solidFill>
                  <a:srgbClr val="0D9488"/>
                </a:solidFill>
              </a:rPr>
              <a:t>Lỗ hổng lý thuyết: </a:t>
            </a:r>
            <a:r>
              <a:rPr sz="1050">
                <a:solidFill>
                  <a:srgbClr val="1E293B"/>
                </a:solidFill>
              </a:rPr>
              <a:t>Canetti et al. (2004) chứng minh tồn tại các lược đồ an toàn trong ROM nhưng mất an toàn khi thay bằng bất kỳ hàm băm cụ thể nào.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PHẢN BIỆN TRIẾT HỌC (SEC 5 - TR. 8-10)</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Giới hạn của sự Hình thức hóa: Trừu tượng hóa vs Hiện thực Vật lý</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7/14</a:t>
            </a:r>
          </a:p>
        </p:txBody>
      </p:sp>
      <p:sp>
        <p:nvSpPr>
          <p:cNvPr id="7" name="Rounded Rectangle 6"/>
          <p:cNvSpPr/>
          <p:nvPr/>
        </p:nvSpPr>
        <p:spPr>
          <a:xfrm>
            <a:off x="7315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5175504"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4846320" cy="4434840"/>
          </a:xfrm>
          <a:prstGeom prst="rect">
            <a:avLst/>
          </a:prstGeom>
          <a:noFill/>
        </p:spPr>
        <p:txBody>
          <a:bodyPr wrap="square">
            <a:spAutoFit/>
          </a:bodyPr>
          <a:lstStyle/>
          <a:p>
            <a:pPr>
              <a:spcAft>
                <a:spcPts val="800"/>
              </a:spcAft>
              <a:defRPr sz="1350" b="1">
                <a:solidFill>
                  <a:srgbClr val="0F172A"/>
                </a:solidFill>
              </a:defRPr>
            </a:pPr>
            <a:r>
              <a:t>Phê phán Trừu tượng hóa (Cantwell Smith, tr. 8-9)</a:t>
            </a:r>
          </a:p>
          <a:p>
            <a:pPr>
              <a:spcAft>
                <a:spcPts val="600"/>
              </a:spcAft>
            </a:pPr>
            <a:r>
              <a:rPr b="1" sz="1100">
                <a:solidFill>
                  <a:srgbClr val="E11D48"/>
                </a:solidFill>
              </a:rPr>
              <a:t>Khoảng cách không thể san lấp: </a:t>
            </a:r>
            <a:r>
              <a:rPr sz="1050">
                <a:solidFill>
                  <a:srgbClr val="1E293B"/>
                </a:solidFill>
              </a:rPr>
              <a:t>Mô hình toán học là sự lý tưởng hóa (idealization). Thực tế vật lý phức tạp vô hạn và vượt khỏi mọi mô hình tiên đề.</a:t>
            </a:r>
          </a:p>
          <a:p>
            <a:pPr>
              <a:spcAft>
                <a:spcPts val="600"/>
              </a:spcAft>
            </a:pPr>
            <a:r>
              <a:rPr b="1" sz="1100">
                <a:solidFill>
                  <a:srgbClr val="E11D48"/>
                </a:solidFill>
              </a:rPr>
              <a:t>Sự thất bại của mô hình hình thức: </a:t>
            </a:r>
            <a:r>
              <a:rPr sz="1050">
                <a:solidFill>
                  <a:srgbClr val="1E293B"/>
                </a:solidFill>
              </a:rPr>
              <a:t>Kẻ đối đầu trong thế giới thực không tấn công vào giả định trong mô hình, mà tấn công vào chính những yếu tố bị mô hình lược bỏ!</a:t>
            </a:r>
          </a:p>
          <a:p>
            <a:pPr>
              <a:spcAft>
                <a:spcPts val="600"/>
              </a:spcAft>
            </a:pPr>
            <a:r>
              <a:rPr b="1" sz="1100">
                <a:solidFill>
                  <a:srgbClr val="E11D48"/>
                </a:solidFill>
              </a:rPr>
              <a:t>Koblitz &amp; Menezes phản biện: </a:t>
            </a:r>
            <a:r>
              <a:rPr sz="1050">
                <a:solidFill>
                  <a:srgbClr val="1E293B"/>
                </a:solidFill>
              </a:rPr>
              <a:t>Provable security tạo ra ảo tưởng an toàn nguy hiểm: chứng minh an toàn trong một mô hình không phản ánh đúng thực tế vận hành.</a:t>
            </a:r>
          </a:p>
        </p:txBody>
      </p:sp>
      <p:sp>
        <p:nvSpPr>
          <p:cNvPr id="10" name="Rounded Rectangle 9"/>
          <p:cNvSpPr/>
          <p:nvPr/>
        </p:nvSpPr>
        <p:spPr>
          <a:xfrm>
            <a:off x="62179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572768"/>
            <a:ext cx="5175504"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19072"/>
            <a:ext cx="4846320" cy="4434840"/>
          </a:xfrm>
          <a:prstGeom prst="rect">
            <a:avLst/>
          </a:prstGeom>
          <a:noFill/>
        </p:spPr>
        <p:txBody>
          <a:bodyPr wrap="square">
            <a:spAutoFit/>
          </a:bodyPr>
          <a:lstStyle/>
          <a:p>
            <a:pPr>
              <a:spcAft>
                <a:spcPts val="800"/>
              </a:spcAft>
              <a:defRPr sz="1350" b="1">
                <a:solidFill>
                  <a:srgbClr val="0F172A"/>
                </a:solidFill>
              </a:defRPr>
            </a:pPr>
            <a:r>
              <a:t>Các Vụ sụp đổ Điển hình trong Thực tế (Sec 5, tr. 8-10)</a:t>
            </a:r>
          </a:p>
          <a:p>
            <a:pPr>
              <a:spcAft>
                <a:spcPts val="600"/>
              </a:spcAft>
            </a:pPr>
            <a:r>
              <a:rPr b="1" sz="1100">
                <a:solidFill>
                  <a:srgbClr val="D97706"/>
                </a:solidFill>
              </a:rPr>
              <a:t>Tấn công Kênh kề đo thời gian (Paul Kocher 1996): </a:t>
            </a:r>
            <a:r>
              <a:rPr sz="1050">
                <a:solidFill>
                  <a:srgbClr val="1E293B"/>
                </a:solidFill>
              </a:rPr>
              <a:t>Toán học coi phép tính tốn thời gian 0. Trong phần cứng, nhánh rẽ if/else và early-return làm rò rỉ khóa bí mật qua thời gian CPU.</a:t>
            </a:r>
          </a:p>
          <a:p>
            <a:pPr>
              <a:spcAft>
                <a:spcPts val="600"/>
              </a:spcAft>
            </a:pPr>
            <a:r>
              <a:rPr b="1" sz="1100">
                <a:solidFill>
                  <a:srgbClr val="D97706"/>
                </a:solidFill>
              </a:rPr>
              <a:t>Rò rỉ Độ dài &amp; Nén dữ liệu (CRIME &amp; BREACH): </a:t>
            </a:r>
            <a:r>
              <a:rPr sz="1050">
                <a:solidFill>
                  <a:srgbClr val="1E293B"/>
                </a:solidFill>
              </a:rPr>
              <a:t>An ninh ngữ nghĩa giả định độ dài bản mã được phép công khai. Trên giao thức TLS thực tế, cơ chế nén HTTP kết hợp độ dài bản mã cho phép phục hồi cookie phiên làm việc.</a:t>
            </a:r>
          </a:p>
          <a:p>
            <a:pPr>
              <a:spcAft>
                <a:spcPts val="600"/>
              </a:spcAft>
            </a:pPr>
            <a:r>
              <a:rPr b="1" sz="1100">
                <a:solidFill>
                  <a:srgbClr val="D97706"/>
                </a:solidFill>
              </a:rPr>
              <a:t>Tính không đầy đủ của kiểm chứng tự động: </a:t>
            </a:r>
            <a:r>
              <a:rPr sz="1050">
                <a:solidFill>
                  <a:srgbClr val="1E293B"/>
                </a:solidFill>
              </a:rPr>
              <a:t>Automated theorem provers chỉ đúng (sound) nhưng không đầy đủ (incomplete); bỏ sót các tương tác phức tạp.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ĐỐI THỦ THẾ CHẾ (SEC 6 - TR. 10-12)</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Kẻ đối đầu Thực tế lộ diện: Bài học từ Edward Snowden &amp; NSA</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8/14</a:t>
            </a:r>
          </a:p>
        </p:txBody>
      </p:sp>
      <p:sp>
        <p:nvSpPr>
          <p:cNvPr id="7" name="Rounded Rectangle 6"/>
          <p:cNvSpPr/>
          <p:nvPr/>
        </p:nvSpPr>
        <p:spPr>
          <a:xfrm>
            <a:off x="7315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51755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4846320" cy="4434840"/>
          </a:xfrm>
          <a:prstGeom prst="rect">
            <a:avLst/>
          </a:prstGeom>
          <a:noFill/>
        </p:spPr>
        <p:txBody>
          <a:bodyPr wrap="square">
            <a:spAutoFit/>
          </a:bodyPr>
          <a:lstStyle/>
          <a:p>
            <a:pPr>
              <a:spcAft>
                <a:spcPts val="800"/>
              </a:spcAft>
              <a:defRPr sz="1350" b="1">
                <a:solidFill>
                  <a:srgbClr val="0F172A"/>
                </a:solidFill>
              </a:defRPr>
            </a:pPr>
            <a:r>
              <a:t>Hồ sơ Edward Snowden (2013) &amp; Sự thật về NSA (tr. 10-11)</a:t>
            </a:r>
          </a:p>
          <a:p>
            <a:pPr>
              <a:spcAft>
                <a:spcPts val="600"/>
              </a:spcAft>
            </a:pPr>
            <a:r>
              <a:rPr b="1" sz="1100">
                <a:solidFill>
                  <a:srgbClr val="2563EB"/>
                </a:solidFill>
              </a:rPr>
              <a:t>Đối thủ tối thượng lộ diện: </a:t>
            </a:r>
            <a:r>
              <a:rPr sz="1050">
                <a:solidFill>
                  <a:srgbClr val="1E293B"/>
                </a:solidFill>
              </a:rPr>
              <a:t>Giới học thuật từng dùng NSA như một 'đối thủ thần thoại' trừu tượng. Snowden đã phơi bày chi tiết kỹ thuật thực tế chưa từng có.</a:t>
            </a:r>
          </a:p>
          <a:p>
            <a:pPr>
              <a:spcAft>
                <a:spcPts val="600"/>
              </a:spcAft>
            </a:pPr>
            <a:r>
              <a:rPr b="1" sz="1100">
                <a:solidFill>
                  <a:srgbClr val="2563EB"/>
                </a:solidFill>
              </a:rPr>
              <a:t>Can thiệp tiêu chuẩn hóa (Project BULLRUN): </a:t>
            </a:r>
            <a:r>
              <a:rPr sz="1050">
                <a:solidFill>
                  <a:srgbClr val="1E293B"/>
                </a:solidFill>
              </a:rPr>
              <a:t>NSA chi 250 triệu USD để làm suy yếu cố ý các tiêu chuẩn mật mã thương mại (chèn cửa sau vào bộ sinh số ngẫu nhiên Dual_EC_DRBG của NIST).</a:t>
            </a:r>
          </a:p>
          <a:p>
            <a:pPr>
              <a:spcAft>
                <a:spcPts val="600"/>
              </a:spcAft>
            </a:pPr>
            <a:r>
              <a:rPr b="1" sz="1100">
                <a:solidFill>
                  <a:srgbClr val="2563EB"/>
                </a:solidFill>
              </a:rPr>
              <a:t>Thu thập diện rộng trước mã hóa (MUSCULAR): </a:t>
            </a:r>
            <a:r>
              <a:rPr sz="1050">
                <a:solidFill>
                  <a:srgbClr val="1E293B"/>
                </a:solidFill>
              </a:rPr>
              <a:t>Thay vì bẻ khóa RSA/AES, NSA câu trộm cáp quang nội bộ giữa các trung tâm dữ liệu của Google/Yahoo trước khi dữ liệu được mã hóa.</a:t>
            </a:r>
          </a:p>
          <a:p>
            <a:pPr>
              <a:spcAft>
                <a:spcPts val="600"/>
              </a:spcAft>
            </a:pPr>
            <a:r>
              <a:rPr b="1" sz="1100">
                <a:solidFill>
                  <a:srgbClr val="2563EB"/>
                </a:solidFill>
              </a:rPr>
              <a:t>Can thiệp phần cứng &amp; Chuỗi cung ứng: </a:t>
            </a:r>
            <a:r>
              <a:rPr sz="1050">
                <a:solidFill>
                  <a:srgbClr val="1E293B"/>
                </a:solidFill>
              </a:rPr>
              <a:t>Cài mã độc và chip nghe lén vào thiết bị mạng trong quá trình vận chuyển (interdiction).</a:t>
            </a:r>
          </a:p>
        </p:txBody>
      </p:sp>
      <p:sp>
        <p:nvSpPr>
          <p:cNvPr id="10" name="Rounded Rectangle 9"/>
          <p:cNvSpPr/>
          <p:nvPr/>
        </p:nvSpPr>
        <p:spPr>
          <a:xfrm>
            <a:off x="6217920" y="155448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572768"/>
            <a:ext cx="5175504"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19072"/>
            <a:ext cx="4846320" cy="4434840"/>
          </a:xfrm>
          <a:prstGeom prst="rect">
            <a:avLst/>
          </a:prstGeom>
          <a:noFill/>
        </p:spPr>
        <p:txBody>
          <a:bodyPr wrap="square">
            <a:spAutoFit/>
          </a:bodyPr>
          <a:lstStyle/>
          <a:p>
            <a:pPr>
              <a:spcAft>
                <a:spcPts val="800"/>
              </a:spcAft>
              <a:defRPr sz="1350" b="1">
                <a:solidFill>
                  <a:srgbClr val="0F172A"/>
                </a:solidFill>
              </a:defRPr>
            </a:pPr>
            <a:r>
              <a:t>Chuyển dịch Bản thể luận của Kẻ đối đầu (Sec 6-7, tr. 11-13)</a:t>
            </a:r>
          </a:p>
          <a:p>
            <a:pPr>
              <a:spcAft>
                <a:spcPts val="600"/>
              </a:spcAft>
            </a:pPr>
            <a:r>
              <a:rPr b="1" sz="1100">
                <a:solidFill>
                  <a:srgbClr val="9333EA"/>
                </a:solidFill>
              </a:rPr>
              <a:t>Giám sát siêu dữ liệu (Metadata Surveillance): </a:t>
            </a:r>
            <a:r>
              <a:rPr sz="1050">
                <a:solidFill>
                  <a:srgbClr val="1E293B"/>
                </a:solidFill>
              </a:rPr>
              <a:t>Chương trình PRISM và XKeyscore: Không cần giải mã nội dung, NSA lập bản đồ quan hệ xã hội thông qua phân tích luồng siêu dữ liệu và lưu lượng mạng.</a:t>
            </a:r>
          </a:p>
          <a:p>
            <a:pPr>
              <a:spcAft>
                <a:spcPts val="600"/>
              </a:spcAft>
            </a:pPr>
            <a:r>
              <a:rPr b="1" sz="1100">
                <a:solidFill>
                  <a:srgbClr val="9333EA"/>
                </a:solidFill>
              </a:rPr>
              <a:t>Tính tương đối của khái niệm Đối thủ (tr. 12): </a:t>
            </a:r>
            <a:r>
              <a:rPr sz="1050">
                <a:solidFill>
                  <a:srgbClr val="1E293B"/>
                </a:solidFill>
              </a:rPr>
              <a:t>Khái niệm đối thủ mang tính quan hệ: Với công chúng, NSA là kẻ đối đầu; nhưng với NSA, Edward Snowden chính là kẻ đối đầu đã làm rò rỉ bí mật của họ.</a:t>
            </a:r>
          </a:p>
          <a:p>
            <a:pPr>
              <a:spcAft>
                <a:spcPts val="600"/>
              </a:spcAft>
            </a:pPr>
            <a:r>
              <a:rPr b="1" sz="1100">
                <a:solidFill>
                  <a:srgbClr val="9333EA"/>
                </a:solidFill>
              </a:rPr>
              <a:t>Đe dọa Điện toán Lượng tử (tr. 11-12): </a:t>
            </a:r>
            <a:r>
              <a:rPr sz="1050">
                <a:solidFill>
                  <a:srgbClr val="1E293B"/>
                </a:solidFill>
              </a:rPr>
              <a:t>Thuật toán Shor (1994) đe dọa bẻ gãy RSA/ECC. Mật mã hậu lượng tử (PQC) của NIST đặt ra câu hỏi: Liệu có thể tin tưởng các bài toán mới do NSA hậu thuẫn?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CHƯƠNG TRÌNH NGHIÊN CỨU (SEC 7 - TR. 12-14)</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Đóng góp Cốt lõi &amp; Chương trình Nghiên cứu Mới của Harry Halpin</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9/14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1. Tái định nghĩa Bản thể luận</a:t>
            </a:r>
          </a:p>
          <a:p>
            <a:pPr>
              <a:spcAft>
                <a:spcPts val="600"/>
              </a:spcAft>
            </a:pPr>
            <a:r>
              <a:rPr b="1" sz="1100">
                <a:solidFill>
                  <a:srgbClr val="2563EB"/>
                </a:solidFill>
              </a:rPr>
              <a:t>Bí mật mang tính tương đối: </a:t>
            </a:r>
            <a:r>
              <a:rPr sz="1050">
                <a:solidFill>
                  <a:srgbClr val="1E293B"/>
                </a:solidFill>
              </a:rPr>
              <a:t>Thay thế quan niệm cứng nhắc rằng bí mật là tuyệt đối bằng nhận thức về vòng đời hữu hạn và bối cảnh chính trị - xã hội của thông tin.</a:t>
            </a:r>
          </a:p>
          <a:p>
            <a:pPr>
              <a:spcAft>
                <a:spcPts val="600"/>
              </a:spcAft>
            </a:pPr>
            <a:r>
              <a:rPr b="1" sz="1100">
                <a:solidFill>
                  <a:srgbClr val="2563EB"/>
                </a:solidFill>
              </a:rPr>
              <a:t>Mạng Xã hội - Kỹ thuật: </a:t>
            </a:r>
            <a:r>
              <a:rPr sz="1050">
                <a:solidFill>
                  <a:srgbClr val="1E293B"/>
                </a:solidFill>
              </a:rPr>
              <a:t>Mở rộng mô hình truyền thông từ 2 tác nhân đơn lẻ sang mạng lưới không đồng nhất gồm nhiều tác nhân (Heterogeneous Techno-Social Networks).</a:t>
            </a:r>
          </a:p>
          <a:p>
            <a:pPr>
              <a:spcAft>
                <a:spcPts val="600"/>
              </a:spcAft>
            </a:pPr>
            <a:r>
              <a:rPr b="1" sz="1100">
                <a:solidFill>
                  <a:srgbClr val="2563EB"/>
                </a:solidFill>
              </a:rPr>
              <a:t>Vượt qua trừu tượng hóa: </a:t>
            </a:r>
            <a:r>
              <a:rPr sz="1050">
                <a:solidFill>
                  <a:srgbClr val="1E293B"/>
                </a:solidFill>
              </a:rPr>
              <a:t>Nhìn nhận kẻ đối đầu như một thực thể thể chế có động cơ kinh tế và ràng buộc thực tế.</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2. Bảo vệ Siêu dữ liệu</a:t>
            </a:r>
          </a:p>
          <a:p>
            <a:pPr>
              <a:spcAft>
                <a:spcPts val="600"/>
              </a:spcAft>
            </a:pPr>
            <a:r>
              <a:rPr b="1" sz="1100">
                <a:solidFill>
                  <a:srgbClr val="0D9488"/>
                </a:solidFill>
              </a:rPr>
              <a:t>Nội dung không còn đủ: </a:t>
            </a:r>
            <a:r>
              <a:rPr sz="1050">
                <a:solidFill>
                  <a:srgbClr val="1E293B"/>
                </a:solidFill>
              </a:rPr>
              <a:t>Bảo vệ nội dung thông điệp bằng mã hóa đã trở thành điều hiển nhiên; thách thức sống còn là chống phân tích lưu lượng (Traffic Analysis).</a:t>
            </a:r>
          </a:p>
          <a:p>
            <a:pPr>
              <a:spcAft>
                <a:spcPts val="600"/>
              </a:spcAft>
            </a:pPr>
            <a:r>
              <a:rPr b="1" sz="1100">
                <a:solidFill>
                  <a:srgbClr val="0D9488"/>
                </a:solidFill>
              </a:rPr>
              <a:t>Mạng ẩn danh Mixnet: </a:t>
            </a:r>
            <a:r>
              <a:rPr sz="1050">
                <a:solidFill>
                  <a:srgbClr val="1E293B"/>
                </a:solidFill>
              </a:rPr>
              <a:t>Tiếp thu công trình David Chaum (1981) và dự án Nym (Diaz, Halpin 2021) về việc xáo trộn gói tin để triệt tiêu siêu dữ liệu mạng.</a:t>
            </a:r>
          </a:p>
          <a:p>
            <a:pPr>
              <a:spcAft>
                <a:spcPts val="600"/>
              </a:spcAft>
            </a:pPr>
            <a:r>
              <a:rPr b="1" sz="1100">
                <a:solidFill>
                  <a:srgbClr val="0D9488"/>
                </a:solidFill>
              </a:rPr>
              <a:t>Mật mã bảo vệ quyền riêng tư: </a:t>
            </a:r>
            <a:r>
              <a:rPr sz="1050">
                <a:solidFill>
                  <a:srgbClr val="1E293B"/>
                </a:solidFill>
              </a:rPr>
              <a:t>Tích hợp Zero-Knowledge Proofs và Differential Privacy vào kiến trúc phân tán.</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3. Khoa học Thực nghiệm</a:t>
            </a:r>
          </a:p>
          <a:p>
            <a:pPr>
              <a:spcAft>
                <a:spcPts val="600"/>
              </a:spcAft>
            </a:pPr>
            <a:r>
              <a:rPr b="1" sz="1100">
                <a:solidFill>
                  <a:srgbClr val="D97706"/>
                </a:solidFill>
              </a:rPr>
              <a:t>Empirical Science of Security: </a:t>
            </a:r>
            <a:r>
              <a:rPr sz="1050">
                <a:solidFill>
                  <a:srgbClr val="1E293B"/>
                </a:solidFill>
              </a:rPr>
              <a:t>Lời kêu gọi xây dựng nền khoa học an ninh thông tin dựa trên dữ liệu thực nghiệm, độ phức tạp và phản biện liên ngành.</a:t>
            </a:r>
          </a:p>
          <a:p>
            <a:pPr>
              <a:spcAft>
                <a:spcPts val="600"/>
              </a:spcAft>
            </a:pPr>
            <a:r>
              <a:rPr b="1" sz="1100">
                <a:solidFill>
                  <a:srgbClr val="D97706"/>
                </a:solidFill>
              </a:rPr>
              <a:t>Kinh tế học an ninh (tr. 13): </a:t>
            </a:r>
            <a:r>
              <a:rPr sz="1050">
                <a:solidFill>
                  <a:srgbClr val="1E293B"/>
                </a:solidFill>
              </a:rPr>
              <a:t>Tiếp thu Ross Anderson (2001): Hiểu hành vi của kẻ đối đầu thông qua phân tích chi phí, lợi ích và động cơ kinh tế.</a:t>
            </a:r>
          </a:p>
          <a:p>
            <a:pPr>
              <a:spcAft>
                <a:spcPts val="600"/>
              </a:spcAft>
            </a:pPr>
            <a:r>
              <a:rPr b="1" sz="1100">
                <a:solidFill>
                  <a:srgbClr val="D97706"/>
                </a:solidFill>
              </a:rPr>
              <a:t>Đo lường hệ thống thực: </a:t>
            </a:r>
            <a:r>
              <a:rPr sz="1050">
                <a:solidFill>
                  <a:srgbClr val="1E293B"/>
                </a:solidFill>
              </a:rPr>
              <a:t>Kiểm nghiệm các giả định mật mã trên hệ thống phần mềm và lưu lượng mạng thực tế.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TIÊU CHUẨN ĐÁNH GIÁ &amp; TÁI LẬP</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Phân tích Khả năng Tái lập &amp; Tiêu chuẩn Đánh giá Giữa kỳ</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10/14</a:t>
            </a:r>
          </a:p>
        </p:txBody>
      </p:sp>
      <p:sp>
        <p:nvSpPr>
          <p:cNvPr id="7" name="Rounded Rectangle 6"/>
          <p:cNvSpPr/>
          <p:nvPr/>
        </p:nvSpPr>
        <p:spPr>
          <a:xfrm>
            <a:off x="731520" y="155448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2432304"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2103120" cy="4434840"/>
          </a:xfrm>
          <a:prstGeom prst="rect">
            <a:avLst/>
          </a:prstGeom>
          <a:noFill/>
        </p:spPr>
        <p:txBody>
          <a:bodyPr wrap="square">
            <a:spAutoFit/>
          </a:bodyPr>
          <a:lstStyle/>
          <a:p>
            <a:pPr>
              <a:spcAft>
                <a:spcPts val="800"/>
              </a:spcAft>
              <a:defRPr sz="1350" b="1">
                <a:solidFill>
                  <a:srgbClr val="0F172A"/>
                </a:solidFill>
              </a:defRPr>
            </a:pPr>
            <a:r>
              <a:t>Tiêu chuẩn [6 - 8 Điểm]</a:t>
            </a:r>
          </a:p>
          <a:p>
            <a:pPr>
              <a:spcAft>
                <a:spcPts val="600"/>
              </a:spcAft>
            </a:pPr>
            <a:r>
              <a:rPr b="1" sz="1100">
                <a:solidFill>
                  <a:srgbClr val="E11D48"/>
                </a:solidFill>
              </a:rPr>
              <a:t>Yêu cầu giảng viên: </a:t>
            </a:r>
            <a:r>
              <a:rPr sz="1050">
                <a:solidFill>
                  <a:srgbClr val="1E293B"/>
                </a:solidFill>
              </a:rPr>
              <a:t>Chọn đề tài, dịch bài báo, chạy lại kết quả trên tập dataset của bài báo.</a:t>
            </a:r>
          </a:p>
          <a:p>
            <a:pPr>
              <a:spcAft>
                <a:spcPts val="600"/>
              </a:spcAft>
            </a:pPr>
            <a:r>
              <a:rPr b="1" sz="1100">
                <a:solidFill>
                  <a:srgbClr val="E11D48"/>
                </a:solidFill>
              </a:rPr>
              <a:t>Thực tế bài báo: </a:t>
            </a:r>
            <a:r>
              <a:rPr sz="1050">
                <a:solidFill>
                  <a:srgbClr val="1E293B"/>
                </a:solidFill>
              </a:rPr>
              <a:t>Công trình lý thuyết triết học và lịch sử (Halpin 2025).</a:t>
            </a:r>
          </a:p>
          <a:p>
            <a:pPr>
              <a:spcAft>
                <a:spcPts val="600"/>
              </a:spcAft>
            </a:pPr>
            <a:r>
              <a:rPr b="1" sz="1100">
                <a:solidFill>
                  <a:srgbClr val="E11D48"/>
                </a:solidFill>
              </a:rPr>
              <a:t>Hiện trạng tài nguyên: </a:t>
            </a:r>
            <a:r>
              <a:rPr sz="1050">
                <a:solidFill>
                  <a:srgbClr val="1E293B"/>
                </a:solidFill>
              </a:rPr>
              <a:t>0% code, 0% dataset gốc, 0% bảng benchmark định lượng.</a:t>
            </a:r>
          </a:p>
          <a:p>
            <a:pPr>
              <a:spcAft>
                <a:spcPts val="600"/>
              </a:spcAft>
            </a:pPr>
            <a:r>
              <a:rPr b="1" sz="1100">
                <a:solidFill>
                  <a:srgbClr val="E11D48"/>
                </a:solidFill>
              </a:rPr>
              <a:t>Kết luận khoa học: </a:t>
            </a:r>
            <a:r>
              <a:rPr sz="1050">
                <a:solidFill>
                  <a:srgbClr val="1E293B"/>
                </a:solidFill>
              </a:rPr>
              <a:t>Không thể tái lập nguyên văn do bài báo không có số liệu thực nghiệm.</a:t>
            </a:r>
          </a:p>
        </p:txBody>
      </p:sp>
      <p:sp>
        <p:nvSpPr>
          <p:cNvPr id="10" name="Rounded Rectangle 9"/>
          <p:cNvSpPr/>
          <p:nvPr/>
        </p:nvSpPr>
        <p:spPr>
          <a:xfrm>
            <a:off x="3474720" y="155448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93008" y="1572768"/>
            <a:ext cx="24323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719072"/>
            <a:ext cx="2103120" cy="4434840"/>
          </a:xfrm>
          <a:prstGeom prst="rect">
            <a:avLst/>
          </a:prstGeom>
          <a:noFill/>
        </p:spPr>
        <p:txBody>
          <a:bodyPr wrap="square">
            <a:spAutoFit/>
          </a:bodyPr>
          <a:lstStyle/>
          <a:p>
            <a:pPr>
              <a:spcAft>
                <a:spcPts val="800"/>
              </a:spcAft>
              <a:defRPr sz="1350" b="1">
                <a:solidFill>
                  <a:srgbClr val="0F172A"/>
                </a:solidFill>
              </a:defRPr>
            </a:pPr>
            <a:r>
              <a:t>Tiêu chuẩn [9 - 10 Điểm]</a:t>
            </a:r>
          </a:p>
          <a:p>
            <a:pPr>
              <a:spcAft>
                <a:spcPts val="600"/>
              </a:spcAft>
            </a:pPr>
            <a:r>
              <a:rPr b="1" sz="1100">
                <a:solidFill>
                  <a:srgbClr val="0D9488"/>
                </a:solidFill>
              </a:rPr>
              <a:t>Yêu cầu giảng viên: </a:t>
            </a:r>
            <a:r>
              <a:rPr sz="1050">
                <a:solidFill>
                  <a:srgbClr val="1E293B"/>
                </a:solidFill>
              </a:rPr>
              <a:t>Dịch bài báo, TỰ XÂY DỰNG MODELS, THUẬT TOÁN và chạy trên dataset CHO KẾT QUẢ TỐT HƠN!</a:t>
            </a:r>
          </a:p>
          <a:p>
            <a:pPr>
              <a:spcAft>
                <a:spcPts val="600"/>
              </a:spcAft>
            </a:pPr>
            <a:r>
              <a:rPr b="1" sz="1100">
                <a:solidFill>
                  <a:srgbClr val="0D9488"/>
                </a:solidFill>
              </a:rPr>
              <a:t>Định hướng DT005: </a:t>
            </a:r>
            <a:r>
              <a:rPr sz="1050">
                <a:solidFill>
                  <a:srgbClr val="1E293B"/>
                </a:solidFill>
              </a:rPr>
              <a:t>Bám sát mục tiêu đạt khung điểm [9, 10].</a:t>
            </a:r>
          </a:p>
          <a:p>
            <a:pPr>
              <a:spcAft>
                <a:spcPts val="600"/>
              </a:spcAft>
            </a:pPr>
            <a:r>
              <a:rPr b="1" sz="1100">
                <a:solidFill>
                  <a:srgbClr val="0D9488"/>
                </a:solidFill>
              </a:rPr>
              <a:t>Giải pháp thực hiện: </a:t>
            </a:r>
            <a:r>
              <a:rPr sz="1050">
                <a:solidFill>
                  <a:srgbClr val="1E293B"/>
                </a:solidFill>
              </a:rPr>
              <a:t>1. Chọn dataset thực tế Kaggle (2.483 tệp); 2. Xây dựng 3 Baselines; 3. Đề xuất thuật toán tối ưu giải quyết hạn chế của Merkle truyền thống.</a:t>
            </a:r>
          </a:p>
        </p:txBody>
      </p:sp>
      <p:sp>
        <p:nvSpPr>
          <p:cNvPr id="13" name="Rounded Rectangle 12"/>
          <p:cNvSpPr/>
          <p:nvPr/>
        </p:nvSpPr>
        <p:spPr>
          <a:xfrm>
            <a:off x="6217920" y="155448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36208" y="1572768"/>
            <a:ext cx="24323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19072"/>
            <a:ext cx="2103120" cy="4434840"/>
          </a:xfrm>
          <a:prstGeom prst="rect">
            <a:avLst/>
          </a:prstGeom>
          <a:noFill/>
        </p:spPr>
        <p:txBody>
          <a:bodyPr wrap="square">
            <a:spAutoFit/>
          </a:bodyPr>
          <a:lstStyle/>
          <a:p>
            <a:pPr>
              <a:spcAft>
                <a:spcPts val="800"/>
              </a:spcAft>
              <a:defRPr sz="1350" b="1">
                <a:solidFill>
                  <a:srgbClr val="0F172A"/>
                </a:solidFill>
              </a:defRPr>
            </a:pPr>
            <a:r>
              <a:t>Hiện thực hóa Minh họa</a:t>
            </a:r>
          </a:p>
          <a:p>
            <a:pPr>
              <a:spcAft>
                <a:spcPts val="600"/>
              </a:spcAft>
            </a:pPr>
            <a:r>
              <a:rPr b="1" sz="1100">
                <a:solidFill>
                  <a:srgbClr val="2563EB"/>
                </a:solidFill>
              </a:rPr>
              <a:t>Nhóm B: Đã hoàn thành: </a:t>
            </a:r>
            <a:r>
              <a:rPr sz="1050">
                <a:solidFill>
                  <a:srgbClr val="1E293B"/>
                </a:solidFill>
              </a:rPr>
              <a:t>Xây dựng trọn vẹn bộ kiểm thử 7 mô hình toán học đối kháng.</a:t>
            </a:r>
          </a:p>
          <a:p>
            <a:pPr>
              <a:spcAft>
                <a:spcPts val="600"/>
              </a:spcAft>
            </a:pPr>
            <a:r>
              <a:rPr b="1" sz="1100">
                <a:solidFill>
                  <a:srgbClr val="2563EB"/>
                </a:solidFill>
              </a:rPr>
              <a:t>Các luận điểm đã chứng minh: </a:t>
            </a:r>
            <a:r>
              <a:rPr sz="1050">
                <a:solidFill>
                  <a:srgbClr val="1E293B"/>
                </a:solidFill>
              </a:rPr>
              <a:t>1. Shannon vs Đối thủ chủ đích (CRC32 bị bẻ gãy 100% vs SHA-256); 2. Kerckhoffs Manifest; 3. Kênh phân phối khóa HMAC; 4. Mô hình Dolev-Yao; 5. Kênh kề thời gian Kocher.</a:t>
            </a:r>
          </a:p>
          <a:p>
            <a:pPr>
              <a:spcAft>
                <a:spcPts val="600"/>
              </a:spcAft>
            </a:pPr>
            <a:r>
              <a:rPr b="1" sz="1100">
                <a:solidFill>
                  <a:srgbClr val="2563EB"/>
                </a:solidFill>
              </a:rPr>
              <a:t>Bản chất: </a:t>
            </a:r>
            <a:r>
              <a:rPr sz="1050">
                <a:solidFill>
                  <a:srgbClr val="1E293B"/>
                </a:solidFill>
              </a:rPr>
              <a:t>Minh họa 100% luận điểm bài báo.</a:t>
            </a:r>
          </a:p>
        </p:txBody>
      </p:sp>
      <p:sp>
        <p:nvSpPr>
          <p:cNvPr id="16" name="Rounded Rectangle 15"/>
          <p:cNvSpPr/>
          <p:nvPr/>
        </p:nvSpPr>
        <p:spPr>
          <a:xfrm>
            <a:off x="8961120" y="155448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79408" y="1572768"/>
            <a:ext cx="2432304"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719072"/>
            <a:ext cx="2103120" cy="4434840"/>
          </a:xfrm>
          <a:prstGeom prst="rect">
            <a:avLst/>
          </a:prstGeom>
          <a:noFill/>
        </p:spPr>
        <p:txBody>
          <a:bodyPr wrap="square">
            <a:spAutoFit/>
          </a:bodyPr>
          <a:lstStyle/>
          <a:p>
            <a:pPr>
              <a:spcAft>
                <a:spcPts val="800"/>
              </a:spcAft>
              <a:defRPr sz="1350" b="1">
                <a:solidFill>
                  <a:srgbClr val="0F172A"/>
                </a:solidFill>
              </a:defRPr>
            </a:pPr>
            <a:r>
              <a:t>Trọng tâm Báo cáo</a:t>
            </a:r>
          </a:p>
          <a:p>
            <a:pPr>
              <a:spcAft>
                <a:spcPts val="600"/>
              </a:spcAft>
            </a:pPr>
            <a:r>
              <a:rPr b="1" sz="1100">
                <a:solidFill>
                  <a:srgbClr val="9333EA"/>
                </a:solidFill>
              </a:rPr>
              <a:t>Liêm chính học thuật: </a:t>
            </a:r>
            <a:r>
              <a:rPr sz="1050">
                <a:solidFill>
                  <a:srgbClr val="1E293B"/>
                </a:solidFill>
              </a:rPr>
              <a:t>Phân định rõ ràng giữa lý thuyết triết học của Halpin và mô hình thực nghiệm của sinh viên.</a:t>
            </a:r>
          </a:p>
          <a:p>
            <a:pPr>
              <a:spcAft>
                <a:spcPts val="600"/>
              </a:spcAft>
            </a:pPr>
            <a:r>
              <a:rPr b="1" sz="1100">
                <a:solidFill>
                  <a:srgbClr val="9333EA"/>
                </a:solidFill>
              </a:rPr>
              <a:t>Thời lượng thuyết trình: </a:t>
            </a:r>
            <a:r>
              <a:rPr sz="1050">
                <a:solidFill>
                  <a:srgbClr val="1E293B"/>
                </a:solidFill>
              </a:rPr>
              <a:t>85% thời lượng tập trung phân tích sâu sắc bài báo gốc.</a:t>
            </a:r>
          </a:p>
          <a:p>
            <a:pPr>
              <a:spcAft>
                <a:spcPts val="600"/>
              </a:spcAft>
            </a:pPr>
            <a:r>
              <a:rPr b="1" sz="1100">
                <a:solidFill>
                  <a:srgbClr val="9333EA"/>
                </a:solidFill>
              </a:rPr>
              <a:t>Thuật toán đề xuất riêng: </a:t>
            </a:r>
            <a:r>
              <a:rPr sz="1050">
                <a:solidFill>
                  <a:srgbClr val="1E293B"/>
                </a:solidFill>
              </a:rPr>
              <a:t>Gói gọn trong ĐÚNG 1 SLIDE TIẾP THEO để chứng minh năng lực đạt điểm [9,10] mà không làm loãng bài báo.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ÁNH XẠ PAPER-TO-CODE</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Bảng Ánh xạ: Luận điểm Bài báo vs Hiện thực hóa Code Minh họa DT005</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11/14</a:t>
            </a:r>
          </a:p>
        </p:txBody>
      </p:sp>
      <p:graphicFrame>
        <p:nvGraphicFramePr>
          <p:cNvPr id="7" name="Table 6"/>
          <p:cNvGraphicFramePr>
            <a:graphicFrameLocks noGrp="1"/>
          </p:cNvGraphicFramePr>
          <p:nvPr/>
        </p:nvGraphicFramePr>
        <p:xfrm>
          <a:off x="731520" y="1554480"/>
          <a:ext cx="10728655" cy="4663440"/>
        </p:xfrm>
        <a:graphic>
          <a:graphicData uri="http://schemas.openxmlformats.org/drawingml/2006/table">
            <a:tbl>
              <a:tblPr firstRow="1" bandRow="1">
                <a:tableStyleId>{5C22544A-7EE6-4342-B048-85BDC9FD1C3A}</a:tableStyleId>
              </a:tblPr>
              <a:tblGrid>
                <a:gridCol w="2286000"/>
                <a:gridCol w="2926080"/>
                <a:gridCol w="3200400"/>
                <a:gridCol w="2316175"/>
              </a:tblGrid>
              <a:tr h="777240">
                <a:tc>
                  <a:txBody>
                    <a:bodyPr/>
                    <a:lstStyle/>
                    <a:p>
                      <a:pPr algn="ctr">
                        <a:defRPr b="1" sz="1100">
                          <a:solidFill>
                            <a:srgbClr val="FFFFFF"/>
                          </a:solidFill>
                        </a:defRPr>
                      </a:pPr>
                      <a:r>
                        <a:t>Luận điểm bài báo Halpin (2025)</a:t>
                      </a:r>
                    </a:p>
                  </a:txBody>
                  <a:tcPr>
                    <a:solidFill>
                      <a:srgbClr val="0F172A"/>
                    </a:solidFill>
                  </a:tcPr>
                </a:tc>
                <a:tc>
                  <a:txBody>
                    <a:bodyPr/>
                    <a:lstStyle/>
                    <a:p>
                      <a:pPr algn="ctr">
                        <a:defRPr b="1" sz="1100">
                          <a:solidFill>
                            <a:srgbClr val="FFFFFF"/>
                          </a:solidFill>
                        </a:defRPr>
                      </a:pPr>
                      <a:r>
                        <a:t>Phân tích An toàn &amp; Lỗ hổng</a:t>
                      </a:r>
                    </a:p>
                  </a:txBody>
                  <a:tcPr>
                    <a:solidFill>
                      <a:srgbClr val="0F172A"/>
                    </a:solidFill>
                  </a:tcPr>
                </a:tc>
                <a:tc>
                  <a:txBody>
                    <a:bodyPr/>
                    <a:lstStyle/>
                    <a:p>
                      <a:pPr algn="ctr">
                        <a:defRPr b="1" sz="1100">
                          <a:solidFill>
                            <a:srgbClr val="FFFFFF"/>
                          </a:solidFill>
                        </a:defRPr>
                      </a:pPr>
                      <a:r>
                        <a:t>Hiện thực hóa Minh họa (DT005)</a:t>
                      </a:r>
                    </a:p>
                  </a:txBody>
                  <a:tcPr>
                    <a:solidFill>
                      <a:srgbClr val="0F172A"/>
                    </a:solidFill>
                  </a:tcPr>
                </a:tc>
                <a:tc>
                  <a:txBody>
                    <a:bodyPr/>
                    <a:lstStyle/>
                    <a:p>
                      <a:pPr algn="ctr">
                        <a:defRPr b="1" sz="1100">
                          <a:solidFill>
                            <a:srgbClr val="FFFFFF"/>
                          </a:solidFill>
                        </a:defRPr>
                      </a:pPr>
                      <a:r>
                        <a:t>Đánh giá &amp; Bản chất Thực tế</a:t>
                      </a:r>
                    </a:p>
                  </a:txBody>
                  <a:tcPr>
                    <a:solidFill>
                      <a:srgbClr val="0F172A"/>
                    </a:solidFill>
                  </a:tcPr>
                </a:tc>
              </a:tr>
              <a:tr h="777240">
                <a:tc>
                  <a:txBody>
                    <a:bodyPr/>
                    <a:lstStyle/>
                    <a:p>
                      <a:pPr>
                        <a:defRPr sz="950">
                          <a:solidFill>
                            <a:srgbClr val="1E293B"/>
                          </a:solidFill>
                        </a:defRPr>
                      </a:pPr>
                      <a:r>
                        <a:t>Nhiễu Shannon vs Kẻ đối đầu có chủ đích (Sec 1-2, tr. 1-4)</a:t>
                      </a:r>
                    </a:p>
                  </a:txBody>
                  <a:tcPr>
                    <a:solidFill>
                      <a:srgbClr val="FFFFFF"/>
                    </a:solidFill>
                  </a:tcPr>
                </a:tc>
                <a:tc>
                  <a:txBody>
                    <a:bodyPr/>
                    <a:lstStyle/>
                    <a:p>
                      <a:pPr>
                        <a:defRPr sz="950">
                          <a:solidFill>
                            <a:srgbClr val="1E293B"/>
                          </a:solidFill>
                        </a:defRPr>
                      </a:pPr>
                      <a:r>
                        <a:t>Mã tuyến tính (CRC32/parity) chỉ chống được nhiễu ngẫu nhiên; kẻ thù chủ đích dễ dàng tính toán bù sai số.</a:t>
                      </a:r>
                    </a:p>
                  </a:txBody>
                  <a:tcPr>
                    <a:solidFill>
                      <a:srgbClr val="FFFFFF"/>
                    </a:solidFill>
                  </a:tcPr>
                </a:tc>
                <a:tc>
                  <a:txBody>
                    <a:bodyPr/>
                    <a:lstStyle/>
                    <a:p>
                      <a:pPr>
                        <a:defRPr sz="950">
                          <a:solidFill>
                            <a:srgbClr val="1E293B"/>
                          </a:solidFill>
                        </a:defRPr>
                      </a:pPr>
                      <a:r>
                        <a:t>Hàm `crc32_forge_patch` (khử Gauss trên GF(2)) trong `security_games.py`.</a:t>
                      </a:r>
                    </a:p>
                  </a:txBody>
                  <a:tcPr>
                    <a:solidFill>
                      <a:srgbClr val="FFFFFF"/>
                    </a:solidFill>
                  </a:tcPr>
                </a:tc>
                <a:tc>
                  <a:txBody>
                    <a:bodyPr/>
                    <a:lstStyle/>
                    <a:p>
                      <a:pPr>
                        <a:defRPr sz="950">
                          <a:solidFill>
                            <a:srgbClr val="1E293B"/>
                          </a:solidFill>
                        </a:defRPr>
                      </a:pPr>
                      <a:r>
                        <a:t>Thực nghiệm minh họa: Kẻ thù làm giả dữ liệu qua mặt CRC32 100%; SHA-256 chặn đứng tức thì.</a:t>
                      </a:r>
                    </a:p>
                  </a:txBody>
                  <a:tcPr>
                    <a:solidFill>
                      <a:srgbClr val="FFFFFF"/>
                    </a:solidFill>
                  </a:tcPr>
                </a:tc>
              </a:tr>
              <a:tr h="777240">
                <a:tc>
                  <a:txBody>
                    <a:bodyPr/>
                    <a:lstStyle/>
                    <a:p>
                      <a:pPr>
                        <a:defRPr sz="950">
                          <a:solidFill>
                            <a:srgbClr val="1E293B"/>
                          </a:solidFill>
                        </a:defRPr>
                      </a:pPr>
                      <a:r>
                        <a:t>Nguyên lý Kerckhoffs &amp; Hàm băm công khai (Sec 3, tr. 3-4)</a:t>
                      </a:r>
                    </a:p>
                  </a:txBody>
                  <a:tcPr>
                    <a:solidFill>
                      <a:srgbClr val="F1F5F9"/>
                    </a:solidFill>
                  </a:tcPr>
                </a:tc>
                <a:tc>
                  <a:txBody>
                    <a:bodyPr/>
                    <a:lstStyle/>
                    <a:p>
                      <a:pPr>
                        <a:defRPr sz="950">
                          <a:solidFill>
                            <a:srgbClr val="1E293B"/>
                          </a:solidFill>
                        </a:defRPr>
                      </a:pPr>
                      <a:r>
                        <a:t>Thuật toán công khai hoàn toàn; an toàn không dựa vào sự bí mật của giải thuật băm.</a:t>
                      </a:r>
                    </a:p>
                  </a:txBody>
                  <a:tcPr>
                    <a:solidFill>
                      <a:srgbClr val="F1F5F9"/>
                    </a:solidFill>
                  </a:tcPr>
                </a:tc>
                <a:tc>
                  <a:txBody>
                    <a:bodyPr/>
                    <a:lstStyle/>
                    <a:p>
                      <a:pPr>
                        <a:defRPr sz="950">
                          <a:solidFill>
                            <a:srgbClr val="1E293B"/>
                          </a:solidFill>
                        </a:defRPr>
                      </a:pPr>
                      <a:r>
                        <a:t>Baseline 1: `SHA256Manifest` (`src/baselines/sha256_manifest.py`).</a:t>
                      </a:r>
                    </a:p>
                  </a:txBody>
                  <a:tcPr>
                    <a:solidFill>
                      <a:srgbClr val="F1F5F9"/>
                    </a:solidFill>
                  </a:tcPr>
                </a:tc>
                <a:tc>
                  <a:txBody>
                    <a:bodyPr/>
                    <a:lstStyle/>
                    <a:p>
                      <a:pPr>
                        <a:defRPr sz="950">
                          <a:solidFill>
                            <a:srgbClr val="1E293B"/>
                          </a:solidFill>
                        </a:defRPr>
                      </a:pPr>
                      <a:r>
                        <a:t>Minh họa kiểm tra toàn vẹn không khóa; điểm yếu: kẻ thù có thể ghi đè cả file manifest.</a:t>
                      </a:r>
                    </a:p>
                  </a:txBody>
                  <a:tcPr>
                    <a:solidFill>
                      <a:srgbClr val="F1F5F9"/>
                    </a:solidFill>
                  </a:tcPr>
                </a:tc>
              </a:tr>
              <a:tr h="777240">
                <a:tc>
                  <a:txBody>
                    <a:bodyPr/>
                    <a:lstStyle/>
                    <a:p>
                      <a:pPr>
                        <a:defRPr sz="950">
                          <a:solidFill>
                            <a:srgbClr val="1E293B"/>
                          </a:solidFill>
                        </a:defRPr>
                      </a:pPr>
                      <a:r>
                        <a:t>Kẻ nghe lén Shannon &amp; Kênh chia sẻ khóa (Sec 3, tr. 4-5)</a:t>
                      </a:r>
                    </a:p>
                  </a:txBody>
                  <a:tcPr>
                    <a:solidFill>
                      <a:srgbClr val="FFFFFF"/>
                    </a:solidFill>
                  </a:tcPr>
                </a:tc>
                <a:tc>
                  <a:txBody>
                    <a:bodyPr/>
                    <a:lstStyle/>
                    <a:p>
                      <a:pPr>
                        <a:defRPr sz="950">
                          <a:solidFill>
                            <a:srgbClr val="1E293B"/>
                          </a:solidFill>
                        </a:defRPr>
                      </a:pPr>
                      <a:r>
                        <a:t>Bảo vệ toàn vẹn bằng khóa đối xứng; điểm yếu cốt tử nằm ở khâu phân phối và lưu trữ khóa an toàn.</a:t>
                      </a:r>
                    </a:p>
                  </a:txBody>
                  <a:tcPr>
                    <a:solidFill>
                      <a:srgbClr val="FFFFFF"/>
                    </a:solidFill>
                  </a:tcPr>
                </a:tc>
                <a:tc>
                  <a:txBody>
                    <a:bodyPr/>
                    <a:lstStyle/>
                    <a:p>
                      <a:pPr>
                        <a:defRPr sz="950">
                          <a:solidFill>
                            <a:srgbClr val="1E293B"/>
                          </a:solidFill>
                        </a:defRPr>
                      </a:pPr>
                      <a:r>
                        <a:t>Baseline 2: `HMACManifest` (`src/baselines/hmac_manifest.py`).</a:t>
                      </a:r>
                    </a:p>
                  </a:txBody>
                  <a:tcPr>
                    <a:solidFill>
                      <a:srgbClr val="FFFFFF"/>
                    </a:solidFill>
                  </a:tcPr>
                </a:tc>
                <a:tc>
                  <a:txBody>
                    <a:bodyPr/>
                    <a:lstStyle/>
                    <a:p>
                      <a:pPr>
                        <a:defRPr sz="950">
                          <a:solidFill>
                            <a:srgbClr val="1E293B"/>
                          </a:solidFill>
                        </a:defRPr>
                      </a:pPr>
                      <a:r>
                        <a:t>Minh họa xác thực có khóa; chống sửa manifest nhưng sụp đổ nếu 1 client để lộ khóa bí mật K.</a:t>
                      </a:r>
                    </a:p>
                  </a:txBody>
                  <a:tcPr>
                    <a:solidFill>
                      <a:srgbClr val="FFFFFF"/>
                    </a:solidFill>
                  </a:tcPr>
                </a:tc>
              </a:tr>
              <a:tr h="777240">
                <a:tc>
                  <a:txBody>
                    <a:bodyPr/>
                    <a:lstStyle/>
                    <a:p>
                      <a:pPr>
                        <a:defRPr sz="950">
                          <a:solidFill>
                            <a:srgbClr val="1E293B"/>
                          </a:solidFill>
                        </a:defRPr>
                      </a:pPr>
                      <a:r>
                        <a:t>Kẻ đối đầu mạng Dolev-Yao kiểm soát đường truyền (Sec 4, tr. 7-8)</a:t>
                      </a:r>
                    </a:p>
                  </a:txBody>
                  <a:tcPr>
                    <a:solidFill>
                      <a:srgbClr val="F1F5F9"/>
                    </a:solidFill>
                  </a:tcPr>
                </a:tc>
                <a:tc>
                  <a:txBody>
                    <a:bodyPr/>
                    <a:lstStyle/>
                    <a:p>
                      <a:pPr>
                        <a:defRPr sz="950">
                          <a:solidFill>
                            <a:srgbClr val="1E293B"/>
                          </a:solidFill>
                        </a:defRPr>
                      </a:pPr>
                      <a:r>
                        <a:t>Kẻ đối đầu có thể tráo gói tin, sửa payload; cần cơ chế chứng minh xác thực độc lập cho từng tệp.</a:t>
                      </a:r>
                    </a:p>
                  </a:txBody>
                  <a:tcPr>
                    <a:solidFill>
                      <a:srgbClr val="F1F5F9"/>
                    </a:solidFill>
                  </a:tcPr>
                </a:tc>
                <a:tc>
                  <a:txBody>
                    <a:bodyPr/>
                    <a:lstStyle/>
                    <a:p>
                      <a:pPr>
                        <a:defRPr sz="950">
                          <a:solidFill>
                            <a:srgbClr val="1E293B"/>
                          </a:solidFill>
                        </a:defRPr>
                      </a:pPr>
                      <a:r>
                        <a:t>Baseline 3: `StandardMerkleTree` (`src/baselines/standard_merkle_tree.py`).</a:t>
                      </a:r>
                    </a:p>
                  </a:txBody>
                  <a:tcPr>
                    <a:solidFill>
                      <a:srgbClr val="F1F5F9"/>
                    </a:solidFill>
                  </a:tcPr>
                </a:tc>
                <a:tc>
                  <a:txBody>
                    <a:bodyPr/>
                    <a:lstStyle/>
                    <a:p>
                      <a:pPr>
                        <a:defRPr sz="950">
                          <a:solidFill>
                            <a:srgbClr val="1E293B"/>
                          </a:solidFill>
                        </a:defRPr>
                      </a:pPr>
                      <a:r>
                        <a:t>Cây Merkle nhị phân: Client tự xác thực độc lập qua Merkle Proof O(log N) chỉ với 32B Root Hash.</a:t>
                      </a:r>
                    </a:p>
                  </a:txBody>
                  <a:tcPr>
                    <a:solidFill>
                      <a:srgbClr val="F1F5F9"/>
                    </a:solidFill>
                  </a:tcPr>
                </a:tc>
              </a:tr>
              <a:tr h="777240">
                <a:tc>
                  <a:txBody>
                    <a:bodyPr/>
                    <a:lstStyle/>
                    <a:p>
                      <a:pPr>
                        <a:defRPr sz="950">
                          <a:solidFill>
                            <a:srgbClr val="1E293B"/>
                          </a:solidFill>
                        </a:defRPr>
                      </a:pPr>
                      <a:r>
                        <a:t>Tấn công Kênh kề đo thời gian Kocher (Sec 5, tr. 8-10)</a:t>
                      </a:r>
                    </a:p>
                  </a:txBody>
                  <a:tcPr>
                    <a:solidFill>
                      <a:srgbClr val="FFFFFF"/>
                    </a:solidFill>
                  </a:tcPr>
                </a:tc>
                <a:tc>
                  <a:txBody>
                    <a:bodyPr/>
                    <a:lstStyle/>
                    <a:p>
                      <a:pPr>
                        <a:defRPr sz="950">
                          <a:solidFill>
                            <a:srgbClr val="1E293B"/>
                          </a:solidFill>
                        </a:defRPr>
                      </a:pPr>
                      <a:r>
                        <a:t>Phép so sánh chuỗi ngắt sớm (early return) làm rò rỉ độ dài byte trùng khớp qua thời gian CPU.</a:t>
                      </a:r>
                    </a:p>
                  </a:txBody>
                  <a:tcPr>
                    <a:solidFill>
                      <a:srgbClr val="FFFFFF"/>
                    </a:solidFill>
                  </a:tcPr>
                </a:tc>
                <a:tc>
                  <a:txBody>
                    <a:bodyPr/>
                    <a:lstStyle/>
                    <a:p>
                      <a:pPr>
                        <a:defRPr sz="950">
                          <a:solidFill>
                            <a:srgbClr val="1E293B"/>
                          </a:solidFill>
                        </a:defRPr>
                      </a:pPr>
                      <a:r>
                        <a:t>Hàm kiểm toán `audit_timing_resistance` trong `security_games.py` (20.000 chu kỳ).</a:t>
                      </a:r>
                    </a:p>
                  </a:txBody>
                  <a:tcPr>
                    <a:solidFill>
                      <a:srgbClr val="FFFFFF"/>
                    </a:solidFill>
                  </a:tcPr>
                </a:tc>
                <a:tc>
                  <a:txBody>
                    <a:bodyPr/>
                    <a:lstStyle/>
                    <a:p>
                      <a:pPr>
                        <a:defRPr sz="950">
                          <a:solidFill>
                            <a:srgbClr val="1E293B"/>
                          </a:solidFill>
                        </a:defRPr>
                      </a:pPr>
                      <a:r>
                        <a:t>Minh họa thực nghiệm: Toán tử == lộ chênh lệch rõ rệt; `hmac.compare_digest` triệt tiêu rò rỉ.</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MÔ HÌNH ĐỀ XUẤT [9-10 ĐIỂM]</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Đóng góp Thuật toán Tự xây dựng Đạt Chuẩn [9-10 Điểm]: Cây Merkle Phân cấp Động</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12/14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Hạn chế Cây Merkle Truyền thống</a:t>
            </a:r>
          </a:p>
          <a:p>
            <a:pPr>
              <a:spcAft>
                <a:spcPts val="600"/>
              </a:spcAft>
            </a:pPr>
            <a:r>
              <a:rPr b="1" sz="1100">
                <a:solidFill>
                  <a:srgbClr val="E11D48"/>
                </a:solidFill>
              </a:rPr>
              <a:t>Vỡ cấu trúc mảng O(N): </a:t>
            </a:r>
            <a:r>
              <a:rPr sz="1050">
                <a:solidFill>
                  <a:srgbClr val="1E293B"/>
                </a:solidFill>
              </a:rPr>
              <a:t>Khi thêm hoặc xóa 1 tệp, cây Merkle chuẩn bị vỡ mảng băm lá, buộc phải Rebuild toàn bộ mất 283.90 ms (thêm) / 233.48 ms (xóa).</a:t>
            </a:r>
          </a:p>
          <a:p>
            <a:pPr>
              <a:spcAft>
                <a:spcPts val="600"/>
              </a:spcAft>
            </a:pPr>
            <a:r>
              <a:rPr b="1" sz="1100">
                <a:solidFill>
                  <a:srgbClr val="E11D48"/>
                </a:solidFill>
              </a:rPr>
              <a:t>Mất ngữ cảnh thứ bậc: </a:t>
            </a:r>
            <a:r>
              <a:rPr sz="1050">
                <a:solidFill>
                  <a:srgbClr val="1E293B"/>
                </a:solidFill>
              </a:rPr>
              <a:t>Làm phẳng toàn bộ cây thư mục thành 1 mảng lá duy nhất, không định vị được phân vùng bị lỗi.</a:t>
            </a:r>
          </a:p>
          <a:p>
            <a:pPr>
              <a:spcAft>
                <a:spcPts val="600"/>
              </a:spcAft>
            </a:pPr>
            <a:r>
              <a:rPr b="1" sz="1100">
                <a:solidFill>
                  <a:srgbClr val="E11D48"/>
                </a:solidFill>
              </a:rPr>
              <a:t>Nguy cơ va chạm tiền ảnh thứ hai: </a:t>
            </a:r>
            <a:r>
              <a:rPr sz="1050">
                <a:solidFill>
                  <a:srgbClr val="1E293B"/>
                </a:solidFill>
              </a:rPr>
              <a:t>Ghép chuỗi thô H(Left || Right) không phân tách miền có thể bị tấn công nhầm lẫn nút lá/nhánh (Node-Leaf Confusion Attack theo Sec 5 bài báo).</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Đột phá Thuật toán Đề xuất</a:t>
            </a:r>
          </a:p>
          <a:p>
            <a:pPr>
              <a:spcAft>
                <a:spcPts val="600"/>
              </a:spcAft>
            </a:pPr>
            <a:r>
              <a:rPr b="1" sz="1100">
                <a:solidFill>
                  <a:srgbClr val="2563EB"/>
                </a:solidFill>
              </a:rPr>
              <a:t>Ánh xạ cây thư mục thực tế: </a:t>
            </a:r>
            <a:r>
              <a:rPr sz="1050">
                <a:solidFill>
                  <a:srgbClr val="1E293B"/>
                </a:solidFill>
              </a:rPr>
              <a:t>Xây dựng cấu trúc cây phân cấp (HD-MerkleTree) phản ánh đúng thứ bậc thư mục doanh nghiệp với các cây con nhị phân cục bộ.</a:t>
            </a:r>
          </a:p>
          <a:p>
            <a:pPr>
              <a:spcAft>
                <a:spcPts val="600"/>
              </a:spcAft>
            </a:pPr>
            <a:r>
              <a:rPr b="1" sz="1100">
                <a:solidFill>
                  <a:srgbClr val="2563EB"/>
                </a:solidFill>
              </a:rPr>
              <a:t>Cập nhật cục bộ Dirty-Path O(log N): </a:t>
            </a:r>
            <a:r>
              <a:rPr sz="1050">
                <a:solidFill>
                  <a:srgbClr val="1E293B"/>
                </a:solidFill>
              </a:rPr>
              <a:t>Khi 1 tệp thay đổi, hệ thống chỉ tính lại nhánh cha từ lá lên gốc với chi phí logarit, giữ nguyên bộ đệm các nhánh tĩnh.</a:t>
            </a:r>
          </a:p>
          <a:p>
            <a:pPr>
              <a:spcAft>
                <a:spcPts val="600"/>
              </a:spcAft>
            </a:pPr>
            <a:r>
              <a:rPr b="1" sz="1100">
                <a:solidFill>
                  <a:srgbClr val="2563EB"/>
                </a:solidFill>
              </a:rPr>
              <a:t>Phân tách miền RFC 6962: </a:t>
            </a:r>
            <a:r>
              <a:rPr sz="1050">
                <a:solidFill>
                  <a:srgbClr val="1E293B"/>
                </a:solidFill>
              </a:rPr>
              <a:t>Áp dụng tiền tố byte 0x00 cho lá và byte 0x01 cho nhánh thư mục, triệt tiêu 100% va chạm tiền ảnh thứ hai.</a:t>
            </a:r>
          </a:p>
          <a:p>
            <a:pPr>
              <a:spcAft>
                <a:spcPts val="600"/>
              </a:spcAft>
            </a:pPr>
            <a:r>
              <a:rPr b="1" sz="1100">
                <a:solidFill>
                  <a:srgbClr val="2563EB"/>
                </a:solidFill>
              </a:rPr>
              <a:t>Nén bằng chứng CompactProof: </a:t>
            </a:r>
            <a:r>
              <a:rPr sz="1050">
                <a:solidFill>
                  <a:srgbClr val="1E293B"/>
                </a:solidFill>
              </a:rPr>
              <a:t>Thu nhỏ Merkle Proof xuống 256 Bytes (so với 1.188 Bytes của Merkle chuẩn).</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Kết quả Vượt trội trên Dataset Kaggle</a:t>
            </a:r>
          </a:p>
          <a:p>
            <a:pPr>
              <a:spcAft>
                <a:spcPts val="600"/>
              </a:spcAft>
            </a:pPr>
            <a:r>
              <a:rPr b="1" sz="1100">
                <a:solidFill>
                  <a:srgbClr val="0D9488"/>
                </a:solidFill>
              </a:rPr>
              <a:t>Xác thực 1 tệp độc lập: </a:t>
            </a:r>
            <a:r>
              <a:rPr sz="1050">
                <a:solidFill>
                  <a:srgbClr val="1E293B"/>
                </a:solidFill>
              </a:rPr>
              <a:t>0.01 ms (O(log N)) — nhanh hơn &gt;3.000 lần so với Flat Hash 42.86 ms (O(N)).</a:t>
            </a:r>
          </a:p>
          <a:p>
            <a:pPr>
              <a:spcAft>
                <a:spcPts val="600"/>
              </a:spcAft>
            </a:pPr>
            <a:r>
              <a:rPr b="1" sz="1100">
                <a:solidFill>
                  <a:srgbClr val="0D9488"/>
                </a:solidFill>
              </a:rPr>
              <a:t>Cập nhật Thêm tệp: </a:t>
            </a:r>
            <a:r>
              <a:rPr sz="1050">
                <a:solidFill>
                  <a:srgbClr val="1E293B"/>
                </a:solidFill>
              </a:rPr>
              <a:t>0.24 ms (O(log N)) so với 283.90 ms (Rebuild O(N)) của Standard Merkle — Nhanh hơn ~1.200 lần!</a:t>
            </a:r>
          </a:p>
          <a:p>
            <a:pPr>
              <a:spcAft>
                <a:spcPts val="600"/>
              </a:spcAft>
            </a:pPr>
            <a:r>
              <a:rPr b="1" sz="1100">
                <a:solidFill>
                  <a:srgbClr val="0D9488"/>
                </a:solidFill>
              </a:rPr>
              <a:t>Cập nhật Xóa tệp: </a:t>
            </a:r>
            <a:r>
              <a:rPr sz="1050">
                <a:solidFill>
                  <a:srgbClr val="1E293B"/>
                </a:solidFill>
              </a:rPr>
              <a:t>0.09 ms (O(log N)) so với 233.48 ms (Rebuild O(N)) của Standard Merkle — Nhanh hơn ~2.600 lần!</a:t>
            </a:r>
          </a:p>
          <a:p>
            <a:pPr>
              <a:spcAft>
                <a:spcPts val="600"/>
              </a:spcAft>
            </a:pPr>
            <a:r>
              <a:rPr b="1" sz="1100">
                <a:solidFill>
                  <a:srgbClr val="0D9488"/>
                </a:solidFill>
              </a:rPr>
              <a:t>Tiết kiệm 99.9% băng thông: </a:t>
            </a:r>
            <a:r>
              <a:rPr sz="1050">
                <a:solidFill>
                  <a:srgbClr val="1E293B"/>
                </a:solidFill>
              </a:rPr>
              <a:t>Gói bằng chứng 256 B thay vì tải danh mục băm phẳng 253.6 KB.</a:t>
            </a:r>
          </a:p>
          <a:p>
            <a:pPr>
              <a:spcAft>
                <a:spcPts val="600"/>
              </a:spcAft>
            </a:pPr>
            <a:r>
              <a:rPr b="1" sz="1100">
                <a:solidFill>
                  <a:srgbClr val="0D9488"/>
                </a:solidFill>
              </a:rPr>
              <a:t>Đạt chuẩn Điểm [9 - 10]: </a:t>
            </a:r>
            <a:r>
              <a:rPr sz="1050">
                <a:solidFill>
                  <a:srgbClr val="1E293B"/>
                </a:solidFill>
              </a:rPr>
              <a:t>Tự xây dựng thuật toán và chạy trên dataset cho kết quả vượt trội theo đúng tiêu chí của Giảng viên!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DEMO BÁM SÁT BÀI BÁO 100%</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Thiết kế Thực nghiệm Demo: Bám sát 100% Khái niệm Kẻ đối đầu của Bài báo</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13/14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Red Team: Kẻ đối đầu The Adversary</a:t>
            </a:r>
          </a:p>
          <a:p>
            <a:pPr>
              <a:spcAft>
                <a:spcPts val="600"/>
              </a:spcAft>
            </a:pPr>
            <a:r>
              <a:rPr b="1" sz="1100">
                <a:solidFill>
                  <a:srgbClr val="E11D48"/>
                </a:solidFill>
              </a:rPr>
              <a:t>Bám sát luận điểm Halpin (2025): </a:t>
            </a:r>
            <a:r>
              <a:rPr sz="1050">
                <a:solidFill>
                  <a:srgbClr val="1E293B"/>
                </a:solidFill>
              </a:rPr>
              <a:t>Mật mã học là sự tương tác đối kháng thực tế giữa người bảo vệ và kẻ tấn công chủ đích.</a:t>
            </a:r>
          </a:p>
          <a:p>
            <a:pPr>
              <a:spcAft>
                <a:spcPts val="600"/>
              </a:spcAft>
            </a:pPr>
            <a:r>
              <a:rPr b="1" sz="1100">
                <a:solidFill>
                  <a:srgbClr val="E11D48"/>
                </a:solidFill>
              </a:rPr>
              <a:t>Vector 1 (Sec 1-2): </a:t>
            </a:r>
            <a:r>
              <a:rPr sz="1050">
                <a:solidFill>
                  <a:srgbClr val="1E293B"/>
                </a:solidFill>
              </a:rPr>
              <a:t>Bẻ gãy mã kiểm tra lỗi CRC32 bằng thuật toán bù đại số trên trường nhị phân GF(2).</a:t>
            </a:r>
          </a:p>
          <a:p>
            <a:pPr>
              <a:spcAft>
                <a:spcPts val="600"/>
              </a:spcAft>
            </a:pPr>
            <a:r>
              <a:rPr b="1" sz="1100">
                <a:solidFill>
                  <a:srgbClr val="E11D48"/>
                </a:solidFill>
              </a:rPr>
              <a:t>Vector 2 (Sec 4): </a:t>
            </a:r>
            <a:r>
              <a:rPr sz="1050">
                <a:solidFill>
                  <a:srgbClr val="1E293B"/>
                </a:solidFill>
              </a:rPr>
              <a:t>Đánh tráo Merkle Proof trên kênh truyền mạng thù địch Dolev-Yao (Cross-proof swap).</a:t>
            </a:r>
          </a:p>
          <a:p>
            <a:pPr>
              <a:spcAft>
                <a:spcPts val="600"/>
              </a:spcAft>
            </a:pPr>
            <a:r>
              <a:rPr b="1" sz="1100">
                <a:solidFill>
                  <a:srgbClr val="E11D48"/>
                </a:solidFill>
              </a:rPr>
              <a:t>Vector 3 (Sec 5): </a:t>
            </a:r>
            <a:r>
              <a:rPr sz="1050">
                <a:solidFill>
                  <a:srgbClr val="1E293B"/>
                </a:solidFill>
              </a:rPr>
              <a:t>Khai thác rò rỉ kênh kề đo thời gian CPU (Kocher Timing Attack).</a:t>
            </a:r>
          </a:p>
          <a:p>
            <a:pPr>
              <a:spcAft>
                <a:spcPts val="600"/>
              </a:spcAft>
            </a:pPr>
            <a:r>
              <a:rPr b="1" sz="1100">
                <a:solidFill>
                  <a:srgbClr val="E11D48"/>
                </a:solidFill>
              </a:rPr>
              <a:t>Vector 4 (Sec 6): </a:t>
            </a:r>
            <a:r>
              <a:rPr sz="1050">
                <a:solidFill>
                  <a:srgbClr val="1E293B"/>
                </a:solidFill>
              </a:rPr>
              <a:t>Phá hoại nội dung tệp, chèn tệp cửa sau và xóa lén tệp tin trên đĩa.</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Blue Team: Cơ chế Phòng thủ</a:t>
            </a:r>
          </a:p>
          <a:p>
            <a:pPr>
              <a:spcAft>
                <a:spcPts val="600"/>
              </a:spcAft>
            </a:pPr>
            <a:r>
              <a:rPr b="1" sz="1100">
                <a:solidFill>
                  <a:srgbClr val="2563EB"/>
                </a:solidFill>
              </a:rPr>
              <a:t>Baseline 1: Flat SHA-256: </a:t>
            </a:r>
            <a:r>
              <a:rPr sz="1050">
                <a:solidFill>
                  <a:srgbClr val="1E293B"/>
                </a:solidFill>
              </a:rPr>
              <a:t>Nguyên lý Kerckhoffs công khai; kiểm tra toàn vẹn danh mục băm không khóa.</a:t>
            </a:r>
          </a:p>
          <a:p>
            <a:pPr>
              <a:spcAft>
                <a:spcPts val="600"/>
              </a:spcAft>
            </a:pPr>
            <a:r>
              <a:rPr b="1" sz="1100">
                <a:solidFill>
                  <a:srgbClr val="2563EB"/>
                </a:solidFill>
              </a:rPr>
              <a:t>Baseline 2: HMAC-SHA256: </a:t>
            </a:r>
            <a:r>
              <a:rPr sz="1050">
                <a:solidFill>
                  <a:srgbClr val="1E293B"/>
                </a:solidFill>
              </a:rPr>
              <a:t>Mã xác thực thông điệp có khóa đối xứng bí mật K; bảo vệ danh mục băm chống sửa đổi.</a:t>
            </a:r>
          </a:p>
          <a:p>
            <a:pPr>
              <a:spcAft>
                <a:spcPts val="600"/>
              </a:spcAft>
            </a:pPr>
            <a:r>
              <a:rPr b="1" sz="1100">
                <a:solidFill>
                  <a:srgbClr val="2563EB"/>
                </a:solidFill>
              </a:rPr>
              <a:t>Baseline 3: Merkle Tree: </a:t>
            </a:r>
            <a:r>
              <a:rPr sz="1050">
                <a:solidFill>
                  <a:srgbClr val="1E293B"/>
                </a:solidFill>
              </a:rPr>
              <a:t>Cung cấp bằng chứng Merkle Proof O(log N) cho Client tự xác thực độc lập mà không cần chia sẻ khóa.</a:t>
            </a:r>
          </a:p>
          <a:p>
            <a:pPr>
              <a:spcAft>
                <a:spcPts val="600"/>
              </a:spcAft>
            </a:pPr>
            <a:r>
              <a:rPr b="1" sz="1100">
                <a:solidFill>
                  <a:srgbClr val="2563EB"/>
                </a:solidFill>
              </a:rPr>
              <a:t>Cơ chế Hoàn nguyên an toàn: </a:t>
            </a:r>
            <a:r>
              <a:rPr sz="1050">
                <a:solidFill>
                  <a:srgbClr val="1E293B"/>
                </a:solidFill>
              </a:rPr>
              <a:t>Lệnh Rollback All khôi phục trạng thái đĩa cứng về nguyên vẹn 100% sau mỗi đợt tấn công.</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Kết quả Quan sát Thực tế khi Demo</a:t>
            </a:r>
          </a:p>
          <a:p>
            <a:pPr>
              <a:spcAft>
                <a:spcPts val="600"/>
              </a:spcAft>
            </a:pPr>
            <a:r>
              <a:rPr b="1" sz="1100">
                <a:solidFill>
                  <a:srgbClr val="0D9488"/>
                </a:solidFill>
              </a:rPr>
              <a:t>CRC32 bị qua mặt 100%: </a:t>
            </a:r>
            <a:r>
              <a:rPr sz="1050">
                <a:solidFill>
                  <a:srgbClr val="1E293B"/>
                </a:solidFill>
              </a:rPr>
              <a:t>Kẻ tấn công tìm ra 4 byte bù patch trong &lt;1 ms; SHA-256 phát hiện gian lận ngay lập tức!</a:t>
            </a:r>
          </a:p>
          <a:p>
            <a:pPr>
              <a:spcAft>
                <a:spcPts val="600"/>
              </a:spcAft>
            </a:pPr>
            <a:r>
              <a:rPr b="1" sz="1100">
                <a:solidFill>
                  <a:srgbClr val="0D9488"/>
                </a:solidFill>
              </a:rPr>
              <a:t>Dolev-Yao chặn đứng 100%: </a:t>
            </a:r>
            <a:r>
              <a:rPr sz="1050">
                <a:solidFill>
                  <a:srgbClr val="1E293B"/>
                </a:solidFill>
              </a:rPr>
              <a:t>Root Hash công khai 32 byte phát hiện ngay hành vi tráo đổi proof giữa 2 tệp.</a:t>
            </a:r>
          </a:p>
          <a:p>
            <a:pPr>
              <a:spcAft>
                <a:spcPts val="600"/>
              </a:spcAft>
            </a:pPr>
            <a:r>
              <a:rPr b="1" sz="1100">
                <a:solidFill>
                  <a:srgbClr val="0D9488"/>
                </a:solidFill>
              </a:rPr>
              <a:t>Phát hiện phá hoại tức thì: </a:t>
            </a:r>
            <a:r>
              <a:rPr sz="1050">
                <a:solidFill>
                  <a:srgbClr val="1E293B"/>
                </a:solidFill>
              </a:rPr>
              <a:t>Hệ thống chỉ ra chính xác vị trí tệp tin bị sửa đổi hoặc chèn lạ trên giao diện.</a:t>
            </a:r>
          </a:p>
          <a:p>
            <a:pPr>
              <a:spcAft>
                <a:spcPts val="600"/>
              </a:spcAft>
            </a:pPr>
            <a:r>
              <a:rPr b="1" sz="1100">
                <a:solidFill>
                  <a:srgbClr val="0D9488"/>
                </a:solidFill>
              </a:rPr>
              <a:t>Sẵn sàng trình diễn: </a:t>
            </a:r>
            <a:r>
              <a:rPr sz="1050">
                <a:solidFill>
                  <a:srgbClr val="1E293B"/>
                </a:solidFill>
              </a:rPr>
              <a:t>Hỗ trợ cả giao diện dòng lệnh độc lập (CLI) và Web Dashboard trực quan tại Port 8080.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TỔNG KẾT &amp; SẴN SÀNG DEMO</a:t>
            </a:r>
          </a:p>
        </p:txBody>
      </p:sp>
      <p:sp>
        <p:nvSpPr>
          <p:cNvPr id="4" name="TextBox 3"/>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Tổng kết Báo cáo Giữa kỳ &amp; Sẵn sàng Thực hiện Demo Trực tiếp</a:t>
            </a:r>
          </a:p>
        </p:txBody>
      </p:sp>
      <p:sp>
        <p:nvSpPr>
          <p:cNvPr id="5" name="Rectangle 4"/>
          <p:cNvSpPr/>
          <p:nvPr/>
        </p:nvSpPr>
        <p:spPr>
          <a:xfrm>
            <a:off x="731520" y="135331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a:spAutoFit/>
          </a:bodyPr>
          <a:lstStyle/>
          <a:p>
            <a:pPr algn="r">
              <a:defRPr sz="950">
                <a:solidFill>
                  <a:srgbClr val="64748B"/>
                </a:solidFill>
              </a:defRPr>
            </a:pPr>
            <a:r>
              <a:t>Đề tài DT005 — Báo cáo Giữa kỳ: Kiểm toán &amp; Minh họa Bài báo Harry Halpin (Oxford 2025)  |  Trang 14/14</a:t>
            </a:r>
          </a:p>
        </p:txBody>
      </p:sp>
      <p:sp>
        <p:nvSpPr>
          <p:cNvPr id="7" name="Rounded Rectangle 6"/>
          <p:cNvSpPr/>
          <p:nvPr/>
        </p:nvSpPr>
        <p:spPr>
          <a:xfrm>
            <a:off x="7315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572768"/>
            <a:ext cx="3346704"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3017520" cy="4434840"/>
          </a:xfrm>
          <a:prstGeom prst="rect">
            <a:avLst/>
          </a:prstGeom>
          <a:noFill/>
        </p:spPr>
        <p:txBody>
          <a:bodyPr wrap="square">
            <a:spAutoFit/>
          </a:bodyPr>
          <a:lstStyle/>
          <a:p>
            <a:pPr>
              <a:spcAft>
                <a:spcPts val="800"/>
              </a:spcAft>
              <a:defRPr sz="1350" b="1">
                <a:solidFill>
                  <a:srgbClr val="0F172A"/>
                </a:solidFill>
              </a:defRPr>
            </a:pPr>
            <a:r>
              <a:t>1. Hoàn thành Nghiên cứu Bài báo</a:t>
            </a:r>
          </a:p>
          <a:p>
            <a:pPr>
              <a:spcAft>
                <a:spcPts val="600"/>
              </a:spcAft>
            </a:pPr>
            <a:r>
              <a:rPr b="1" sz="1100">
                <a:solidFill>
                  <a:srgbClr val="2563EB"/>
                </a:solidFill>
              </a:rPr>
              <a:t>Dịch và nắm vững toàn văn bài báo: </a:t>
            </a:r>
            <a:r>
              <a:rPr sz="1050">
                <a:solidFill>
                  <a:srgbClr val="1E293B"/>
                </a:solidFill>
              </a:rPr>
              <a:t>Hiểu sâu sắc toàn văn 17 trang PDF của Harry Halpin (Oxford 2025), bản thể luận Dretske, bản chất tương đối của bí mật và tiến trình mô hình hóa đối thủ.</a:t>
            </a:r>
          </a:p>
          <a:p>
            <a:pPr>
              <a:spcAft>
                <a:spcPts val="600"/>
              </a:spcAft>
            </a:pPr>
            <a:r>
              <a:rPr b="1" sz="1100">
                <a:solidFill>
                  <a:srgbClr val="2563EB"/>
                </a:solidFill>
              </a:rPr>
              <a:t>Kiểm toán khoa học trung thực: </a:t>
            </a:r>
            <a:r>
              <a:rPr sz="1050">
                <a:solidFill>
                  <a:srgbClr val="1E293B"/>
                </a:solidFill>
              </a:rPr>
              <a:t>Chỉ rõ bài báo là nghiên cứu lý thuyết triết học, không có mã nguồn hay dataset thực nghiệm gốc.</a:t>
            </a:r>
          </a:p>
          <a:p>
            <a:pPr>
              <a:spcAft>
                <a:spcPts val="600"/>
              </a:spcAft>
            </a:pPr>
            <a:r>
              <a:rPr b="1" sz="1100">
                <a:solidFill>
                  <a:srgbClr val="2563EB"/>
                </a:solidFill>
              </a:rPr>
              <a:t>Tuân thủ quy cách giữa kỳ: </a:t>
            </a:r>
            <a:r>
              <a:rPr sz="1050">
                <a:solidFill>
                  <a:srgbClr val="1E293B"/>
                </a:solidFill>
              </a:rPr>
              <a:t>Hoàn thành Slide báo cáo chuẩn 14 trang và kịch bản Demo; không làm báo cáo Word theo đúng quy định.</a:t>
            </a:r>
          </a:p>
        </p:txBody>
      </p:sp>
      <p:sp>
        <p:nvSpPr>
          <p:cNvPr id="10" name="Rounded Rectangle 9"/>
          <p:cNvSpPr/>
          <p:nvPr/>
        </p:nvSpPr>
        <p:spPr>
          <a:xfrm>
            <a:off x="43891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572768"/>
            <a:ext cx="3346704"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17520" cy="4434840"/>
          </a:xfrm>
          <a:prstGeom prst="rect">
            <a:avLst/>
          </a:prstGeom>
          <a:noFill/>
        </p:spPr>
        <p:txBody>
          <a:bodyPr wrap="square">
            <a:spAutoFit/>
          </a:bodyPr>
          <a:lstStyle/>
          <a:p>
            <a:pPr>
              <a:spcAft>
                <a:spcPts val="800"/>
              </a:spcAft>
              <a:defRPr sz="1350" b="1">
                <a:solidFill>
                  <a:srgbClr val="0F172A"/>
                </a:solidFill>
              </a:defRPr>
            </a:pPr>
            <a:r>
              <a:t>2. Đáp ứng Tiêu chuẩn [9-10 Điểm]</a:t>
            </a:r>
          </a:p>
          <a:p>
            <a:pPr>
              <a:spcAft>
                <a:spcPts val="600"/>
              </a:spcAft>
            </a:pPr>
            <a:r>
              <a:rPr b="1" sz="1100">
                <a:solidFill>
                  <a:srgbClr val="0D9488"/>
                </a:solidFill>
              </a:rPr>
              <a:t>Tự xây dựng Models &amp; Thuật toán: </a:t>
            </a:r>
            <a:r>
              <a:rPr sz="1050">
                <a:solidFill>
                  <a:srgbClr val="1E293B"/>
                </a:solidFill>
              </a:rPr>
              <a:t>Xây dựng 3 mô hình nền tảng đối chứng và phát triển thuật toán Cây Merkle phân cấp động (HD-Merkle).</a:t>
            </a:r>
          </a:p>
          <a:p>
            <a:pPr>
              <a:spcAft>
                <a:spcPts val="600"/>
              </a:spcAft>
            </a:pPr>
            <a:r>
              <a:rPr b="1" sz="1100">
                <a:solidFill>
                  <a:srgbClr val="0D9488"/>
                </a:solidFill>
              </a:rPr>
              <a:t>Kết quả vượt trội trên Dataset: </a:t>
            </a:r>
            <a:r>
              <a:rPr sz="1050">
                <a:solidFill>
                  <a:srgbClr val="1E293B"/>
                </a:solidFill>
              </a:rPr>
              <a:t>Thực nghiệm trên 2.483 tệp tin Kaggle đạt tốc độ cập nhật O(log N) ~0.24 ms, nhanh hơn 1.200 đến 2.600 lần so với Rebuild O(N) của Merkle chuẩn.</a:t>
            </a:r>
          </a:p>
          <a:p>
            <a:pPr>
              <a:spcAft>
                <a:spcPts val="600"/>
              </a:spcAft>
            </a:pPr>
            <a:r>
              <a:rPr b="1" sz="1100">
                <a:solidFill>
                  <a:srgbClr val="0D9488"/>
                </a:solidFill>
              </a:rPr>
              <a:t>Trình bày tinh gọn: </a:t>
            </a:r>
            <a:r>
              <a:rPr sz="1050">
                <a:solidFill>
                  <a:srgbClr val="1E293B"/>
                </a:solidFill>
              </a:rPr>
              <a:t>Gói gọn phần mô hình riêng trong đúng 1 trang slide để giữ trọn vẹn trọng tâm học thuật của bài báo.</a:t>
            </a:r>
          </a:p>
        </p:txBody>
      </p:sp>
      <p:sp>
        <p:nvSpPr>
          <p:cNvPr id="13" name="Rounded Rectangle 12"/>
          <p:cNvSpPr/>
          <p:nvPr/>
        </p:nvSpPr>
        <p:spPr>
          <a:xfrm>
            <a:off x="8046720" y="155448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572768"/>
            <a:ext cx="3346704"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19072"/>
            <a:ext cx="3017520" cy="4434840"/>
          </a:xfrm>
          <a:prstGeom prst="rect">
            <a:avLst/>
          </a:prstGeom>
          <a:noFill/>
        </p:spPr>
        <p:txBody>
          <a:bodyPr wrap="square">
            <a:spAutoFit/>
          </a:bodyPr>
          <a:lstStyle/>
          <a:p>
            <a:pPr>
              <a:spcAft>
                <a:spcPts val="800"/>
              </a:spcAft>
              <a:defRPr sz="1350" b="1">
                <a:solidFill>
                  <a:srgbClr val="0F172A"/>
                </a:solidFill>
              </a:defRPr>
            </a:pPr>
            <a:r>
              <a:t>3. Kế hoạch Demo Thực tế</a:t>
            </a:r>
          </a:p>
          <a:p>
            <a:pPr>
              <a:spcAft>
                <a:spcPts val="600"/>
              </a:spcAft>
            </a:pPr>
            <a:r>
              <a:rPr b="1" sz="1100">
                <a:solidFill>
                  <a:srgbClr val="9333EA"/>
                </a:solidFill>
              </a:rPr>
              <a:t>Phương án 1: Kiểm định Toán học: </a:t>
            </a:r>
            <a:r>
              <a:rPr sz="1050">
                <a:solidFill>
                  <a:srgbClr val="1E293B"/>
                </a:solidFill>
              </a:rPr>
              <a:t>Chạy `python -m src.proposed_model.security_games` kiểm chứng 7 mô hình toán học.</a:t>
            </a:r>
          </a:p>
          <a:p>
            <a:pPr>
              <a:spcAft>
                <a:spcPts val="600"/>
              </a:spcAft>
            </a:pPr>
            <a:r>
              <a:rPr b="1" sz="1100">
                <a:solidFill>
                  <a:srgbClr val="9333EA"/>
                </a:solidFill>
              </a:rPr>
              <a:t>Phương án 2: Red Team Terminal CLI: </a:t>
            </a:r>
            <a:r>
              <a:rPr sz="1050">
                <a:solidFill>
                  <a:srgbClr val="1E293B"/>
                </a:solidFill>
              </a:rPr>
              <a:t>Chạy `python src/adversary/red_team_cli.py` phát động phá hoại tệp, bẻ gãy CRC32 và hoàn nguyên đĩa.</a:t>
            </a:r>
          </a:p>
          <a:p>
            <a:pPr>
              <a:spcAft>
                <a:spcPts val="600"/>
              </a:spcAft>
            </a:pPr>
            <a:r>
              <a:rPr b="1" sz="1100">
                <a:solidFill>
                  <a:srgbClr val="9333EA"/>
                </a:solidFill>
              </a:rPr>
              <a:t>Phương án 3: Web Dashboard: </a:t>
            </a:r>
            <a:r>
              <a:rPr sz="1050">
                <a:solidFill>
                  <a:srgbClr val="1E293B"/>
                </a:solidFill>
              </a:rPr>
              <a:t>Chạy `python src/demo/web_demo.py` mở giao diện trực quan `http://127.0.0.1:8080`.</a:t>
            </a:r>
          </a:p>
          <a:p>
            <a:pPr>
              <a:spcAft>
                <a:spcPts val="600"/>
              </a:spcAft>
            </a:pPr>
            <a:r>
              <a:rPr b="1" sz="1100">
                <a:solidFill>
                  <a:srgbClr val="9333EA"/>
                </a:solidFill>
              </a:rPr>
              <a:t>Trân trọng cảm ơn: </a:t>
            </a:r>
            <a:r>
              <a:rPr sz="1050">
                <a:solidFill>
                  <a:srgbClr val="1E293B"/>
                </a:solidFill>
              </a:rPr>
              <a:t>Em xin trân trọng cảm ơn Thầy đã lắng nghe bài báo cáo giữa kỳ!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